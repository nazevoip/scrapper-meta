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7560056" cy="10692003"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6EC"/>
        </a:solidFill>
        <a:effectLst/>
      </p:bgPr>
    </p:bg>
    <p:spTree>
      <p:nvGrpSpPr>
        <p:cNvPr id="1" name=""/>
        <p:cNvGrpSpPr/>
        <p:nvPr/>
      </p:nvGrpSpPr>
      <p:grpSpPr/>
      <p:sp>
        <p:nvSpPr>
          <p:cNvPr id="72" name="Rounded Rectangle 71"/>
          <p:cNvSpPr/>
          <p:nvPr/>
        </p:nvSpPr>
        <p:spPr>
          <a:xfrm>
            <a:off x="381000" y="8483092"/>
            <a:ext cx="6798056" cy="1559510"/>
          </a:xfrm>
          <a:prstGeom prst="roundRect">
            <a:avLst>
              <a:gd name="adj" fmla="val 7329"/>
            </a:avLst>
          </a:prstGeom>
          <a:solidFill>
            <a:srgbClr val="FCFAF4"/>
          </a:solidFill>
          <a:ln w="11430">
            <a:solidFill>
              <a:srgbClr val="CDD1BF"/>
            </a:solidFill>
          </a:ln>
          <a:effectLst/>
        </p:spPr>
        <p:txBody>
          <a:bodyPr rtlCol="0" anchor="ctr"/>
          <a:lstStyle/>
          <a:p/>
        </p:txBody>
      </p:sp>
      <p:sp>
        <p:nvSpPr>
          <p:cNvPr id="73" name="Round Same Side Corner Rectangle 72"/>
          <p:cNvSpPr/>
          <p:nvPr/>
        </p:nvSpPr>
        <p:spPr>
          <a:xfrm>
            <a:off x="386715" y="8488807"/>
            <a:ext cx="6786626" cy="304800"/>
          </a:xfrm>
          <a:prstGeom prst="round2SameRect">
            <a:avLst>
              <a:gd name="adj1" fmla="val 35416"/>
              <a:gd name="adj2" fmla="val 0"/>
            </a:avLst>
          </a:prstGeom>
          <a:solidFill>
            <a:srgbClr val="DFE2CB"/>
          </a:solidFill>
          <a:ln>
            <a:noFill/>
          </a:ln>
          <a:effectLst/>
        </p:spPr>
        <p:txBody>
          <a:bodyPr rtlCol="0" anchor="ctr"/>
          <a:lstStyle/>
          <a:p/>
        </p:txBody>
      </p:sp>
      <p:sp>
        <p:nvSpPr>
          <p:cNvPr id="64" name="Rounded Rectangle 63"/>
          <p:cNvSpPr/>
          <p:nvPr/>
        </p:nvSpPr>
        <p:spPr>
          <a:xfrm>
            <a:off x="381000" y="6911601"/>
            <a:ext cx="6798056" cy="1422120"/>
          </a:xfrm>
          <a:prstGeom prst="roundRect">
            <a:avLst>
              <a:gd name="adj" fmla="val 8037"/>
            </a:avLst>
          </a:prstGeom>
          <a:solidFill>
            <a:srgbClr val="FCFAF4"/>
          </a:solidFill>
          <a:ln w="11430">
            <a:solidFill>
              <a:srgbClr val="CDD1BF"/>
            </a:solidFill>
          </a:ln>
          <a:effectLst/>
        </p:spPr>
        <p:txBody>
          <a:bodyPr rtlCol="0" anchor="ctr"/>
          <a:lstStyle/>
          <a:p/>
        </p:txBody>
      </p:sp>
      <p:sp>
        <p:nvSpPr>
          <p:cNvPr id="65" name="Round Same Side Corner Rectangle 64"/>
          <p:cNvSpPr/>
          <p:nvPr/>
        </p:nvSpPr>
        <p:spPr>
          <a:xfrm>
            <a:off x="386715" y="6917316"/>
            <a:ext cx="6786626" cy="304800"/>
          </a:xfrm>
          <a:prstGeom prst="round2SameRect">
            <a:avLst>
              <a:gd name="adj1" fmla="val 35416"/>
              <a:gd name="adj2" fmla="val 0"/>
            </a:avLst>
          </a:prstGeom>
          <a:solidFill>
            <a:srgbClr val="DFE2CB"/>
          </a:solidFill>
          <a:ln>
            <a:noFill/>
          </a:ln>
          <a:effectLst/>
        </p:spPr>
        <p:txBody>
          <a:bodyPr rtlCol="0" anchor="ctr"/>
          <a:lstStyle/>
          <a:p/>
        </p:txBody>
      </p:sp>
      <p:sp>
        <p:nvSpPr>
          <p:cNvPr id="58" name="Rounded Rectangle 57"/>
          <p:cNvSpPr/>
          <p:nvPr/>
        </p:nvSpPr>
        <p:spPr>
          <a:xfrm>
            <a:off x="381000" y="4926386"/>
            <a:ext cx="6798056" cy="1835845"/>
          </a:xfrm>
          <a:prstGeom prst="roundRect">
            <a:avLst>
              <a:gd name="adj" fmla="val 6226"/>
            </a:avLst>
          </a:prstGeom>
          <a:solidFill>
            <a:srgbClr val="FCFAF4"/>
          </a:solidFill>
          <a:ln w="11430">
            <a:solidFill>
              <a:srgbClr val="CDD1BF"/>
            </a:solidFill>
          </a:ln>
          <a:effectLst/>
        </p:spPr>
        <p:txBody>
          <a:bodyPr rtlCol="0" anchor="ctr"/>
          <a:lstStyle/>
          <a:p/>
        </p:txBody>
      </p:sp>
      <p:sp>
        <p:nvSpPr>
          <p:cNvPr id="59" name="Round Same Side Corner Rectangle 58"/>
          <p:cNvSpPr/>
          <p:nvPr/>
        </p:nvSpPr>
        <p:spPr>
          <a:xfrm>
            <a:off x="386715" y="4932101"/>
            <a:ext cx="6786626" cy="304800"/>
          </a:xfrm>
          <a:prstGeom prst="round2SameRect">
            <a:avLst>
              <a:gd name="adj1" fmla="val 35416"/>
              <a:gd name="adj2" fmla="val 0"/>
            </a:avLst>
          </a:prstGeom>
          <a:solidFill>
            <a:srgbClr val="DFE2CB"/>
          </a:solidFill>
          <a:ln>
            <a:noFill/>
          </a:ln>
          <a:effectLst/>
        </p:spPr>
        <p:txBody>
          <a:bodyPr rtlCol="0" anchor="ctr"/>
          <a:lstStyle/>
          <a:p/>
        </p:txBody>
      </p:sp>
      <p:sp>
        <p:nvSpPr>
          <p:cNvPr id="44" name="Rounded Rectangle 43"/>
          <p:cNvSpPr/>
          <p:nvPr/>
        </p:nvSpPr>
        <p:spPr>
          <a:xfrm>
            <a:off x="381000" y="1853692"/>
            <a:ext cx="6798056" cy="2923324"/>
          </a:xfrm>
          <a:prstGeom prst="roundRect">
            <a:avLst>
              <a:gd name="adj" fmla="val 3909"/>
            </a:avLst>
          </a:prstGeom>
          <a:solidFill>
            <a:srgbClr val="FCFAF4"/>
          </a:solidFill>
          <a:ln w="11430">
            <a:solidFill>
              <a:srgbClr val="CDD1BF"/>
            </a:solidFill>
          </a:ln>
          <a:effectLst/>
        </p:spPr>
        <p:txBody>
          <a:bodyPr rtlCol="0" anchor="ctr"/>
          <a:lstStyle/>
          <a:p/>
        </p:txBody>
      </p:sp>
      <p:sp>
        <p:nvSpPr>
          <p:cNvPr id="45" name="Round Same Side Corner Rectangle 44"/>
          <p:cNvSpPr/>
          <p:nvPr/>
        </p:nvSpPr>
        <p:spPr>
          <a:xfrm>
            <a:off x="386715" y="1859407"/>
            <a:ext cx="6786626" cy="304800"/>
          </a:xfrm>
          <a:prstGeom prst="round2SameRect">
            <a:avLst>
              <a:gd name="adj1" fmla="val 35416"/>
              <a:gd name="adj2" fmla="val 0"/>
            </a:avLst>
          </a:prstGeom>
          <a:solidFill>
            <a:srgbClr val="DFE2CB"/>
          </a:solidFill>
          <a:ln>
            <a:noFill/>
          </a:ln>
          <a:effectLst/>
        </p:spPr>
        <p:txBody>
          <a:bodyPr rtlCol="0" anchor="ctr"/>
          <a:lstStyle/>
          <a:p/>
        </p:txBody>
      </p:sp>
      <p:pic>
        <p:nvPicPr>
          <p:cNvPr id="2" name="Picture 1" descr="folha-esq.png"/>
          <p:cNvPicPr>
            <a:picLocks noChangeAspect="1"/>
          </p:cNvPicPr>
          <p:nvPr/>
        </p:nvPicPr>
        <p:blipFill>
          <a:blip r:embed="rId2"/>
          <a:stretch>
            <a:fillRect/>
          </a:stretch>
        </p:blipFill>
        <p:spPr>
          <a:xfrm>
            <a:off x="0" y="0"/>
            <a:ext cx="1168400" cy="1410399"/>
          </a:xfrm>
          <a:prstGeom prst="rect">
            <a:avLst/>
          </a:prstGeom>
        </p:spPr>
      </p:pic>
      <p:pic>
        <p:nvPicPr>
          <p:cNvPr id="3" name="Picture 2" descr="folha-dir.png"/>
          <p:cNvPicPr>
            <a:picLocks noChangeAspect="1"/>
          </p:cNvPicPr>
          <p:nvPr/>
        </p:nvPicPr>
        <p:blipFill>
          <a:blip r:embed="rId3"/>
          <a:stretch>
            <a:fillRect/>
          </a:stretch>
        </p:blipFill>
        <p:spPr>
          <a:xfrm>
            <a:off x="6544056" y="0"/>
            <a:ext cx="1016000" cy="1570892"/>
          </a:xfrm>
          <a:prstGeom prst="rect">
            <a:avLst/>
          </a:prstGeom>
        </p:spPr>
      </p:pic>
      <p:pic>
        <p:nvPicPr>
          <p:cNvPr id="4" name="Picture 3" descr="folha-esq-baixo.png"/>
          <p:cNvPicPr>
            <a:picLocks noChangeAspect="1"/>
          </p:cNvPicPr>
          <p:nvPr/>
        </p:nvPicPr>
        <p:blipFill>
          <a:blip r:embed="rId4"/>
          <a:stretch>
            <a:fillRect/>
          </a:stretch>
        </p:blipFill>
        <p:spPr>
          <a:xfrm>
            <a:off x="0" y="9618873"/>
            <a:ext cx="889000" cy="1073129"/>
          </a:xfrm>
          <a:prstGeom prst="rect">
            <a:avLst/>
          </a:prstGeom>
        </p:spPr>
      </p:pic>
      <p:pic>
        <p:nvPicPr>
          <p:cNvPr id="5" name="Picture 4" descr="folha-dir-baixo.png"/>
          <p:cNvPicPr>
            <a:picLocks noChangeAspect="1"/>
          </p:cNvPicPr>
          <p:nvPr/>
        </p:nvPicPr>
        <p:blipFill>
          <a:blip r:embed="rId5"/>
          <a:stretch>
            <a:fillRect/>
          </a:stretch>
        </p:blipFill>
        <p:spPr>
          <a:xfrm>
            <a:off x="6823456" y="9553106"/>
            <a:ext cx="736600" cy="1138897"/>
          </a:xfrm>
          <a:prstGeom prst="rect">
            <a:avLst/>
          </a:prstGeom>
        </p:spPr>
      </p:pic>
      <p:pic>
        <p:nvPicPr>
          <p:cNvPr id="6" name="Picture 5" descr="lotus.png"/>
          <p:cNvPicPr>
            <a:picLocks noChangeAspect="1"/>
          </p:cNvPicPr>
          <p:nvPr/>
        </p:nvPicPr>
        <p:blipFill>
          <a:blip r:embed="rId6"/>
          <a:stretch>
            <a:fillRect/>
          </a:stretch>
        </p:blipFill>
        <p:spPr>
          <a:xfrm>
            <a:off x="2865628" y="152400"/>
            <a:ext cx="1828800" cy="459982"/>
          </a:xfrm>
          <a:prstGeom prst="rect">
            <a:avLst/>
          </a:prstGeom>
        </p:spPr>
      </p:pic>
      <p:sp>
        <p:nvSpPr>
          <p:cNvPr id="7" name="TextBox 6"/>
          <p:cNvSpPr txBox="1"/>
          <p:nvPr/>
        </p:nvSpPr>
        <p:spPr>
          <a:xfrm>
            <a:off x="889000" y="635000"/>
            <a:ext cx="5782056" cy="930910"/>
          </a:xfrm>
          <a:prstGeom prst="rect">
            <a:avLst/>
          </a:prstGeom>
          <a:noFill/>
        </p:spPr>
        <p:txBody>
          <a:bodyPr wrap="square" lIns="0" rIns="0" tIns="0" bIns="0" anchor="t">
            <a:spAutoFit/>
          </a:bodyPr>
          <a:lstStyle/>
          <a:p>
            <a:pPr algn="ctr">
              <a:lnSpc>
                <a:spcPct val="90000"/>
              </a:lnSpc>
            </a:pPr>
            <a:r>
              <a:rPr sz="3300" b="1" i="0">
                <a:solidFill>
                  <a:srgbClr val="1F3326"/>
                </a:solidFill>
                <a:latin typeface="Cormorant Garamond"/>
              </a:rPr>
              <a:t>Contrato de Atendimento</a:t>
            </a:r>
          </a:p>
          <a:p>
            <a:pPr algn="ctr">
              <a:lnSpc>
                <a:spcPct val="90000"/>
              </a:lnSpc>
            </a:pPr>
            <a:r>
              <a:rPr sz="3300" b="1" i="0">
                <a:solidFill>
                  <a:srgbClr val="1F3326"/>
                </a:solidFill>
                <a:latin typeface="Cormorant Garamond"/>
              </a:rPr>
              <a:t>em Massoterapia</a:t>
            </a:r>
          </a:p>
        </p:txBody>
      </p:sp>
      <p:sp>
        <p:nvSpPr>
          <p:cNvPr id="8" name="TextBox 7"/>
          <p:cNvSpPr txBox="1"/>
          <p:nvPr/>
        </p:nvSpPr>
        <p:spPr>
          <a:xfrm>
            <a:off x="762000" y="1574292"/>
            <a:ext cx="6036056" cy="139700"/>
          </a:xfrm>
          <a:prstGeom prst="rect">
            <a:avLst/>
          </a:prstGeom>
          <a:noFill/>
        </p:spPr>
        <p:txBody>
          <a:bodyPr wrap="square" lIns="0" rIns="0" tIns="0" bIns="0" anchor="t">
            <a:spAutoFit/>
          </a:bodyPr>
          <a:lstStyle/>
          <a:p>
            <a:pPr algn="ctr"/>
            <a:r>
              <a:rPr sz="700" b="0" i="0" spc="210">
                <a:solidFill>
                  <a:srgbClr val="3C3C36"/>
                </a:solidFill>
                <a:latin typeface="Montserrat"/>
              </a:rPr>
              <a:t>MODELO PARA PERSONALIZAÇÃO PROFISSIONAL</a:t>
            </a:r>
          </a:p>
        </p:txBody>
      </p:sp>
      <p:sp>
        <p:nvSpPr>
          <p:cNvPr id="9" name="Rounded Rectangle 8"/>
          <p:cNvSpPr/>
          <p:nvPr/>
        </p:nvSpPr>
        <p:spPr>
          <a:xfrm>
            <a:off x="533400" y="2307862"/>
            <a:ext cx="3132328" cy="228600"/>
          </a:xfrm>
          <a:prstGeom prst="roundRect">
            <a:avLst>
              <a:gd name="adj" fmla="val 33333"/>
            </a:avLst>
          </a:prstGeom>
          <a:solidFill>
            <a:srgbClr val="F1ECE0"/>
          </a:solidFill>
          <a:ln>
            <a:noFill/>
          </a:ln>
          <a:effectLst/>
        </p:spPr>
        <p:txBody>
          <a:bodyPr rtlCol="0" anchor="ctr"/>
          <a:lstStyle/>
          <a:p/>
        </p:txBody>
      </p:sp>
      <p:sp>
        <p:nvSpPr>
          <p:cNvPr id="10" name="TextBox 9"/>
          <p:cNvSpPr txBox="1"/>
          <p:nvPr/>
        </p:nvSpPr>
        <p:spPr>
          <a:xfrm>
            <a:off x="647700" y="2307862"/>
            <a:ext cx="2903728" cy="228600"/>
          </a:xfrm>
          <a:prstGeom prst="rect">
            <a:avLst/>
          </a:prstGeom>
          <a:noFill/>
        </p:spPr>
        <p:txBody>
          <a:bodyPr wrap="square" lIns="0" rIns="0" tIns="0" bIns="0" anchor="ctr">
            <a:spAutoFit/>
          </a:bodyPr>
          <a:lstStyle/>
          <a:p>
            <a:pPr algn="l"/>
            <a:r>
              <a:rPr sz="1150" b="1" i="0">
                <a:solidFill>
                  <a:srgbClr val="1F3326"/>
                </a:solidFill>
                <a:latin typeface="Cormorant Garamond"/>
              </a:rPr>
              <a:t>Massoterapeuta (Profissional)</a:t>
            </a:r>
          </a:p>
        </p:txBody>
      </p:sp>
      <p:sp>
        <p:nvSpPr>
          <p:cNvPr id="11" name="Rounded Rectangle 10"/>
          <p:cNvSpPr/>
          <p:nvPr/>
        </p:nvSpPr>
        <p:spPr>
          <a:xfrm>
            <a:off x="3894328" y="2307862"/>
            <a:ext cx="3132328" cy="228600"/>
          </a:xfrm>
          <a:prstGeom prst="roundRect">
            <a:avLst>
              <a:gd name="adj" fmla="val 33333"/>
            </a:avLst>
          </a:prstGeom>
          <a:solidFill>
            <a:srgbClr val="F1ECE0"/>
          </a:solidFill>
          <a:ln>
            <a:noFill/>
          </a:ln>
          <a:effectLst/>
        </p:spPr>
        <p:txBody>
          <a:bodyPr rtlCol="0" anchor="ctr"/>
          <a:lstStyle/>
          <a:p/>
        </p:txBody>
      </p:sp>
      <p:sp>
        <p:nvSpPr>
          <p:cNvPr id="12" name="TextBox 11"/>
          <p:cNvSpPr txBox="1"/>
          <p:nvPr/>
        </p:nvSpPr>
        <p:spPr>
          <a:xfrm>
            <a:off x="4008628" y="2307862"/>
            <a:ext cx="2903728" cy="228600"/>
          </a:xfrm>
          <a:prstGeom prst="rect">
            <a:avLst/>
          </a:prstGeom>
          <a:noFill/>
        </p:spPr>
        <p:txBody>
          <a:bodyPr wrap="square" lIns="0" rIns="0" tIns="0" bIns="0" anchor="ctr">
            <a:spAutoFit/>
          </a:bodyPr>
          <a:lstStyle/>
          <a:p>
            <a:pPr algn="l"/>
            <a:r>
              <a:rPr sz="1150" b="1" i="0">
                <a:solidFill>
                  <a:srgbClr val="1F3326"/>
                </a:solidFill>
                <a:latin typeface="Cormorant Garamond"/>
              </a:rPr>
              <a:t>Cliente (Pessoa Atendida)</a:t>
            </a:r>
          </a:p>
        </p:txBody>
      </p:sp>
      <p:sp>
        <p:nvSpPr>
          <p:cNvPr id="13" name="TextBox 12"/>
          <p:cNvSpPr txBox="1"/>
          <p:nvPr/>
        </p:nvSpPr>
        <p:spPr>
          <a:xfrm>
            <a:off x="533400" y="2655958"/>
            <a:ext cx="3132328" cy="143458"/>
          </a:xfrm>
          <a:prstGeom prst="rect">
            <a:avLst/>
          </a:prstGeom>
          <a:noFill/>
        </p:spPr>
        <p:txBody>
          <a:bodyPr wrap="square" lIns="0" rIns="0" tIns="0" bIns="0" anchor="t">
            <a:spAutoFit/>
          </a:bodyPr>
          <a:lstStyle/>
          <a:p>
            <a:pPr algn="l"/>
            <a:r>
              <a:rPr sz="806" b="0" i="0">
                <a:solidFill>
                  <a:srgbClr val="4A4A43"/>
                </a:solidFill>
                <a:latin typeface="Montserrat"/>
              </a:rPr>
              <a:t>Nome:</a:t>
            </a:r>
          </a:p>
        </p:txBody>
      </p:sp>
      <p:cxnSp>
        <p:nvCxnSpPr>
          <p:cNvPr id="14" name="Connector 13"/>
          <p:cNvCxnSpPr/>
          <p:nvPr/>
        </p:nvCxnSpPr>
        <p:spPr>
          <a:xfrm>
            <a:off x="936797" y="2773799"/>
            <a:ext cx="2728931" cy="0"/>
          </a:xfrm>
          <a:prstGeom prst="line">
            <a:avLst/>
          </a:prstGeom>
          <a:ln w="7620">
            <a:solidFill>
              <a:srgbClr val="B5B5AA"/>
            </a:solidFill>
          </a:ln>
        </p:spPr>
      </p:cxnSp>
      <p:sp>
        <p:nvSpPr>
          <p:cNvPr id="15" name="TextBox 14"/>
          <p:cNvSpPr txBox="1"/>
          <p:nvPr/>
        </p:nvSpPr>
        <p:spPr>
          <a:xfrm>
            <a:off x="533400" y="2902419"/>
            <a:ext cx="3132328" cy="143458"/>
          </a:xfrm>
          <a:prstGeom prst="rect">
            <a:avLst/>
          </a:prstGeom>
          <a:noFill/>
        </p:spPr>
        <p:txBody>
          <a:bodyPr wrap="square" lIns="0" rIns="0" tIns="0" bIns="0" anchor="t">
            <a:spAutoFit/>
          </a:bodyPr>
          <a:lstStyle/>
          <a:p>
            <a:pPr algn="l"/>
            <a:r>
              <a:rPr sz="806" b="0" i="0">
                <a:solidFill>
                  <a:srgbClr val="4A4A43"/>
                </a:solidFill>
                <a:latin typeface="Montserrat"/>
              </a:rPr>
              <a:t>CPF:</a:t>
            </a:r>
          </a:p>
        </p:txBody>
      </p:sp>
      <p:cxnSp>
        <p:nvCxnSpPr>
          <p:cNvPr id="16" name="Connector 15"/>
          <p:cNvCxnSpPr/>
          <p:nvPr/>
        </p:nvCxnSpPr>
        <p:spPr>
          <a:xfrm>
            <a:off x="828691" y="3020260"/>
            <a:ext cx="2837037" cy="0"/>
          </a:xfrm>
          <a:prstGeom prst="line">
            <a:avLst/>
          </a:prstGeom>
          <a:ln w="7620">
            <a:solidFill>
              <a:srgbClr val="B5B5AA"/>
            </a:solidFill>
          </a:ln>
        </p:spPr>
      </p:cxnSp>
      <p:sp>
        <p:nvSpPr>
          <p:cNvPr id="17" name="TextBox 16"/>
          <p:cNvSpPr txBox="1"/>
          <p:nvPr/>
        </p:nvSpPr>
        <p:spPr>
          <a:xfrm>
            <a:off x="533400" y="3148880"/>
            <a:ext cx="3132328" cy="143458"/>
          </a:xfrm>
          <a:prstGeom prst="rect">
            <a:avLst/>
          </a:prstGeom>
          <a:noFill/>
        </p:spPr>
        <p:txBody>
          <a:bodyPr wrap="square" lIns="0" rIns="0" tIns="0" bIns="0" anchor="t">
            <a:spAutoFit/>
          </a:bodyPr>
          <a:lstStyle/>
          <a:p>
            <a:pPr algn="l"/>
            <a:r>
              <a:rPr sz="806" b="0" i="0">
                <a:solidFill>
                  <a:srgbClr val="4A4A43"/>
                </a:solidFill>
                <a:latin typeface="Montserrat"/>
              </a:rPr>
              <a:t>CNPJ (se houver):</a:t>
            </a:r>
          </a:p>
        </p:txBody>
      </p:sp>
      <p:cxnSp>
        <p:nvCxnSpPr>
          <p:cNvPr id="18" name="Connector 17"/>
          <p:cNvCxnSpPr/>
          <p:nvPr/>
        </p:nvCxnSpPr>
        <p:spPr>
          <a:xfrm>
            <a:off x="1487288" y="3266721"/>
            <a:ext cx="2178440" cy="0"/>
          </a:xfrm>
          <a:prstGeom prst="line">
            <a:avLst/>
          </a:prstGeom>
          <a:ln w="7620">
            <a:solidFill>
              <a:srgbClr val="B5B5AA"/>
            </a:solidFill>
          </a:ln>
        </p:spPr>
      </p:cxnSp>
      <p:sp>
        <p:nvSpPr>
          <p:cNvPr id="19" name="TextBox 18"/>
          <p:cNvSpPr txBox="1"/>
          <p:nvPr/>
        </p:nvSpPr>
        <p:spPr>
          <a:xfrm>
            <a:off x="533400" y="3395341"/>
            <a:ext cx="3132328" cy="143458"/>
          </a:xfrm>
          <a:prstGeom prst="rect">
            <a:avLst/>
          </a:prstGeom>
          <a:noFill/>
        </p:spPr>
        <p:txBody>
          <a:bodyPr wrap="square" lIns="0" rIns="0" tIns="0" bIns="0" anchor="t">
            <a:spAutoFit/>
          </a:bodyPr>
          <a:lstStyle/>
          <a:p>
            <a:pPr algn="l"/>
            <a:r>
              <a:rPr sz="806" b="0" i="0">
                <a:solidFill>
                  <a:srgbClr val="4A4A43"/>
                </a:solidFill>
                <a:latin typeface="Montserrat"/>
              </a:rPr>
              <a:t>Registro profissional (se aplicável):</a:t>
            </a:r>
          </a:p>
        </p:txBody>
      </p:sp>
      <p:cxnSp>
        <p:nvCxnSpPr>
          <p:cNvPr id="20" name="Connector 19"/>
          <p:cNvCxnSpPr/>
          <p:nvPr/>
        </p:nvCxnSpPr>
        <p:spPr>
          <a:xfrm>
            <a:off x="2338546" y="3513182"/>
            <a:ext cx="1327182" cy="0"/>
          </a:xfrm>
          <a:prstGeom prst="line">
            <a:avLst/>
          </a:prstGeom>
          <a:ln w="7620">
            <a:solidFill>
              <a:srgbClr val="B5B5AA"/>
            </a:solidFill>
          </a:ln>
        </p:spPr>
      </p:cxnSp>
      <p:sp>
        <p:nvSpPr>
          <p:cNvPr id="21" name="TextBox 20"/>
          <p:cNvSpPr txBox="1"/>
          <p:nvPr/>
        </p:nvSpPr>
        <p:spPr>
          <a:xfrm>
            <a:off x="533400" y="3641802"/>
            <a:ext cx="3132328" cy="143458"/>
          </a:xfrm>
          <a:prstGeom prst="rect">
            <a:avLst/>
          </a:prstGeom>
          <a:noFill/>
        </p:spPr>
        <p:txBody>
          <a:bodyPr wrap="square" lIns="0" rIns="0" tIns="0" bIns="0" anchor="t">
            <a:spAutoFit/>
          </a:bodyPr>
          <a:lstStyle/>
          <a:p>
            <a:pPr algn="l"/>
            <a:r>
              <a:rPr sz="806" b="0" i="0">
                <a:solidFill>
                  <a:srgbClr val="4A4A43"/>
                </a:solidFill>
                <a:latin typeface="Montserrat"/>
              </a:rPr>
              <a:t>Telefone / WhatsApp:</a:t>
            </a:r>
          </a:p>
        </p:txBody>
      </p:sp>
      <p:cxnSp>
        <p:nvCxnSpPr>
          <p:cNvPr id="22" name="Connector 21"/>
          <p:cNvCxnSpPr/>
          <p:nvPr/>
        </p:nvCxnSpPr>
        <p:spPr>
          <a:xfrm>
            <a:off x="1686177" y="3759643"/>
            <a:ext cx="1979551" cy="0"/>
          </a:xfrm>
          <a:prstGeom prst="line">
            <a:avLst/>
          </a:prstGeom>
          <a:ln w="7620">
            <a:solidFill>
              <a:srgbClr val="B5B5AA"/>
            </a:solidFill>
          </a:ln>
        </p:spPr>
      </p:cxnSp>
      <p:sp>
        <p:nvSpPr>
          <p:cNvPr id="23" name="TextBox 22"/>
          <p:cNvSpPr txBox="1"/>
          <p:nvPr/>
        </p:nvSpPr>
        <p:spPr>
          <a:xfrm>
            <a:off x="533400" y="3888263"/>
            <a:ext cx="3132328" cy="143458"/>
          </a:xfrm>
          <a:prstGeom prst="rect">
            <a:avLst/>
          </a:prstGeom>
          <a:noFill/>
        </p:spPr>
        <p:txBody>
          <a:bodyPr wrap="square" lIns="0" rIns="0" tIns="0" bIns="0" anchor="t">
            <a:spAutoFit/>
          </a:bodyPr>
          <a:lstStyle/>
          <a:p>
            <a:pPr algn="l"/>
            <a:r>
              <a:rPr sz="806" b="0" i="0">
                <a:solidFill>
                  <a:srgbClr val="4A4A43"/>
                </a:solidFill>
                <a:latin typeface="Montserrat"/>
              </a:rPr>
              <a:t>E-mail:</a:t>
            </a:r>
          </a:p>
        </p:txBody>
      </p:sp>
      <p:cxnSp>
        <p:nvCxnSpPr>
          <p:cNvPr id="24" name="Connector 23"/>
          <p:cNvCxnSpPr/>
          <p:nvPr/>
        </p:nvCxnSpPr>
        <p:spPr>
          <a:xfrm>
            <a:off x="948597" y="4006104"/>
            <a:ext cx="2717131" cy="0"/>
          </a:xfrm>
          <a:prstGeom prst="line">
            <a:avLst/>
          </a:prstGeom>
          <a:ln w="7620">
            <a:solidFill>
              <a:srgbClr val="B5B5AA"/>
            </a:solidFill>
          </a:ln>
        </p:spPr>
      </p:cxnSp>
      <p:sp>
        <p:nvSpPr>
          <p:cNvPr id="25" name="TextBox 24"/>
          <p:cNvSpPr txBox="1"/>
          <p:nvPr/>
        </p:nvSpPr>
        <p:spPr>
          <a:xfrm>
            <a:off x="533400" y="4134724"/>
            <a:ext cx="3132328" cy="143458"/>
          </a:xfrm>
          <a:prstGeom prst="rect">
            <a:avLst/>
          </a:prstGeom>
          <a:noFill/>
        </p:spPr>
        <p:txBody>
          <a:bodyPr wrap="square" lIns="0" rIns="0" tIns="0" bIns="0" anchor="t">
            <a:spAutoFit/>
          </a:bodyPr>
          <a:lstStyle/>
          <a:p>
            <a:pPr algn="l"/>
            <a:r>
              <a:rPr sz="806" b="0" i="0">
                <a:solidFill>
                  <a:srgbClr val="4A4A43"/>
                </a:solidFill>
                <a:latin typeface="Montserrat"/>
              </a:rPr>
              <a:t>Endereço profissional:</a:t>
            </a:r>
          </a:p>
        </p:txBody>
      </p:sp>
      <p:cxnSp>
        <p:nvCxnSpPr>
          <p:cNvPr id="26" name="Connector 25"/>
          <p:cNvCxnSpPr/>
          <p:nvPr/>
        </p:nvCxnSpPr>
        <p:spPr>
          <a:xfrm>
            <a:off x="1722346" y="4252565"/>
            <a:ext cx="1943382" cy="0"/>
          </a:xfrm>
          <a:prstGeom prst="line">
            <a:avLst/>
          </a:prstGeom>
          <a:ln w="7620">
            <a:solidFill>
              <a:srgbClr val="B5B5AA"/>
            </a:solidFill>
          </a:ln>
        </p:spPr>
      </p:cxnSp>
      <p:cxnSp>
        <p:nvCxnSpPr>
          <p:cNvPr id="27" name="Connector 26"/>
          <p:cNvCxnSpPr/>
          <p:nvPr/>
        </p:nvCxnSpPr>
        <p:spPr>
          <a:xfrm>
            <a:off x="533400" y="4499026"/>
            <a:ext cx="3132328" cy="0"/>
          </a:xfrm>
          <a:prstGeom prst="line">
            <a:avLst/>
          </a:prstGeom>
          <a:ln w="7620">
            <a:solidFill>
              <a:srgbClr val="B5B5AA"/>
            </a:solidFill>
          </a:ln>
        </p:spPr>
      </p:cxnSp>
      <p:sp>
        <p:nvSpPr>
          <p:cNvPr id="28" name="TextBox 27"/>
          <p:cNvSpPr txBox="1"/>
          <p:nvPr/>
        </p:nvSpPr>
        <p:spPr>
          <a:xfrm>
            <a:off x="3894328" y="2655958"/>
            <a:ext cx="3132328" cy="143458"/>
          </a:xfrm>
          <a:prstGeom prst="rect">
            <a:avLst/>
          </a:prstGeom>
          <a:noFill/>
        </p:spPr>
        <p:txBody>
          <a:bodyPr wrap="square" lIns="0" rIns="0" tIns="0" bIns="0" anchor="t">
            <a:spAutoFit/>
          </a:bodyPr>
          <a:lstStyle/>
          <a:p>
            <a:pPr algn="l"/>
            <a:r>
              <a:rPr sz="806" b="0" i="0">
                <a:solidFill>
                  <a:srgbClr val="4A4A43"/>
                </a:solidFill>
                <a:latin typeface="Montserrat"/>
              </a:rPr>
              <a:t>Nome:</a:t>
            </a:r>
          </a:p>
        </p:txBody>
      </p:sp>
      <p:cxnSp>
        <p:nvCxnSpPr>
          <p:cNvPr id="29" name="Connector 28"/>
          <p:cNvCxnSpPr/>
          <p:nvPr/>
        </p:nvCxnSpPr>
        <p:spPr>
          <a:xfrm>
            <a:off x="4297725" y="2773799"/>
            <a:ext cx="2728931" cy="0"/>
          </a:xfrm>
          <a:prstGeom prst="line">
            <a:avLst/>
          </a:prstGeom>
          <a:ln w="7620">
            <a:solidFill>
              <a:srgbClr val="B5B5AA"/>
            </a:solidFill>
          </a:ln>
        </p:spPr>
      </p:cxnSp>
      <p:sp>
        <p:nvSpPr>
          <p:cNvPr id="30" name="TextBox 29"/>
          <p:cNvSpPr txBox="1"/>
          <p:nvPr/>
        </p:nvSpPr>
        <p:spPr>
          <a:xfrm>
            <a:off x="3894328" y="2902419"/>
            <a:ext cx="3132328" cy="143458"/>
          </a:xfrm>
          <a:prstGeom prst="rect">
            <a:avLst/>
          </a:prstGeom>
          <a:noFill/>
        </p:spPr>
        <p:txBody>
          <a:bodyPr wrap="square" lIns="0" rIns="0" tIns="0" bIns="0" anchor="t">
            <a:spAutoFit/>
          </a:bodyPr>
          <a:lstStyle/>
          <a:p>
            <a:pPr algn="l"/>
            <a:r>
              <a:rPr sz="806" b="0" i="0">
                <a:solidFill>
                  <a:srgbClr val="4A4A43"/>
                </a:solidFill>
                <a:latin typeface="Montserrat"/>
              </a:rPr>
              <a:t>CPF:</a:t>
            </a:r>
          </a:p>
        </p:txBody>
      </p:sp>
      <p:cxnSp>
        <p:nvCxnSpPr>
          <p:cNvPr id="31" name="Connector 30"/>
          <p:cNvCxnSpPr/>
          <p:nvPr/>
        </p:nvCxnSpPr>
        <p:spPr>
          <a:xfrm>
            <a:off x="4189619" y="3020260"/>
            <a:ext cx="2837037" cy="0"/>
          </a:xfrm>
          <a:prstGeom prst="line">
            <a:avLst/>
          </a:prstGeom>
          <a:ln w="7620">
            <a:solidFill>
              <a:srgbClr val="B5B5AA"/>
            </a:solidFill>
          </a:ln>
        </p:spPr>
      </p:cxnSp>
      <p:sp>
        <p:nvSpPr>
          <p:cNvPr id="32" name="TextBox 31"/>
          <p:cNvSpPr txBox="1"/>
          <p:nvPr/>
        </p:nvSpPr>
        <p:spPr>
          <a:xfrm>
            <a:off x="3894328" y="3148880"/>
            <a:ext cx="3132328" cy="143458"/>
          </a:xfrm>
          <a:prstGeom prst="rect">
            <a:avLst/>
          </a:prstGeom>
          <a:noFill/>
        </p:spPr>
        <p:txBody>
          <a:bodyPr wrap="square" lIns="0" rIns="0" tIns="0" bIns="0" anchor="t">
            <a:spAutoFit/>
          </a:bodyPr>
          <a:lstStyle/>
          <a:p>
            <a:pPr algn="l"/>
            <a:r>
              <a:rPr sz="806" b="0" i="0">
                <a:solidFill>
                  <a:srgbClr val="4A4A43"/>
                </a:solidFill>
                <a:latin typeface="Montserrat"/>
              </a:rPr>
              <a:t>Data de nascimento:</a:t>
            </a:r>
          </a:p>
        </p:txBody>
      </p:sp>
      <p:cxnSp>
        <p:nvCxnSpPr>
          <p:cNvPr id="33" name="Connector 32"/>
          <p:cNvCxnSpPr/>
          <p:nvPr/>
        </p:nvCxnSpPr>
        <p:spPr>
          <a:xfrm>
            <a:off x="5017661" y="3266721"/>
            <a:ext cx="2008995" cy="0"/>
          </a:xfrm>
          <a:prstGeom prst="line">
            <a:avLst/>
          </a:prstGeom>
          <a:ln w="7620">
            <a:solidFill>
              <a:srgbClr val="B5B5AA"/>
            </a:solidFill>
          </a:ln>
        </p:spPr>
      </p:cxnSp>
      <p:sp>
        <p:nvSpPr>
          <p:cNvPr id="34" name="TextBox 33"/>
          <p:cNvSpPr txBox="1"/>
          <p:nvPr/>
        </p:nvSpPr>
        <p:spPr>
          <a:xfrm>
            <a:off x="3894328" y="3395341"/>
            <a:ext cx="3132328" cy="143458"/>
          </a:xfrm>
          <a:prstGeom prst="rect">
            <a:avLst/>
          </a:prstGeom>
          <a:noFill/>
        </p:spPr>
        <p:txBody>
          <a:bodyPr wrap="square" lIns="0" rIns="0" tIns="0" bIns="0" anchor="t">
            <a:spAutoFit/>
          </a:bodyPr>
          <a:lstStyle/>
          <a:p>
            <a:pPr algn="l"/>
            <a:r>
              <a:rPr sz="806" b="0" i="0">
                <a:solidFill>
                  <a:srgbClr val="4A4A43"/>
                </a:solidFill>
                <a:latin typeface="Montserrat"/>
              </a:rPr>
              <a:t>Contato:</a:t>
            </a:r>
          </a:p>
        </p:txBody>
      </p:sp>
      <p:cxnSp>
        <p:nvCxnSpPr>
          <p:cNvPr id="35" name="Connector 34"/>
          <p:cNvCxnSpPr/>
          <p:nvPr/>
        </p:nvCxnSpPr>
        <p:spPr>
          <a:xfrm>
            <a:off x="4387275" y="3513182"/>
            <a:ext cx="2639381" cy="0"/>
          </a:xfrm>
          <a:prstGeom prst="line">
            <a:avLst/>
          </a:prstGeom>
          <a:ln w="7620">
            <a:solidFill>
              <a:srgbClr val="B5B5AA"/>
            </a:solidFill>
          </a:ln>
        </p:spPr>
      </p:cxnSp>
      <p:sp>
        <p:nvSpPr>
          <p:cNvPr id="36" name="TextBox 35"/>
          <p:cNvSpPr txBox="1"/>
          <p:nvPr/>
        </p:nvSpPr>
        <p:spPr>
          <a:xfrm>
            <a:off x="3894328" y="3641802"/>
            <a:ext cx="3132328" cy="143458"/>
          </a:xfrm>
          <a:prstGeom prst="rect">
            <a:avLst/>
          </a:prstGeom>
          <a:noFill/>
        </p:spPr>
        <p:txBody>
          <a:bodyPr wrap="square" lIns="0" rIns="0" tIns="0" bIns="0" anchor="t">
            <a:spAutoFit/>
          </a:bodyPr>
          <a:lstStyle/>
          <a:p>
            <a:pPr algn="l"/>
            <a:r>
              <a:rPr sz="806" b="0" i="0">
                <a:solidFill>
                  <a:srgbClr val="4A4A43"/>
                </a:solidFill>
                <a:latin typeface="Montserrat"/>
              </a:rPr>
              <a:t>Endereço:</a:t>
            </a:r>
          </a:p>
        </p:txBody>
      </p:sp>
      <p:cxnSp>
        <p:nvCxnSpPr>
          <p:cNvPr id="37" name="Connector 36"/>
          <p:cNvCxnSpPr/>
          <p:nvPr/>
        </p:nvCxnSpPr>
        <p:spPr>
          <a:xfrm>
            <a:off x="4471413" y="3759643"/>
            <a:ext cx="2555243" cy="0"/>
          </a:xfrm>
          <a:prstGeom prst="line">
            <a:avLst/>
          </a:prstGeom>
          <a:ln w="7620">
            <a:solidFill>
              <a:srgbClr val="B5B5AA"/>
            </a:solidFill>
          </a:ln>
        </p:spPr>
      </p:cxnSp>
      <p:cxnSp>
        <p:nvCxnSpPr>
          <p:cNvPr id="38" name="Connector 37"/>
          <p:cNvCxnSpPr/>
          <p:nvPr/>
        </p:nvCxnSpPr>
        <p:spPr>
          <a:xfrm>
            <a:off x="3894328" y="4006104"/>
            <a:ext cx="3132328" cy="0"/>
          </a:xfrm>
          <a:prstGeom prst="line">
            <a:avLst/>
          </a:prstGeom>
          <a:ln w="7620">
            <a:solidFill>
              <a:srgbClr val="B5B5AA"/>
            </a:solidFill>
          </a:ln>
        </p:spPr>
      </p:cxnSp>
      <p:sp>
        <p:nvSpPr>
          <p:cNvPr id="39" name="TextBox 38"/>
          <p:cNvSpPr txBox="1"/>
          <p:nvPr/>
        </p:nvSpPr>
        <p:spPr>
          <a:xfrm>
            <a:off x="3894328" y="4134724"/>
            <a:ext cx="3132328" cy="143458"/>
          </a:xfrm>
          <a:prstGeom prst="rect">
            <a:avLst/>
          </a:prstGeom>
          <a:noFill/>
        </p:spPr>
        <p:txBody>
          <a:bodyPr wrap="square" lIns="0" rIns="0" tIns="0" bIns="0" anchor="t">
            <a:spAutoFit/>
          </a:bodyPr>
          <a:lstStyle/>
          <a:p>
            <a:pPr algn="l"/>
            <a:r>
              <a:rPr sz="806" b="0" i="0">
                <a:solidFill>
                  <a:srgbClr val="4A4A43"/>
                </a:solidFill>
                <a:latin typeface="Montserrat"/>
              </a:rPr>
              <a:t>Responsável legal (se aplicável):</a:t>
            </a:r>
          </a:p>
        </p:txBody>
      </p:sp>
      <p:cxnSp>
        <p:nvCxnSpPr>
          <p:cNvPr id="40" name="Connector 39"/>
          <p:cNvCxnSpPr/>
          <p:nvPr/>
        </p:nvCxnSpPr>
        <p:spPr>
          <a:xfrm>
            <a:off x="5574684" y="4252565"/>
            <a:ext cx="1451972" cy="0"/>
          </a:xfrm>
          <a:prstGeom prst="line">
            <a:avLst/>
          </a:prstGeom>
          <a:ln w="7620">
            <a:solidFill>
              <a:srgbClr val="B5B5AA"/>
            </a:solidFill>
          </a:ln>
        </p:spPr>
      </p:cxnSp>
      <p:sp>
        <p:nvSpPr>
          <p:cNvPr id="41" name="TextBox 40"/>
          <p:cNvSpPr txBox="1"/>
          <p:nvPr/>
        </p:nvSpPr>
        <p:spPr>
          <a:xfrm>
            <a:off x="3894328" y="4381184"/>
            <a:ext cx="3132328" cy="143458"/>
          </a:xfrm>
          <a:prstGeom prst="rect">
            <a:avLst/>
          </a:prstGeom>
          <a:noFill/>
        </p:spPr>
        <p:txBody>
          <a:bodyPr wrap="square" lIns="0" rIns="0" tIns="0" bIns="0" anchor="t">
            <a:spAutoFit/>
          </a:bodyPr>
          <a:lstStyle/>
          <a:p>
            <a:pPr algn="l"/>
            <a:r>
              <a:rPr sz="806" b="0" i="0">
                <a:solidFill>
                  <a:srgbClr val="4A4A43"/>
                </a:solidFill>
                <a:latin typeface="Montserrat"/>
              </a:rPr>
              <a:t>Contato do responsável:</a:t>
            </a:r>
          </a:p>
        </p:txBody>
      </p:sp>
      <p:cxnSp>
        <p:nvCxnSpPr>
          <p:cNvPr id="42" name="Connector 41"/>
          <p:cNvCxnSpPr/>
          <p:nvPr/>
        </p:nvCxnSpPr>
        <p:spPr>
          <a:xfrm>
            <a:off x="5182254" y="4499026"/>
            <a:ext cx="1844402" cy="0"/>
          </a:xfrm>
          <a:prstGeom prst="line">
            <a:avLst/>
          </a:prstGeom>
          <a:ln w="7620">
            <a:solidFill>
              <a:srgbClr val="B5B5AA"/>
            </a:solidFill>
          </a:ln>
        </p:spPr>
      </p:cxnSp>
      <p:cxnSp>
        <p:nvCxnSpPr>
          <p:cNvPr id="43" name="Connector 42"/>
          <p:cNvCxnSpPr/>
          <p:nvPr/>
        </p:nvCxnSpPr>
        <p:spPr>
          <a:xfrm>
            <a:off x="3780028" y="2333262"/>
            <a:ext cx="0" cy="2268983"/>
          </a:xfrm>
          <a:prstGeom prst="line">
            <a:avLst/>
          </a:prstGeom>
          <a:ln w="10160">
            <a:solidFill>
              <a:srgbClr val="CDD1BF"/>
            </a:solidFill>
          </a:ln>
        </p:spPr>
      </p:cxnSp>
      <p:sp>
        <p:nvSpPr>
          <p:cNvPr id="46" name="TextBox 45"/>
          <p:cNvSpPr txBox="1"/>
          <p:nvPr/>
        </p:nvSpPr>
        <p:spPr>
          <a:xfrm>
            <a:off x="558800" y="1853692"/>
            <a:ext cx="5909056" cy="304800"/>
          </a:xfrm>
          <a:prstGeom prst="rect">
            <a:avLst/>
          </a:prstGeom>
          <a:noFill/>
        </p:spPr>
        <p:txBody>
          <a:bodyPr wrap="square" lIns="0" rIns="0" tIns="0" bIns="0" anchor="ctr">
            <a:spAutoFit/>
          </a:bodyPr>
          <a:lstStyle/>
          <a:p>
            <a:pPr algn="l"/>
            <a:r>
              <a:rPr sz="1500" b="1" i="0">
                <a:solidFill>
                  <a:srgbClr val="1F3326"/>
                </a:solidFill>
                <a:latin typeface="Cormorant Garamond"/>
              </a:rPr>
              <a:t>Identificação das Partes</a:t>
            </a:r>
          </a:p>
        </p:txBody>
      </p:sp>
      <p:pic>
        <p:nvPicPr>
          <p:cNvPr id="47" name="Picture 46" descr="ramo.png"/>
          <p:cNvPicPr>
            <a:picLocks noChangeAspect="1"/>
          </p:cNvPicPr>
          <p:nvPr/>
        </p:nvPicPr>
        <p:blipFill>
          <a:blip r:embed="rId7"/>
          <a:stretch>
            <a:fillRect/>
          </a:stretch>
        </p:blipFill>
        <p:spPr>
          <a:xfrm>
            <a:off x="6671056" y="1915377"/>
            <a:ext cx="381000" cy="181429"/>
          </a:xfrm>
          <a:prstGeom prst="rect">
            <a:avLst/>
          </a:prstGeom>
        </p:spPr>
      </p:pic>
      <p:sp>
        <p:nvSpPr>
          <p:cNvPr id="48" name="TextBox 47"/>
          <p:cNvSpPr txBox="1"/>
          <p:nvPr/>
        </p:nvSpPr>
        <p:spPr>
          <a:xfrm>
            <a:off x="533400" y="5380556"/>
            <a:ext cx="6493256" cy="143458"/>
          </a:xfrm>
          <a:prstGeom prst="rect">
            <a:avLst/>
          </a:prstGeom>
          <a:noFill/>
        </p:spPr>
        <p:txBody>
          <a:bodyPr wrap="square" lIns="0" rIns="0" tIns="0" bIns="0" anchor="t">
            <a:spAutoFit/>
          </a:bodyPr>
          <a:lstStyle/>
          <a:p>
            <a:pPr algn="l"/>
            <a:r>
              <a:rPr sz="806" b="0" i="0">
                <a:solidFill>
                  <a:srgbClr val="4A4A43"/>
                </a:solidFill>
                <a:latin typeface="Montserrat"/>
              </a:rPr>
              <a:t>Modalidade:</a:t>
            </a:r>
          </a:p>
        </p:txBody>
      </p:sp>
      <p:cxnSp>
        <p:nvCxnSpPr>
          <p:cNvPr id="49" name="Connector 48"/>
          <p:cNvCxnSpPr/>
          <p:nvPr/>
        </p:nvCxnSpPr>
        <p:spPr>
          <a:xfrm>
            <a:off x="1227109" y="5498397"/>
            <a:ext cx="5799547" cy="0"/>
          </a:xfrm>
          <a:prstGeom prst="line">
            <a:avLst/>
          </a:prstGeom>
          <a:ln w="7620">
            <a:solidFill>
              <a:srgbClr val="B5B5AA"/>
            </a:solidFill>
          </a:ln>
        </p:spPr>
      </p:cxnSp>
      <p:sp>
        <p:nvSpPr>
          <p:cNvPr id="50" name="TextBox 49"/>
          <p:cNvSpPr txBox="1"/>
          <p:nvPr/>
        </p:nvSpPr>
        <p:spPr>
          <a:xfrm>
            <a:off x="533400" y="5627017"/>
            <a:ext cx="6493256" cy="143458"/>
          </a:xfrm>
          <a:prstGeom prst="rect">
            <a:avLst/>
          </a:prstGeom>
          <a:noFill/>
        </p:spPr>
        <p:txBody>
          <a:bodyPr wrap="square" lIns="0" rIns="0" tIns="0" bIns="0" anchor="t">
            <a:spAutoFit/>
          </a:bodyPr>
          <a:lstStyle/>
          <a:p>
            <a:pPr algn="l"/>
            <a:r>
              <a:rPr sz="806" b="0" i="0">
                <a:solidFill>
                  <a:srgbClr val="4A4A43"/>
                </a:solidFill>
                <a:latin typeface="Montserrat"/>
              </a:rPr>
              <a:t>Frequência:</a:t>
            </a:r>
          </a:p>
        </p:txBody>
      </p:sp>
      <p:cxnSp>
        <p:nvCxnSpPr>
          <p:cNvPr id="51" name="Connector 50"/>
          <p:cNvCxnSpPr/>
          <p:nvPr/>
        </p:nvCxnSpPr>
        <p:spPr>
          <a:xfrm>
            <a:off x="1198513" y="5744858"/>
            <a:ext cx="5828143" cy="0"/>
          </a:xfrm>
          <a:prstGeom prst="line">
            <a:avLst/>
          </a:prstGeom>
          <a:ln w="7620">
            <a:solidFill>
              <a:srgbClr val="B5B5AA"/>
            </a:solidFill>
          </a:ln>
        </p:spPr>
      </p:cxnSp>
      <p:sp>
        <p:nvSpPr>
          <p:cNvPr id="52" name="TextBox 51"/>
          <p:cNvSpPr txBox="1"/>
          <p:nvPr/>
        </p:nvSpPr>
        <p:spPr>
          <a:xfrm>
            <a:off x="533400" y="5873478"/>
            <a:ext cx="6493256" cy="143458"/>
          </a:xfrm>
          <a:prstGeom prst="rect">
            <a:avLst/>
          </a:prstGeom>
          <a:noFill/>
        </p:spPr>
        <p:txBody>
          <a:bodyPr wrap="square" lIns="0" rIns="0" tIns="0" bIns="0" anchor="t">
            <a:spAutoFit/>
          </a:bodyPr>
          <a:lstStyle/>
          <a:p>
            <a:pPr algn="l"/>
            <a:r>
              <a:rPr sz="806" b="0" i="0">
                <a:solidFill>
                  <a:srgbClr val="4A4A43"/>
                </a:solidFill>
                <a:latin typeface="Montserrat"/>
              </a:rPr>
              <a:t>Duração média da sessão:</a:t>
            </a:r>
          </a:p>
        </p:txBody>
      </p:sp>
      <p:cxnSp>
        <p:nvCxnSpPr>
          <p:cNvPr id="53" name="Connector 52"/>
          <p:cNvCxnSpPr/>
          <p:nvPr/>
        </p:nvCxnSpPr>
        <p:spPr>
          <a:xfrm>
            <a:off x="1927079" y="5991319"/>
            <a:ext cx="5099577" cy="0"/>
          </a:xfrm>
          <a:prstGeom prst="line">
            <a:avLst/>
          </a:prstGeom>
          <a:ln w="7620">
            <a:solidFill>
              <a:srgbClr val="B5B5AA"/>
            </a:solidFill>
          </a:ln>
        </p:spPr>
      </p:cxnSp>
      <p:sp>
        <p:nvSpPr>
          <p:cNvPr id="54" name="TextBox 53"/>
          <p:cNvSpPr txBox="1"/>
          <p:nvPr/>
        </p:nvSpPr>
        <p:spPr>
          <a:xfrm>
            <a:off x="533400" y="6119939"/>
            <a:ext cx="6493256" cy="143458"/>
          </a:xfrm>
          <a:prstGeom prst="rect">
            <a:avLst/>
          </a:prstGeom>
          <a:noFill/>
        </p:spPr>
        <p:txBody>
          <a:bodyPr wrap="square" lIns="0" rIns="0" tIns="0" bIns="0" anchor="t">
            <a:spAutoFit/>
          </a:bodyPr>
          <a:lstStyle/>
          <a:p>
            <a:pPr algn="l"/>
            <a:r>
              <a:rPr sz="806" b="0" i="0">
                <a:solidFill>
                  <a:srgbClr val="4A4A43"/>
                </a:solidFill>
                <a:latin typeface="Montserrat"/>
              </a:rPr>
              <a:t>Local de atendimento:</a:t>
            </a:r>
          </a:p>
        </p:txBody>
      </p:sp>
      <p:cxnSp>
        <p:nvCxnSpPr>
          <p:cNvPr id="55" name="Connector 54"/>
          <p:cNvCxnSpPr/>
          <p:nvPr/>
        </p:nvCxnSpPr>
        <p:spPr>
          <a:xfrm>
            <a:off x="1745289" y="6237780"/>
            <a:ext cx="5281367" cy="0"/>
          </a:xfrm>
          <a:prstGeom prst="line">
            <a:avLst/>
          </a:prstGeom>
          <a:ln w="7620">
            <a:solidFill>
              <a:srgbClr val="B5B5AA"/>
            </a:solidFill>
          </a:ln>
        </p:spPr>
      </p:cxnSp>
      <p:sp>
        <p:nvSpPr>
          <p:cNvPr id="56" name="TextBox 55"/>
          <p:cNvSpPr txBox="1"/>
          <p:nvPr/>
        </p:nvSpPr>
        <p:spPr>
          <a:xfrm>
            <a:off x="533400" y="6366400"/>
            <a:ext cx="6493256" cy="143458"/>
          </a:xfrm>
          <a:prstGeom prst="rect">
            <a:avLst/>
          </a:prstGeom>
          <a:noFill/>
        </p:spPr>
        <p:txBody>
          <a:bodyPr wrap="square" lIns="0" rIns="0" tIns="0" bIns="0" anchor="t">
            <a:spAutoFit/>
          </a:bodyPr>
          <a:lstStyle/>
          <a:p>
            <a:pPr algn="l"/>
            <a:r>
              <a:rPr sz="806" b="0" i="0">
                <a:solidFill>
                  <a:srgbClr val="4A4A43"/>
                </a:solidFill>
                <a:latin typeface="Montserrat"/>
              </a:rPr>
              <a:t>Dia e horário:</a:t>
            </a:r>
          </a:p>
        </p:txBody>
      </p:sp>
      <p:cxnSp>
        <p:nvCxnSpPr>
          <p:cNvPr id="57" name="Connector 56"/>
          <p:cNvCxnSpPr/>
          <p:nvPr/>
        </p:nvCxnSpPr>
        <p:spPr>
          <a:xfrm>
            <a:off x="1269842" y="6484241"/>
            <a:ext cx="5756814" cy="0"/>
          </a:xfrm>
          <a:prstGeom prst="line">
            <a:avLst/>
          </a:prstGeom>
          <a:ln w="7620">
            <a:solidFill>
              <a:srgbClr val="B5B5AA"/>
            </a:solidFill>
          </a:ln>
        </p:spPr>
      </p:cxnSp>
      <p:sp>
        <p:nvSpPr>
          <p:cNvPr id="60" name="TextBox 59"/>
          <p:cNvSpPr txBox="1"/>
          <p:nvPr/>
        </p:nvSpPr>
        <p:spPr>
          <a:xfrm>
            <a:off x="558800" y="4926386"/>
            <a:ext cx="5909056" cy="304800"/>
          </a:xfrm>
          <a:prstGeom prst="rect">
            <a:avLst/>
          </a:prstGeom>
          <a:noFill/>
        </p:spPr>
        <p:txBody>
          <a:bodyPr wrap="square" lIns="0" rIns="0" tIns="0" bIns="0" anchor="ctr">
            <a:spAutoFit/>
          </a:bodyPr>
          <a:lstStyle/>
          <a:p>
            <a:pPr algn="l"/>
            <a:r>
              <a:rPr sz="1500" b="1" i="0">
                <a:solidFill>
                  <a:srgbClr val="1F3326"/>
                </a:solidFill>
                <a:latin typeface="Cormorant Garamond"/>
              </a:rPr>
              <a:t>Condições do Atendimento</a:t>
            </a:r>
          </a:p>
        </p:txBody>
      </p:sp>
      <p:pic>
        <p:nvPicPr>
          <p:cNvPr id="61" name="Picture 60" descr="ramo.png"/>
          <p:cNvPicPr>
            <a:picLocks noChangeAspect="1"/>
          </p:cNvPicPr>
          <p:nvPr/>
        </p:nvPicPr>
        <p:blipFill>
          <a:blip r:embed="rId7"/>
          <a:stretch>
            <a:fillRect/>
          </a:stretch>
        </p:blipFill>
        <p:spPr>
          <a:xfrm>
            <a:off x="6671056" y="4988072"/>
            <a:ext cx="381000" cy="181429"/>
          </a:xfrm>
          <a:prstGeom prst="rect">
            <a:avLst/>
          </a:prstGeom>
        </p:spPr>
      </p:pic>
      <p:sp>
        <p:nvSpPr>
          <p:cNvPr id="62" name="Rounded Rectangle 61"/>
          <p:cNvSpPr/>
          <p:nvPr/>
        </p:nvSpPr>
        <p:spPr>
          <a:xfrm>
            <a:off x="533400" y="7365772"/>
            <a:ext cx="6493256" cy="818580"/>
          </a:xfrm>
          <a:prstGeom prst="roundRect">
            <a:avLst>
              <a:gd name="adj" fmla="val 9308"/>
            </a:avLst>
          </a:prstGeom>
          <a:solidFill>
            <a:srgbClr val="F1ECE0"/>
          </a:solidFill>
          <a:ln>
            <a:noFill/>
          </a:ln>
          <a:effectLst/>
        </p:spPr>
        <p:txBody>
          <a:bodyPr rtlCol="0" anchor="ctr"/>
          <a:lstStyle/>
          <a:p/>
        </p:txBody>
      </p:sp>
      <p:sp>
        <p:nvSpPr>
          <p:cNvPr id="63" name="TextBox 62"/>
          <p:cNvSpPr txBox="1"/>
          <p:nvPr/>
        </p:nvSpPr>
        <p:spPr>
          <a:xfrm>
            <a:off x="673100" y="7485268"/>
            <a:ext cx="6213856" cy="669210"/>
          </a:xfrm>
          <a:prstGeom prst="rect">
            <a:avLst/>
          </a:prstGeom>
          <a:noFill/>
        </p:spPr>
        <p:txBody>
          <a:bodyPr wrap="square" lIns="0" rIns="0" tIns="0" bIns="0" anchor="t">
            <a:spAutoFit/>
          </a:bodyPr>
          <a:lstStyle/>
          <a:p>
            <a:pPr algn="l">
              <a:lnSpc>
                <a:spcPct val="145000"/>
              </a:lnSpc>
            </a:pPr>
            <a:r>
              <a:rPr sz="859" b="0" i="0">
                <a:solidFill>
                  <a:srgbClr val="3C3C36"/>
                </a:solidFill>
                <a:latin typeface="Montserrat"/>
              </a:rPr>
              <a:t>O presente contrato estabelece as condições para a prestação de serviços de massoterapia, com foco em bem-estar, relaxamento e cuidado corporal, respeitando as necessidades individuais, os limites de atuação profissional e as orientações acordadas entre as partes.</a:t>
            </a:r>
          </a:p>
        </p:txBody>
      </p:sp>
      <p:sp>
        <p:nvSpPr>
          <p:cNvPr id="66" name="TextBox 65"/>
          <p:cNvSpPr txBox="1"/>
          <p:nvPr/>
        </p:nvSpPr>
        <p:spPr>
          <a:xfrm>
            <a:off x="558800" y="6911601"/>
            <a:ext cx="5909056" cy="304800"/>
          </a:xfrm>
          <a:prstGeom prst="rect">
            <a:avLst/>
          </a:prstGeom>
          <a:noFill/>
        </p:spPr>
        <p:txBody>
          <a:bodyPr wrap="square" lIns="0" rIns="0" tIns="0" bIns="0" anchor="ctr">
            <a:spAutoFit/>
          </a:bodyPr>
          <a:lstStyle/>
          <a:p>
            <a:pPr algn="l"/>
            <a:r>
              <a:rPr sz="1500" b="1" i="0">
                <a:solidFill>
                  <a:srgbClr val="1F3326"/>
                </a:solidFill>
                <a:latin typeface="Cormorant Garamond"/>
              </a:rPr>
              <a:t>Objeto do Contrato</a:t>
            </a:r>
          </a:p>
        </p:txBody>
      </p:sp>
      <p:pic>
        <p:nvPicPr>
          <p:cNvPr id="67" name="Picture 66" descr="ramo.png"/>
          <p:cNvPicPr>
            <a:picLocks noChangeAspect="1"/>
          </p:cNvPicPr>
          <p:nvPr/>
        </p:nvPicPr>
        <p:blipFill>
          <a:blip r:embed="rId7"/>
          <a:stretch>
            <a:fillRect/>
          </a:stretch>
        </p:blipFill>
        <p:spPr>
          <a:xfrm>
            <a:off x="6671056" y="6973287"/>
            <a:ext cx="381000" cy="181429"/>
          </a:xfrm>
          <a:prstGeom prst="rect">
            <a:avLst/>
          </a:prstGeom>
        </p:spPr>
      </p:pic>
      <p:cxnSp>
        <p:nvCxnSpPr>
          <p:cNvPr id="68" name="Connector 67"/>
          <p:cNvCxnSpPr/>
          <p:nvPr/>
        </p:nvCxnSpPr>
        <p:spPr>
          <a:xfrm>
            <a:off x="533400" y="9138155"/>
            <a:ext cx="6493256" cy="0"/>
          </a:xfrm>
          <a:prstGeom prst="line">
            <a:avLst/>
          </a:prstGeom>
          <a:ln w="7620">
            <a:solidFill>
              <a:srgbClr val="B5B5AA"/>
            </a:solidFill>
          </a:ln>
        </p:spPr>
      </p:cxnSp>
      <p:cxnSp>
        <p:nvCxnSpPr>
          <p:cNvPr id="69" name="Connector 68"/>
          <p:cNvCxnSpPr/>
          <p:nvPr/>
        </p:nvCxnSpPr>
        <p:spPr>
          <a:xfrm>
            <a:off x="533400" y="9377148"/>
            <a:ext cx="6493256" cy="0"/>
          </a:xfrm>
          <a:prstGeom prst="line">
            <a:avLst/>
          </a:prstGeom>
          <a:ln w="7620">
            <a:solidFill>
              <a:srgbClr val="B5B5AA"/>
            </a:solidFill>
          </a:ln>
        </p:spPr>
      </p:cxnSp>
      <p:cxnSp>
        <p:nvCxnSpPr>
          <p:cNvPr id="70" name="Connector 69"/>
          <p:cNvCxnSpPr/>
          <p:nvPr/>
        </p:nvCxnSpPr>
        <p:spPr>
          <a:xfrm>
            <a:off x="533400" y="9616140"/>
            <a:ext cx="6493256" cy="0"/>
          </a:xfrm>
          <a:prstGeom prst="line">
            <a:avLst/>
          </a:prstGeom>
          <a:ln w="7620">
            <a:solidFill>
              <a:srgbClr val="B5B5AA"/>
            </a:solidFill>
          </a:ln>
        </p:spPr>
      </p:cxnSp>
      <p:cxnSp>
        <p:nvCxnSpPr>
          <p:cNvPr id="71" name="Connector 70"/>
          <p:cNvCxnSpPr/>
          <p:nvPr/>
        </p:nvCxnSpPr>
        <p:spPr>
          <a:xfrm>
            <a:off x="533400" y="9855132"/>
            <a:ext cx="6493256" cy="0"/>
          </a:xfrm>
          <a:prstGeom prst="line">
            <a:avLst/>
          </a:prstGeom>
          <a:ln w="7620">
            <a:solidFill>
              <a:srgbClr val="B5B5AA"/>
            </a:solidFill>
          </a:ln>
        </p:spPr>
      </p:cxnSp>
      <p:sp>
        <p:nvSpPr>
          <p:cNvPr id="74" name="TextBox 73"/>
          <p:cNvSpPr txBox="1"/>
          <p:nvPr/>
        </p:nvSpPr>
        <p:spPr>
          <a:xfrm>
            <a:off x="558800" y="8483092"/>
            <a:ext cx="5909056" cy="304800"/>
          </a:xfrm>
          <a:prstGeom prst="rect">
            <a:avLst/>
          </a:prstGeom>
          <a:noFill/>
        </p:spPr>
        <p:txBody>
          <a:bodyPr wrap="square" lIns="0" rIns="0" tIns="0" bIns="0" anchor="ctr">
            <a:spAutoFit/>
          </a:bodyPr>
          <a:lstStyle/>
          <a:p>
            <a:pPr algn="l"/>
            <a:r>
              <a:rPr sz="1500" b="1" i="0">
                <a:solidFill>
                  <a:srgbClr val="1F3326"/>
                </a:solidFill>
                <a:latin typeface="Cormorant Garamond"/>
              </a:rPr>
              <a:t>Observações e Combinações Iniciais</a:t>
            </a:r>
          </a:p>
        </p:txBody>
      </p:sp>
      <p:pic>
        <p:nvPicPr>
          <p:cNvPr id="75" name="Picture 74" descr="ramo.png"/>
          <p:cNvPicPr>
            <a:picLocks noChangeAspect="1"/>
          </p:cNvPicPr>
          <p:nvPr/>
        </p:nvPicPr>
        <p:blipFill>
          <a:blip r:embed="rId7"/>
          <a:stretch>
            <a:fillRect/>
          </a:stretch>
        </p:blipFill>
        <p:spPr>
          <a:xfrm>
            <a:off x="6671056" y="8544778"/>
            <a:ext cx="381000" cy="181429"/>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6EC"/>
        </a:solidFill>
        <a:effectLst/>
      </p:bgPr>
    </p:bg>
    <p:spTree>
      <p:nvGrpSpPr>
        <p:cNvPr id="1" name=""/>
        <p:cNvGrpSpPr/>
        <p:nvPr/>
      </p:nvGrpSpPr>
      <p:grpSpPr/>
      <p:sp>
        <p:nvSpPr>
          <p:cNvPr id="45" name="Rounded Rectangle 44"/>
          <p:cNvSpPr/>
          <p:nvPr/>
        </p:nvSpPr>
        <p:spPr>
          <a:xfrm>
            <a:off x="381000" y="8324391"/>
            <a:ext cx="6798056" cy="1549164"/>
          </a:xfrm>
          <a:prstGeom prst="roundRect">
            <a:avLst>
              <a:gd name="adj" fmla="val 7378"/>
            </a:avLst>
          </a:prstGeom>
          <a:solidFill>
            <a:srgbClr val="FCFAF4"/>
          </a:solidFill>
          <a:ln w="11430">
            <a:solidFill>
              <a:srgbClr val="CDD1BF"/>
            </a:solidFill>
          </a:ln>
          <a:effectLst/>
        </p:spPr>
        <p:txBody>
          <a:bodyPr rtlCol="0" anchor="ctr"/>
          <a:lstStyle/>
          <a:p/>
        </p:txBody>
      </p:sp>
      <p:sp>
        <p:nvSpPr>
          <p:cNvPr id="46" name="Round Same Side Corner Rectangle 45"/>
          <p:cNvSpPr/>
          <p:nvPr/>
        </p:nvSpPr>
        <p:spPr>
          <a:xfrm>
            <a:off x="386715" y="8330106"/>
            <a:ext cx="6786626" cy="304800"/>
          </a:xfrm>
          <a:prstGeom prst="round2SameRect">
            <a:avLst>
              <a:gd name="adj1" fmla="val 35416"/>
              <a:gd name="adj2" fmla="val 0"/>
            </a:avLst>
          </a:prstGeom>
          <a:solidFill>
            <a:srgbClr val="DFE2CB"/>
          </a:solidFill>
          <a:ln>
            <a:noFill/>
          </a:ln>
          <a:effectLst/>
        </p:spPr>
        <p:txBody>
          <a:bodyPr rtlCol="0" anchor="ctr"/>
          <a:lstStyle/>
          <a:p/>
        </p:txBody>
      </p:sp>
      <p:sp>
        <p:nvSpPr>
          <p:cNvPr id="37" name="Rounded Rectangle 36"/>
          <p:cNvSpPr/>
          <p:nvPr/>
        </p:nvSpPr>
        <p:spPr>
          <a:xfrm>
            <a:off x="381000" y="6952996"/>
            <a:ext cx="6798056" cy="1223255"/>
          </a:xfrm>
          <a:prstGeom prst="roundRect">
            <a:avLst>
              <a:gd name="adj" fmla="val 9343"/>
            </a:avLst>
          </a:prstGeom>
          <a:solidFill>
            <a:srgbClr val="FCFAF4"/>
          </a:solidFill>
          <a:ln w="11430">
            <a:solidFill>
              <a:srgbClr val="CDD1BF"/>
            </a:solidFill>
          </a:ln>
          <a:effectLst/>
        </p:spPr>
        <p:txBody>
          <a:bodyPr rtlCol="0" anchor="ctr"/>
          <a:lstStyle/>
          <a:p/>
        </p:txBody>
      </p:sp>
      <p:sp>
        <p:nvSpPr>
          <p:cNvPr id="38" name="Round Same Side Corner Rectangle 37"/>
          <p:cNvSpPr/>
          <p:nvPr/>
        </p:nvSpPr>
        <p:spPr>
          <a:xfrm>
            <a:off x="386715" y="6958711"/>
            <a:ext cx="6786626" cy="304800"/>
          </a:xfrm>
          <a:prstGeom prst="round2SameRect">
            <a:avLst>
              <a:gd name="adj1" fmla="val 35416"/>
              <a:gd name="adj2" fmla="val 0"/>
            </a:avLst>
          </a:prstGeom>
          <a:solidFill>
            <a:srgbClr val="DFE2CB"/>
          </a:solidFill>
          <a:ln>
            <a:noFill/>
          </a:ln>
          <a:effectLst/>
        </p:spPr>
        <p:txBody>
          <a:bodyPr rtlCol="0" anchor="ctr"/>
          <a:lstStyle/>
          <a:p/>
        </p:txBody>
      </p:sp>
      <p:sp>
        <p:nvSpPr>
          <p:cNvPr id="31" name="Rounded Rectangle 30"/>
          <p:cNvSpPr/>
          <p:nvPr/>
        </p:nvSpPr>
        <p:spPr>
          <a:xfrm>
            <a:off x="381000" y="5389024"/>
            <a:ext cx="6798056" cy="1415833"/>
          </a:xfrm>
          <a:prstGeom prst="roundRect">
            <a:avLst>
              <a:gd name="adj" fmla="val 8072"/>
            </a:avLst>
          </a:prstGeom>
          <a:solidFill>
            <a:srgbClr val="FCFAF4"/>
          </a:solidFill>
          <a:ln w="11430">
            <a:solidFill>
              <a:srgbClr val="CDD1BF"/>
            </a:solidFill>
          </a:ln>
          <a:effectLst/>
        </p:spPr>
        <p:txBody>
          <a:bodyPr rtlCol="0" anchor="ctr"/>
          <a:lstStyle/>
          <a:p/>
        </p:txBody>
      </p:sp>
      <p:sp>
        <p:nvSpPr>
          <p:cNvPr id="32" name="Round Same Side Corner Rectangle 31"/>
          <p:cNvSpPr/>
          <p:nvPr/>
        </p:nvSpPr>
        <p:spPr>
          <a:xfrm>
            <a:off x="386715" y="5394739"/>
            <a:ext cx="6786626" cy="304800"/>
          </a:xfrm>
          <a:prstGeom prst="round2SameRect">
            <a:avLst>
              <a:gd name="adj1" fmla="val 35416"/>
              <a:gd name="adj2" fmla="val 0"/>
            </a:avLst>
          </a:prstGeom>
          <a:solidFill>
            <a:srgbClr val="DFE2CB"/>
          </a:solidFill>
          <a:ln>
            <a:noFill/>
          </a:ln>
          <a:effectLst/>
        </p:spPr>
        <p:txBody>
          <a:bodyPr rtlCol="0" anchor="ctr"/>
          <a:lstStyle/>
          <a:p/>
        </p:txBody>
      </p:sp>
      <p:sp>
        <p:nvSpPr>
          <p:cNvPr id="25" name="Rounded Rectangle 24"/>
          <p:cNvSpPr/>
          <p:nvPr/>
        </p:nvSpPr>
        <p:spPr>
          <a:xfrm>
            <a:off x="381000" y="3825051"/>
            <a:ext cx="6798056" cy="1415833"/>
          </a:xfrm>
          <a:prstGeom prst="roundRect">
            <a:avLst>
              <a:gd name="adj" fmla="val 8072"/>
            </a:avLst>
          </a:prstGeom>
          <a:solidFill>
            <a:srgbClr val="FCFAF4"/>
          </a:solidFill>
          <a:ln w="11430">
            <a:solidFill>
              <a:srgbClr val="CDD1BF"/>
            </a:solidFill>
          </a:ln>
          <a:effectLst/>
        </p:spPr>
        <p:txBody>
          <a:bodyPr rtlCol="0" anchor="ctr"/>
          <a:lstStyle/>
          <a:p/>
        </p:txBody>
      </p:sp>
      <p:sp>
        <p:nvSpPr>
          <p:cNvPr id="26" name="Round Same Side Corner Rectangle 25"/>
          <p:cNvSpPr/>
          <p:nvPr/>
        </p:nvSpPr>
        <p:spPr>
          <a:xfrm>
            <a:off x="386715" y="3830766"/>
            <a:ext cx="6786626" cy="304800"/>
          </a:xfrm>
          <a:prstGeom prst="round2SameRect">
            <a:avLst>
              <a:gd name="adj1" fmla="val 35416"/>
              <a:gd name="adj2" fmla="val 0"/>
            </a:avLst>
          </a:prstGeom>
          <a:solidFill>
            <a:srgbClr val="DFE2CB"/>
          </a:solidFill>
          <a:ln>
            <a:noFill/>
          </a:ln>
          <a:effectLst/>
        </p:spPr>
        <p:txBody>
          <a:bodyPr rtlCol="0" anchor="ctr"/>
          <a:lstStyle/>
          <a:p/>
        </p:txBody>
      </p:sp>
      <p:sp>
        <p:nvSpPr>
          <p:cNvPr id="19" name="Rounded Rectangle 18"/>
          <p:cNvSpPr/>
          <p:nvPr/>
        </p:nvSpPr>
        <p:spPr>
          <a:xfrm>
            <a:off x="381000" y="1853692"/>
            <a:ext cx="6798056" cy="1823220"/>
          </a:xfrm>
          <a:prstGeom prst="roundRect">
            <a:avLst>
              <a:gd name="adj" fmla="val 6269"/>
            </a:avLst>
          </a:prstGeom>
          <a:solidFill>
            <a:srgbClr val="FCFAF4"/>
          </a:solidFill>
          <a:ln w="11430">
            <a:solidFill>
              <a:srgbClr val="CDD1BF"/>
            </a:solidFill>
          </a:ln>
          <a:effectLst/>
        </p:spPr>
        <p:txBody>
          <a:bodyPr rtlCol="0" anchor="ctr"/>
          <a:lstStyle/>
          <a:p/>
        </p:txBody>
      </p:sp>
      <p:sp>
        <p:nvSpPr>
          <p:cNvPr id="20" name="Round Same Side Corner Rectangle 19"/>
          <p:cNvSpPr/>
          <p:nvPr/>
        </p:nvSpPr>
        <p:spPr>
          <a:xfrm>
            <a:off x="386715" y="1859407"/>
            <a:ext cx="6786626" cy="304800"/>
          </a:xfrm>
          <a:prstGeom prst="round2SameRect">
            <a:avLst>
              <a:gd name="adj1" fmla="val 35416"/>
              <a:gd name="adj2" fmla="val 0"/>
            </a:avLst>
          </a:prstGeom>
          <a:solidFill>
            <a:srgbClr val="DFE2CB"/>
          </a:solidFill>
          <a:ln>
            <a:noFill/>
          </a:ln>
          <a:effectLst/>
        </p:spPr>
        <p:txBody>
          <a:bodyPr rtlCol="0" anchor="ctr"/>
          <a:lstStyle/>
          <a:p/>
        </p:txBody>
      </p:sp>
      <p:pic>
        <p:nvPicPr>
          <p:cNvPr id="2" name="Picture 1" descr="folha-esq.png"/>
          <p:cNvPicPr>
            <a:picLocks noChangeAspect="1"/>
          </p:cNvPicPr>
          <p:nvPr/>
        </p:nvPicPr>
        <p:blipFill>
          <a:blip r:embed="rId2"/>
          <a:stretch>
            <a:fillRect/>
          </a:stretch>
        </p:blipFill>
        <p:spPr>
          <a:xfrm>
            <a:off x="0" y="0"/>
            <a:ext cx="1168400" cy="1410399"/>
          </a:xfrm>
          <a:prstGeom prst="rect">
            <a:avLst/>
          </a:prstGeom>
        </p:spPr>
      </p:pic>
      <p:pic>
        <p:nvPicPr>
          <p:cNvPr id="3" name="Picture 2" descr="folha-dir.png"/>
          <p:cNvPicPr>
            <a:picLocks noChangeAspect="1"/>
          </p:cNvPicPr>
          <p:nvPr/>
        </p:nvPicPr>
        <p:blipFill>
          <a:blip r:embed="rId3"/>
          <a:stretch>
            <a:fillRect/>
          </a:stretch>
        </p:blipFill>
        <p:spPr>
          <a:xfrm>
            <a:off x="6544056" y="0"/>
            <a:ext cx="1016000" cy="1570892"/>
          </a:xfrm>
          <a:prstGeom prst="rect">
            <a:avLst/>
          </a:prstGeom>
        </p:spPr>
      </p:pic>
      <p:pic>
        <p:nvPicPr>
          <p:cNvPr id="4" name="Picture 3" descr="folha-esq-baixo.png"/>
          <p:cNvPicPr>
            <a:picLocks noChangeAspect="1"/>
          </p:cNvPicPr>
          <p:nvPr/>
        </p:nvPicPr>
        <p:blipFill>
          <a:blip r:embed="rId4"/>
          <a:stretch>
            <a:fillRect/>
          </a:stretch>
        </p:blipFill>
        <p:spPr>
          <a:xfrm>
            <a:off x="0" y="9618873"/>
            <a:ext cx="889000" cy="1073129"/>
          </a:xfrm>
          <a:prstGeom prst="rect">
            <a:avLst/>
          </a:prstGeom>
        </p:spPr>
      </p:pic>
      <p:pic>
        <p:nvPicPr>
          <p:cNvPr id="5" name="Picture 4" descr="folha-dir-baixo.png"/>
          <p:cNvPicPr>
            <a:picLocks noChangeAspect="1"/>
          </p:cNvPicPr>
          <p:nvPr/>
        </p:nvPicPr>
        <p:blipFill>
          <a:blip r:embed="rId5"/>
          <a:stretch>
            <a:fillRect/>
          </a:stretch>
        </p:blipFill>
        <p:spPr>
          <a:xfrm>
            <a:off x="6823456" y="9553106"/>
            <a:ext cx="736600" cy="1138897"/>
          </a:xfrm>
          <a:prstGeom prst="rect">
            <a:avLst/>
          </a:prstGeom>
        </p:spPr>
      </p:pic>
      <p:pic>
        <p:nvPicPr>
          <p:cNvPr id="6" name="Picture 5" descr="lotus.png"/>
          <p:cNvPicPr>
            <a:picLocks noChangeAspect="1"/>
          </p:cNvPicPr>
          <p:nvPr/>
        </p:nvPicPr>
        <p:blipFill>
          <a:blip r:embed="rId6"/>
          <a:stretch>
            <a:fillRect/>
          </a:stretch>
        </p:blipFill>
        <p:spPr>
          <a:xfrm>
            <a:off x="2865628" y="152400"/>
            <a:ext cx="1828800" cy="459982"/>
          </a:xfrm>
          <a:prstGeom prst="rect">
            <a:avLst/>
          </a:prstGeom>
        </p:spPr>
      </p:pic>
      <p:sp>
        <p:nvSpPr>
          <p:cNvPr id="7" name="TextBox 6"/>
          <p:cNvSpPr txBox="1"/>
          <p:nvPr/>
        </p:nvSpPr>
        <p:spPr>
          <a:xfrm>
            <a:off x="889000" y="635000"/>
            <a:ext cx="5782056" cy="930910"/>
          </a:xfrm>
          <a:prstGeom prst="rect">
            <a:avLst/>
          </a:prstGeom>
          <a:noFill/>
        </p:spPr>
        <p:txBody>
          <a:bodyPr wrap="square" lIns="0" rIns="0" tIns="0" bIns="0" anchor="t">
            <a:spAutoFit/>
          </a:bodyPr>
          <a:lstStyle/>
          <a:p>
            <a:pPr algn="ctr">
              <a:lnSpc>
                <a:spcPct val="90000"/>
              </a:lnSpc>
            </a:pPr>
            <a:r>
              <a:rPr sz="3300" b="1" i="0">
                <a:solidFill>
                  <a:srgbClr val="1F3326"/>
                </a:solidFill>
                <a:latin typeface="Cormorant Garamond"/>
              </a:rPr>
              <a:t>Contrato de Atendimento</a:t>
            </a:r>
          </a:p>
          <a:p>
            <a:pPr algn="ctr">
              <a:lnSpc>
                <a:spcPct val="90000"/>
              </a:lnSpc>
            </a:pPr>
            <a:r>
              <a:rPr sz="3300" b="1" i="0">
                <a:solidFill>
                  <a:srgbClr val="1F3326"/>
                </a:solidFill>
                <a:latin typeface="Cormorant Garamond"/>
              </a:rPr>
              <a:t>em Massoterapia</a:t>
            </a:r>
          </a:p>
        </p:txBody>
      </p:sp>
      <p:sp>
        <p:nvSpPr>
          <p:cNvPr id="8" name="TextBox 7"/>
          <p:cNvSpPr txBox="1"/>
          <p:nvPr/>
        </p:nvSpPr>
        <p:spPr>
          <a:xfrm>
            <a:off x="762000" y="1574292"/>
            <a:ext cx="6036056" cy="139700"/>
          </a:xfrm>
          <a:prstGeom prst="rect">
            <a:avLst/>
          </a:prstGeom>
          <a:noFill/>
        </p:spPr>
        <p:txBody>
          <a:bodyPr wrap="square" lIns="0" rIns="0" tIns="0" bIns="0" anchor="t">
            <a:spAutoFit/>
          </a:bodyPr>
          <a:lstStyle/>
          <a:p>
            <a:pPr algn="ctr"/>
            <a:r>
              <a:rPr sz="700" b="0" i="0" spc="210">
                <a:solidFill>
                  <a:srgbClr val="3C3C36"/>
                </a:solidFill>
                <a:latin typeface="Montserrat"/>
              </a:rPr>
              <a:t>HONORÁRIOS, POLÍTICA DE ATENDIMENTO E COMBINAÇÕES</a:t>
            </a:r>
          </a:p>
        </p:txBody>
      </p:sp>
      <p:sp>
        <p:nvSpPr>
          <p:cNvPr id="9" name="TextBox 8"/>
          <p:cNvSpPr txBox="1"/>
          <p:nvPr/>
        </p:nvSpPr>
        <p:spPr>
          <a:xfrm>
            <a:off x="533400" y="2306630"/>
            <a:ext cx="6493256" cy="143000"/>
          </a:xfrm>
          <a:prstGeom prst="rect">
            <a:avLst/>
          </a:prstGeom>
          <a:noFill/>
        </p:spPr>
        <p:txBody>
          <a:bodyPr wrap="square" lIns="0" rIns="0" tIns="0" bIns="0" anchor="t">
            <a:spAutoFit/>
          </a:bodyPr>
          <a:lstStyle/>
          <a:p>
            <a:pPr algn="l"/>
            <a:r>
              <a:rPr sz="804" b="0" i="0">
                <a:solidFill>
                  <a:srgbClr val="4A4A43"/>
                </a:solidFill>
                <a:latin typeface="Montserrat"/>
              </a:rPr>
              <a:t>Valor por sessão:</a:t>
            </a:r>
          </a:p>
        </p:txBody>
      </p:sp>
      <p:cxnSp>
        <p:nvCxnSpPr>
          <p:cNvPr id="10" name="Connector 9"/>
          <p:cNvCxnSpPr/>
          <p:nvPr/>
        </p:nvCxnSpPr>
        <p:spPr>
          <a:xfrm>
            <a:off x="1440296" y="2424094"/>
            <a:ext cx="5586360" cy="0"/>
          </a:xfrm>
          <a:prstGeom prst="line">
            <a:avLst/>
          </a:prstGeom>
          <a:ln w="7620">
            <a:solidFill>
              <a:srgbClr val="B5B5AA"/>
            </a:solidFill>
          </a:ln>
        </p:spPr>
      </p:cxnSp>
      <p:sp>
        <p:nvSpPr>
          <p:cNvPr id="11" name="TextBox 10"/>
          <p:cNvSpPr txBox="1"/>
          <p:nvPr/>
        </p:nvSpPr>
        <p:spPr>
          <a:xfrm>
            <a:off x="533400" y="2551059"/>
            <a:ext cx="6493256" cy="143000"/>
          </a:xfrm>
          <a:prstGeom prst="rect">
            <a:avLst/>
          </a:prstGeom>
          <a:noFill/>
        </p:spPr>
        <p:txBody>
          <a:bodyPr wrap="square" lIns="0" rIns="0" tIns="0" bIns="0" anchor="t">
            <a:spAutoFit/>
          </a:bodyPr>
          <a:lstStyle/>
          <a:p>
            <a:pPr algn="l"/>
            <a:r>
              <a:rPr sz="804" b="0" i="0">
                <a:solidFill>
                  <a:srgbClr val="4A4A43"/>
                </a:solidFill>
                <a:latin typeface="Montserrat"/>
              </a:rPr>
              <a:t>Forma de pagamento:</a:t>
            </a:r>
          </a:p>
        </p:txBody>
      </p:sp>
      <p:cxnSp>
        <p:nvCxnSpPr>
          <p:cNvPr id="12" name="Connector 11"/>
          <p:cNvCxnSpPr/>
          <p:nvPr/>
        </p:nvCxnSpPr>
        <p:spPr>
          <a:xfrm>
            <a:off x="1740788" y="2668523"/>
            <a:ext cx="5285868" cy="0"/>
          </a:xfrm>
          <a:prstGeom prst="line">
            <a:avLst/>
          </a:prstGeom>
          <a:ln w="7620">
            <a:solidFill>
              <a:srgbClr val="B5B5AA"/>
            </a:solidFill>
          </a:ln>
        </p:spPr>
      </p:cxnSp>
      <p:sp>
        <p:nvSpPr>
          <p:cNvPr id="13" name="TextBox 12"/>
          <p:cNvSpPr txBox="1"/>
          <p:nvPr/>
        </p:nvSpPr>
        <p:spPr>
          <a:xfrm>
            <a:off x="533400" y="2795488"/>
            <a:ext cx="6493256" cy="143000"/>
          </a:xfrm>
          <a:prstGeom prst="rect">
            <a:avLst/>
          </a:prstGeom>
          <a:noFill/>
        </p:spPr>
        <p:txBody>
          <a:bodyPr wrap="square" lIns="0" rIns="0" tIns="0" bIns="0" anchor="t">
            <a:spAutoFit/>
          </a:bodyPr>
          <a:lstStyle/>
          <a:p>
            <a:pPr algn="l"/>
            <a:r>
              <a:rPr sz="804" b="0" i="0">
                <a:solidFill>
                  <a:srgbClr val="4A4A43"/>
                </a:solidFill>
                <a:latin typeface="Montserrat"/>
              </a:rPr>
              <a:t>Data / prazo de pagamento:</a:t>
            </a:r>
          </a:p>
        </p:txBody>
      </p:sp>
      <p:cxnSp>
        <p:nvCxnSpPr>
          <p:cNvPr id="14" name="Connector 13"/>
          <p:cNvCxnSpPr/>
          <p:nvPr/>
        </p:nvCxnSpPr>
        <p:spPr>
          <a:xfrm>
            <a:off x="2018808" y="2912952"/>
            <a:ext cx="5007848" cy="0"/>
          </a:xfrm>
          <a:prstGeom prst="line">
            <a:avLst/>
          </a:prstGeom>
          <a:ln w="7620">
            <a:solidFill>
              <a:srgbClr val="B5B5AA"/>
            </a:solidFill>
          </a:ln>
        </p:spPr>
      </p:cxnSp>
      <p:sp>
        <p:nvSpPr>
          <p:cNvPr id="15" name="TextBox 14"/>
          <p:cNvSpPr txBox="1"/>
          <p:nvPr/>
        </p:nvSpPr>
        <p:spPr>
          <a:xfrm>
            <a:off x="533400" y="3039916"/>
            <a:ext cx="6493256" cy="143000"/>
          </a:xfrm>
          <a:prstGeom prst="rect">
            <a:avLst/>
          </a:prstGeom>
          <a:noFill/>
        </p:spPr>
        <p:txBody>
          <a:bodyPr wrap="square" lIns="0" rIns="0" tIns="0" bIns="0" anchor="t">
            <a:spAutoFit/>
          </a:bodyPr>
          <a:lstStyle/>
          <a:p>
            <a:pPr algn="l"/>
            <a:r>
              <a:rPr sz="804" b="0" i="0">
                <a:solidFill>
                  <a:srgbClr val="4A4A43"/>
                </a:solidFill>
                <a:latin typeface="Montserrat"/>
              </a:rPr>
              <a:t>Pacote ou plano (se houver):</a:t>
            </a:r>
          </a:p>
        </p:txBody>
      </p:sp>
      <p:cxnSp>
        <p:nvCxnSpPr>
          <p:cNvPr id="16" name="Connector 15"/>
          <p:cNvCxnSpPr/>
          <p:nvPr/>
        </p:nvCxnSpPr>
        <p:spPr>
          <a:xfrm>
            <a:off x="2038167" y="3157381"/>
            <a:ext cx="4988489" cy="0"/>
          </a:xfrm>
          <a:prstGeom prst="line">
            <a:avLst/>
          </a:prstGeom>
          <a:ln w="7620">
            <a:solidFill>
              <a:srgbClr val="B5B5AA"/>
            </a:solidFill>
          </a:ln>
        </p:spPr>
      </p:cxnSp>
      <p:sp>
        <p:nvSpPr>
          <p:cNvPr id="17" name="TextBox 16"/>
          <p:cNvSpPr txBox="1"/>
          <p:nvPr/>
        </p:nvSpPr>
        <p:spPr>
          <a:xfrm>
            <a:off x="533400" y="3284345"/>
            <a:ext cx="6493256" cy="143000"/>
          </a:xfrm>
          <a:prstGeom prst="rect">
            <a:avLst/>
          </a:prstGeom>
          <a:noFill/>
        </p:spPr>
        <p:txBody>
          <a:bodyPr wrap="square" lIns="0" rIns="0" tIns="0" bIns="0" anchor="t">
            <a:spAutoFit/>
          </a:bodyPr>
          <a:lstStyle/>
          <a:p>
            <a:pPr algn="l"/>
            <a:r>
              <a:rPr sz="804" b="0" i="0">
                <a:solidFill>
                  <a:srgbClr val="4A4A43"/>
                </a:solidFill>
                <a:latin typeface="Montserrat"/>
              </a:rPr>
              <a:t>Reajuste previsto para:</a:t>
            </a:r>
          </a:p>
        </p:txBody>
      </p:sp>
      <p:cxnSp>
        <p:nvCxnSpPr>
          <p:cNvPr id="18" name="Connector 17"/>
          <p:cNvCxnSpPr/>
          <p:nvPr/>
        </p:nvCxnSpPr>
        <p:spPr>
          <a:xfrm>
            <a:off x="1746119" y="3401809"/>
            <a:ext cx="5280537" cy="0"/>
          </a:xfrm>
          <a:prstGeom prst="line">
            <a:avLst/>
          </a:prstGeom>
          <a:ln w="7620">
            <a:solidFill>
              <a:srgbClr val="B5B5AA"/>
            </a:solidFill>
          </a:ln>
        </p:spPr>
      </p:cxnSp>
      <p:sp>
        <p:nvSpPr>
          <p:cNvPr id="21" name="TextBox 20"/>
          <p:cNvSpPr txBox="1"/>
          <p:nvPr/>
        </p:nvSpPr>
        <p:spPr>
          <a:xfrm>
            <a:off x="558800" y="1853692"/>
            <a:ext cx="5909056" cy="304800"/>
          </a:xfrm>
          <a:prstGeom prst="rect">
            <a:avLst/>
          </a:prstGeom>
          <a:noFill/>
        </p:spPr>
        <p:txBody>
          <a:bodyPr wrap="square" lIns="0" rIns="0" tIns="0" bIns="0" anchor="ctr">
            <a:spAutoFit/>
          </a:bodyPr>
          <a:lstStyle/>
          <a:p>
            <a:pPr algn="l"/>
            <a:r>
              <a:rPr sz="1500" b="1" i="0">
                <a:solidFill>
                  <a:srgbClr val="1F3326"/>
                </a:solidFill>
                <a:latin typeface="Cormorant Garamond"/>
              </a:rPr>
              <a:t>Honorários e Pagamento</a:t>
            </a:r>
          </a:p>
        </p:txBody>
      </p:sp>
      <p:pic>
        <p:nvPicPr>
          <p:cNvPr id="22" name="Picture 21" descr="ramo.png"/>
          <p:cNvPicPr>
            <a:picLocks noChangeAspect="1"/>
          </p:cNvPicPr>
          <p:nvPr/>
        </p:nvPicPr>
        <p:blipFill>
          <a:blip r:embed="rId7"/>
          <a:stretch>
            <a:fillRect/>
          </a:stretch>
        </p:blipFill>
        <p:spPr>
          <a:xfrm>
            <a:off x="6671056" y="1915377"/>
            <a:ext cx="381000" cy="181429"/>
          </a:xfrm>
          <a:prstGeom prst="rect">
            <a:avLst/>
          </a:prstGeom>
        </p:spPr>
      </p:pic>
      <p:sp>
        <p:nvSpPr>
          <p:cNvPr id="23" name="Rounded Rectangle 22"/>
          <p:cNvSpPr/>
          <p:nvPr/>
        </p:nvSpPr>
        <p:spPr>
          <a:xfrm>
            <a:off x="533400" y="4277990"/>
            <a:ext cx="6493256" cy="814756"/>
          </a:xfrm>
          <a:prstGeom prst="roundRect">
            <a:avLst>
              <a:gd name="adj" fmla="val 9352"/>
            </a:avLst>
          </a:prstGeom>
          <a:solidFill>
            <a:srgbClr val="F1ECE0"/>
          </a:solidFill>
          <a:ln>
            <a:noFill/>
          </a:ln>
          <a:effectLst/>
        </p:spPr>
        <p:txBody>
          <a:bodyPr rtlCol="0" anchor="ctr"/>
          <a:lstStyle/>
          <a:p/>
        </p:txBody>
      </p:sp>
      <p:sp>
        <p:nvSpPr>
          <p:cNvPr id="24" name="TextBox 23"/>
          <p:cNvSpPr txBox="1"/>
          <p:nvPr/>
        </p:nvSpPr>
        <p:spPr>
          <a:xfrm>
            <a:off x="673100" y="4396501"/>
            <a:ext cx="6213856" cy="666618"/>
          </a:xfrm>
          <a:prstGeom prst="rect">
            <a:avLst/>
          </a:prstGeom>
          <a:noFill/>
        </p:spPr>
        <p:txBody>
          <a:bodyPr wrap="square" lIns="0" rIns="0" tIns="0" bIns="0" anchor="t">
            <a:spAutoFit/>
          </a:bodyPr>
          <a:lstStyle/>
          <a:p>
            <a:pPr algn="l">
              <a:lnSpc>
                <a:spcPct val="145000"/>
              </a:lnSpc>
            </a:pPr>
            <a:r>
              <a:rPr sz="857" b="0" i="0">
                <a:solidFill>
                  <a:srgbClr val="3C3C36"/>
                </a:solidFill>
                <a:latin typeface="Montserrat"/>
              </a:rPr>
              <a:t>Cancelamentos e solicitações de reagendamento devem ser informados com antecedência mínima de ____________________. Em caso de não comparecimento, poderá ser cobrado o valor integral da sessão, conforme a política do profissional.</a:t>
            </a:r>
          </a:p>
        </p:txBody>
      </p:sp>
      <p:sp>
        <p:nvSpPr>
          <p:cNvPr id="27" name="TextBox 26"/>
          <p:cNvSpPr txBox="1"/>
          <p:nvPr/>
        </p:nvSpPr>
        <p:spPr>
          <a:xfrm>
            <a:off x="558800" y="3825051"/>
            <a:ext cx="5909056" cy="304800"/>
          </a:xfrm>
          <a:prstGeom prst="rect">
            <a:avLst/>
          </a:prstGeom>
          <a:noFill/>
        </p:spPr>
        <p:txBody>
          <a:bodyPr wrap="square" lIns="0" rIns="0" tIns="0" bIns="0" anchor="ctr">
            <a:spAutoFit/>
          </a:bodyPr>
          <a:lstStyle/>
          <a:p>
            <a:pPr algn="l"/>
            <a:r>
              <a:rPr sz="1500" b="1" i="0">
                <a:solidFill>
                  <a:srgbClr val="1F3326"/>
                </a:solidFill>
                <a:latin typeface="Cormorant Garamond"/>
              </a:rPr>
              <a:t>Faltas, Cancelamentos e Reagendamentos</a:t>
            </a:r>
          </a:p>
        </p:txBody>
      </p:sp>
      <p:pic>
        <p:nvPicPr>
          <p:cNvPr id="28" name="Picture 27" descr="ramo.png"/>
          <p:cNvPicPr>
            <a:picLocks noChangeAspect="1"/>
          </p:cNvPicPr>
          <p:nvPr/>
        </p:nvPicPr>
        <p:blipFill>
          <a:blip r:embed="rId7"/>
          <a:stretch>
            <a:fillRect/>
          </a:stretch>
        </p:blipFill>
        <p:spPr>
          <a:xfrm>
            <a:off x="6671056" y="3886737"/>
            <a:ext cx="381000" cy="181429"/>
          </a:xfrm>
          <a:prstGeom prst="rect">
            <a:avLst/>
          </a:prstGeom>
        </p:spPr>
      </p:pic>
      <p:sp>
        <p:nvSpPr>
          <p:cNvPr id="29" name="Rounded Rectangle 28"/>
          <p:cNvSpPr/>
          <p:nvPr/>
        </p:nvSpPr>
        <p:spPr>
          <a:xfrm>
            <a:off x="533400" y="5841962"/>
            <a:ext cx="6493256" cy="814756"/>
          </a:xfrm>
          <a:prstGeom prst="roundRect">
            <a:avLst>
              <a:gd name="adj" fmla="val 9352"/>
            </a:avLst>
          </a:prstGeom>
          <a:solidFill>
            <a:srgbClr val="F1ECE0"/>
          </a:solidFill>
          <a:ln>
            <a:noFill/>
          </a:ln>
          <a:effectLst/>
        </p:spPr>
        <p:txBody>
          <a:bodyPr rtlCol="0" anchor="ctr"/>
          <a:lstStyle/>
          <a:p/>
        </p:txBody>
      </p:sp>
      <p:sp>
        <p:nvSpPr>
          <p:cNvPr id="30" name="TextBox 29"/>
          <p:cNvSpPr txBox="1"/>
          <p:nvPr/>
        </p:nvSpPr>
        <p:spPr>
          <a:xfrm>
            <a:off x="673100" y="5960473"/>
            <a:ext cx="6213856" cy="666618"/>
          </a:xfrm>
          <a:prstGeom prst="rect">
            <a:avLst/>
          </a:prstGeom>
          <a:noFill/>
        </p:spPr>
        <p:txBody>
          <a:bodyPr wrap="square" lIns="0" rIns="0" tIns="0" bIns="0" anchor="t">
            <a:spAutoFit/>
          </a:bodyPr>
          <a:lstStyle/>
          <a:p>
            <a:pPr algn="l">
              <a:lnSpc>
                <a:spcPct val="145000"/>
              </a:lnSpc>
            </a:pPr>
            <a:r>
              <a:rPr sz="857" b="0" i="0">
                <a:solidFill>
                  <a:srgbClr val="3C3C36"/>
                </a:solidFill>
                <a:latin typeface="Montserrat"/>
              </a:rPr>
              <a:t>Em caso de atraso, a sessão será encerrada no horário previamente acordado, a fim de respeitar a organização da agenda e o atendimento dos demais clientes. O tempo de atraso não será automaticamente acrescido à duração da sessão.</a:t>
            </a:r>
          </a:p>
        </p:txBody>
      </p:sp>
      <p:sp>
        <p:nvSpPr>
          <p:cNvPr id="33" name="TextBox 32"/>
          <p:cNvSpPr txBox="1"/>
          <p:nvPr/>
        </p:nvSpPr>
        <p:spPr>
          <a:xfrm>
            <a:off x="558800" y="5389024"/>
            <a:ext cx="5909056" cy="304800"/>
          </a:xfrm>
          <a:prstGeom prst="rect">
            <a:avLst/>
          </a:prstGeom>
          <a:noFill/>
        </p:spPr>
        <p:txBody>
          <a:bodyPr wrap="square" lIns="0" rIns="0" tIns="0" bIns="0" anchor="ctr">
            <a:spAutoFit/>
          </a:bodyPr>
          <a:lstStyle/>
          <a:p>
            <a:pPr algn="l"/>
            <a:r>
              <a:rPr sz="1500" b="1" i="0">
                <a:solidFill>
                  <a:srgbClr val="1F3326"/>
                </a:solidFill>
                <a:latin typeface="Cormorant Garamond"/>
              </a:rPr>
              <a:t>Atrasos</a:t>
            </a:r>
          </a:p>
        </p:txBody>
      </p:sp>
      <p:pic>
        <p:nvPicPr>
          <p:cNvPr id="34" name="Picture 33" descr="ramo.png"/>
          <p:cNvPicPr>
            <a:picLocks noChangeAspect="1"/>
          </p:cNvPicPr>
          <p:nvPr/>
        </p:nvPicPr>
        <p:blipFill>
          <a:blip r:embed="rId7"/>
          <a:stretch>
            <a:fillRect/>
          </a:stretch>
        </p:blipFill>
        <p:spPr>
          <a:xfrm>
            <a:off x="6671056" y="5450709"/>
            <a:ext cx="381000" cy="181429"/>
          </a:xfrm>
          <a:prstGeom prst="rect">
            <a:avLst/>
          </a:prstGeom>
        </p:spPr>
      </p:pic>
      <p:sp>
        <p:nvSpPr>
          <p:cNvPr id="35" name="Rounded Rectangle 34"/>
          <p:cNvSpPr/>
          <p:nvPr/>
        </p:nvSpPr>
        <p:spPr>
          <a:xfrm>
            <a:off x="533400" y="7405935"/>
            <a:ext cx="6493256" cy="622178"/>
          </a:xfrm>
          <a:prstGeom prst="roundRect">
            <a:avLst>
              <a:gd name="adj" fmla="val 12247"/>
            </a:avLst>
          </a:prstGeom>
          <a:solidFill>
            <a:srgbClr val="F1ECE0"/>
          </a:solidFill>
          <a:ln>
            <a:noFill/>
          </a:ln>
          <a:effectLst/>
        </p:spPr>
        <p:txBody>
          <a:bodyPr rtlCol="0" anchor="ctr"/>
          <a:lstStyle/>
          <a:p/>
        </p:txBody>
      </p:sp>
      <p:sp>
        <p:nvSpPr>
          <p:cNvPr id="36" name="TextBox 35"/>
          <p:cNvSpPr txBox="1"/>
          <p:nvPr/>
        </p:nvSpPr>
        <p:spPr>
          <a:xfrm>
            <a:off x="673100" y="7524446"/>
            <a:ext cx="6213856" cy="474039"/>
          </a:xfrm>
          <a:prstGeom prst="rect">
            <a:avLst/>
          </a:prstGeom>
          <a:noFill/>
        </p:spPr>
        <p:txBody>
          <a:bodyPr wrap="square" lIns="0" rIns="0" tIns="0" bIns="0" anchor="t">
            <a:spAutoFit/>
          </a:bodyPr>
          <a:lstStyle/>
          <a:p>
            <a:pPr algn="l">
              <a:lnSpc>
                <a:spcPct val="145000"/>
              </a:lnSpc>
            </a:pPr>
            <a:r>
              <a:rPr sz="857" b="0" i="0">
                <a:solidFill>
                  <a:srgbClr val="3C3C36"/>
                </a:solidFill>
                <a:latin typeface="Montserrat"/>
              </a:rPr>
              <a:t>Lembretes de sessão, informações administrativas e demais comunicados poderão ser enviados por WhatsApp, telefone ou e-mail, conforme os contatos fornecidos.</a:t>
            </a:r>
          </a:p>
        </p:txBody>
      </p:sp>
      <p:sp>
        <p:nvSpPr>
          <p:cNvPr id="39" name="TextBox 38"/>
          <p:cNvSpPr txBox="1"/>
          <p:nvPr/>
        </p:nvSpPr>
        <p:spPr>
          <a:xfrm>
            <a:off x="558800" y="6952996"/>
            <a:ext cx="5909056" cy="304800"/>
          </a:xfrm>
          <a:prstGeom prst="rect">
            <a:avLst/>
          </a:prstGeom>
          <a:noFill/>
        </p:spPr>
        <p:txBody>
          <a:bodyPr wrap="square" lIns="0" rIns="0" tIns="0" bIns="0" anchor="ctr">
            <a:spAutoFit/>
          </a:bodyPr>
          <a:lstStyle/>
          <a:p>
            <a:pPr algn="l"/>
            <a:r>
              <a:rPr sz="1500" b="1" i="0">
                <a:solidFill>
                  <a:srgbClr val="1F3326"/>
                </a:solidFill>
                <a:latin typeface="Cormorant Garamond"/>
              </a:rPr>
              <a:t>Comunicação</a:t>
            </a:r>
          </a:p>
        </p:txBody>
      </p:sp>
      <p:pic>
        <p:nvPicPr>
          <p:cNvPr id="40" name="Picture 39" descr="ramo.png"/>
          <p:cNvPicPr>
            <a:picLocks noChangeAspect="1"/>
          </p:cNvPicPr>
          <p:nvPr/>
        </p:nvPicPr>
        <p:blipFill>
          <a:blip r:embed="rId7"/>
          <a:stretch>
            <a:fillRect/>
          </a:stretch>
        </p:blipFill>
        <p:spPr>
          <a:xfrm>
            <a:off x="6671056" y="7014682"/>
            <a:ext cx="381000" cy="181429"/>
          </a:xfrm>
          <a:prstGeom prst="rect">
            <a:avLst/>
          </a:prstGeom>
        </p:spPr>
      </p:pic>
      <p:cxnSp>
        <p:nvCxnSpPr>
          <p:cNvPr id="41" name="Connector 40"/>
          <p:cNvCxnSpPr/>
          <p:nvPr/>
        </p:nvCxnSpPr>
        <p:spPr>
          <a:xfrm>
            <a:off x="533400" y="8976251"/>
            <a:ext cx="6493256" cy="0"/>
          </a:xfrm>
          <a:prstGeom prst="line">
            <a:avLst/>
          </a:prstGeom>
          <a:ln w="7620">
            <a:solidFill>
              <a:srgbClr val="B5B5AA"/>
            </a:solidFill>
          </a:ln>
        </p:spPr>
      </p:cxnSp>
      <p:cxnSp>
        <p:nvCxnSpPr>
          <p:cNvPr id="42" name="Connector 41"/>
          <p:cNvCxnSpPr/>
          <p:nvPr/>
        </p:nvCxnSpPr>
        <p:spPr>
          <a:xfrm>
            <a:off x="533400" y="9213273"/>
            <a:ext cx="6493256" cy="0"/>
          </a:xfrm>
          <a:prstGeom prst="line">
            <a:avLst/>
          </a:prstGeom>
          <a:ln w="7620">
            <a:solidFill>
              <a:srgbClr val="B5B5AA"/>
            </a:solidFill>
          </a:ln>
        </p:spPr>
      </p:cxnSp>
      <p:cxnSp>
        <p:nvCxnSpPr>
          <p:cNvPr id="43" name="Connector 42"/>
          <p:cNvCxnSpPr/>
          <p:nvPr/>
        </p:nvCxnSpPr>
        <p:spPr>
          <a:xfrm>
            <a:off x="533400" y="9450295"/>
            <a:ext cx="6493256" cy="0"/>
          </a:xfrm>
          <a:prstGeom prst="line">
            <a:avLst/>
          </a:prstGeom>
          <a:ln w="7620">
            <a:solidFill>
              <a:srgbClr val="B5B5AA"/>
            </a:solidFill>
          </a:ln>
        </p:spPr>
      </p:cxnSp>
      <p:cxnSp>
        <p:nvCxnSpPr>
          <p:cNvPr id="44" name="Connector 43"/>
          <p:cNvCxnSpPr/>
          <p:nvPr/>
        </p:nvCxnSpPr>
        <p:spPr>
          <a:xfrm>
            <a:off x="533400" y="9687316"/>
            <a:ext cx="6493256" cy="0"/>
          </a:xfrm>
          <a:prstGeom prst="line">
            <a:avLst/>
          </a:prstGeom>
          <a:ln w="7620">
            <a:solidFill>
              <a:srgbClr val="B5B5AA"/>
            </a:solidFill>
          </a:ln>
        </p:spPr>
      </p:cxnSp>
      <p:sp>
        <p:nvSpPr>
          <p:cNvPr id="47" name="TextBox 46"/>
          <p:cNvSpPr txBox="1"/>
          <p:nvPr/>
        </p:nvSpPr>
        <p:spPr>
          <a:xfrm>
            <a:off x="558800" y="8324391"/>
            <a:ext cx="5909056" cy="304800"/>
          </a:xfrm>
          <a:prstGeom prst="rect">
            <a:avLst/>
          </a:prstGeom>
          <a:noFill/>
        </p:spPr>
        <p:txBody>
          <a:bodyPr wrap="square" lIns="0" rIns="0" tIns="0" bIns="0" anchor="ctr">
            <a:spAutoFit/>
          </a:bodyPr>
          <a:lstStyle/>
          <a:p>
            <a:pPr algn="l"/>
            <a:r>
              <a:rPr sz="1500" b="1" i="0">
                <a:solidFill>
                  <a:srgbClr val="1F3326"/>
                </a:solidFill>
                <a:latin typeface="Cormorant Garamond"/>
              </a:rPr>
              <a:t>Condições Adicionais Acordadas</a:t>
            </a:r>
          </a:p>
        </p:txBody>
      </p:sp>
      <p:pic>
        <p:nvPicPr>
          <p:cNvPr id="48" name="Picture 47" descr="ramo.png"/>
          <p:cNvPicPr>
            <a:picLocks noChangeAspect="1"/>
          </p:cNvPicPr>
          <p:nvPr/>
        </p:nvPicPr>
        <p:blipFill>
          <a:blip r:embed="rId7"/>
          <a:stretch>
            <a:fillRect/>
          </a:stretch>
        </p:blipFill>
        <p:spPr>
          <a:xfrm>
            <a:off x="6671056" y="8386076"/>
            <a:ext cx="381000" cy="181429"/>
          </a:xfrm>
          <a:prstGeom prst="rect">
            <a:avLst/>
          </a:prstGeom>
        </p:spPr>
      </p:pic>
      <p:pic>
        <p:nvPicPr>
          <p:cNvPr id="49" name="Picture 48" descr="lotus.png"/>
          <p:cNvPicPr>
            <a:picLocks noChangeAspect="1"/>
          </p:cNvPicPr>
          <p:nvPr/>
        </p:nvPicPr>
        <p:blipFill>
          <a:blip r:embed="rId6"/>
          <a:stretch>
            <a:fillRect/>
          </a:stretch>
        </p:blipFill>
        <p:spPr>
          <a:xfrm>
            <a:off x="3145028" y="10057003"/>
            <a:ext cx="1270000" cy="319432"/>
          </a:xfrm>
          <a:prstGeom prst="rect">
            <a:avLst/>
          </a:prstGeom>
        </p:spPr>
      </p:pic>
      <p:sp>
        <p:nvSpPr>
          <p:cNvPr id="50" name="TextBox 49"/>
          <p:cNvSpPr txBox="1"/>
          <p:nvPr/>
        </p:nvSpPr>
        <p:spPr>
          <a:xfrm>
            <a:off x="762000" y="10311003"/>
            <a:ext cx="6036056" cy="127000"/>
          </a:xfrm>
          <a:prstGeom prst="rect">
            <a:avLst/>
          </a:prstGeom>
          <a:noFill/>
        </p:spPr>
        <p:txBody>
          <a:bodyPr wrap="square" lIns="0" rIns="0" tIns="0" bIns="0" anchor="t">
            <a:spAutoFit/>
          </a:bodyPr>
          <a:lstStyle/>
          <a:p>
            <a:pPr algn="ctr"/>
            <a:r>
              <a:rPr sz="660" b="0" i="0" spc="200">
                <a:solidFill>
                  <a:srgbClr val="3C3C36"/>
                </a:solidFill>
                <a:latin typeface="Montserrat"/>
              </a:rPr>
              <a:t>CUIDADO PROFISSIONAL PARA O SEU BEM-ESTAR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6EC"/>
        </a:solidFill>
        <a:effectLst/>
      </p:bgPr>
    </p:bg>
    <p:spTree>
      <p:nvGrpSpPr>
        <p:cNvPr id="1" name=""/>
        <p:cNvGrpSpPr/>
        <p:nvPr/>
      </p:nvGrpSpPr>
      <p:grpSpPr/>
      <p:sp>
        <p:nvSpPr>
          <p:cNvPr id="44" name="Rounded Rectangle 43"/>
          <p:cNvSpPr/>
          <p:nvPr/>
        </p:nvSpPr>
        <p:spPr>
          <a:xfrm>
            <a:off x="381000" y="8455361"/>
            <a:ext cx="6798056" cy="1610720"/>
          </a:xfrm>
          <a:prstGeom prst="roundRect">
            <a:avLst>
              <a:gd name="adj" fmla="val 7096"/>
            </a:avLst>
          </a:prstGeom>
          <a:solidFill>
            <a:srgbClr val="FCFAF4"/>
          </a:solidFill>
          <a:ln w="11430">
            <a:solidFill>
              <a:srgbClr val="CDD1BF"/>
            </a:solidFill>
          </a:ln>
          <a:effectLst/>
        </p:spPr>
        <p:txBody>
          <a:bodyPr rtlCol="0" anchor="ctr"/>
          <a:lstStyle/>
          <a:p/>
        </p:txBody>
      </p:sp>
      <p:sp>
        <p:nvSpPr>
          <p:cNvPr id="45" name="Round Same Side Corner Rectangle 44"/>
          <p:cNvSpPr/>
          <p:nvPr/>
        </p:nvSpPr>
        <p:spPr>
          <a:xfrm>
            <a:off x="386715" y="8461076"/>
            <a:ext cx="6786626" cy="304800"/>
          </a:xfrm>
          <a:prstGeom prst="round2SameRect">
            <a:avLst>
              <a:gd name="adj1" fmla="val 35416"/>
              <a:gd name="adj2" fmla="val 0"/>
            </a:avLst>
          </a:prstGeom>
          <a:solidFill>
            <a:srgbClr val="DFE2CB"/>
          </a:solidFill>
          <a:ln>
            <a:noFill/>
          </a:ln>
          <a:effectLst/>
        </p:spPr>
        <p:txBody>
          <a:bodyPr rtlCol="0" anchor="ctr"/>
          <a:lstStyle/>
          <a:p/>
        </p:txBody>
      </p:sp>
      <p:sp>
        <p:nvSpPr>
          <p:cNvPr id="33" name="Rounded Rectangle 32"/>
          <p:cNvSpPr/>
          <p:nvPr/>
        </p:nvSpPr>
        <p:spPr>
          <a:xfrm>
            <a:off x="381000" y="6929428"/>
            <a:ext cx="6798056" cy="1384025"/>
          </a:xfrm>
          <a:prstGeom prst="roundRect">
            <a:avLst>
              <a:gd name="adj" fmla="val 8258"/>
            </a:avLst>
          </a:prstGeom>
          <a:solidFill>
            <a:srgbClr val="FCFAF4"/>
          </a:solidFill>
          <a:ln w="11430">
            <a:solidFill>
              <a:srgbClr val="CDD1BF"/>
            </a:solidFill>
          </a:ln>
          <a:effectLst/>
        </p:spPr>
        <p:txBody>
          <a:bodyPr rtlCol="0" anchor="ctr"/>
          <a:lstStyle/>
          <a:p/>
        </p:txBody>
      </p:sp>
      <p:sp>
        <p:nvSpPr>
          <p:cNvPr id="34" name="Round Same Side Corner Rectangle 33"/>
          <p:cNvSpPr/>
          <p:nvPr/>
        </p:nvSpPr>
        <p:spPr>
          <a:xfrm>
            <a:off x="386715" y="6935143"/>
            <a:ext cx="6786626" cy="304800"/>
          </a:xfrm>
          <a:prstGeom prst="round2SameRect">
            <a:avLst>
              <a:gd name="adj1" fmla="val 35416"/>
              <a:gd name="adj2" fmla="val 0"/>
            </a:avLst>
          </a:prstGeom>
          <a:solidFill>
            <a:srgbClr val="DFE2CB"/>
          </a:solidFill>
          <a:ln>
            <a:noFill/>
          </a:ln>
          <a:effectLst/>
        </p:spPr>
        <p:txBody>
          <a:bodyPr rtlCol="0" anchor="ctr"/>
          <a:lstStyle/>
          <a:p/>
        </p:txBody>
      </p:sp>
      <p:sp>
        <p:nvSpPr>
          <p:cNvPr id="27" name="Rounded Rectangle 26"/>
          <p:cNvSpPr/>
          <p:nvPr/>
        </p:nvSpPr>
        <p:spPr>
          <a:xfrm>
            <a:off x="381000" y="4716104"/>
            <a:ext cx="6798056" cy="2071416"/>
          </a:xfrm>
          <a:prstGeom prst="roundRect">
            <a:avLst>
              <a:gd name="adj" fmla="val 5517"/>
            </a:avLst>
          </a:prstGeom>
          <a:solidFill>
            <a:srgbClr val="FCFAF4"/>
          </a:solidFill>
          <a:ln w="11430">
            <a:solidFill>
              <a:srgbClr val="CDD1BF"/>
            </a:solidFill>
          </a:ln>
          <a:effectLst/>
        </p:spPr>
        <p:txBody>
          <a:bodyPr rtlCol="0" anchor="ctr"/>
          <a:lstStyle/>
          <a:p/>
        </p:txBody>
      </p:sp>
      <p:sp>
        <p:nvSpPr>
          <p:cNvPr id="28" name="Round Same Side Corner Rectangle 27"/>
          <p:cNvSpPr/>
          <p:nvPr/>
        </p:nvSpPr>
        <p:spPr>
          <a:xfrm>
            <a:off x="386715" y="4721819"/>
            <a:ext cx="6786626" cy="304800"/>
          </a:xfrm>
          <a:prstGeom prst="round2SameRect">
            <a:avLst>
              <a:gd name="adj1" fmla="val 35416"/>
              <a:gd name="adj2" fmla="val 0"/>
            </a:avLst>
          </a:prstGeom>
          <a:solidFill>
            <a:srgbClr val="DFE2CB"/>
          </a:solidFill>
          <a:ln>
            <a:noFill/>
          </a:ln>
          <a:effectLst/>
        </p:spPr>
        <p:txBody>
          <a:bodyPr rtlCol="0" anchor="ctr"/>
          <a:lstStyle/>
          <a:p/>
        </p:txBody>
      </p:sp>
      <p:sp>
        <p:nvSpPr>
          <p:cNvPr id="17" name="Rounded Rectangle 16"/>
          <p:cNvSpPr/>
          <p:nvPr/>
        </p:nvSpPr>
        <p:spPr>
          <a:xfrm>
            <a:off x="381000" y="3190171"/>
            <a:ext cx="6798056" cy="1384025"/>
          </a:xfrm>
          <a:prstGeom prst="roundRect">
            <a:avLst>
              <a:gd name="adj" fmla="val 8258"/>
            </a:avLst>
          </a:prstGeom>
          <a:solidFill>
            <a:srgbClr val="FCFAF4"/>
          </a:solidFill>
          <a:ln w="11430">
            <a:solidFill>
              <a:srgbClr val="CDD1BF"/>
            </a:solidFill>
          </a:ln>
          <a:effectLst/>
        </p:spPr>
        <p:txBody>
          <a:bodyPr rtlCol="0" anchor="ctr"/>
          <a:lstStyle/>
          <a:p/>
        </p:txBody>
      </p:sp>
      <p:sp>
        <p:nvSpPr>
          <p:cNvPr id="18" name="Round Same Side Corner Rectangle 17"/>
          <p:cNvSpPr/>
          <p:nvPr/>
        </p:nvSpPr>
        <p:spPr>
          <a:xfrm>
            <a:off x="386715" y="3195886"/>
            <a:ext cx="6786626" cy="304800"/>
          </a:xfrm>
          <a:prstGeom prst="round2SameRect">
            <a:avLst>
              <a:gd name="adj1" fmla="val 35416"/>
              <a:gd name="adj2" fmla="val 0"/>
            </a:avLst>
          </a:prstGeom>
          <a:solidFill>
            <a:srgbClr val="DFE2CB"/>
          </a:solidFill>
          <a:ln>
            <a:noFill/>
          </a:ln>
          <a:effectLst/>
        </p:spPr>
        <p:txBody>
          <a:bodyPr rtlCol="0" anchor="ctr"/>
          <a:lstStyle/>
          <a:p/>
        </p:txBody>
      </p:sp>
      <p:sp>
        <p:nvSpPr>
          <p:cNvPr id="11" name="Rounded Rectangle 10"/>
          <p:cNvSpPr/>
          <p:nvPr/>
        </p:nvSpPr>
        <p:spPr>
          <a:xfrm>
            <a:off x="381000" y="1853692"/>
            <a:ext cx="6798056" cy="1194572"/>
          </a:xfrm>
          <a:prstGeom prst="roundRect">
            <a:avLst>
              <a:gd name="adj" fmla="val 9568"/>
            </a:avLst>
          </a:prstGeom>
          <a:solidFill>
            <a:srgbClr val="FCFAF4"/>
          </a:solidFill>
          <a:ln w="11430">
            <a:solidFill>
              <a:srgbClr val="CDD1BF"/>
            </a:solidFill>
          </a:ln>
          <a:effectLst/>
        </p:spPr>
        <p:txBody>
          <a:bodyPr rtlCol="0" anchor="ctr"/>
          <a:lstStyle/>
          <a:p/>
        </p:txBody>
      </p:sp>
      <p:sp>
        <p:nvSpPr>
          <p:cNvPr id="12" name="Round Same Side Corner Rectangle 11"/>
          <p:cNvSpPr/>
          <p:nvPr/>
        </p:nvSpPr>
        <p:spPr>
          <a:xfrm>
            <a:off x="386715" y="1859407"/>
            <a:ext cx="6786626" cy="304800"/>
          </a:xfrm>
          <a:prstGeom prst="round2SameRect">
            <a:avLst>
              <a:gd name="adj1" fmla="val 35416"/>
              <a:gd name="adj2" fmla="val 0"/>
            </a:avLst>
          </a:prstGeom>
          <a:solidFill>
            <a:srgbClr val="DFE2CB"/>
          </a:solidFill>
          <a:ln>
            <a:noFill/>
          </a:ln>
          <a:effectLst/>
        </p:spPr>
        <p:txBody>
          <a:bodyPr rtlCol="0" anchor="ctr"/>
          <a:lstStyle/>
          <a:p/>
        </p:txBody>
      </p:sp>
      <p:pic>
        <p:nvPicPr>
          <p:cNvPr id="2" name="Picture 1" descr="folha-esq.png"/>
          <p:cNvPicPr>
            <a:picLocks noChangeAspect="1"/>
          </p:cNvPicPr>
          <p:nvPr/>
        </p:nvPicPr>
        <p:blipFill>
          <a:blip r:embed="rId2"/>
          <a:stretch>
            <a:fillRect/>
          </a:stretch>
        </p:blipFill>
        <p:spPr>
          <a:xfrm>
            <a:off x="0" y="0"/>
            <a:ext cx="1168400" cy="1410399"/>
          </a:xfrm>
          <a:prstGeom prst="rect">
            <a:avLst/>
          </a:prstGeom>
        </p:spPr>
      </p:pic>
      <p:pic>
        <p:nvPicPr>
          <p:cNvPr id="3" name="Picture 2" descr="folha-dir.png"/>
          <p:cNvPicPr>
            <a:picLocks noChangeAspect="1"/>
          </p:cNvPicPr>
          <p:nvPr/>
        </p:nvPicPr>
        <p:blipFill>
          <a:blip r:embed="rId3"/>
          <a:stretch>
            <a:fillRect/>
          </a:stretch>
        </p:blipFill>
        <p:spPr>
          <a:xfrm>
            <a:off x="6544056" y="0"/>
            <a:ext cx="1016000" cy="1570892"/>
          </a:xfrm>
          <a:prstGeom prst="rect">
            <a:avLst/>
          </a:prstGeom>
        </p:spPr>
      </p:pic>
      <p:pic>
        <p:nvPicPr>
          <p:cNvPr id="4" name="Picture 3" descr="folha-esq-baixo.png"/>
          <p:cNvPicPr>
            <a:picLocks noChangeAspect="1"/>
          </p:cNvPicPr>
          <p:nvPr/>
        </p:nvPicPr>
        <p:blipFill>
          <a:blip r:embed="rId4"/>
          <a:stretch>
            <a:fillRect/>
          </a:stretch>
        </p:blipFill>
        <p:spPr>
          <a:xfrm>
            <a:off x="0" y="9618873"/>
            <a:ext cx="889000" cy="1073129"/>
          </a:xfrm>
          <a:prstGeom prst="rect">
            <a:avLst/>
          </a:prstGeom>
        </p:spPr>
      </p:pic>
      <p:pic>
        <p:nvPicPr>
          <p:cNvPr id="5" name="Picture 4" descr="folha-dir-baixo.png"/>
          <p:cNvPicPr>
            <a:picLocks noChangeAspect="1"/>
          </p:cNvPicPr>
          <p:nvPr/>
        </p:nvPicPr>
        <p:blipFill>
          <a:blip r:embed="rId5"/>
          <a:stretch>
            <a:fillRect/>
          </a:stretch>
        </p:blipFill>
        <p:spPr>
          <a:xfrm>
            <a:off x="6823456" y="9553106"/>
            <a:ext cx="736600" cy="1138897"/>
          </a:xfrm>
          <a:prstGeom prst="rect">
            <a:avLst/>
          </a:prstGeom>
        </p:spPr>
      </p:pic>
      <p:pic>
        <p:nvPicPr>
          <p:cNvPr id="6" name="Picture 5" descr="lotus.png"/>
          <p:cNvPicPr>
            <a:picLocks noChangeAspect="1"/>
          </p:cNvPicPr>
          <p:nvPr/>
        </p:nvPicPr>
        <p:blipFill>
          <a:blip r:embed="rId6"/>
          <a:stretch>
            <a:fillRect/>
          </a:stretch>
        </p:blipFill>
        <p:spPr>
          <a:xfrm>
            <a:off x="2865628" y="152400"/>
            <a:ext cx="1828800" cy="459982"/>
          </a:xfrm>
          <a:prstGeom prst="rect">
            <a:avLst/>
          </a:prstGeom>
        </p:spPr>
      </p:pic>
      <p:sp>
        <p:nvSpPr>
          <p:cNvPr id="7" name="TextBox 6"/>
          <p:cNvSpPr txBox="1"/>
          <p:nvPr/>
        </p:nvSpPr>
        <p:spPr>
          <a:xfrm>
            <a:off x="889000" y="635000"/>
            <a:ext cx="5782056" cy="930910"/>
          </a:xfrm>
          <a:prstGeom prst="rect">
            <a:avLst/>
          </a:prstGeom>
          <a:noFill/>
        </p:spPr>
        <p:txBody>
          <a:bodyPr wrap="square" lIns="0" rIns="0" tIns="0" bIns="0" anchor="t">
            <a:spAutoFit/>
          </a:bodyPr>
          <a:lstStyle/>
          <a:p>
            <a:pPr algn="ctr">
              <a:lnSpc>
                <a:spcPct val="90000"/>
              </a:lnSpc>
            </a:pPr>
            <a:r>
              <a:rPr sz="3300" b="1" i="0">
                <a:solidFill>
                  <a:srgbClr val="1F3326"/>
                </a:solidFill>
                <a:latin typeface="Cormorant Garamond"/>
              </a:rPr>
              <a:t>Contrato de Atendimento</a:t>
            </a:r>
          </a:p>
          <a:p>
            <a:pPr algn="ctr">
              <a:lnSpc>
                <a:spcPct val="90000"/>
              </a:lnSpc>
            </a:pPr>
            <a:r>
              <a:rPr sz="3300" b="1" i="0">
                <a:solidFill>
                  <a:srgbClr val="1F3326"/>
                </a:solidFill>
                <a:latin typeface="Cormorant Garamond"/>
              </a:rPr>
              <a:t>em Massoterapia</a:t>
            </a:r>
          </a:p>
        </p:txBody>
      </p:sp>
      <p:sp>
        <p:nvSpPr>
          <p:cNvPr id="8" name="TextBox 7"/>
          <p:cNvSpPr txBox="1"/>
          <p:nvPr/>
        </p:nvSpPr>
        <p:spPr>
          <a:xfrm>
            <a:off x="762000" y="1574292"/>
            <a:ext cx="6036056" cy="139700"/>
          </a:xfrm>
          <a:prstGeom prst="rect">
            <a:avLst/>
          </a:prstGeom>
          <a:noFill/>
        </p:spPr>
        <p:txBody>
          <a:bodyPr wrap="square" lIns="0" rIns="0" tIns="0" bIns="0" anchor="t">
            <a:spAutoFit/>
          </a:bodyPr>
          <a:lstStyle/>
          <a:p>
            <a:pPr algn="ctr"/>
            <a:r>
              <a:rPr sz="700" b="0" i="0" spc="210">
                <a:solidFill>
                  <a:srgbClr val="3C3C36"/>
                </a:solidFill>
                <a:latin typeface="Montserrat"/>
              </a:rPr>
              <a:t>SIGILO, PROTEÇÃO DE DADOS E FINALIZAÇÃO</a:t>
            </a:r>
          </a:p>
        </p:txBody>
      </p:sp>
      <p:sp>
        <p:nvSpPr>
          <p:cNvPr id="9" name="Rounded Rectangle 8"/>
          <p:cNvSpPr/>
          <p:nvPr/>
        </p:nvSpPr>
        <p:spPr>
          <a:xfrm>
            <a:off x="533400" y="2300399"/>
            <a:ext cx="6493256" cy="605958"/>
          </a:xfrm>
          <a:prstGeom prst="roundRect">
            <a:avLst>
              <a:gd name="adj" fmla="val 12575"/>
            </a:avLst>
          </a:prstGeom>
          <a:solidFill>
            <a:srgbClr val="F1ECE0"/>
          </a:solidFill>
          <a:ln>
            <a:noFill/>
          </a:ln>
          <a:effectLst/>
        </p:spPr>
        <p:txBody>
          <a:bodyPr rtlCol="0" anchor="ctr"/>
          <a:lstStyle/>
          <a:p/>
        </p:txBody>
      </p:sp>
      <p:sp>
        <p:nvSpPr>
          <p:cNvPr id="10" name="TextBox 9"/>
          <p:cNvSpPr txBox="1"/>
          <p:nvPr/>
        </p:nvSpPr>
        <p:spPr>
          <a:xfrm>
            <a:off x="673100" y="2413925"/>
            <a:ext cx="6213856" cy="464050"/>
          </a:xfrm>
          <a:prstGeom prst="rect">
            <a:avLst/>
          </a:prstGeom>
          <a:noFill/>
        </p:spPr>
        <p:txBody>
          <a:bodyPr wrap="square" lIns="0" rIns="0" tIns="0" bIns="0" anchor="t">
            <a:spAutoFit/>
          </a:bodyPr>
          <a:lstStyle/>
          <a:p>
            <a:pPr algn="l">
              <a:lnSpc>
                <a:spcPct val="145000"/>
              </a:lnSpc>
            </a:pPr>
            <a:r>
              <a:rPr sz="843" b="0" i="0">
                <a:solidFill>
                  <a:srgbClr val="3C3C36"/>
                </a:solidFill>
                <a:latin typeface="Montserrat"/>
              </a:rPr>
              <a:t>Todas as informações compartilhadas durante o atendimento são confidenciais e serão utilizadas exclusivamente para o acompanhamento profissional, respeitando a ética e o sigilo inerentes à prática da massoterapia.</a:t>
            </a:r>
          </a:p>
        </p:txBody>
      </p:sp>
      <p:sp>
        <p:nvSpPr>
          <p:cNvPr id="13" name="TextBox 12"/>
          <p:cNvSpPr txBox="1"/>
          <p:nvPr/>
        </p:nvSpPr>
        <p:spPr>
          <a:xfrm>
            <a:off x="558800" y="1853692"/>
            <a:ext cx="5909056" cy="304800"/>
          </a:xfrm>
          <a:prstGeom prst="rect">
            <a:avLst/>
          </a:prstGeom>
          <a:noFill/>
        </p:spPr>
        <p:txBody>
          <a:bodyPr wrap="square" lIns="0" rIns="0" tIns="0" bIns="0" anchor="ctr">
            <a:spAutoFit/>
          </a:bodyPr>
          <a:lstStyle/>
          <a:p>
            <a:pPr algn="l"/>
            <a:r>
              <a:rPr sz="1500" b="1" i="0">
                <a:solidFill>
                  <a:srgbClr val="1F3326"/>
                </a:solidFill>
                <a:latin typeface="Cormorant Garamond"/>
              </a:rPr>
              <a:t>Sigilo Profissional</a:t>
            </a:r>
          </a:p>
        </p:txBody>
      </p:sp>
      <p:pic>
        <p:nvPicPr>
          <p:cNvPr id="14" name="Picture 13" descr="ramo.png"/>
          <p:cNvPicPr>
            <a:picLocks noChangeAspect="1"/>
          </p:cNvPicPr>
          <p:nvPr/>
        </p:nvPicPr>
        <p:blipFill>
          <a:blip r:embed="rId7"/>
          <a:stretch>
            <a:fillRect/>
          </a:stretch>
        </p:blipFill>
        <p:spPr>
          <a:xfrm>
            <a:off x="6671056" y="1915377"/>
            <a:ext cx="381000" cy="181429"/>
          </a:xfrm>
          <a:prstGeom prst="rect">
            <a:avLst/>
          </a:prstGeom>
        </p:spPr>
      </p:pic>
      <p:sp>
        <p:nvSpPr>
          <p:cNvPr id="15" name="Rounded Rectangle 14"/>
          <p:cNvSpPr/>
          <p:nvPr/>
        </p:nvSpPr>
        <p:spPr>
          <a:xfrm>
            <a:off x="533400" y="3636879"/>
            <a:ext cx="6493256" cy="795411"/>
          </a:xfrm>
          <a:prstGeom prst="roundRect">
            <a:avLst>
              <a:gd name="adj" fmla="val 9579"/>
            </a:avLst>
          </a:prstGeom>
          <a:solidFill>
            <a:srgbClr val="F1ECE0"/>
          </a:solidFill>
          <a:ln>
            <a:noFill/>
          </a:ln>
          <a:effectLst/>
        </p:spPr>
        <p:txBody>
          <a:bodyPr rtlCol="0" anchor="ctr"/>
          <a:lstStyle/>
          <a:p/>
        </p:txBody>
      </p:sp>
      <p:sp>
        <p:nvSpPr>
          <p:cNvPr id="16" name="TextBox 15"/>
          <p:cNvSpPr txBox="1"/>
          <p:nvPr/>
        </p:nvSpPr>
        <p:spPr>
          <a:xfrm>
            <a:off x="673100" y="3750405"/>
            <a:ext cx="6213856" cy="653503"/>
          </a:xfrm>
          <a:prstGeom prst="rect">
            <a:avLst/>
          </a:prstGeom>
          <a:noFill/>
        </p:spPr>
        <p:txBody>
          <a:bodyPr wrap="square" lIns="0" rIns="0" tIns="0" bIns="0" anchor="t">
            <a:spAutoFit/>
          </a:bodyPr>
          <a:lstStyle/>
          <a:p>
            <a:pPr algn="l">
              <a:lnSpc>
                <a:spcPct val="145000"/>
              </a:lnSpc>
            </a:pPr>
            <a:r>
              <a:rPr sz="843" b="0" i="0">
                <a:solidFill>
                  <a:srgbClr val="3C3C36"/>
                </a:solidFill>
                <a:latin typeface="Montserrat"/>
              </a:rPr>
              <a:t>Os dados pessoais do(a) cliente serão armazenados de forma segura e utilizados apenas para finalidades relacionadas ao atendimento, em conformidade com a Lei Geral de Proteção de Dados Pessoais (LGPD – Lei nº 13.709/2018).</a:t>
            </a:r>
          </a:p>
        </p:txBody>
      </p:sp>
      <p:sp>
        <p:nvSpPr>
          <p:cNvPr id="19" name="TextBox 18"/>
          <p:cNvSpPr txBox="1"/>
          <p:nvPr/>
        </p:nvSpPr>
        <p:spPr>
          <a:xfrm>
            <a:off x="558800" y="3190171"/>
            <a:ext cx="5909056" cy="304800"/>
          </a:xfrm>
          <a:prstGeom prst="rect">
            <a:avLst/>
          </a:prstGeom>
          <a:noFill/>
        </p:spPr>
        <p:txBody>
          <a:bodyPr wrap="square" lIns="0" rIns="0" tIns="0" bIns="0" anchor="ctr">
            <a:spAutoFit/>
          </a:bodyPr>
          <a:lstStyle/>
          <a:p>
            <a:pPr algn="l"/>
            <a:r>
              <a:rPr sz="1500" b="1" i="0">
                <a:solidFill>
                  <a:srgbClr val="1F3326"/>
                </a:solidFill>
                <a:latin typeface="Cormorant Garamond"/>
              </a:rPr>
              <a:t>Registro e Proteção de Dados</a:t>
            </a:r>
          </a:p>
        </p:txBody>
      </p:sp>
      <p:pic>
        <p:nvPicPr>
          <p:cNvPr id="20" name="Picture 19" descr="ramo.png"/>
          <p:cNvPicPr>
            <a:picLocks noChangeAspect="1"/>
          </p:cNvPicPr>
          <p:nvPr/>
        </p:nvPicPr>
        <p:blipFill>
          <a:blip r:embed="rId7"/>
          <a:stretch>
            <a:fillRect/>
          </a:stretch>
        </p:blipFill>
        <p:spPr>
          <a:xfrm>
            <a:off x="6671056" y="3251857"/>
            <a:ext cx="381000" cy="181429"/>
          </a:xfrm>
          <a:prstGeom prst="rect">
            <a:avLst/>
          </a:prstGeom>
        </p:spPr>
      </p:pic>
      <p:sp>
        <p:nvSpPr>
          <p:cNvPr id="21" name="Rounded Rectangle 20"/>
          <p:cNvSpPr/>
          <p:nvPr/>
        </p:nvSpPr>
        <p:spPr>
          <a:xfrm>
            <a:off x="533400" y="5162812"/>
            <a:ext cx="6493256" cy="605958"/>
          </a:xfrm>
          <a:prstGeom prst="roundRect">
            <a:avLst>
              <a:gd name="adj" fmla="val 12575"/>
            </a:avLst>
          </a:prstGeom>
          <a:solidFill>
            <a:srgbClr val="F1ECE0"/>
          </a:solidFill>
          <a:ln>
            <a:noFill/>
          </a:ln>
          <a:effectLst/>
        </p:spPr>
        <p:txBody>
          <a:bodyPr rtlCol="0" anchor="ctr"/>
          <a:lstStyle/>
          <a:p/>
        </p:txBody>
      </p:sp>
      <p:sp>
        <p:nvSpPr>
          <p:cNvPr id="22" name="TextBox 21"/>
          <p:cNvSpPr txBox="1"/>
          <p:nvPr/>
        </p:nvSpPr>
        <p:spPr>
          <a:xfrm>
            <a:off x="673100" y="5276338"/>
            <a:ext cx="6213856" cy="464050"/>
          </a:xfrm>
          <a:prstGeom prst="rect">
            <a:avLst/>
          </a:prstGeom>
          <a:noFill/>
        </p:spPr>
        <p:txBody>
          <a:bodyPr wrap="square" lIns="0" rIns="0" tIns="0" bIns="0" anchor="t">
            <a:spAutoFit/>
          </a:bodyPr>
          <a:lstStyle/>
          <a:p>
            <a:pPr algn="l">
              <a:lnSpc>
                <a:spcPct val="145000"/>
              </a:lnSpc>
            </a:pPr>
            <a:r>
              <a:rPr sz="843" b="0" i="0">
                <a:solidFill>
                  <a:srgbClr val="3C3C36"/>
                </a:solidFill>
                <a:latin typeface="Montserrat"/>
              </a:rPr>
              <a:t>O(a) cliente declara, neste espaço, eventuais condições de saúde, restrições, alergias ou outras informações relevantes para a realização do atendimento de forma segura e adequada.</a:t>
            </a:r>
          </a:p>
        </p:txBody>
      </p:sp>
      <p:cxnSp>
        <p:nvCxnSpPr>
          <p:cNvPr id="23" name="Connector 22"/>
          <p:cNvCxnSpPr/>
          <p:nvPr/>
        </p:nvCxnSpPr>
        <p:spPr>
          <a:xfrm>
            <a:off x="533400" y="5968931"/>
            <a:ext cx="6493256" cy="0"/>
          </a:xfrm>
          <a:prstGeom prst="line">
            <a:avLst/>
          </a:prstGeom>
          <a:ln w="7620">
            <a:solidFill>
              <a:srgbClr val="B5B5AA"/>
            </a:solidFill>
          </a:ln>
        </p:spPr>
      </p:cxnSp>
      <p:cxnSp>
        <p:nvCxnSpPr>
          <p:cNvPr id="24" name="Connector 23"/>
          <p:cNvCxnSpPr/>
          <p:nvPr/>
        </p:nvCxnSpPr>
        <p:spPr>
          <a:xfrm>
            <a:off x="533400" y="6181792"/>
            <a:ext cx="6493256" cy="0"/>
          </a:xfrm>
          <a:prstGeom prst="line">
            <a:avLst/>
          </a:prstGeom>
          <a:ln w="7620">
            <a:solidFill>
              <a:srgbClr val="B5B5AA"/>
            </a:solidFill>
          </a:ln>
        </p:spPr>
      </p:cxnSp>
      <p:cxnSp>
        <p:nvCxnSpPr>
          <p:cNvPr id="25" name="Connector 24"/>
          <p:cNvCxnSpPr/>
          <p:nvPr/>
        </p:nvCxnSpPr>
        <p:spPr>
          <a:xfrm>
            <a:off x="533400" y="6394653"/>
            <a:ext cx="6493256" cy="0"/>
          </a:xfrm>
          <a:prstGeom prst="line">
            <a:avLst/>
          </a:prstGeom>
          <a:ln w="7620">
            <a:solidFill>
              <a:srgbClr val="B5B5AA"/>
            </a:solidFill>
          </a:ln>
        </p:spPr>
      </p:cxnSp>
      <p:cxnSp>
        <p:nvCxnSpPr>
          <p:cNvPr id="26" name="Connector 25"/>
          <p:cNvCxnSpPr/>
          <p:nvPr/>
        </p:nvCxnSpPr>
        <p:spPr>
          <a:xfrm>
            <a:off x="533400" y="6607514"/>
            <a:ext cx="6493256" cy="0"/>
          </a:xfrm>
          <a:prstGeom prst="line">
            <a:avLst/>
          </a:prstGeom>
          <a:ln w="7620">
            <a:solidFill>
              <a:srgbClr val="B5B5AA"/>
            </a:solidFill>
          </a:ln>
        </p:spPr>
      </p:cxnSp>
      <p:sp>
        <p:nvSpPr>
          <p:cNvPr id="29" name="TextBox 28"/>
          <p:cNvSpPr txBox="1"/>
          <p:nvPr/>
        </p:nvSpPr>
        <p:spPr>
          <a:xfrm>
            <a:off x="558800" y="4716104"/>
            <a:ext cx="5909056" cy="304800"/>
          </a:xfrm>
          <a:prstGeom prst="rect">
            <a:avLst/>
          </a:prstGeom>
          <a:noFill/>
        </p:spPr>
        <p:txBody>
          <a:bodyPr wrap="square" lIns="0" rIns="0" tIns="0" bIns="0" anchor="ctr">
            <a:spAutoFit/>
          </a:bodyPr>
          <a:lstStyle/>
          <a:p>
            <a:pPr algn="l"/>
            <a:r>
              <a:rPr sz="1500" b="1" i="0">
                <a:solidFill>
                  <a:srgbClr val="1F3326"/>
                </a:solidFill>
                <a:latin typeface="Cormorant Garamond"/>
              </a:rPr>
              <a:t>Contraindicações Declaradas</a:t>
            </a:r>
          </a:p>
        </p:txBody>
      </p:sp>
      <p:pic>
        <p:nvPicPr>
          <p:cNvPr id="30" name="Picture 29" descr="ramo.png"/>
          <p:cNvPicPr>
            <a:picLocks noChangeAspect="1"/>
          </p:cNvPicPr>
          <p:nvPr/>
        </p:nvPicPr>
        <p:blipFill>
          <a:blip r:embed="rId7"/>
          <a:stretch>
            <a:fillRect/>
          </a:stretch>
        </p:blipFill>
        <p:spPr>
          <a:xfrm>
            <a:off x="6671056" y="4777790"/>
            <a:ext cx="381000" cy="181429"/>
          </a:xfrm>
          <a:prstGeom prst="rect">
            <a:avLst/>
          </a:prstGeom>
        </p:spPr>
      </p:pic>
      <p:sp>
        <p:nvSpPr>
          <p:cNvPr id="31" name="Rounded Rectangle 30"/>
          <p:cNvSpPr/>
          <p:nvPr/>
        </p:nvSpPr>
        <p:spPr>
          <a:xfrm>
            <a:off x="533400" y="7376135"/>
            <a:ext cx="6493256" cy="795411"/>
          </a:xfrm>
          <a:prstGeom prst="roundRect">
            <a:avLst>
              <a:gd name="adj" fmla="val 9579"/>
            </a:avLst>
          </a:prstGeom>
          <a:solidFill>
            <a:srgbClr val="F1ECE0"/>
          </a:solidFill>
          <a:ln>
            <a:noFill/>
          </a:ln>
          <a:effectLst/>
        </p:spPr>
        <p:txBody>
          <a:bodyPr rtlCol="0" anchor="ctr"/>
          <a:lstStyle/>
          <a:p/>
        </p:txBody>
      </p:sp>
      <p:sp>
        <p:nvSpPr>
          <p:cNvPr id="32" name="TextBox 31"/>
          <p:cNvSpPr txBox="1"/>
          <p:nvPr/>
        </p:nvSpPr>
        <p:spPr>
          <a:xfrm>
            <a:off x="673100" y="7489661"/>
            <a:ext cx="6213856" cy="653503"/>
          </a:xfrm>
          <a:prstGeom prst="rect">
            <a:avLst/>
          </a:prstGeom>
          <a:noFill/>
        </p:spPr>
        <p:txBody>
          <a:bodyPr wrap="square" lIns="0" rIns="0" tIns="0" bIns="0" anchor="t">
            <a:spAutoFit/>
          </a:bodyPr>
          <a:lstStyle/>
          <a:p>
            <a:pPr algn="l">
              <a:lnSpc>
                <a:spcPct val="145000"/>
              </a:lnSpc>
            </a:pPr>
            <a:r>
              <a:rPr sz="843" b="0" i="0">
                <a:solidFill>
                  <a:srgbClr val="3C3C36"/>
                </a:solidFill>
                <a:latin typeface="Montserrat"/>
              </a:rPr>
              <a:t>O acompanhamento em massoterapia poderá ser concluído por acordo entre as partes ou por decisão do(a) massoterapeuta, quando identificado que os objetivos foram alcançados ou quando não for mais indicado dar continuidade ao atendimento.</a:t>
            </a:r>
          </a:p>
        </p:txBody>
      </p:sp>
      <p:sp>
        <p:nvSpPr>
          <p:cNvPr id="35" name="TextBox 34"/>
          <p:cNvSpPr txBox="1"/>
          <p:nvPr/>
        </p:nvSpPr>
        <p:spPr>
          <a:xfrm>
            <a:off x="558800" y="6929428"/>
            <a:ext cx="5909056" cy="304800"/>
          </a:xfrm>
          <a:prstGeom prst="rect">
            <a:avLst/>
          </a:prstGeom>
          <a:noFill/>
        </p:spPr>
        <p:txBody>
          <a:bodyPr wrap="square" lIns="0" rIns="0" tIns="0" bIns="0" anchor="ctr">
            <a:spAutoFit/>
          </a:bodyPr>
          <a:lstStyle/>
          <a:p>
            <a:pPr algn="l"/>
            <a:r>
              <a:rPr sz="1500" b="1" i="0">
                <a:solidFill>
                  <a:srgbClr val="1F3326"/>
                </a:solidFill>
                <a:latin typeface="Cormorant Garamond"/>
              </a:rPr>
              <a:t>Encerramento do Atendimento</a:t>
            </a:r>
          </a:p>
        </p:txBody>
      </p:sp>
      <p:pic>
        <p:nvPicPr>
          <p:cNvPr id="36" name="Picture 35" descr="ramo.png"/>
          <p:cNvPicPr>
            <a:picLocks noChangeAspect="1"/>
          </p:cNvPicPr>
          <p:nvPr/>
        </p:nvPicPr>
        <p:blipFill>
          <a:blip r:embed="rId7"/>
          <a:stretch>
            <a:fillRect/>
          </a:stretch>
        </p:blipFill>
        <p:spPr>
          <a:xfrm>
            <a:off x="6671056" y="6991114"/>
            <a:ext cx="381000" cy="181429"/>
          </a:xfrm>
          <a:prstGeom prst="rect">
            <a:avLst/>
          </a:prstGeom>
        </p:spPr>
      </p:pic>
      <p:sp>
        <p:nvSpPr>
          <p:cNvPr id="37" name="TextBox 36"/>
          <p:cNvSpPr txBox="1"/>
          <p:nvPr/>
        </p:nvSpPr>
        <p:spPr>
          <a:xfrm>
            <a:off x="533400" y="8902068"/>
            <a:ext cx="6493256" cy="192773"/>
          </a:xfrm>
          <a:prstGeom prst="rect">
            <a:avLst/>
          </a:prstGeom>
          <a:noFill/>
        </p:spPr>
        <p:txBody>
          <a:bodyPr wrap="square" lIns="0" rIns="0" tIns="0" bIns="0" anchor="t">
            <a:spAutoFit/>
          </a:bodyPr>
          <a:lstStyle/>
          <a:p>
            <a:pPr algn="l">
              <a:lnSpc>
                <a:spcPct val="140000"/>
              </a:lnSpc>
            </a:pPr>
            <a:r>
              <a:rPr sz="843" b="0" i="0">
                <a:solidFill>
                  <a:srgbClr val="3C3C36"/>
                </a:solidFill>
                <a:latin typeface="Montserrat"/>
              </a:rPr>
              <a:t>Declaro que li e estou de acordo com todas as condições estabelecidas neste contrato de atendimento em massoterapia.</a:t>
            </a:r>
          </a:p>
        </p:txBody>
      </p:sp>
      <p:sp>
        <p:nvSpPr>
          <p:cNvPr id="38" name="TextBox 37"/>
          <p:cNvSpPr txBox="1"/>
          <p:nvPr/>
        </p:nvSpPr>
        <p:spPr>
          <a:xfrm>
            <a:off x="533400" y="9174631"/>
            <a:ext cx="4869942" cy="140679"/>
          </a:xfrm>
          <a:prstGeom prst="rect">
            <a:avLst/>
          </a:prstGeom>
          <a:noFill/>
        </p:spPr>
        <p:txBody>
          <a:bodyPr wrap="square" lIns="0" rIns="0" tIns="0" bIns="0" anchor="t">
            <a:spAutoFit/>
          </a:bodyPr>
          <a:lstStyle/>
          <a:p>
            <a:pPr algn="l"/>
            <a:r>
              <a:rPr sz="791" b="0" i="0">
                <a:solidFill>
                  <a:srgbClr val="4A4A43"/>
                </a:solidFill>
                <a:latin typeface="Montserrat"/>
              </a:rPr>
              <a:t>Local e data:</a:t>
            </a:r>
          </a:p>
        </p:txBody>
      </p:sp>
      <p:cxnSp>
        <p:nvCxnSpPr>
          <p:cNvPr id="39" name="Connector 38"/>
          <p:cNvCxnSpPr/>
          <p:nvPr/>
        </p:nvCxnSpPr>
        <p:spPr>
          <a:xfrm>
            <a:off x="1221337" y="9290189"/>
            <a:ext cx="4182005" cy="0"/>
          </a:xfrm>
          <a:prstGeom prst="line">
            <a:avLst/>
          </a:prstGeom>
          <a:ln w="7620">
            <a:solidFill>
              <a:srgbClr val="B5B5AA"/>
            </a:solidFill>
          </a:ln>
        </p:spPr>
      </p:cxnSp>
      <p:cxnSp>
        <p:nvCxnSpPr>
          <p:cNvPr id="40" name="Connector 39"/>
          <p:cNvCxnSpPr/>
          <p:nvPr/>
        </p:nvCxnSpPr>
        <p:spPr>
          <a:xfrm>
            <a:off x="533400" y="9720974"/>
            <a:ext cx="2992628" cy="0"/>
          </a:xfrm>
          <a:prstGeom prst="line">
            <a:avLst/>
          </a:prstGeom>
          <a:ln w="7620">
            <a:solidFill>
              <a:srgbClr val="4A4A43"/>
            </a:solidFill>
          </a:ln>
        </p:spPr>
      </p:cxnSp>
      <p:sp>
        <p:nvSpPr>
          <p:cNvPr id="41" name="TextBox 40"/>
          <p:cNvSpPr txBox="1"/>
          <p:nvPr/>
        </p:nvSpPr>
        <p:spPr>
          <a:xfrm>
            <a:off x="533400" y="9771774"/>
            <a:ext cx="2992628" cy="127000"/>
          </a:xfrm>
          <a:prstGeom prst="rect">
            <a:avLst/>
          </a:prstGeom>
          <a:noFill/>
        </p:spPr>
        <p:txBody>
          <a:bodyPr wrap="square" lIns="0" rIns="0" tIns="0" bIns="0" anchor="t">
            <a:spAutoFit/>
          </a:bodyPr>
          <a:lstStyle/>
          <a:p>
            <a:pPr algn="ctr"/>
            <a:r>
              <a:rPr sz="740" b="0" i="0">
                <a:solidFill>
                  <a:srgbClr val="4A4A43"/>
                </a:solidFill>
                <a:latin typeface="Montserrat"/>
              </a:rPr>
              <a:t>Assinatura do(a) cliente</a:t>
            </a:r>
          </a:p>
        </p:txBody>
      </p:sp>
      <p:cxnSp>
        <p:nvCxnSpPr>
          <p:cNvPr id="42" name="Connector 41"/>
          <p:cNvCxnSpPr/>
          <p:nvPr/>
        </p:nvCxnSpPr>
        <p:spPr>
          <a:xfrm>
            <a:off x="4034028" y="9720974"/>
            <a:ext cx="2992628" cy="0"/>
          </a:xfrm>
          <a:prstGeom prst="line">
            <a:avLst/>
          </a:prstGeom>
          <a:ln w="7620">
            <a:solidFill>
              <a:srgbClr val="4A4A43"/>
            </a:solidFill>
          </a:ln>
        </p:spPr>
      </p:cxnSp>
      <p:sp>
        <p:nvSpPr>
          <p:cNvPr id="43" name="TextBox 42"/>
          <p:cNvSpPr txBox="1"/>
          <p:nvPr/>
        </p:nvSpPr>
        <p:spPr>
          <a:xfrm>
            <a:off x="4034028" y="9771774"/>
            <a:ext cx="2992628" cy="127000"/>
          </a:xfrm>
          <a:prstGeom prst="rect">
            <a:avLst/>
          </a:prstGeom>
          <a:noFill/>
        </p:spPr>
        <p:txBody>
          <a:bodyPr wrap="square" lIns="0" rIns="0" tIns="0" bIns="0" anchor="t">
            <a:spAutoFit/>
          </a:bodyPr>
          <a:lstStyle/>
          <a:p>
            <a:pPr algn="ctr"/>
            <a:r>
              <a:rPr sz="740" b="0" i="0">
                <a:solidFill>
                  <a:srgbClr val="4A4A43"/>
                </a:solidFill>
                <a:latin typeface="Montserrat"/>
              </a:rPr>
              <a:t>Assinatura do(a) massoterapeuta</a:t>
            </a:r>
          </a:p>
        </p:txBody>
      </p:sp>
      <p:sp>
        <p:nvSpPr>
          <p:cNvPr id="46" name="TextBox 45"/>
          <p:cNvSpPr txBox="1"/>
          <p:nvPr/>
        </p:nvSpPr>
        <p:spPr>
          <a:xfrm>
            <a:off x="558800" y="8455361"/>
            <a:ext cx="5909056" cy="304800"/>
          </a:xfrm>
          <a:prstGeom prst="rect">
            <a:avLst/>
          </a:prstGeom>
          <a:noFill/>
        </p:spPr>
        <p:txBody>
          <a:bodyPr wrap="square" lIns="0" rIns="0" tIns="0" bIns="0" anchor="ctr">
            <a:spAutoFit/>
          </a:bodyPr>
          <a:lstStyle/>
          <a:p>
            <a:pPr algn="l"/>
            <a:r>
              <a:rPr sz="1500" b="1" i="0">
                <a:solidFill>
                  <a:srgbClr val="1F3326"/>
                </a:solidFill>
                <a:latin typeface="Cormorant Garamond"/>
              </a:rPr>
              <a:t>Declaração e Assinaturas</a:t>
            </a:r>
          </a:p>
        </p:txBody>
      </p:sp>
      <p:pic>
        <p:nvPicPr>
          <p:cNvPr id="47" name="Picture 46" descr="ramo.png"/>
          <p:cNvPicPr>
            <a:picLocks noChangeAspect="1"/>
          </p:cNvPicPr>
          <p:nvPr/>
        </p:nvPicPr>
        <p:blipFill>
          <a:blip r:embed="rId7"/>
          <a:stretch>
            <a:fillRect/>
          </a:stretch>
        </p:blipFill>
        <p:spPr>
          <a:xfrm>
            <a:off x="6671056" y="8517047"/>
            <a:ext cx="381000" cy="181429"/>
          </a:xfrm>
          <a:prstGeom prst="rect">
            <a:avLst/>
          </a:prstGeom>
        </p:spPr>
      </p:pic>
      <p:cxnSp>
        <p:nvCxnSpPr>
          <p:cNvPr id="48" name="Connector 47"/>
          <p:cNvCxnSpPr/>
          <p:nvPr/>
        </p:nvCxnSpPr>
        <p:spPr>
          <a:xfrm>
            <a:off x="1598624" y="10374503"/>
            <a:ext cx="1143000" cy="0"/>
          </a:xfrm>
          <a:prstGeom prst="line">
            <a:avLst/>
          </a:prstGeom>
          <a:ln w="7620">
            <a:solidFill>
              <a:srgbClr val="B8975A"/>
            </a:solidFill>
          </a:ln>
        </p:spPr>
      </p:cxnSp>
      <p:cxnSp>
        <p:nvCxnSpPr>
          <p:cNvPr id="49" name="Connector 48"/>
          <p:cNvCxnSpPr/>
          <p:nvPr/>
        </p:nvCxnSpPr>
        <p:spPr>
          <a:xfrm>
            <a:off x="4818431" y="10374503"/>
            <a:ext cx="1143000" cy="0"/>
          </a:xfrm>
          <a:prstGeom prst="line">
            <a:avLst/>
          </a:prstGeom>
          <a:ln w="7620">
            <a:solidFill>
              <a:srgbClr val="B8975A"/>
            </a:solidFill>
          </a:ln>
        </p:spPr>
      </p:cxnSp>
      <p:sp>
        <p:nvSpPr>
          <p:cNvPr id="50" name="TextBox 49"/>
          <p:cNvSpPr txBox="1"/>
          <p:nvPr/>
        </p:nvSpPr>
        <p:spPr>
          <a:xfrm>
            <a:off x="2741624" y="10285603"/>
            <a:ext cx="2076807" cy="177800"/>
          </a:xfrm>
          <a:prstGeom prst="rect">
            <a:avLst/>
          </a:prstGeom>
          <a:noFill/>
        </p:spPr>
        <p:txBody>
          <a:bodyPr wrap="square" lIns="0" rIns="0" tIns="0" bIns="0" anchor="t">
            <a:spAutoFit/>
          </a:bodyPr>
          <a:lstStyle/>
          <a:p>
            <a:pPr algn="ctr"/>
            <a:r>
              <a:rPr sz="1100" b="0" i="1">
                <a:solidFill>
                  <a:srgbClr val="1F3326"/>
                </a:solidFill>
                <a:latin typeface="Cormorant Garamond"/>
              </a:rPr>
              <a:t>Cuidado hoje, bem-estar sempre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6EC"/>
        </a:solidFill>
        <a:effectLst/>
      </p:bgPr>
    </p:bg>
    <p:spTree>
      <p:nvGrpSpPr>
        <p:cNvPr id="1" name=""/>
        <p:cNvGrpSpPr/>
        <p:nvPr/>
      </p:nvGrpSpPr>
      <p:grpSpPr/>
      <p:sp>
        <p:nvSpPr>
          <p:cNvPr id="53" name="Rounded Rectangle 52"/>
          <p:cNvSpPr/>
          <p:nvPr/>
        </p:nvSpPr>
        <p:spPr>
          <a:xfrm>
            <a:off x="381000" y="8730384"/>
            <a:ext cx="6798056" cy="1378836"/>
          </a:xfrm>
          <a:prstGeom prst="roundRect">
            <a:avLst>
              <a:gd name="adj" fmla="val 8289"/>
            </a:avLst>
          </a:prstGeom>
          <a:solidFill>
            <a:srgbClr val="FCFAF4"/>
          </a:solidFill>
          <a:ln w="11430">
            <a:solidFill>
              <a:srgbClr val="CDD1BF"/>
            </a:solidFill>
          </a:ln>
          <a:effectLst/>
        </p:spPr>
        <p:txBody>
          <a:bodyPr rtlCol="0" anchor="ctr"/>
          <a:lstStyle/>
          <a:p/>
        </p:txBody>
      </p:sp>
      <p:sp>
        <p:nvSpPr>
          <p:cNvPr id="54" name="Round Same Side Corner Rectangle 53"/>
          <p:cNvSpPr/>
          <p:nvPr/>
        </p:nvSpPr>
        <p:spPr>
          <a:xfrm>
            <a:off x="386715" y="8736099"/>
            <a:ext cx="6786626" cy="304800"/>
          </a:xfrm>
          <a:prstGeom prst="round2SameRect">
            <a:avLst>
              <a:gd name="adj1" fmla="val 35416"/>
              <a:gd name="adj2" fmla="val 0"/>
            </a:avLst>
          </a:prstGeom>
          <a:solidFill>
            <a:srgbClr val="DFE2CB"/>
          </a:solidFill>
          <a:ln>
            <a:noFill/>
          </a:ln>
          <a:effectLst/>
        </p:spPr>
        <p:txBody>
          <a:bodyPr rtlCol="0" anchor="ctr"/>
          <a:lstStyle/>
          <a:p/>
        </p:txBody>
      </p:sp>
      <p:sp>
        <p:nvSpPr>
          <p:cNvPr id="49" name="Rounded Rectangle 48"/>
          <p:cNvSpPr/>
          <p:nvPr/>
        </p:nvSpPr>
        <p:spPr>
          <a:xfrm>
            <a:off x="381000" y="7561580"/>
            <a:ext cx="6798056" cy="1010857"/>
          </a:xfrm>
          <a:prstGeom prst="roundRect">
            <a:avLst>
              <a:gd name="adj" fmla="val 11307"/>
            </a:avLst>
          </a:prstGeom>
          <a:solidFill>
            <a:srgbClr val="FCFAF4"/>
          </a:solidFill>
          <a:ln w="11430">
            <a:solidFill>
              <a:srgbClr val="CDD1BF"/>
            </a:solidFill>
          </a:ln>
          <a:effectLst/>
        </p:spPr>
        <p:txBody>
          <a:bodyPr rtlCol="0" anchor="ctr"/>
          <a:lstStyle/>
          <a:p/>
        </p:txBody>
      </p:sp>
      <p:sp>
        <p:nvSpPr>
          <p:cNvPr id="32" name="Rounded Rectangle 31"/>
          <p:cNvSpPr/>
          <p:nvPr/>
        </p:nvSpPr>
        <p:spPr>
          <a:xfrm>
            <a:off x="381000" y="2804820"/>
            <a:ext cx="6798056" cy="4598813"/>
          </a:xfrm>
          <a:prstGeom prst="roundRect">
            <a:avLst>
              <a:gd name="adj" fmla="val 2485"/>
            </a:avLst>
          </a:prstGeom>
          <a:solidFill>
            <a:srgbClr val="FCFAF4"/>
          </a:solidFill>
          <a:ln w="11430">
            <a:solidFill>
              <a:srgbClr val="CDD1BF"/>
            </a:solidFill>
          </a:ln>
          <a:effectLst/>
        </p:spPr>
        <p:txBody>
          <a:bodyPr rtlCol="0" anchor="ctr"/>
          <a:lstStyle/>
          <a:p/>
        </p:txBody>
      </p:sp>
      <p:sp>
        <p:nvSpPr>
          <p:cNvPr id="18" name="Rounded Rectangle 17"/>
          <p:cNvSpPr/>
          <p:nvPr/>
        </p:nvSpPr>
        <p:spPr>
          <a:xfrm>
            <a:off x="381000" y="1409446"/>
            <a:ext cx="6798056" cy="1237428"/>
          </a:xfrm>
          <a:prstGeom prst="roundRect">
            <a:avLst>
              <a:gd name="adj" fmla="val 9236"/>
            </a:avLst>
          </a:prstGeom>
          <a:solidFill>
            <a:srgbClr val="FCFAF4"/>
          </a:solidFill>
          <a:ln w="11430">
            <a:solidFill>
              <a:srgbClr val="CDD1BF"/>
            </a:solidFill>
          </a:ln>
          <a:effectLst/>
        </p:spPr>
        <p:txBody>
          <a:bodyPr rtlCol="0" anchor="ctr"/>
          <a:lstStyle/>
          <a:p/>
        </p:txBody>
      </p:sp>
      <p:sp>
        <p:nvSpPr>
          <p:cNvPr id="19" name="Round Same Side Corner Rectangle 18"/>
          <p:cNvSpPr/>
          <p:nvPr/>
        </p:nvSpPr>
        <p:spPr>
          <a:xfrm>
            <a:off x="386715" y="1415161"/>
            <a:ext cx="6786626" cy="139700"/>
          </a:xfrm>
          <a:prstGeom prst="round2SameRect">
            <a:avLst>
              <a:gd name="adj1" fmla="val 50000"/>
              <a:gd name="adj2" fmla="val 0"/>
            </a:avLst>
          </a:prstGeom>
          <a:solidFill>
            <a:srgbClr val="DFE2CB"/>
          </a:solidFill>
          <a:ln>
            <a:noFill/>
          </a:ln>
          <a:effectLst/>
        </p:spPr>
        <p:txBody>
          <a:bodyPr rtlCol="0" anchor="ctr"/>
          <a:lstStyle/>
          <a:p/>
        </p:txBody>
      </p:sp>
      <p:pic>
        <p:nvPicPr>
          <p:cNvPr id="2" name="Picture 1" descr="folha-esq.png"/>
          <p:cNvPicPr>
            <a:picLocks noChangeAspect="1"/>
          </p:cNvPicPr>
          <p:nvPr/>
        </p:nvPicPr>
        <p:blipFill>
          <a:blip r:embed="rId2"/>
          <a:stretch>
            <a:fillRect/>
          </a:stretch>
        </p:blipFill>
        <p:spPr>
          <a:xfrm>
            <a:off x="0" y="0"/>
            <a:ext cx="1168400" cy="1410399"/>
          </a:xfrm>
          <a:prstGeom prst="rect">
            <a:avLst/>
          </a:prstGeom>
        </p:spPr>
      </p:pic>
      <p:pic>
        <p:nvPicPr>
          <p:cNvPr id="3" name="Picture 2" descr="folha-dir.png"/>
          <p:cNvPicPr>
            <a:picLocks noChangeAspect="1"/>
          </p:cNvPicPr>
          <p:nvPr/>
        </p:nvPicPr>
        <p:blipFill>
          <a:blip r:embed="rId3"/>
          <a:stretch>
            <a:fillRect/>
          </a:stretch>
        </p:blipFill>
        <p:spPr>
          <a:xfrm>
            <a:off x="6544056" y="0"/>
            <a:ext cx="1016000" cy="1570892"/>
          </a:xfrm>
          <a:prstGeom prst="rect">
            <a:avLst/>
          </a:prstGeom>
        </p:spPr>
      </p:pic>
      <p:pic>
        <p:nvPicPr>
          <p:cNvPr id="4" name="Picture 3" descr="folha-esq-baixo.png"/>
          <p:cNvPicPr>
            <a:picLocks noChangeAspect="1"/>
          </p:cNvPicPr>
          <p:nvPr/>
        </p:nvPicPr>
        <p:blipFill>
          <a:blip r:embed="rId4"/>
          <a:stretch>
            <a:fillRect/>
          </a:stretch>
        </p:blipFill>
        <p:spPr>
          <a:xfrm>
            <a:off x="0" y="9618873"/>
            <a:ext cx="889000" cy="1073129"/>
          </a:xfrm>
          <a:prstGeom prst="rect">
            <a:avLst/>
          </a:prstGeom>
        </p:spPr>
      </p:pic>
      <p:pic>
        <p:nvPicPr>
          <p:cNvPr id="5" name="Picture 4" descr="folha-dir-baixo.png"/>
          <p:cNvPicPr>
            <a:picLocks noChangeAspect="1"/>
          </p:cNvPicPr>
          <p:nvPr/>
        </p:nvPicPr>
        <p:blipFill>
          <a:blip r:embed="rId5"/>
          <a:stretch>
            <a:fillRect/>
          </a:stretch>
        </p:blipFill>
        <p:spPr>
          <a:xfrm>
            <a:off x="6823456" y="9553106"/>
            <a:ext cx="736600" cy="1138897"/>
          </a:xfrm>
          <a:prstGeom prst="rect">
            <a:avLst/>
          </a:prstGeom>
        </p:spPr>
      </p:pic>
      <p:pic>
        <p:nvPicPr>
          <p:cNvPr id="6" name="Picture 5" descr="lotus.png"/>
          <p:cNvPicPr>
            <a:picLocks noChangeAspect="1"/>
          </p:cNvPicPr>
          <p:nvPr/>
        </p:nvPicPr>
        <p:blipFill>
          <a:blip r:embed="rId6"/>
          <a:stretch>
            <a:fillRect/>
          </a:stretch>
        </p:blipFill>
        <p:spPr>
          <a:xfrm>
            <a:off x="2865628" y="152400"/>
            <a:ext cx="1828800" cy="459982"/>
          </a:xfrm>
          <a:prstGeom prst="rect">
            <a:avLst/>
          </a:prstGeom>
        </p:spPr>
      </p:pic>
      <p:sp>
        <p:nvSpPr>
          <p:cNvPr id="7" name="TextBox 6"/>
          <p:cNvSpPr txBox="1"/>
          <p:nvPr/>
        </p:nvSpPr>
        <p:spPr>
          <a:xfrm>
            <a:off x="889000" y="635000"/>
            <a:ext cx="5782056" cy="490855"/>
          </a:xfrm>
          <a:prstGeom prst="rect">
            <a:avLst/>
          </a:prstGeom>
          <a:noFill/>
        </p:spPr>
        <p:txBody>
          <a:bodyPr wrap="square" lIns="0" rIns="0" tIns="0" bIns="0" anchor="t">
            <a:spAutoFit/>
          </a:bodyPr>
          <a:lstStyle/>
          <a:p>
            <a:pPr algn="ctr">
              <a:lnSpc>
                <a:spcPct val="90000"/>
              </a:lnSpc>
            </a:pPr>
            <a:r>
              <a:rPr sz="3300" b="1" i="0">
                <a:solidFill>
                  <a:srgbClr val="1F3326"/>
                </a:solidFill>
                <a:latin typeface="Cormorant Garamond"/>
              </a:rPr>
              <a:t>Controle de Sessões</a:t>
            </a:r>
          </a:p>
        </p:txBody>
      </p:sp>
      <p:sp>
        <p:nvSpPr>
          <p:cNvPr id="8" name="TextBox 7"/>
          <p:cNvSpPr txBox="1"/>
          <p:nvPr/>
        </p:nvSpPr>
        <p:spPr>
          <a:xfrm>
            <a:off x="762000" y="1130046"/>
            <a:ext cx="6036056" cy="139700"/>
          </a:xfrm>
          <a:prstGeom prst="rect">
            <a:avLst/>
          </a:prstGeom>
          <a:noFill/>
        </p:spPr>
        <p:txBody>
          <a:bodyPr wrap="square" lIns="0" rIns="0" tIns="0" bIns="0" anchor="t">
            <a:spAutoFit/>
          </a:bodyPr>
          <a:lstStyle/>
          <a:p>
            <a:pPr algn="ctr"/>
            <a:r>
              <a:rPr sz="700" b="0" i="0" spc="210">
                <a:solidFill>
                  <a:srgbClr val="3C3C36"/>
                </a:solidFill>
                <a:latin typeface="Montserrat"/>
              </a:rPr>
              <a:t>ACOMPANHAMENTO ADMINISTRATIVO DOS ATENDIMENTOS</a:t>
            </a:r>
          </a:p>
        </p:txBody>
      </p:sp>
      <p:sp>
        <p:nvSpPr>
          <p:cNvPr id="9" name="TextBox 8"/>
          <p:cNvSpPr txBox="1"/>
          <p:nvPr/>
        </p:nvSpPr>
        <p:spPr>
          <a:xfrm>
            <a:off x="533400" y="1707092"/>
            <a:ext cx="6493256" cy="146652"/>
          </a:xfrm>
          <a:prstGeom prst="rect">
            <a:avLst/>
          </a:prstGeom>
          <a:noFill/>
        </p:spPr>
        <p:txBody>
          <a:bodyPr wrap="square" lIns="0" rIns="0" tIns="0" bIns="0" anchor="t">
            <a:spAutoFit/>
          </a:bodyPr>
          <a:lstStyle/>
          <a:p>
            <a:pPr algn="l"/>
            <a:r>
              <a:rPr sz="824" b="0" i="0">
                <a:solidFill>
                  <a:srgbClr val="4A4A43"/>
                </a:solidFill>
                <a:latin typeface="Montserrat"/>
              </a:rPr>
              <a:t>Nome do(a) cliente:</a:t>
            </a:r>
          </a:p>
        </p:txBody>
      </p:sp>
      <p:cxnSp>
        <p:nvCxnSpPr>
          <p:cNvPr id="10" name="Connector 9"/>
          <p:cNvCxnSpPr/>
          <p:nvPr/>
        </p:nvCxnSpPr>
        <p:spPr>
          <a:xfrm>
            <a:off x="1619097" y="1827557"/>
            <a:ext cx="5407559" cy="0"/>
          </a:xfrm>
          <a:prstGeom prst="line">
            <a:avLst/>
          </a:prstGeom>
          <a:ln w="7620">
            <a:solidFill>
              <a:srgbClr val="B5B5AA"/>
            </a:solidFill>
          </a:ln>
        </p:spPr>
      </p:cxnSp>
      <p:sp>
        <p:nvSpPr>
          <p:cNvPr id="11" name="TextBox 10"/>
          <p:cNvSpPr txBox="1"/>
          <p:nvPr/>
        </p:nvSpPr>
        <p:spPr>
          <a:xfrm>
            <a:off x="533400" y="1967704"/>
            <a:ext cx="3068828" cy="146652"/>
          </a:xfrm>
          <a:prstGeom prst="rect">
            <a:avLst/>
          </a:prstGeom>
          <a:noFill/>
        </p:spPr>
        <p:txBody>
          <a:bodyPr wrap="square" lIns="0" rIns="0" tIns="0" bIns="0" anchor="t">
            <a:spAutoFit/>
          </a:bodyPr>
          <a:lstStyle/>
          <a:p>
            <a:pPr algn="l"/>
            <a:r>
              <a:rPr sz="824" b="0" i="0">
                <a:solidFill>
                  <a:srgbClr val="4A4A43"/>
                </a:solidFill>
                <a:latin typeface="Montserrat"/>
              </a:rPr>
              <a:t>Período:</a:t>
            </a:r>
          </a:p>
        </p:txBody>
      </p:sp>
      <p:cxnSp>
        <p:nvCxnSpPr>
          <p:cNvPr id="12" name="Connector 11"/>
          <p:cNvCxnSpPr/>
          <p:nvPr/>
        </p:nvCxnSpPr>
        <p:spPr>
          <a:xfrm>
            <a:off x="1027969" y="2088168"/>
            <a:ext cx="2574259" cy="0"/>
          </a:xfrm>
          <a:prstGeom prst="line">
            <a:avLst/>
          </a:prstGeom>
          <a:ln w="7620">
            <a:solidFill>
              <a:srgbClr val="B5B5AA"/>
            </a:solidFill>
          </a:ln>
        </p:spPr>
      </p:cxnSp>
      <p:sp>
        <p:nvSpPr>
          <p:cNvPr id="13" name="TextBox 12"/>
          <p:cNvSpPr txBox="1"/>
          <p:nvPr/>
        </p:nvSpPr>
        <p:spPr>
          <a:xfrm>
            <a:off x="3856228" y="1967704"/>
            <a:ext cx="3170428" cy="146652"/>
          </a:xfrm>
          <a:prstGeom prst="rect">
            <a:avLst/>
          </a:prstGeom>
          <a:noFill/>
        </p:spPr>
        <p:txBody>
          <a:bodyPr wrap="square" lIns="0" rIns="0" tIns="0" bIns="0" anchor="t">
            <a:spAutoFit/>
          </a:bodyPr>
          <a:lstStyle/>
          <a:p>
            <a:pPr algn="l"/>
            <a:r>
              <a:rPr sz="824" b="0" i="0">
                <a:solidFill>
                  <a:srgbClr val="4A4A43"/>
                </a:solidFill>
                <a:latin typeface="Montserrat"/>
              </a:rPr>
              <a:t>Frequência combinada:</a:t>
            </a:r>
          </a:p>
        </p:txBody>
      </p:sp>
      <p:cxnSp>
        <p:nvCxnSpPr>
          <p:cNvPr id="14" name="Connector 13"/>
          <p:cNvCxnSpPr/>
          <p:nvPr/>
        </p:nvCxnSpPr>
        <p:spPr>
          <a:xfrm>
            <a:off x="5161658" y="2088168"/>
            <a:ext cx="1864998" cy="0"/>
          </a:xfrm>
          <a:prstGeom prst="line">
            <a:avLst/>
          </a:prstGeom>
          <a:ln w="7620">
            <a:solidFill>
              <a:srgbClr val="B5B5AA"/>
            </a:solidFill>
          </a:ln>
        </p:spPr>
      </p:cxnSp>
      <p:sp>
        <p:nvSpPr>
          <p:cNvPr id="15" name="TextBox 14"/>
          <p:cNvSpPr txBox="1"/>
          <p:nvPr/>
        </p:nvSpPr>
        <p:spPr>
          <a:xfrm>
            <a:off x="3856228" y="2228315"/>
            <a:ext cx="3170428" cy="146652"/>
          </a:xfrm>
          <a:prstGeom prst="rect">
            <a:avLst/>
          </a:prstGeom>
          <a:noFill/>
        </p:spPr>
        <p:txBody>
          <a:bodyPr wrap="square" lIns="0" rIns="0" tIns="0" bIns="0" anchor="t">
            <a:spAutoFit/>
          </a:bodyPr>
          <a:lstStyle/>
          <a:p>
            <a:pPr algn="l"/>
            <a:r>
              <a:rPr sz="824" b="0" i="0">
                <a:solidFill>
                  <a:srgbClr val="4A4A43"/>
                </a:solidFill>
                <a:latin typeface="Montserrat"/>
              </a:rPr>
              <a:t>Profissional:</a:t>
            </a:r>
          </a:p>
        </p:txBody>
      </p:sp>
      <p:cxnSp>
        <p:nvCxnSpPr>
          <p:cNvPr id="16" name="Connector 15"/>
          <p:cNvCxnSpPr/>
          <p:nvPr/>
        </p:nvCxnSpPr>
        <p:spPr>
          <a:xfrm>
            <a:off x="4541757" y="2348780"/>
            <a:ext cx="2484899" cy="0"/>
          </a:xfrm>
          <a:prstGeom prst="line">
            <a:avLst/>
          </a:prstGeom>
          <a:ln w="7620">
            <a:solidFill>
              <a:srgbClr val="B5B5AA"/>
            </a:solidFill>
          </a:ln>
        </p:spPr>
      </p:cxnSp>
      <p:cxnSp>
        <p:nvCxnSpPr>
          <p:cNvPr id="17" name="Connector 16"/>
          <p:cNvCxnSpPr/>
          <p:nvPr/>
        </p:nvCxnSpPr>
        <p:spPr>
          <a:xfrm>
            <a:off x="3729228" y="1942304"/>
            <a:ext cx="0" cy="495823"/>
          </a:xfrm>
          <a:prstGeom prst="line">
            <a:avLst/>
          </a:prstGeom>
          <a:ln w="10160">
            <a:solidFill>
              <a:srgbClr val="CDD1BF"/>
            </a:solidFill>
          </a:ln>
        </p:spPr>
      </p:cxnSp>
      <p:pic>
        <p:nvPicPr>
          <p:cNvPr id="20" name="Picture 19" descr="ramo.png"/>
          <p:cNvPicPr>
            <a:picLocks noChangeAspect="1"/>
          </p:cNvPicPr>
          <p:nvPr/>
        </p:nvPicPr>
        <p:blipFill>
          <a:blip r:embed="rId7"/>
          <a:stretch>
            <a:fillRect/>
          </a:stretch>
        </p:blipFill>
        <p:spPr>
          <a:xfrm>
            <a:off x="6772656" y="1422146"/>
            <a:ext cx="279400" cy="133048"/>
          </a:xfrm>
          <a:prstGeom prst="rect">
            <a:avLst/>
          </a:prstGeom>
        </p:spPr>
      </p:pic>
      <p:graphicFrame>
        <p:nvGraphicFramePr>
          <p:cNvPr id="21" name="Table 20"/>
          <p:cNvGraphicFramePr>
            <a:graphicFrameLocks noGrp="1"/>
          </p:cNvGraphicFramePr>
          <p:nvPr/>
        </p:nvGraphicFramePr>
        <p:xfrm>
          <a:off x="533400" y="2962766"/>
          <a:ext cx="6493253" cy="3902554"/>
        </p:xfrm>
        <a:graphic>
          <a:graphicData uri="http://schemas.openxmlformats.org/drawingml/2006/table">
            <a:tbl>
              <a:tblPr firstRow="0" bandRow="0">
                <a:tableStyleId>{5C22544A-7EE6-4342-B048-85BDC9FD1C3A}</a:tableStyleId>
              </a:tblPr>
              <a:tblGrid>
                <a:gridCol w="909055"/>
                <a:gridCol w="844123"/>
                <a:gridCol w="1103853"/>
                <a:gridCol w="1688246"/>
                <a:gridCol w="844123"/>
                <a:gridCol w="1103853"/>
              </a:tblGrid>
              <a:tr h="254000">
                <a:tc>
                  <a:txBody>
                    <a:bodyPr/>
                    <a:lstStyle/>
                    <a:p>
                      <a:pPr algn="ctr"/>
                      <a:r>
                        <a:rPr sz="1050" b="1">
                          <a:solidFill>
                            <a:srgbClr val="1F3326"/>
                          </a:solidFill>
                          <a:latin typeface="Cormorant Garamond"/>
                        </a:rPr>
                        <a:t>Data</a:t>
                      </a:r>
                      <a:endParaRPr sz="10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DFE2CB"/>
                    </a:solidFill>
                  </a:tcPr>
                </a:tc>
                <a:tc>
                  <a:txBody>
                    <a:bodyPr/>
                    <a:lstStyle/>
                    <a:p>
                      <a:pPr algn="ctr"/>
                      <a:r>
                        <a:rPr sz="1050" b="1">
                          <a:solidFill>
                            <a:srgbClr val="1F3326"/>
                          </a:solidFill>
                          <a:latin typeface="Cormorant Garamond"/>
                        </a:rPr>
                        <a:t>Horário</a:t>
                      </a:r>
                      <a:endParaRPr sz="10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DFE2CB"/>
                    </a:solidFill>
                  </a:tcPr>
                </a:tc>
                <a:tc>
                  <a:txBody>
                    <a:bodyPr/>
                    <a:lstStyle/>
                    <a:p>
                      <a:pPr algn="ctr"/>
                      <a:r>
                        <a:rPr sz="1050" b="1">
                          <a:solidFill>
                            <a:srgbClr val="1F3326"/>
                          </a:solidFill>
                          <a:latin typeface="Cormorant Garamond"/>
                        </a:rPr>
                        <a:t>Modalidade</a:t>
                      </a:r>
                      <a:endParaRPr sz="10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DFE2CB"/>
                    </a:solidFill>
                  </a:tcPr>
                </a:tc>
                <a:tc>
                  <a:txBody>
                    <a:bodyPr/>
                    <a:lstStyle/>
                    <a:p>
                      <a:pPr algn="ctr"/>
                      <a:r>
                        <a:rPr sz="1050" b="1">
                          <a:solidFill>
                            <a:srgbClr val="1F3326"/>
                          </a:solidFill>
                          <a:latin typeface="Cormorant Garamond"/>
                        </a:rPr>
                        <a:t>Técnica / serviço</a:t>
                      </a:r>
                      <a:endParaRPr sz="10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DFE2CB"/>
                    </a:solidFill>
                  </a:tcPr>
                </a:tc>
                <a:tc>
                  <a:txBody>
                    <a:bodyPr/>
                    <a:lstStyle/>
                    <a:p>
                      <a:pPr algn="ctr"/>
                      <a:r>
                        <a:rPr sz="1050" b="1">
                          <a:solidFill>
                            <a:srgbClr val="1F3326"/>
                          </a:solidFill>
                          <a:latin typeface="Cormorant Garamond"/>
                        </a:rPr>
                        <a:t>Status</a:t>
                      </a:r>
                      <a:endParaRPr sz="10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DFE2CB"/>
                    </a:solidFill>
                  </a:tcPr>
                </a:tc>
                <a:tc>
                  <a:txBody>
                    <a:bodyPr/>
                    <a:lstStyle/>
                    <a:p>
                      <a:pPr algn="ctr"/>
                      <a:r>
                        <a:rPr sz="1050" b="1">
                          <a:solidFill>
                            <a:srgbClr val="1F3326"/>
                          </a:solidFill>
                          <a:latin typeface="Cormorant Garamond"/>
                        </a:rPr>
                        <a:t>Rubrica</a:t>
                      </a:r>
                      <a:endParaRPr sz="10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DFE2CB"/>
                    </a:solidFill>
                  </a:tcPr>
                </a:tc>
              </a:tr>
              <a:tr h="260611">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r>
              <a:tr h="260611">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r>
              <a:tr h="260611">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r>
              <a:tr h="260611">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r>
              <a:tr h="260611">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r>
              <a:tr h="260611">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r>
              <a:tr h="260611">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r>
              <a:tr h="260611">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r>
              <a:tr h="260611">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r>
              <a:tr h="260611">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r>
              <a:tr h="260611">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r>
              <a:tr h="260611">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r>
              <a:tr h="260611">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r>
              <a:tr h="260611">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r>
            </a:tbl>
          </a:graphicData>
        </a:graphic>
      </p:graphicFrame>
      <p:sp>
        <p:nvSpPr>
          <p:cNvPr id="22" name="Rounded Rectangle 21"/>
          <p:cNvSpPr/>
          <p:nvPr/>
        </p:nvSpPr>
        <p:spPr>
          <a:xfrm>
            <a:off x="533400" y="6991687"/>
            <a:ext cx="6493256" cy="254000"/>
          </a:xfrm>
          <a:prstGeom prst="roundRect">
            <a:avLst>
              <a:gd name="adj" fmla="val 35000"/>
            </a:avLst>
          </a:prstGeom>
          <a:solidFill>
            <a:srgbClr val="F1ECE0"/>
          </a:solidFill>
          <a:ln>
            <a:noFill/>
          </a:ln>
          <a:effectLst/>
        </p:spPr>
        <p:txBody>
          <a:bodyPr rtlCol="0" anchor="ctr"/>
          <a:lstStyle/>
          <a:p/>
        </p:txBody>
      </p:sp>
      <p:sp>
        <p:nvSpPr>
          <p:cNvPr id="23" name="TextBox 22"/>
          <p:cNvSpPr txBox="1"/>
          <p:nvPr/>
        </p:nvSpPr>
        <p:spPr>
          <a:xfrm>
            <a:off x="685800" y="6991687"/>
            <a:ext cx="635000" cy="254000"/>
          </a:xfrm>
          <a:prstGeom prst="rect">
            <a:avLst/>
          </a:prstGeom>
          <a:noFill/>
        </p:spPr>
        <p:txBody>
          <a:bodyPr wrap="square" lIns="0" rIns="0" tIns="0" bIns="0" anchor="ctr">
            <a:spAutoFit/>
          </a:bodyPr>
          <a:lstStyle/>
          <a:p>
            <a:pPr algn="l"/>
            <a:r>
              <a:rPr sz="1100" b="1" i="0">
                <a:solidFill>
                  <a:srgbClr val="1F3326"/>
                </a:solidFill>
                <a:latin typeface="Cormorant Garamond"/>
              </a:rPr>
              <a:t>Status:</a:t>
            </a:r>
          </a:p>
        </p:txBody>
      </p:sp>
      <p:sp>
        <p:nvSpPr>
          <p:cNvPr id="24" name="Oval 23"/>
          <p:cNvSpPr/>
          <p:nvPr/>
        </p:nvSpPr>
        <p:spPr>
          <a:xfrm>
            <a:off x="1422400" y="7061537"/>
            <a:ext cx="114300" cy="114300"/>
          </a:xfrm>
          <a:prstGeom prst="ellipse">
            <a:avLst/>
          </a:prstGeom>
          <a:solidFill>
            <a:srgbClr val="8FA388"/>
          </a:solidFill>
          <a:ln>
            <a:noFill/>
          </a:ln>
          <a:effectLst/>
        </p:spPr>
        <p:txBody>
          <a:bodyPr rtlCol="0" anchor="ctr"/>
          <a:lstStyle/>
          <a:p/>
        </p:txBody>
      </p:sp>
      <p:sp>
        <p:nvSpPr>
          <p:cNvPr id="25" name="TextBox 24"/>
          <p:cNvSpPr txBox="1"/>
          <p:nvPr/>
        </p:nvSpPr>
        <p:spPr>
          <a:xfrm>
            <a:off x="1587500" y="6991687"/>
            <a:ext cx="1178814" cy="254000"/>
          </a:xfrm>
          <a:prstGeom prst="rect">
            <a:avLst/>
          </a:prstGeom>
          <a:noFill/>
        </p:spPr>
        <p:txBody>
          <a:bodyPr wrap="square" lIns="0" rIns="0" tIns="0" bIns="0" anchor="ctr">
            <a:spAutoFit/>
          </a:bodyPr>
          <a:lstStyle/>
          <a:p>
            <a:pPr algn="l"/>
            <a:r>
              <a:rPr sz="740" b="0" i="0">
                <a:solidFill>
                  <a:srgbClr val="3C3C36"/>
                </a:solidFill>
                <a:latin typeface="Montserrat"/>
              </a:rPr>
              <a:t>realizado</a:t>
            </a:r>
          </a:p>
        </p:txBody>
      </p:sp>
      <p:sp>
        <p:nvSpPr>
          <p:cNvPr id="26" name="Oval 25"/>
          <p:cNvSpPr/>
          <p:nvPr/>
        </p:nvSpPr>
        <p:spPr>
          <a:xfrm>
            <a:off x="2791714" y="7061537"/>
            <a:ext cx="114300" cy="114300"/>
          </a:xfrm>
          <a:prstGeom prst="ellipse">
            <a:avLst/>
          </a:prstGeom>
          <a:solidFill>
            <a:srgbClr val="D9B36C"/>
          </a:solidFill>
          <a:ln>
            <a:noFill/>
          </a:ln>
          <a:effectLst/>
        </p:spPr>
        <p:txBody>
          <a:bodyPr rtlCol="0" anchor="ctr"/>
          <a:lstStyle/>
          <a:p/>
        </p:txBody>
      </p:sp>
      <p:sp>
        <p:nvSpPr>
          <p:cNvPr id="27" name="TextBox 26"/>
          <p:cNvSpPr txBox="1"/>
          <p:nvPr/>
        </p:nvSpPr>
        <p:spPr>
          <a:xfrm>
            <a:off x="2956814" y="6991687"/>
            <a:ext cx="1178814" cy="254000"/>
          </a:xfrm>
          <a:prstGeom prst="rect">
            <a:avLst/>
          </a:prstGeom>
          <a:noFill/>
        </p:spPr>
        <p:txBody>
          <a:bodyPr wrap="square" lIns="0" rIns="0" tIns="0" bIns="0" anchor="ctr">
            <a:spAutoFit/>
          </a:bodyPr>
          <a:lstStyle/>
          <a:p>
            <a:pPr algn="l"/>
            <a:r>
              <a:rPr sz="740" b="0" i="0">
                <a:solidFill>
                  <a:srgbClr val="3C3C36"/>
                </a:solidFill>
                <a:latin typeface="Montserrat"/>
              </a:rPr>
              <a:t>falta</a:t>
            </a:r>
          </a:p>
        </p:txBody>
      </p:sp>
      <p:sp>
        <p:nvSpPr>
          <p:cNvPr id="28" name="Oval 27"/>
          <p:cNvSpPr/>
          <p:nvPr/>
        </p:nvSpPr>
        <p:spPr>
          <a:xfrm>
            <a:off x="4161028" y="7061537"/>
            <a:ext cx="114300" cy="114300"/>
          </a:xfrm>
          <a:prstGeom prst="ellipse">
            <a:avLst/>
          </a:prstGeom>
          <a:solidFill>
            <a:srgbClr val="C9726B"/>
          </a:solidFill>
          <a:ln>
            <a:noFill/>
          </a:ln>
          <a:effectLst/>
        </p:spPr>
        <p:txBody>
          <a:bodyPr rtlCol="0" anchor="ctr"/>
          <a:lstStyle/>
          <a:p/>
        </p:txBody>
      </p:sp>
      <p:sp>
        <p:nvSpPr>
          <p:cNvPr id="29" name="TextBox 28"/>
          <p:cNvSpPr txBox="1"/>
          <p:nvPr/>
        </p:nvSpPr>
        <p:spPr>
          <a:xfrm>
            <a:off x="4326128" y="6991687"/>
            <a:ext cx="1178814" cy="254000"/>
          </a:xfrm>
          <a:prstGeom prst="rect">
            <a:avLst/>
          </a:prstGeom>
          <a:noFill/>
        </p:spPr>
        <p:txBody>
          <a:bodyPr wrap="square" lIns="0" rIns="0" tIns="0" bIns="0" anchor="ctr">
            <a:spAutoFit/>
          </a:bodyPr>
          <a:lstStyle/>
          <a:p>
            <a:pPr algn="l"/>
            <a:r>
              <a:rPr sz="740" b="0" i="0">
                <a:solidFill>
                  <a:srgbClr val="3C3C36"/>
                </a:solidFill>
                <a:latin typeface="Montserrat"/>
              </a:rPr>
              <a:t>cancelado</a:t>
            </a:r>
          </a:p>
        </p:txBody>
      </p:sp>
      <p:sp>
        <p:nvSpPr>
          <p:cNvPr id="30" name="Oval 29"/>
          <p:cNvSpPr/>
          <p:nvPr/>
        </p:nvSpPr>
        <p:spPr>
          <a:xfrm>
            <a:off x="5530342" y="7061537"/>
            <a:ext cx="114300" cy="114300"/>
          </a:xfrm>
          <a:prstGeom prst="ellipse">
            <a:avLst/>
          </a:prstGeom>
          <a:solidFill>
            <a:srgbClr val="8A93A8"/>
          </a:solidFill>
          <a:ln>
            <a:noFill/>
          </a:ln>
          <a:effectLst/>
        </p:spPr>
        <p:txBody>
          <a:bodyPr rtlCol="0" anchor="ctr"/>
          <a:lstStyle/>
          <a:p/>
        </p:txBody>
      </p:sp>
      <p:sp>
        <p:nvSpPr>
          <p:cNvPr id="31" name="TextBox 30"/>
          <p:cNvSpPr txBox="1"/>
          <p:nvPr/>
        </p:nvSpPr>
        <p:spPr>
          <a:xfrm>
            <a:off x="5695442" y="6991687"/>
            <a:ext cx="1178814" cy="254000"/>
          </a:xfrm>
          <a:prstGeom prst="rect">
            <a:avLst/>
          </a:prstGeom>
          <a:noFill/>
        </p:spPr>
        <p:txBody>
          <a:bodyPr wrap="square" lIns="0" rIns="0" tIns="0" bIns="0" anchor="ctr">
            <a:spAutoFit/>
          </a:bodyPr>
          <a:lstStyle/>
          <a:p>
            <a:pPr algn="l"/>
            <a:r>
              <a:rPr sz="740" b="0" i="0">
                <a:solidFill>
                  <a:srgbClr val="3C3C36"/>
                </a:solidFill>
                <a:latin typeface="Montserrat"/>
              </a:rPr>
              <a:t>reagendado</a:t>
            </a:r>
          </a:p>
        </p:txBody>
      </p:sp>
      <p:sp>
        <p:nvSpPr>
          <p:cNvPr id="33" name="Rounded Rectangle 32"/>
          <p:cNvSpPr/>
          <p:nvPr/>
        </p:nvSpPr>
        <p:spPr>
          <a:xfrm>
            <a:off x="533400" y="7719527"/>
            <a:ext cx="1537589" cy="694964"/>
          </a:xfrm>
          <a:prstGeom prst="roundRect">
            <a:avLst>
              <a:gd name="adj" fmla="val 10964"/>
            </a:avLst>
          </a:prstGeom>
          <a:solidFill>
            <a:srgbClr val="FCFAF4"/>
          </a:solidFill>
          <a:ln w="8890">
            <a:solidFill>
              <a:srgbClr val="CDD1BF"/>
            </a:solidFill>
          </a:ln>
          <a:effectLst/>
        </p:spPr>
        <p:txBody>
          <a:bodyPr rtlCol="0" anchor="ctr"/>
          <a:lstStyle/>
          <a:p/>
        </p:txBody>
      </p:sp>
      <p:sp>
        <p:nvSpPr>
          <p:cNvPr id="34" name="Round Same Side Corner Rectangle 33"/>
          <p:cNvSpPr/>
          <p:nvPr/>
        </p:nvSpPr>
        <p:spPr>
          <a:xfrm>
            <a:off x="537845" y="7723972"/>
            <a:ext cx="1528698" cy="190500"/>
          </a:xfrm>
          <a:prstGeom prst="round2SameRect">
            <a:avLst>
              <a:gd name="adj1" fmla="val 36666"/>
              <a:gd name="adj2" fmla="val 0"/>
            </a:avLst>
          </a:prstGeom>
          <a:solidFill>
            <a:srgbClr val="DFE2CB"/>
          </a:solidFill>
          <a:ln>
            <a:noFill/>
          </a:ln>
          <a:effectLst/>
        </p:spPr>
        <p:txBody>
          <a:bodyPr rtlCol="0" anchor="ctr"/>
          <a:lstStyle/>
          <a:p/>
        </p:txBody>
      </p:sp>
      <p:sp>
        <p:nvSpPr>
          <p:cNvPr id="35" name="TextBox 34"/>
          <p:cNvSpPr txBox="1"/>
          <p:nvPr/>
        </p:nvSpPr>
        <p:spPr>
          <a:xfrm>
            <a:off x="533400" y="7719527"/>
            <a:ext cx="1537589" cy="190500"/>
          </a:xfrm>
          <a:prstGeom prst="rect">
            <a:avLst/>
          </a:prstGeom>
          <a:noFill/>
        </p:spPr>
        <p:txBody>
          <a:bodyPr wrap="square" lIns="0" rIns="0" tIns="0" bIns="0" anchor="ctr">
            <a:spAutoFit/>
          </a:bodyPr>
          <a:lstStyle/>
          <a:p>
            <a:pPr algn="ctr"/>
            <a:r>
              <a:rPr sz="1050" b="1" i="0">
                <a:solidFill>
                  <a:srgbClr val="1F3326"/>
                </a:solidFill>
                <a:latin typeface="Cormorant Garamond"/>
              </a:rPr>
              <a:t>Total realizado</a:t>
            </a:r>
          </a:p>
        </p:txBody>
      </p:sp>
      <p:cxnSp>
        <p:nvCxnSpPr>
          <p:cNvPr id="36" name="Connector 35"/>
          <p:cNvCxnSpPr/>
          <p:nvPr/>
        </p:nvCxnSpPr>
        <p:spPr>
          <a:xfrm>
            <a:off x="635000" y="8287491"/>
            <a:ext cx="1334389" cy="0"/>
          </a:xfrm>
          <a:prstGeom prst="line">
            <a:avLst/>
          </a:prstGeom>
          <a:ln w="7620">
            <a:solidFill>
              <a:srgbClr val="B5B5AA"/>
            </a:solidFill>
          </a:ln>
        </p:spPr>
      </p:cxnSp>
      <p:sp>
        <p:nvSpPr>
          <p:cNvPr id="37" name="Rounded Rectangle 36"/>
          <p:cNvSpPr/>
          <p:nvPr/>
        </p:nvSpPr>
        <p:spPr>
          <a:xfrm>
            <a:off x="2185289" y="7719527"/>
            <a:ext cx="1537589" cy="694964"/>
          </a:xfrm>
          <a:prstGeom prst="roundRect">
            <a:avLst>
              <a:gd name="adj" fmla="val 10964"/>
            </a:avLst>
          </a:prstGeom>
          <a:solidFill>
            <a:srgbClr val="FCFAF4"/>
          </a:solidFill>
          <a:ln w="8890">
            <a:solidFill>
              <a:srgbClr val="CDD1BF"/>
            </a:solidFill>
          </a:ln>
          <a:effectLst/>
        </p:spPr>
        <p:txBody>
          <a:bodyPr rtlCol="0" anchor="ctr"/>
          <a:lstStyle/>
          <a:p/>
        </p:txBody>
      </p:sp>
      <p:sp>
        <p:nvSpPr>
          <p:cNvPr id="38" name="Round Same Side Corner Rectangle 37"/>
          <p:cNvSpPr/>
          <p:nvPr/>
        </p:nvSpPr>
        <p:spPr>
          <a:xfrm>
            <a:off x="2189734" y="7723972"/>
            <a:ext cx="1528698" cy="190500"/>
          </a:xfrm>
          <a:prstGeom prst="round2SameRect">
            <a:avLst>
              <a:gd name="adj1" fmla="val 36666"/>
              <a:gd name="adj2" fmla="val 0"/>
            </a:avLst>
          </a:prstGeom>
          <a:solidFill>
            <a:srgbClr val="DFE2CB"/>
          </a:solidFill>
          <a:ln>
            <a:noFill/>
          </a:ln>
          <a:effectLst/>
        </p:spPr>
        <p:txBody>
          <a:bodyPr rtlCol="0" anchor="ctr"/>
          <a:lstStyle/>
          <a:p/>
        </p:txBody>
      </p:sp>
      <p:sp>
        <p:nvSpPr>
          <p:cNvPr id="39" name="TextBox 38"/>
          <p:cNvSpPr txBox="1"/>
          <p:nvPr/>
        </p:nvSpPr>
        <p:spPr>
          <a:xfrm>
            <a:off x="2185289" y="7719527"/>
            <a:ext cx="1537589" cy="190500"/>
          </a:xfrm>
          <a:prstGeom prst="rect">
            <a:avLst/>
          </a:prstGeom>
          <a:noFill/>
        </p:spPr>
        <p:txBody>
          <a:bodyPr wrap="square" lIns="0" rIns="0" tIns="0" bIns="0" anchor="ctr">
            <a:spAutoFit/>
          </a:bodyPr>
          <a:lstStyle/>
          <a:p>
            <a:pPr algn="ctr"/>
            <a:r>
              <a:rPr sz="1050" b="1" i="0">
                <a:solidFill>
                  <a:srgbClr val="1F3326"/>
                </a:solidFill>
                <a:latin typeface="Cormorant Garamond"/>
              </a:rPr>
              <a:t>Total de faltas</a:t>
            </a:r>
          </a:p>
        </p:txBody>
      </p:sp>
      <p:cxnSp>
        <p:nvCxnSpPr>
          <p:cNvPr id="40" name="Connector 39"/>
          <p:cNvCxnSpPr/>
          <p:nvPr/>
        </p:nvCxnSpPr>
        <p:spPr>
          <a:xfrm>
            <a:off x="2286889" y="8287491"/>
            <a:ext cx="1334389" cy="0"/>
          </a:xfrm>
          <a:prstGeom prst="line">
            <a:avLst/>
          </a:prstGeom>
          <a:ln w="7620">
            <a:solidFill>
              <a:srgbClr val="B5B5AA"/>
            </a:solidFill>
          </a:ln>
        </p:spPr>
      </p:cxnSp>
      <p:sp>
        <p:nvSpPr>
          <p:cNvPr id="41" name="Rounded Rectangle 40"/>
          <p:cNvSpPr/>
          <p:nvPr/>
        </p:nvSpPr>
        <p:spPr>
          <a:xfrm>
            <a:off x="3837178" y="7719527"/>
            <a:ext cx="1537589" cy="694964"/>
          </a:xfrm>
          <a:prstGeom prst="roundRect">
            <a:avLst>
              <a:gd name="adj" fmla="val 10964"/>
            </a:avLst>
          </a:prstGeom>
          <a:solidFill>
            <a:srgbClr val="FCFAF4"/>
          </a:solidFill>
          <a:ln w="8890">
            <a:solidFill>
              <a:srgbClr val="CDD1BF"/>
            </a:solidFill>
          </a:ln>
          <a:effectLst/>
        </p:spPr>
        <p:txBody>
          <a:bodyPr rtlCol="0" anchor="ctr"/>
          <a:lstStyle/>
          <a:p/>
        </p:txBody>
      </p:sp>
      <p:sp>
        <p:nvSpPr>
          <p:cNvPr id="42" name="Round Same Side Corner Rectangle 41"/>
          <p:cNvSpPr/>
          <p:nvPr/>
        </p:nvSpPr>
        <p:spPr>
          <a:xfrm>
            <a:off x="3841623" y="7723972"/>
            <a:ext cx="1528698" cy="190500"/>
          </a:xfrm>
          <a:prstGeom prst="round2SameRect">
            <a:avLst>
              <a:gd name="adj1" fmla="val 36666"/>
              <a:gd name="adj2" fmla="val 0"/>
            </a:avLst>
          </a:prstGeom>
          <a:solidFill>
            <a:srgbClr val="DFE2CB"/>
          </a:solidFill>
          <a:ln>
            <a:noFill/>
          </a:ln>
          <a:effectLst/>
        </p:spPr>
        <p:txBody>
          <a:bodyPr rtlCol="0" anchor="ctr"/>
          <a:lstStyle/>
          <a:p/>
        </p:txBody>
      </p:sp>
      <p:sp>
        <p:nvSpPr>
          <p:cNvPr id="43" name="TextBox 42"/>
          <p:cNvSpPr txBox="1"/>
          <p:nvPr/>
        </p:nvSpPr>
        <p:spPr>
          <a:xfrm>
            <a:off x="3837178" y="7719527"/>
            <a:ext cx="1537589" cy="190500"/>
          </a:xfrm>
          <a:prstGeom prst="rect">
            <a:avLst/>
          </a:prstGeom>
          <a:noFill/>
        </p:spPr>
        <p:txBody>
          <a:bodyPr wrap="square" lIns="0" rIns="0" tIns="0" bIns="0" anchor="ctr">
            <a:spAutoFit/>
          </a:bodyPr>
          <a:lstStyle/>
          <a:p>
            <a:pPr algn="ctr"/>
            <a:r>
              <a:rPr sz="1050" b="1" i="0">
                <a:solidFill>
                  <a:srgbClr val="1F3326"/>
                </a:solidFill>
                <a:latin typeface="Cormorant Garamond"/>
              </a:rPr>
              <a:t>Total cancelado</a:t>
            </a:r>
          </a:p>
        </p:txBody>
      </p:sp>
      <p:cxnSp>
        <p:nvCxnSpPr>
          <p:cNvPr id="44" name="Connector 43"/>
          <p:cNvCxnSpPr/>
          <p:nvPr/>
        </p:nvCxnSpPr>
        <p:spPr>
          <a:xfrm>
            <a:off x="3938778" y="8287491"/>
            <a:ext cx="1334389" cy="0"/>
          </a:xfrm>
          <a:prstGeom prst="line">
            <a:avLst/>
          </a:prstGeom>
          <a:ln w="7620">
            <a:solidFill>
              <a:srgbClr val="B5B5AA"/>
            </a:solidFill>
          </a:ln>
        </p:spPr>
      </p:cxnSp>
      <p:sp>
        <p:nvSpPr>
          <p:cNvPr id="45" name="Rounded Rectangle 44"/>
          <p:cNvSpPr/>
          <p:nvPr/>
        </p:nvSpPr>
        <p:spPr>
          <a:xfrm>
            <a:off x="5489067" y="7719527"/>
            <a:ext cx="1537589" cy="694964"/>
          </a:xfrm>
          <a:prstGeom prst="roundRect">
            <a:avLst>
              <a:gd name="adj" fmla="val 10964"/>
            </a:avLst>
          </a:prstGeom>
          <a:solidFill>
            <a:srgbClr val="FCFAF4"/>
          </a:solidFill>
          <a:ln w="8890">
            <a:solidFill>
              <a:srgbClr val="CDD1BF"/>
            </a:solidFill>
          </a:ln>
          <a:effectLst/>
        </p:spPr>
        <p:txBody>
          <a:bodyPr rtlCol="0" anchor="ctr"/>
          <a:lstStyle/>
          <a:p/>
        </p:txBody>
      </p:sp>
      <p:sp>
        <p:nvSpPr>
          <p:cNvPr id="46" name="Round Same Side Corner Rectangle 45"/>
          <p:cNvSpPr/>
          <p:nvPr/>
        </p:nvSpPr>
        <p:spPr>
          <a:xfrm>
            <a:off x="5493512" y="7723972"/>
            <a:ext cx="1528698" cy="190500"/>
          </a:xfrm>
          <a:prstGeom prst="round2SameRect">
            <a:avLst>
              <a:gd name="adj1" fmla="val 36666"/>
              <a:gd name="adj2" fmla="val 0"/>
            </a:avLst>
          </a:prstGeom>
          <a:solidFill>
            <a:srgbClr val="DFE2CB"/>
          </a:solidFill>
          <a:ln>
            <a:noFill/>
          </a:ln>
          <a:effectLst/>
        </p:spPr>
        <p:txBody>
          <a:bodyPr rtlCol="0" anchor="ctr"/>
          <a:lstStyle/>
          <a:p/>
        </p:txBody>
      </p:sp>
      <p:sp>
        <p:nvSpPr>
          <p:cNvPr id="47" name="TextBox 46"/>
          <p:cNvSpPr txBox="1"/>
          <p:nvPr/>
        </p:nvSpPr>
        <p:spPr>
          <a:xfrm>
            <a:off x="5489067" y="7719527"/>
            <a:ext cx="1537589" cy="190500"/>
          </a:xfrm>
          <a:prstGeom prst="rect">
            <a:avLst/>
          </a:prstGeom>
          <a:noFill/>
        </p:spPr>
        <p:txBody>
          <a:bodyPr wrap="square" lIns="0" rIns="0" tIns="0" bIns="0" anchor="ctr">
            <a:spAutoFit/>
          </a:bodyPr>
          <a:lstStyle/>
          <a:p>
            <a:pPr algn="ctr"/>
            <a:r>
              <a:rPr sz="1050" b="1" i="0">
                <a:solidFill>
                  <a:srgbClr val="1F3326"/>
                </a:solidFill>
                <a:latin typeface="Cormorant Garamond"/>
              </a:rPr>
              <a:t>Próxima revisão</a:t>
            </a:r>
          </a:p>
        </p:txBody>
      </p:sp>
      <p:cxnSp>
        <p:nvCxnSpPr>
          <p:cNvPr id="48" name="Connector 47"/>
          <p:cNvCxnSpPr/>
          <p:nvPr/>
        </p:nvCxnSpPr>
        <p:spPr>
          <a:xfrm>
            <a:off x="5590667" y="8287491"/>
            <a:ext cx="1334389" cy="0"/>
          </a:xfrm>
          <a:prstGeom prst="line">
            <a:avLst/>
          </a:prstGeom>
          <a:ln w="7620">
            <a:solidFill>
              <a:srgbClr val="B5B5AA"/>
            </a:solidFill>
          </a:ln>
        </p:spPr>
      </p:cxnSp>
      <p:cxnSp>
        <p:nvCxnSpPr>
          <p:cNvPr id="50" name="Connector 49"/>
          <p:cNvCxnSpPr/>
          <p:nvPr/>
        </p:nvCxnSpPr>
        <p:spPr>
          <a:xfrm>
            <a:off x="533400" y="9407745"/>
            <a:ext cx="6493256" cy="0"/>
          </a:xfrm>
          <a:prstGeom prst="line">
            <a:avLst/>
          </a:prstGeom>
          <a:ln w="7620">
            <a:solidFill>
              <a:srgbClr val="B5B5AA"/>
            </a:solidFill>
          </a:ln>
        </p:spPr>
      </p:cxnSp>
      <p:cxnSp>
        <p:nvCxnSpPr>
          <p:cNvPr id="51" name="Connector 50"/>
          <p:cNvCxnSpPr/>
          <p:nvPr/>
        </p:nvCxnSpPr>
        <p:spPr>
          <a:xfrm>
            <a:off x="533400" y="9660459"/>
            <a:ext cx="6493256" cy="0"/>
          </a:xfrm>
          <a:prstGeom prst="line">
            <a:avLst/>
          </a:prstGeom>
          <a:ln w="7620">
            <a:solidFill>
              <a:srgbClr val="B5B5AA"/>
            </a:solidFill>
          </a:ln>
        </p:spPr>
      </p:cxnSp>
      <p:cxnSp>
        <p:nvCxnSpPr>
          <p:cNvPr id="52" name="Connector 51"/>
          <p:cNvCxnSpPr/>
          <p:nvPr/>
        </p:nvCxnSpPr>
        <p:spPr>
          <a:xfrm>
            <a:off x="533400" y="9913174"/>
            <a:ext cx="6493256" cy="0"/>
          </a:xfrm>
          <a:prstGeom prst="line">
            <a:avLst/>
          </a:prstGeom>
          <a:ln w="7620">
            <a:solidFill>
              <a:srgbClr val="B5B5AA"/>
            </a:solidFill>
          </a:ln>
        </p:spPr>
      </p:cxnSp>
      <p:sp>
        <p:nvSpPr>
          <p:cNvPr id="55" name="TextBox 54"/>
          <p:cNvSpPr txBox="1"/>
          <p:nvPr/>
        </p:nvSpPr>
        <p:spPr>
          <a:xfrm>
            <a:off x="558800" y="8730384"/>
            <a:ext cx="5909056" cy="304800"/>
          </a:xfrm>
          <a:prstGeom prst="rect">
            <a:avLst/>
          </a:prstGeom>
          <a:noFill/>
        </p:spPr>
        <p:txBody>
          <a:bodyPr wrap="square" lIns="0" rIns="0" tIns="0" bIns="0" anchor="ctr">
            <a:spAutoFit/>
          </a:bodyPr>
          <a:lstStyle/>
          <a:p>
            <a:pPr algn="l"/>
            <a:r>
              <a:rPr sz="1500" b="1" i="0">
                <a:solidFill>
                  <a:srgbClr val="1F3326"/>
                </a:solidFill>
                <a:latin typeface="Cormorant Garamond"/>
              </a:rPr>
              <a:t>Observações administrativas</a:t>
            </a:r>
          </a:p>
        </p:txBody>
      </p:sp>
      <p:pic>
        <p:nvPicPr>
          <p:cNvPr id="56" name="Picture 55" descr="ramo.png"/>
          <p:cNvPicPr>
            <a:picLocks noChangeAspect="1"/>
          </p:cNvPicPr>
          <p:nvPr/>
        </p:nvPicPr>
        <p:blipFill>
          <a:blip r:embed="rId7"/>
          <a:stretch>
            <a:fillRect/>
          </a:stretch>
        </p:blipFill>
        <p:spPr>
          <a:xfrm>
            <a:off x="6671056" y="8792070"/>
            <a:ext cx="381000" cy="181429"/>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6EC"/>
        </a:solidFill>
        <a:effectLst/>
      </p:bgPr>
    </p:bg>
    <p:spTree>
      <p:nvGrpSpPr>
        <p:cNvPr id="1" name=""/>
        <p:cNvGrpSpPr/>
        <p:nvPr/>
      </p:nvGrpSpPr>
      <p:grpSpPr/>
      <p:sp>
        <p:nvSpPr>
          <p:cNvPr id="70" name="Rounded Rectangle 69"/>
          <p:cNvSpPr/>
          <p:nvPr/>
        </p:nvSpPr>
        <p:spPr>
          <a:xfrm>
            <a:off x="381000" y="9439858"/>
            <a:ext cx="6798056" cy="715803"/>
          </a:xfrm>
          <a:prstGeom prst="roundRect">
            <a:avLst>
              <a:gd name="adj" fmla="val 15968"/>
            </a:avLst>
          </a:prstGeom>
          <a:solidFill>
            <a:srgbClr val="FCFAF4"/>
          </a:solidFill>
          <a:ln w="11430">
            <a:solidFill>
              <a:srgbClr val="CDD1BF"/>
            </a:solidFill>
          </a:ln>
          <a:effectLst/>
        </p:spPr>
        <p:txBody>
          <a:bodyPr rtlCol="0" anchor="ctr"/>
          <a:lstStyle/>
          <a:p/>
        </p:txBody>
      </p:sp>
      <p:sp>
        <p:nvSpPr>
          <p:cNvPr id="71" name="Round Same Side Corner Rectangle 70"/>
          <p:cNvSpPr/>
          <p:nvPr/>
        </p:nvSpPr>
        <p:spPr>
          <a:xfrm>
            <a:off x="386715" y="9445573"/>
            <a:ext cx="6786626" cy="101600"/>
          </a:xfrm>
          <a:prstGeom prst="round2SameRect">
            <a:avLst>
              <a:gd name="adj1" fmla="val 50000"/>
              <a:gd name="adj2" fmla="val 0"/>
            </a:avLst>
          </a:prstGeom>
          <a:solidFill>
            <a:srgbClr val="DFE2CB"/>
          </a:solidFill>
          <a:ln>
            <a:noFill/>
          </a:ln>
          <a:effectLst/>
        </p:spPr>
        <p:txBody>
          <a:bodyPr rtlCol="0" anchor="ctr"/>
          <a:lstStyle/>
          <a:p/>
        </p:txBody>
      </p:sp>
      <p:sp>
        <p:nvSpPr>
          <p:cNvPr id="61" name="Rounded Rectangle 60"/>
          <p:cNvSpPr/>
          <p:nvPr/>
        </p:nvSpPr>
        <p:spPr>
          <a:xfrm>
            <a:off x="381000" y="7971629"/>
            <a:ext cx="6798056" cy="1338958"/>
          </a:xfrm>
          <a:prstGeom prst="roundRect">
            <a:avLst>
              <a:gd name="adj" fmla="val 8536"/>
            </a:avLst>
          </a:prstGeom>
          <a:solidFill>
            <a:srgbClr val="FCFAF4"/>
          </a:solidFill>
          <a:ln w="11430">
            <a:solidFill>
              <a:srgbClr val="CDD1BF"/>
            </a:solidFill>
          </a:ln>
          <a:effectLst/>
        </p:spPr>
        <p:txBody>
          <a:bodyPr rtlCol="0" anchor="ctr"/>
          <a:lstStyle/>
          <a:p/>
        </p:txBody>
      </p:sp>
      <p:sp>
        <p:nvSpPr>
          <p:cNvPr id="62" name="Round Same Side Corner Rectangle 61"/>
          <p:cNvSpPr/>
          <p:nvPr/>
        </p:nvSpPr>
        <p:spPr>
          <a:xfrm>
            <a:off x="386715" y="7977344"/>
            <a:ext cx="6786626" cy="304800"/>
          </a:xfrm>
          <a:prstGeom prst="round2SameRect">
            <a:avLst>
              <a:gd name="adj1" fmla="val 35416"/>
              <a:gd name="adj2" fmla="val 0"/>
            </a:avLst>
          </a:prstGeom>
          <a:solidFill>
            <a:srgbClr val="DFE2CB"/>
          </a:solidFill>
          <a:ln>
            <a:noFill/>
          </a:ln>
          <a:effectLst/>
        </p:spPr>
        <p:txBody>
          <a:bodyPr rtlCol="0" anchor="ctr"/>
          <a:lstStyle/>
          <a:p/>
        </p:txBody>
      </p:sp>
      <p:sp>
        <p:nvSpPr>
          <p:cNvPr id="53" name="Rounded Rectangle 52"/>
          <p:cNvSpPr/>
          <p:nvPr/>
        </p:nvSpPr>
        <p:spPr>
          <a:xfrm>
            <a:off x="381000" y="6697305"/>
            <a:ext cx="6798056" cy="1145054"/>
          </a:xfrm>
          <a:prstGeom prst="roundRect">
            <a:avLst>
              <a:gd name="adj" fmla="val 9982"/>
            </a:avLst>
          </a:prstGeom>
          <a:solidFill>
            <a:srgbClr val="FCFAF4"/>
          </a:solidFill>
          <a:ln w="11430">
            <a:solidFill>
              <a:srgbClr val="CDD1BF"/>
            </a:solidFill>
          </a:ln>
          <a:effectLst/>
        </p:spPr>
        <p:txBody>
          <a:bodyPr rtlCol="0" anchor="ctr"/>
          <a:lstStyle/>
          <a:p/>
        </p:txBody>
      </p:sp>
      <p:sp>
        <p:nvSpPr>
          <p:cNvPr id="54" name="Round Same Side Corner Rectangle 53"/>
          <p:cNvSpPr/>
          <p:nvPr/>
        </p:nvSpPr>
        <p:spPr>
          <a:xfrm>
            <a:off x="386715" y="6703020"/>
            <a:ext cx="6786626" cy="304800"/>
          </a:xfrm>
          <a:prstGeom prst="round2SameRect">
            <a:avLst>
              <a:gd name="adj1" fmla="val 35416"/>
              <a:gd name="adj2" fmla="val 0"/>
            </a:avLst>
          </a:prstGeom>
          <a:solidFill>
            <a:srgbClr val="DFE2CB"/>
          </a:solidFill>
          <a:ln>
            <a:noFill/>
          </a:ln>
          <a:effectLst/>
        </p:spPr>
        <p:txBody>
          <a:bodyPr rtlCol="0" anchor="ctr"/>
          <a:lstStyle/>
          <a:p/>
        </p:txBody>
      </p:sp>
      <p:sp>
        <p:nvSpPr>
          <p:cNvPr id="40" name="Rounded Rectangle 39"/>
          <p:cNvSpPr/>
          <p:nvPr/>
        </p:nvSpPr>
        <p:spPr>
          <a:xfrm>
            <a:off x="381000" y="5229076"/>
            <a:ext cx="6798056" cy="1338958"/>
          </a:xfrm>
          <a:prstGeom prst="roundRect">
            <a:avLst>
              <a:gd name="adj" fmla="val 8536"/>
            </a:avLst>
          </a:prstGeom>
          <a:solidFill>
            <a:srgbClr val="FCFAF4"/>
          </a:solidFill>
          <a:ln w="11430">
            <a:solidFill>
              <a:srgbClr val="CDD1BF"/>
            </a:solidFill>
          </a:ln>
          <a:effectLst/>
        </p:spPr>
        <p:txBody>
          <a:bodyPr rtlCol="0" anchor="ctr"/>
          <a:lstStyle/>
          <a:p/>
        </p:txBody>
      </p:sp>
      <p:sp>
        <p:nvSpPr>
          <p:cNvPr id="41" name="Round Same Side Corner Rectangle 40"/>
          <p:cNvSpPr/>
          <p:nvPr/>
        </p:nvSpPr>
        <p:spPr>
          <a:xfrm>
            <a:off x="386715" y="5234791"/>
            <a:ext cx="6786626" cy="304800"/>
          </a:xfrm>
          <a:prstGeom prst="round2SameRect">
            <a:avLst>
              <a:gd name="adj1" fmla="val 35416"/>
              <a:gd name="adj2" fmla="val 0"/>
            </a:avLst>
          </a:prstGeom>
          <a:solidFill>
            <a:srgbClr val="DFE2CB"/>
          </a:solidFill>
          <a:ln>
            <a:noFill/>
          </a:ln>
          <a:effectLst/>
        </p:spPr>
        <p:txBody>
          <a:bodyPr rtlCol="0" anchor="ctr"/>
          <a:lstStyle/>
          <a:p/>
        </p:txBody>
      </p:sp>
      <p:sp>
        <p:nvSpPr>
          <p:cNvPr id="32" name="Rounded Rectangle 31"/>
          <p:cNvSpPr/>
          <p:nvPr/>
        </p:nvSpPr>
        <p:spPr>
          <a:xfrm>
            <a:off x="381000" y="3760847"/>
            <a:ext cx="6798056" cy="1338958"/>
          </a:xfrm>
          <a:prstGeom prst="roundRect">
            <a:avLst>
              <a:gd name="adj" fmla="val 8536"/>
            </a:avLst>
          </a:prstGeom>
          <a:solidFill>
            <a:srgbClr val="FCFAF4"/>
          </a:solidFill>
          <a:ln w="11430">
            <a:solidFill>
              <a:srgbClr val="CDD1BF"/>
            </a:solidFill>
          </a:ln>
          <a:effectLst/>
        </p:spPr>
        <p:txBody>
          <a:bodyPr rtlCol="0" anchor="ctr"/>
          <a:lstStyle/>
          <a:p/>
        </p:txBody>
      </p:sp>
      <p:sp>
        <p:nvSpPr>
          <p:cNvPr id="33" name="Round Same Side Corner Rectangle 32"/>
          <p:cNvSpPr/>
          <p:nvPr/>
        </p:nvSpPr>
        <p:spPr>
          <a:xfrm>
            <a:off x="386715" y="3766562"/>
            <a:ext cx="6786626" cy="304800"/>
          </a:xfrm>
          <a:prstGeom prst="round2SameRect">
            <a:avLst>
              <a:gd name="adj1" fmla="val 35416"/>
              <a:gd name="adj2" fmla="val 0"/>
            </a:avLst>
          </a:prstGeom>
          <a:solidFill>
            <a:srgbClr val="DFE2CB"/>
          </a:solidFill>
          <a:ln>
            <a:noFill/>
          </a:ln>
          <a:effectLst/>
        </p:spPr>
        <p:txBody>
          <a:bodyPr rtlCol="0" anchor="ctr"/>
          <a:lstStyle/>
          <a:p/>
        </p:txBody>
      </p:sp>
      <p:sp>
        <p:nvSpPr>
          <p:cNvPr id="24" name="Rounded Rectangle 23"/>
          <p:cNvSpPr/>
          <p:nvPr/>
        </p:nvSpPr>
        <p:spPr>
          <a:xfrm>
            <a:off x="381000" y="2292619"/>
            <a:ext cx="6798056" cy="1338958"/>
          </a:xfrm>
          <a:prstGeom prst="roundRect">
            <a:avLst>
              <a:gd name="adj" fmla="val 8536"/>
            </a:avLst>
          </a:prstGeom>
          <a:solidFill>
            <a:srgbClr val="FCFAF4"/>
          </a:solidFill>
          <a:ln w="11430">
            <a:solidFill>
              <a:srgbClr val="CDD1BF"/>
            </a:solidFill>
          </a:ln>
          <a:effectLst/>
        </p:spPr>
        <p:txBody>
          <a:bodyPr rtlCol="0" anchor="ctr"/>
          <a:lstStyle/>
          <a:p/>
        </p:txBody>
      </p:sp>
      <p:sp>
        <p:nvSpPr>
          <p:cNvPr id="25" name="Round Same Side Corner Rectangle 24"/>
          <p:cNvSpPr/>
          <p:nvPr/>
        </p:nvSpPr>
        <p:spPr>
          <a:xfrm>
            <a:off x="386715" y="2298334"/>
            <a:ext cx="6786626" cy="304800"/>
          </a:xfrm>
          <a:prstGeom prst="round2SameRect">
            <a:avLst>
              <a:gd name="adj1" fmla="val 35416"/>
              <a:gd name="adj2" fmla="val 0"/>
            </a:avLst>
          </a:prstGeom>
          <a:solidFill>
            <a:srgbClr val="DFE2CB"/>
          </a:solidFill>
          <a:ln>
            <a:noFill/>
          </a:ln>
          <a:effectLst/>
        </p:spPr>
        <p:txBody>
          <a:bodyPr rtlCol="0" anchor="ctr"/>
          <a:lstStyle/>
          <a:p/>
        </p:txBody>
      </p:sp>
      <p:sp>
        <p:nvSpPr>
          <p:cNvPr id="17" name="Rounded Rectangle 16"/>
          <p:cNvSpPr/>
          <p:nvPr/>
        </p:nvSpPr>
        <p:spPr>
          <a:xfrm>
            <a:off x="381000" y="1409446"/>
            <a:ext cx="6798056" cy="753903"/>
          </a:xfrm>
          <a:prstGeom prst="roundRect">
            <a:avLst>
              <a:gd name="adj" fmla="val 15161"/>
            </a:avLst>
          </a:prstGeom>
          <a:solidFill>
            <a:srgbClr val="FCFAF4"/>
          </a:solidFill>
          <a:ln w="11430">
            <a:solidFill>
              <a:srgbClr val="CDD1BF"/>
            </a:solidFill>
          </a:ln>
          <a:effectLst/>
        </p:spPr>
        <p:txBody>
          <a:bodyPr rtlCol="0" anchor="ctr"/>
          <a:lstStyle/>
          <a:p/>
        </p:txBody>
      </p:sp>
      <p:sp>
        <p:nvSpPr>
          <p:cNvPr id="18" name="Round Same Side Corner Rectangle 17"/>
          <p:cNvSpPr/>
          <p:nvPr/>
        </p:nvSpPr>
        <p:spPr>
          <a:xfrm>
            <a:off x="386715" y="1415161"/>
            <a:ext cx="6786626" cy="139700"/>
          </a:xfrm>
          <a:prstGeom prst="round2SameRect">
            <a:avLst>
              <a:gd name="adj1" fmla="val 50000"/>
              <a:gd name="adj2" fmla="val 0"/>
            </a:avLst>
          </a:prstGeom>
          <a:solidFill>
            <a:srgbClr val="DFE2CB"/>
          </a:solidFill>
          <a:ln>
            <a:noFill/>
          </a:ln>
          <a:effectLst/>
        </p:spPr>
        <p:txBody>
          <a:bodyPr rtlCol="0" anchor="ctr"/>
          <a:lstStyle/>
          <a:p/>
        </p:txBody>
      </p:sp>
      <p:pic>
        <p:nvPicPr>
          <p:cNvPr id="2" name="Picture 1" descr="folha-esq.png"/>
          <p:cNvPicPr>
            <a:picLocks noChangeAspect="1"/>
          </p:cNvPicPr>
          <p:nvPr/>
        </p:nvPicPr>
        <p:blipFill>
          <a:blip r:embed="rId2"/>
          <a:stretch>
            <a:fillRect/>
          </a:stretch>
        </p:blipFill>
        <p:spPr>
          <a:xfrm>
            <a:off x="0" y="0"/>
            <a:ext cx="1168400" cy="1410399"/>
          </a:xfrm>
          <a:prstGeom prst="rect">
            <a:avLst/>
          </a:prstGeom>
        </p:spPr>
      </p:pic>
      <p:pic>
        <p:nvPicPr>
          <p:cNvPr id="3" name="Picture 2" descr="folha-dir.png"/>
          <p:cNvPicPr>
            <a:picLocks noChangeAspect="1"/>
          </p:cNvPicPr>
          <p:nvPr/>
        </p:nvPicPr>
        <p:blipFill>
          <a:blip r:embed="rId3"/>
          <a:stretch>
            <a:fillRect/>
          </a:stretch>
        </p:blipFill>
        <p:spPr>
          <a:xfrm>
            <a:off x="6544056" y="0"/>
            <a:ext cx="1016000" cy="1570892"/>
          </a:xfrm>
          <a:prstGeom prst="rect">
            <a:avLst/>
          </a:prstGeom>
        </p:spPr>
      </p:pic>
      <p:pic>
        <p:nvPicPr>
          <p:cNvPr id="4" name="Picture 3" descr="folha-esq-baixo.png"/>
          <p:cNvPicPr>
            <a:picLocks noChangeAspect="1"/>
          </p:cNvPicPr>
          <p:nvPr/>
        </p:nvPicPr>
        <p:blipFill>
          <a:blip r:embed="rId4"/>
          <a:stretch>
            <a:fillRect/>
          </a:stretch>
        </p:blipFill>
        <p:spPr>
          <a:xfrm>
            <a:off x="0" y="9618873"/>
            <a:ext cx="889000" cy="1073129"/>
          </a:xfrm>
          <a:prstGeom prst="rect">
            <a:avLst/>
          </a:prstGeom>
        </p:spPr>
      </p:pic>
      <p:pic>
        <p:nvPicPr>
          <p:cNvPr id="5" name="Picture 4" descr="folha-dir-baixo.png"/>
          <p:cNvPicPr>
            <a:picLocks noChangeAspect="1"/>
          </p:cNvPicPr>
          <p:nvPr/>
        </p:nvPicPr>
        <p:blipFill>
          <a:blip r:embed="rId5"/>
          <a:stretch>
            <a:fillRect/>
          </a:stretch>
        </p:blipFill>
        <p:spPr>
          <a:xfrm>
            <a:off x="6823456" y="9553106"/>
            <a:ext cx="736600" cy="1138897"/>
          </a:xfrm>
          <a:prstGeom prst="rect">
            <a:avLst/>
          </a:prstGeom>
        </p:spPr>
      </p:pic>
      <p:pic>
        <p:nvPicPr>
          <p:cNvPr id="6" name="Picture 5" descr="lotus.png"/>
          <p:cNvPicPr>
            <a:picLocks noChangeAspect="1"/>
          </p:cNvPicPr>
          <p:nvPr/>
        </p:nvPicPr>
        <p:blipFill>
          <a:blip r:embed="rId6"/>
          <a:stretch>
            <a:fillRect/>
          </a:stretch>
        </p:blipFill>
        <p:spPr>
          <a:xfrm>
            <a:off x="2865628" y="152400"/>
            <a:ext cx="1828800" cy="459982"/>
          </a:xfrm>
          <a:prstGeom prst="rect">
            <a:avLst/>
          </a:prstGeom>
        </p:spPr>
      </p:pic>
      <p:sp>
        <p:nvSpPr>
          <p:cNvPr id="7" name="TextBox 6"/>
          <p:cNvSpPr txBox="1"/>
          <p:nvPr/>
        </p:nvSpPr>
        <p:spPr>
          <a:xfrm>
            <a:off x="889000" y="635000"/>
            <a:ext cx="5782056" cy="490855"/>
          </a:xfrm>
          <a:prstGeom prst="rect">
            <a:avLst/>
          </a:prstGeom>
          <a:noFill/>
        </p:spPr>
        <p:txBody>
          <a:bodyPr wrap="square" lIns="0" rIns="0" tIns="0" bIns="0" anchor="t">
            <a:spAutoFit/>
          </a:bodyPr>
          <a:lstStyle/>
          <a:p>
            <a:pPr algn="ctr">
              <a:lnSpc>
                <a:spcPct val="90000"/>
              </a:lnSpc>
            </a:pPr>
            <a:r>
              <a:rPr sz="3300" b="1" i="0">
                <a:solidFill>
                  <a:srgbClr val="1F3326"/>
                </a:solidFill>
                <a:latin typeface="Cormorant Garamond"/>
              </a:rPr>
              <a:t>Registro de Evolução</a:t>
            </a:r>
          </a:p>
        </p:txBody>
      </p:sp>
      <p:sp>
        <p:nvSpPr>
          <p:cNvPr id="8" name="TextBox 7"/>
          <p:cNvSpPr txBox="1"/>
          <p:nvPr/>
        </p:nvSpPr>
        <p:spPr>
          <a:xfrm>
            <a:off x="762000" y="1130046"/>
            <a:ext cx="6036056" cy="139700"/>
          </a:xfrm>
          <a:prstGeom prst="rect">
            <a:avLst/>
          </a:prstGeom>
          <a:noFill/>
        </p:spPr>
        <p:txBody>
          <a:bodyPr wrap="square" lIns="0" rIns="0" tIns="0" bIns="0" anchor="t">
            <a:spAutoFit/>
          </a:bodyPr>
          <a:lstStyle/>
          <a:p>
            <a:pPr algn="ctr"/>
            <a:r>
              <a:rPr sz="700" b="0" i="0" spc="210">
                <a:solidFill>
                  <a:srgbClr val="3C3C36"/>
                </a:solidFill>
                <a:latin typeface="Montserrat"/>
              </a:rPr>
              <a:t>USO RESERVADO AO PROFISSIONAL</a:t>
            </a:r>
          </a:p>
        </p:txBody>
      </p:sp>
      <p:sp>
        <p:nvSpPr>
          <p:cNvPr id="9" name="TextBox 8"/>
          <p:cNvSpPr txBox="1"/>
          <p:nvPr/>
        </p:nvSpPr>
        <p:spPr>
          <a:xfrm>
            <a:off x="533400" y="1678415"/>
            <a:ext cx="2470302" cy="135973"/>
          </a:xfrm>
          <a:prstGeom prst="rect">
            <a:avLst/>
          </a:prstGeom>
          <a:noFill/>
        </p:spPr>
        <p:txBody>
          <a:bodyPr wrap="square" lIns="0" rIns="0" tIns="0" bIns="0" anchor="t">
            <a:spAutoFit/>
          </a:bodyPr>
          <a:lstStyle/>
          <a:p>
            <a:pPr algn="l"/>
            <a:r>
              <a:rPr sz="764" b="0" i="0">
                <a:solidFill>
                  <a:srgbClr val="4A4A43"/>
                </a:solidFill>
                <a:latin typeface="Montserrat"/>
              </a:rPr>
              <a:t>Nome / código:</a:t>
            </a:r>
          </a:p>
        </p:txBody>
      </p:sp>
      <p:cxnSp>
        <p:nvCxnSpPr>
          <p:cNvPr id="10" name="Connector 9"/>
          <p:cNvCxnSpPr/>
          <p:nvPr/>
        </p:nvCxnSpPr>
        <p:spPr>
          <a:xfrm>
            <a:off x="533400" y="1969444"/>
            <a:ext cx="2470302" cy="0"/>
          </a:xfrm>
          <a:prstGeom prst="line">
            <a:avLst/>
          </a:prstGeom>
          <a:ln w="7620">
            <a:solidFill>
              <a:srgbClr val="B5B5AA"/>
            </a:solidFill>
          </a:ln>
        </p:spPr>
      </p:cxnSp>
      <p:sp>
        <p:nvSpPr>
          <p:cNvPr id="11" name="TextBox 10"/>
          <p:cNvSpPr txBox="1"/>
          <p:nvPr/>
        </p:nvSpPr>
        <p:spPr>
          <a:xfrm>
            <a:off x="3130702" y="1678415"/>
            <a:ext cx="1171651" cy="135973"/>
          </a:xfrm>
          <a:prstGeom prst="rect">
            <a:avLst/>
          </a:prstGeom>
          <a:noFill/>
        </p:spPr>
        <p:txBody>
          <a:bodyPr wrap="square" lIns="0" rIns="0" tIns="0" bIns="0" anchor="t">
            <a:spAutoFit/>
          </a:bodyPr>
          <a:lstStyle/>
          <a:p>
            <a:pPr algn="l"/>
            <a:r>
              <a:rPr sz="764" b="0" i="0">
                <a:solidFill>
                  <a:srgbClr val="4A4A43"/>
                </a:solidFill>
                <a:latin typeface="Montserrat"/>
              </a:rPr>
              <a:t>Data:</a:t>
            </a:r>
          </a:p>
        </p:txBody>
      </p:sp>
      <p:cxnSp>
        <p:nvCxnSpPr>
          <p:cNvPr id="12" name="Connector 11"/>
          <p:cNvCxnSpPr/>
          <p:nvPr/>
        </p:nvCxnSpPr>
        <p:spPr>
          <a:xfrm>
            <a:off x="3130702" y="1969444"/>
            <a:ext cx="1171651" cy="0"/>
          </a:xfrm>
          <a:prstGeom prst="line">
            <a:avLst/>
          </a:prstGeom>
          <a:ln w="7620">
            <a:solidFill>
              <a:srgbClr val="B5B5AA"/>
            </a:solidFill>
          </a:ln>
        </p:spPr>
      </p:cxnSp>
      <p:sp>
        <p:nvSpPr>
          <p:cNvPr id="13" name="TextBox 12"/>
          <p:cNvSpPr txBox="1"/>
          <p:nvPr/>
        </p:nvSpPr>
        <p:spPr>
          <a:xfrm>
            <a:off x="4429353" y="1678415"/>
            <a:ext cx="1041786" cy="135973"/>
          </a:xfrm>
          <a:prstGeom prst="rect">
            <a:avLst/>
          </a:prstGeom>
          <a:noFill/>
        </p:spPr>
        <p:txBody>
          <a:bodyPr wrap="square" lIns="0" rIns="0" tIns="0" bIns="0" anchor="t">
            <a:spAutoFit/>
          </a:bodyPr>
          <a:lstStyle/>
          <a:p>
            <a:pPr algn="l"/>
            <a:r>
              <a:rPr sz="764" b="0" i="0">
                <a:solidFill>
                  <a:srgbClr val="4A4A43"/>
                </a:solidFill>
                <a:latin typeface="Montserrat"/>
              </a:rPr>
              <a:t>Sessão:</a:t>
            </a:r>
          </a:p>
        </p:txBody>
      </p:sp>
      <p:cxnSp>
        <p:nvCxnSpPr>
          <p:cNvPr id="14" name="Connector 13"/>
          <p:cNvCxnSpPr/>
          <p:nvPr/>
        </p:nvCxnSpPr>
        <p:spPr>
          <a:xfrm>
            <a:off x="4429353" y="1969444"/>
            <a:ext cx="1041786" cy="0"/>
          </a:xfrm>
          <a:prstGeom prst="line">
            <a:avLst/>
          </a:prstGeom>
          <a:ln w="7620">
            <a:solidFill>
              <a:srgbClr val="B5B5AA"/>
            </a:solidFill>
          </a:ln>
        </p:spPr>
      </p:cxnSp>
      <p:sp>
        <p:nvSpPr>
          <p:cNvPr id="15" name="TextBox 14"/>
          <p:cNvSpPr txBox="1"/>
          <p:nvPr/>
        </p:nvSpPr>
        <p:spPr>
          <a:xfrm>
            <a:off x="5598139" y="1678415"/>
            <a:ext cx="1301516" cy="135973"/>
          </a:xfrm>
          <a:prstGeom prst="rect">
            <a:avLst/>
          </a:prstGeom>
          <a:noFill/>
        </p:spPr>
        <p:txBody>
          <a:bodyPr wrap="square" lIns="0" rIns="0" tIns="0" bIns="0" anchor="t">
            <a:spAutoFit/>
          </a:bodyPr>
          <a:lstStyle/>
          <a:p>
            <a:pPr algn="l"/>
            <a:r>
              <a:rPr sz="764" b="0" i="0">
                <a:solidFill>
                  <a:srgbClr val="4A4A43"/>
                </a:solidFill>
                <a:latin typeface="Montserrat"/>
              </a:rPr>
              <a:t>Modalidade:</a:t>
            </a:r>
          </a:p>
        </p:txBody>
      </p:sp>
      <p:cxnSp>
        <p:nvCxnSpPr>
          <p:cNvPr id="16" name="Connector 15"/>
          <p:cNvCxnSpPr/>
          <p:nvPr/>
        </p:nvCxnSpPr>
        <p:spPr>
          <a:xfrm>
            <a:off x="5598139" y="1969444"/>
            <a:ext cx="1301517" cy="0"/>
          </a:xfrm>
          <a:prstGeom prst="line">
            <a:avLst/>
          </a:prstGeom>
          <a:ln w="7620">
            <a:solidFill>
              <a:srgbClr val="B5B5AA"/>
            </a:solidFill>
          </a:ln>
        </p:spPr>
      </p:cxnSp>
      <p:pic>
        <p:nvPicPr>
          <p:cNvPr id="19" name="Picture 18" descr="ramo.png"/>
          <p:cNvPicPr>
            <a:picLocks noChangeAspect="1"/>
          </p:cNvPicPr>
          <p:nvPr/>
        </p:nvPicPr>
        <p:blipFill>
          <a:blip r:embed="rId7"/>
          <a:stretch>
            <a:fillRect/>
          </a:stretch>
        </p:blipFill>
        <p:spPr>
          <a:xfrm>
            <a:off x="6772656" y="1422146"/>
            <a:ext cx="279400" cy="133048"/>
          </a:xfrm>
          <a:prstGeom prst="rect">
            <a:avLst/>
          </a:prstGeom>
        </p:spPr>
      </p:pic>
      <p:cxnSp>
        <p:nvCxnSpPr>
          <p:cNvPr id="20" name="Connector 19"/>
          <p:cNvCxnSpPr/>
          <p:nvPr/>
        </p:nvCxnSpPr>
        <p:spPr>
          <a:xfrm>
            <a:off x="533400" y="2882493"/>
            <a:ext cx="6493256" cy="0"/>
          </a:xfrm>
          <a:prstGeom prst="line">
            <a:avLst/>
          </a:prstGeom>
          <a:ln w="7620">
            <a:solidFill>
              <a:srgbClr val="B5B5AA"/>
            </a:solidFill>
          </a:ln>
        </p:spPr>
      </p:cxnSp>
      <p:cxnSp>
        <p:nvCxnSpPr>
          <p:cNvPr id="21" name="Connector 20"/>
          <p:cNvCxnSpPr/>
          <p:nvPr/>
        </p:nvCxnSpPr>
        <p:spPr>
          <a:xfrm>
            <a:off x="533400" y="3076398"/>
            <a:ext cx="6493256" cy="0"/>
          </a:xfrm>
          <a:prstGeom prst="line">
            <a:avLst/>
          </a:prstGeom>
          <a:ln w="7620">
            <a:solidFill>
              <a:srgbClr val="B5B5AA"/>
            </a:solidFill>
          </a:ln>
        </p:spPr>
      </p:cxnSp>
      <p:cxnSp>
        <p:nvCxnSpPr>
          <p:cNvPr id="22" name="Connector 21"/>
          <p:cNvCxnSpPr/>
          <p:nvPr/>
        </p:nvCxnSpPr>
        <p:spPr>
          <a:xfrm>
            <a:off x="533400" y="3270303"/>
            <a:ext cx="6493256" cy="0"/>
          </a:xfrm>
          <a:prstGeom prst="line">
            <a:avLst/>
          </a:prstGeom>
          <a:ln w="7620">
            <a:solidFill>
              <a:srgbClr val="B5B5AA"/>
            </a:solidFill>
          </a:ln>
        </p:spPr>
      </p:cxnSp>
      <p:cxnSp>
        <p:nvCxnSpPr>
          <p:cNvPr id="23" name="Connector 22"/>
          <p:cNvCxnSpPr/>
          <p:nvPr/>
        </p:nvCxnSpPr>
        <p:spPr>
          <a:xfrm>
            <a:off x="533400" y="3464208"/>
            <a:ext cx="6493256" cy="0"/>
          </a:xfrm>
          <a:prstGeom prst="line">
            <a:avLst/>
          </a:prstGeom>
          <a:ln w="7620">
            <a:solidFill>
              <a:srgbClr val="B5B5AA"/>
            </a:solidFill>
          </a:ln>
        </p:spPr>
      </p:cxnSp>
      <p:sp>
        <p:nvSpPr>
          <p:cNvPr id="26" name="TextBox 25"/>
          <p:cNvSpPr txBox="1"/>
          <p:nvPr/>
        </p:nvSpPr>
        <p:spPr>
          <a:xfrm>
            <a:off x="558800" y="2292619"/>
            <a:ext cx="5909056" cy="304800"/>
          </a:xfrm>
          <a:prstGeom prst="rect">
            <a:avLst/>
          </a:prstGeom>
          <a:noFill/>
        </p:spPr>
        <p:txBody>
          <a:bodyPr wrap="square" lIns="0" rIns="0" tIns="0" bIns="0" anchor="ctr">
            <a:spAutoFit/>
          </a:bodyPr>
          <a:lstStyle/>
          <a:p>
            <a:pPr algn="l"/>
            <a:r>
              <a:rPr sz="1500" b="1" i="0">
                <a:solidFill>
                  <a:srgbClr val="1F3326"/>
                </a:solidFill>
                <a:latin typeface="Cormorant Garamond"/>
              </a:rPr>
              <a:t>Queixa principal / objetivo da sessão</a:t>
            </a:r>
          </a:p>
        </p:txBody>
      </p:sp>
      <p:pic>
        <p:nvPicPr>
          <p:cNvPr id="27" name="Picture 26" descr="ramo.png"/>
          <p:cNvPicPr>
            <a:picLocks noChangeAspect="1"/>
          </p:cNvPicPr>
          <p:nvPr/>
        </p:nvPicPr>
        <p:blipFill>
          <a:blip r:embed="rId7"/>
          <a:stretch>
            <a:fillRect/>
          </a:stretch>
        </p:blipFill>
        <p:spPr>
          <a:xfrm>
            <a:off x="6671056" y="2354304"/>
            <a:ext cx="381000" cy="181429"/>
          </a:xfrm>
          <a:prstGeom prst="rect">
            <a:avLst/>
          </a:prstGeom>
        </p:spPr>
      </p:pic>
      <p:cxnSp>
        <p:nvCxnSpPr>
          <p:cNvPr id="28" name="Connector 27"/>
          <p:cNvCxnSpPr/>
          <p:nvPr/>
        </p:nvCxnSpPr>
        <p:spPr>
          <a:xfrm>
            <a:off x="533400" y="4350722"/>
            <a:ext cx="6493256" cy="0"/>
          </a:xfrm>
          <a:prstGeom prst="line">
            <a:avLst/>
          </a:prstGeom>
          <a:ln w="7620">
            <a:solidFill>
              <a:srgbClr val="B5B5AA"/>
            </a:solidFill>
          </a:ln>
        </p:spPr>
      </p:cxnSp>
      <p:cxnSp>
        <p:nvCxnSpPr>
          <p:cNvPr id="29" name="Connector 28"/>
          <p:cNvCxnSpPr/>
          <p:nvPr/>
        </p:nvCxnSpPr>
        <p:spPr>
          <a:xfrm>
            <a:off x="533400" y="4544627"/>
            <a:ext cx="6493256" cy="0"/>
          </a:xfrm>
          <a:prstGeom prst="line">
            <a:avLst/>
          </a:prstGeom>
          <a:ln w="7620">
            <a:solidFill>
              <a:srgbClr val="B5B5AA"/>
            </a:solidFill>
          </a:ln>
        </p:spPr>
      </p:cxnSp>
      <p:cxnSp>
        <p:nvCxnSpPr>
          <p:cNvPr id="30" name="Connector 29"/>
          <p:cNvCxnSpPr/>
          <p:nvPr/>
        </p:nvCxnSpPr>
        <p:spPr>
          <a:xfrm>
            <a:off x="533400" y="4738532"/>
            <a:ext cx="6493256" cy="0"/>
          </a:xfrm>
          <a:prstGeom prst="line">
            <a:avLst/>
          </a:prstGeom>
          <a:ln w="7620">
            <a:solidFill>
              <a:srgbClr val="B5B5AA"/>
            </a:solidFill>
          </a:ln>
        </p:spPr>
      </p:cxnSp>
      <p:cxnSp>
        <p:nvCxnSpPr>
          <p:cNvPr id="31" name="Connector 30"/>
          <p:cNvCxnSpPr/>
          <p:nvPr/>
        </p:nvCxnSpPr>
        <p:spPr>
          <a:xfrm>
            <a:off x="533400" y="4932436"/>
            <a:ext cx="6493256" cy="0"/>
          </a:xfrm>
          <a:prstGeom prst="line">
            <a:avLst/>
          </a:prstGeom>
          <a:ln w="7620">
            <a:solidFill>
              <a:srgbClr val="B5B5AA"/>
            </a:solidFill>
          </a:ln>
        </p:spPr>
      </p:cxnSp>
      <p:sp>
        <p:nvSpPr>
          <p:cNvPr id="34" name="TextBox 33"/>
          <p:cNvSpPr txBox="1"/>
          <p:nvPr/>
        </p:nvSpPr>
        <p:spPr>
          <a:xfrm>
            <a:off x="558800" y="3760847"/>
            <a:ext cx="5909056" cy="304800"/>
          </a:xfrm>
          <a:prstGeom prst="rect">
            <a:avLst/>
          </a:prstGeom>
          <a:noFill/>
        </p:spPr>
        <p:txBody>
          <a:bodyPr wrap="square" lIns="0" rIns="0" tIns="0" bIns="0" anchor="ctr">
            <a:spAutoFit/>
          </a:bodyPr>
          <a:lstStyle/>
          <a:p>
            <a:pPr algn="l"/>
            <a:r>
              <a:rPr sz="1500" b="1" i="0">
                <a:solidFill>
                  <a:srgbClr val="1F3326"/>
                </a:solidFill>
                <a:latin typeface="Cormorant Garamond"/>
              </a:rPr>
              <a:t>Técnicas, manobras e recursos utilizados</a:t>
            </a:r>
          </a:p>
        </p:txBody>
      </p:sp>
      <p:pic>
        <p:nvPicPr>
          <p:cNvPr id="35" name="Picture 34" descr="ramo.png"/>
          <p:cNvPicPr>
            <a:picLocks noChangeAspect="1"/>
          </p:cNvPicPr>
          <p:nvPr/>
        </p:nvPicPr>
        <p:blipFill>
          <a:blip r:embed="rId7"/>
          <a:stretch>
            <a:fillRect/>
          </a:stretch>
        </p:blipFill>
        <p:spPr>
          <a:xfrm>
            <a:off x="6671056" y="3822533"/>
            <a:ext cx="381000" cy="181429"/>
          </a:xfrm>
          <a:prstGeom prst="rect">
            <a:avLst/>
          </a:prstGeom>
        </p:spPr>
      </p:pic>
      <p:cxnSp>
        <p:nvCxnSpPr>
          <p:cNvPr id="36" name="Connector 35"/>
          <p:cNvCxnSpPr/>
          <p:nvPr/>
        </p:nvCxnSpPr>
        <p:spPr>
          <a:xfrm>
            <a:off x="533400" y="5818951"/>
            <a:ext cx="6493256" cy="0"/>
          </a:xfrm>
          <a:prstGeom prst="line">
            <a:avLst/>
          </a:prstGeom>
          <a:ln w="7620">
            <a:solidFill>
              <a:srgbClr val="B5B5AA"/>
            </a:solidFill>
          </a:ln>
        </p:spPr>
      </p:cxnSp>
      <p:cxnSp>
        <p:nvCxnSpPr>
          <p:cNvPr id="37" name="Connector 36"/>
          <p:cNvCxnSpPr/>
          <p:nvPr/>
        </p:nvCxnSpPr>
        <p:spPr>
          <a:xfrm>
            <a:off x="533400" y="6012856"/>
            <a:ext cx="6493256" cy="0"/>
          </a:xfrm>
          <a:prstGeom prst="line">
            <a:avLst/>
          </a:prstGeom>
          <a:ln w="7620">
            <a:solidFill>
              <a:srgbClr val="B5B5AA"/>
            </a:solidFill>
          </a:ln>
        </p:spPr>
      </p:cxnSp>
      <p:cxnSp>
        <p:nvCxnSpPr>
          <p:cNvPr id="38" name="Connector 37"/>
          <p:cNvCxnSpPr/>
          <p:nvPr/>
        </p:nvCxnSpPr>
        <p:spPr>
          <a:xfrm>
            <a:off x="533400" y="6206760"/>
            <a:ext cx="6493256" cy="0"/>
          </a:xfrm>
          <a:prstGeom prst="line">
            <a:avLst/>
          </a:prstGeom>
          <a:ln w="7620">
            <a:solidFill>
              <a:srgbClr val="B5B5AA"/>
            </a:solidFill>
          </a:ln>
        </p:spPr>
      </p:cxnSp>
      <p:cxnSp>
        <p:nvCxnSpPr>
          <p:cNvPr id="39" name="Connector 38"/>
          <p:cNvCxnSpPr/>
          <p:nvPr/>
        </p:nvCxnSpPr>
        <p:spPr>
          <a:xfrm>
            <a:off x="533400" y="6400665"/>
            <a:ext cx="6493256" cy="0"/>
          </a:xfrm>
          <a:prstGeom prst="line">
            <a:avLst/>
          </a:prstGeom>
          <a:ln w="7620">
            <a:solidFill>
              <a:srgbClr val="B5B5AA"/>
            </a:solidFill>
          </a:ln>
        </p:spPr>
      </p:cxnSp>
      <p:sp>
        <p:nvSpPr>
          <p:cNvPr id="42" name="TextBox 41"/>
          <p:cNvSpPr txBox="1"/>
          <p:nvPr/>
        </p:nvSpPr>
        <p:spPr>
          <a:xfrm>
            <a:off x="558800" y="5229076"/>
            <a:ext cx="5909056" cy="304800"/>
          </a:xfrm>
          <a:prstGeom prst="rect">
            <a:avLst/>
          </a:prstGeom>
          <a:noFill/>
        </p:spPr>
        <p:txBody>
          <a:bodyPr wrap="square" lIns="0" rIns="0" tIns="0" bIns="0" anchor="ctr">
            <a:spAutoFit/>
          </a:bodyPr>
          <a:lstStyle/>
          <a:p>
            <a:pPr algn="l"/>
            <a:r>
              <a:rPr sz="1500" b="1" i="0">
                <a:solidFill>
                  <a:srgbClr val="1F3326"/>
                </a:solidFill>
                <a:latin typeface="Cormorant Garamond"/>
              </a:rPr>
              <a:t>Respostas observadas e evolução relevante</a:t>
            </a:r>
          </a:p>
        </p:txBody>
      </p:sp>
      <p:pic>
        <p:nvPicPr>
          <p:cNvPr id="43" name="Picture 42" descr="ramo.png"/>
          <p:cNvPicPr>
            <a:picLocks noChangeAspect="1"/>
          </p:cNvPicPr>
          <p:nvPr/>
        </p:nvPicPr>
        <p:blipFill>
          <a:blip r:embed="rId7"/>
          <a:stretch>
            <a:fillRect/>
          </a:stretch>
        </p:blipFill>
        <p:spPr>
          <a:xfrm>
            <a:off x="6671056" y="5290762"/>
            <a:ext cx="381000" cy="181429"/>
          </a:xfrm>
          <a:prstGeom prst="rect">
            <a:avLst/>
          </a:prstGeom>
        </p:spPr>
      </p:pic>
      <p:sp>
        <p:nvSpPr>
          <p:cNvPr id="44" name="Rounded Rectangle 43"/>
          <p:cNvSpPr/>
          <p:nvPr/>
        </p:nvSpPr>
        <p:spPr>
          <a:xfrm>
            <a:off x="533400" y="7144075"/>
            <a:ext cx="107950" cy="107950"/>
          </a:xfrm>
          <a:prstGeom prst="roundRect">
            <a:avLst>
              <a:gd name="adj" fmla="val 23529"/>
            </a:avLst>
          </a:prstGeom>
          <a:solidFill>
            <a:srgbClr val="FCFAF4"/>
          </a:solidFill>
          <a:ln w="8890">
            <a:solidFill>
              <a:srgbClr val="4A4A43"/>
            </a:solidFill>
          </a:ln>
          <a:effectLst/>
        </p:spPr>
        <p:txBody>
          <a:bodyPr rtlCol="0" anchor="ctr"/>
          <a:lstStyle/>
          <a:p/>
        </p:txBody>
      </p:sp>
      <p:sp>
        <p:nvSpPr>
          <p:cNvPr id="45" name="TextBox 44"/>
          <p:cNvSpPr txBox="1"/>
          <p:nvPr/>
        </p:nvSpPr>
        <p:spPr>
          <a:xfrm>
            <a:off x="711200" y="7131375"/>
            <a:ext cx="3246628" cy="152400"/>
          </a:xfrm>
          <a:prstGeom prst="rect">
            <a:avLst/>
          </a:prstGeom>
          <a:noFill/>
        </p:spPr>
        <p:txBody>
          <a:bodyPr wrap="square" lIns="0" rIns="0" tIns="0" bIns="0" anchor="t">
            <a:spAutoFit/>
          </a:bodyPr>
          <a:lstStyle/>
          <a:p>
            <a:pPr algn="l"/>
            <a:r>
              <a:rPr sz="784" b="0" i="0">
                <a:solidFill>
                  <a:srgbClr val="3C3C36"/>
                </a:solidFill>
                <a:latin typeface="Montserrat"/>
              </a:rPr>
              <a:t>Sem indicação atual</a:t>
            </a:r>
          </a:p>
        </p:txBody>
      </p:sp>
      <p:sp>
        <p:nvSpPr>
          <p:cNvPr id="46" name="Rounded Rectangle 45"/>
          <p:cNvSpPr/>
          <p:nvPr/>
        </p:nvSpPr>
        <p:spPr>
          <a:xfrm>
            <a:off x="533400" y="7337980"/>
            <a:ext cx="107950" cy="107950"/>
          </a:xfrm>
          <a:prstGeom prst="roundRect">
            <a:avLst>
              <a:gd name="adj" fmla="val 23529"/>
            </a:avLst>
          </a:prstGeom>
          <a:solidFill>
            <a:srgbClr val="FCFAF4"/>
          </a:solidFill>
          <a:ln w="8890">
            <a:solidFill>
              <a:srgbClr val="4A4A43"/>
            </a:solidFill>
          </a:ln>
          <a:effectLst/>
        </p:spPr>
        <p:txBody>
          <a:bodyPr rtlCol="0" anchor="ctr"/>
          <a:lstStyle/>
          <a:p/>
        </p:txBody>
      </p:sp>
      <p:sp>
        <p:nvSpPr>
          <p:cNvPr id="47" name="TextBox 46"/>
          <p:cNvSpPr txBox="1"/>
          <p:nvPr/>
        </p:nvSpPr>
        <p:spPr>
          <a:xfrm>
            <a:off x="711200" y="7325280"/>
            <a:ext cx="3246628" cy="152400"/>
          </a:xfrm>
          <a:prstGeom prst="rect">
            <a:avLst/>
          </a:prstGeom>
          <a:noFill/>
        </p:spPr>
        <p:txBody>
          <a:bodyPr wrap="square" lIns="0" rIns="0" tIns="0" bIns="0" anchor="t">
            <a:spAutoFit/>
          </a:bodyPr>
          <a:lstStyle/>
          <a:p>
            <a:pPr algn="l"/>
            <a:r>
              <a:rPr sz="784" b="0" i="0">
                <a:solidFill>
                  <a:srgbClr val="3C3C36"/>
                </a:solidFill>
                <a:latin typeface="Montserrat"/>
              </a:rPr>
              <a:t>Reavaliar na próxima sessão</a:t>
            </a:r>
          </a:p>
        </p:txBody>
      </p:sp>
      <p:sp>
        <p:nvSpPr>
          <p:cNvPr id="48" name="Rounded Rectangle 47"/>
          <p:cNvSpPr/>
          <p:nvPr/>
        </p:nvSpPr>
        <p:spPr>
          <a:xfrm>
            <a:off x="533400" y="7531884"/>
            <a:ext cx="107950" cy="107950"/>
          </a:xfrm>
          <a:prstGeom prst="roundRect">
            <a:avLst>
              <a:gd name="adj" fmla="val 23529"/>
            </a:avLst>
          </a:prstGeom>
          <a:solidFill>
            <a:srgbClr val="FCFAF4"/>
          </a:solidFill>
          <a:ln w="8890">
            <a:solidFill>
              <a:srgbClr val="4A4A43"/>
            </a:solidFill>
          </a:ln>
          <a:effectLst/>
        </p:spPr>
        <p:txBody>
          <a:bodyPr rtlCol="0" anchor="ctr"/>
          <a:lstStyle/>
          <a:p/>
        </p:txBody>
      </p:sp>
      <p:sp>
        <p:nvSpPr>
          <p:cNvPr id="49" name="TextBox 48"/>
          <p:cNvSpPr txBox="1"/>
          <p:nvPr/>
        </p:nvSpPr>
        <p:spPr>
          <a:xfrm>
            <a:off x="711200" y="7519184"/>
            <a:ext cx="3246628" cy="152400"/>
          </a:xfrm>
          <a:prstGeom prst="rect">
            <a:avLst/>
          </a:prstGeom>
          <a:noFill/>
        </p:spPr>
        <p:txBody>
          <a:bodyPr wrap="square" lIns="0" rIns="0" tIns="0" bIns="0" anchor="t">
            <a:spAutoFit/>
          </a:bodyPr>
          <a:lstStyle/>
          <a:p>
            <a:pPr algn="l"/>
            <a:r>
              <a:rPr sz="784" b="0" i="0">
                <a:solidFill>
                  <a:srgbClr val="3C3C36"/>
                </a:solidFill>
                <a:latin typeface="Montserrat"/>
              </a:rPr>
              <a:t>Necessita encaminhamento</a:t>
            </a:r>
          </a:p>
        </p:txBody>
      </p:sp>
      <p:cxnSp>
        <p:nvCxnSpPr>
          <p:cNvPr id="50" name="Connector 49"/>
          <p:cNvCxnSpPr/>
          <p:nvPr/>
        </p:nvCxnSpPr>
        <p:spPr>
          <a:xfrm>
            <a:off x="3952290" y="7131375"/>
            <a:ext cx="0" cy="543614"/>
          </a:xfrm>
          <a:prstGeom prst="line">
            <a:avLst/>
          </a:prstGeom>
          <a:ln w="10160">
            <a:solidFill>
              <a:srgbClr val="CDD1BF"/>
            </a:solidFill>
          </a:ln>
        </p:spPr>
      </p:cxnSp>
      <p:sp>
        <p:nvSpPr>
          <p:cNvPr id="51" name="TextBox 50"/>
          <p:cNvSpPr txBox="1"/>
          <p:nvPr/>
        </p:nvSpPr>
        <p:spPr>
          <a:xfrm>
            <a:off x="4104690" y="7131375"/>
            <a:ext cx="2921965" cy="135973"/>
          </a:xfrm>
          <a:prstGeom prst="rect">
            <a:avLst/>
          </a:prstGeom>
          <a:noFill/>
        </p:spPr>
        <p:txBody>
          <a:bodyPr wrap="square" lIns="0" rIns="0" tIns="0" bIns="0" anchor="t">
            <a:spAutoFit/>
          </a:bodyPr>
          <a:lstStyle/>
          <a:p>
            <a:pPr algn="l"/>
            <a:r>
              <a:rPr sz="764" b="0" i="0">
                <a:solidFill>
                  <a:srgbClr val="4A4A43"/>
                </a:solidFill>
                <a:latin typeface="Montserrat"/>
              </a:rPr>
              <a:t>Data da próxima sessão:</a:t>
            </a:r>
          </a:p>
        </p:txBody>
      </p:sp>
      <p:cxnSp>
        <p:nvCxnSpPr>
          <p:cNvPr id="52" name="Connector 51"/>
          <p:cNvCxnSpPr/>
          <p:nvPr/>
        </p:nvCxnSpPr>
        <p:spPr>
          <a:xfrm>
            <a:off x="4104690" y="7422403"/>
            <a:ext cx="2921966" cy="0"/>
          </a:xfrm>
          <a:prstGeom prst="line">
            <a:avLst/>
          </a:prstGeom>
          <a:ln w="7620">
            <a:solidFill>
              <a:srgbClr val="B5B5AA"/>
            </a:solidFill>
          </a:ln>
        </p:spPr>
      </p:cxnSp>
      <p:sp>
        <p:nvSpPr>
          <p:cNvPr id="55" name="TextBox 54"/>
          <p:cNvSpPr txBox="1"/>
          <p:nvPr/>
        </p:nvSpPr>
        <p:spPr>
          <a:xfrm>
            <a:off x="558800" y="6697305"/>
            <a:ext cx="5909056" cy="304800"/>
          </a:xfrm>
          <a:prstGeom prst="rect">
            <a:avLst/>
          </a:prstGeom>
          <a:noFill/>
        </p:spPr>
        <p:txBody>
          <a:bodyPr wrap="square" lIns="0" rIns="0" tIns="0" bIns="0" anchor="ctr">
            <a:spAutoFit/>
          </a:bodyPr>
          <a:lstStyle/>
          <a:p>
            <a:pPr algn="l"/>
            <a:r>
              <a:rPr sz="1500" b="1" i="0">
                <a:solidFill>
                  <a:srgbClr val="1F3326"/>
                </a:solidFill>
                <a:latin typeface="Cormorant Garamond"/>
              </a:rPr>
              <a:t>Encaminhamento e conduta</a:t>
            </a:r>
          </a:p>
        </p:txBody>
      </p:sp>
      <p:pic>
        <p:nvPicPr>
          <p:cNvPr id="56" name="Picture 55" descr="ramo.png"/>
          <p:cNvPicPr>
            <a:picLocks noChangeAspect="1"/>
          </p:cNvPicPr>
          <p:nvPr/>
        </p:nvPicPr>
        <p:blipFill>
          <a:blip r:embed="rId7"/>
          <a:stretch>
            <a:fillRect/>
          </a:stretch>
        </p:blipFill>
        <p:spPr>
          <a:xfrm>
            <a:off x="6671056" y="6758991"/>
            <a:ext cx="381000" cy="181429"/>
          </a:xfrm>
          <a:prstGeom prst="rect">
            <a:avLst/>
          </a:prstGeom>
        </p:spPr>
      </p:pic>
      <p:cxnSp>
        <p:nvCxnSpPr>
          <p:cNvPr id="57" name="Connector 56"/>
          <p:cNvCxnSpPr/>
          <p:nvPr/>
        </p:nvCxnSpPr>
        <p:spPr>
          <a:xfrm>
            <a:off x="533400" y="8561504"/>
            <a:ext cx="6493256" cy="0"/>
          </a:xfrm>
          <a:prstGeom prst="line">
            <a:avLst/>
          </a:prstGeom>
          <a:ln w="7620">
            <a:solidFill>
              <a:srgbClr val="B5B5AA"/>
            </a:solidFill>
          </a:ln>
        </p:spPr>
      </p:cxnSp>
      <p:cxnSp>
        <p:nvCxnSpPr>
          <p:cNvPr id="58" name="Connector 57"/>
          <p:cNvCxnSpPr/>
          <p:nvPr/>
        </p:nvCxnSpPr>
        <p:spPr>
          <a:xfrm>
            <a:off x="533400" y="8755408"/>
            <a:ext cx="6493256" cy="0"/>
          </a:xfrm>
          <a:prstGeom prst="line">
            <a:avLst/>
          </a:prstGeom>
          <a:ln w="7620">
            <a:solidFill>
              <a:srgbClr val="B5B5AA"/>
            </a:solidFill>
          </a:ln>
        </p:spPr>
      </p:cxnSp>
      <p:cxnSp>
        <p:nvCxnSpPr>
          <p:cNvPr id="59" name="Connector 58"/>
          <p:cNvCxnSpPr/>
          <p:nvPr/>
        </p:nvCxnSpPr>
        <p:spPr>
          <a:xfrm>
            <a:off x="533400" y="8949313"/>
            <a:ext cx="6493256" cy="0"/>
          </a:xfrm>
          <a:prstGeom prst="line">
            <a:avLst/>
          </a:prstGeom>
          <a:ln w="7620">
            <a:solidFill>
              <a:srgbClr val="B5B5AA"/>
            </a:solidFill>
          </a:ln>
        </p:spPr>
      </p:cxnSp>
      <p:cxnSp>
        <p:nvCxnSpPr>
          <p:cNvPr id="60" name="Connector 59"/>
          <p:cNvCxnSpPr/>
          <p:nvPr/>
        </p:nvCxnSpPr>
        <p:spPr>
          <a:xfrm>
            <a:off x="533400" y="9143218"/>
            <a:ext cx="6493256" cy="0"/>
          </a:xfrm>
          <a:prstGeom prst="line">
            <a:avLst/>
          </a:prstGeom>
          <a:ln w="7620">
            <a:solidFill>
              <a:srgbClr val="B5B5AA"/>
            </a:solidFill>
          </a:ln>
        </p:spPr>
      </p:cxnSp>
      <p:sp>
        <p:nvSpPr>
          <p:cNvPr id="63" name="TextBox 62"/>
          <p:cNvSpPr txBox="1"/>
          <p:nvPr/>
        </p:nvSpPr>
        <p:spPr>
          <a:xfrm>
            <a:off x="558800" y="7971629"/>
            <a:ext cx="5909056" cy="304800"/>
          </a:xfrm>
          <a:prstGeom prst="rect">
            <a:avLst/>
          </a:prstGeom>
          <a:noFill/>
        </p:spPr>
        <p:txBody>
          <a:bodyPr wrap="square" lIns="0" rIns="0" tIns="0" bIns="0" anchor="ctr">
            <a:spAutoFit/>
          </a:bodyPr>
          <a:lstStyle/>
          <a:p>
            <a:pPr algn="l"/>
            <a:r>
              <a:rPr sz="1500" b="1" i="0">
                <a:solidFill>
                  <a:srgbClr val="1F3326"/>
                </a:solidFill>
                <a:latin typeface="Cormorant Garamond"/>
              </a:rPr>
              <a:t>Plano, encaminhamentos ou pontos para continuidade</a:t>
            </a:r>
          </a:p>
        </p:txBody>
      </p:sp>
      <p:pic>
        <p:nvPicPr>
          <p:cNvPr id="64" name="Picture 63" descr="ramo.png"/>
          <p:cNvPicPr>
            <a:picLocks noChangeAspect="1"/>
          </p:cNvPicPr>
          <p:nvPr/>
        </p:nvPicPr>
        <p:blipFill>
          <a:blip r:embed="rId7"/>
          <a:stretch>
            <a:fillRect/>
          </a:stretch>
        </p:blipFill>
        <p:spPr>
          <a:xfrm>
            <a:off x="6671056" y="8033315"/>
            <a:ext cx="381000" cy="181429"/>
          </a:xfrm>
          <a:prstGeom prst="rect">
            <a:avLst/>
          </a:prstGeom>
        </p:spPr>
      </p:pic>
      <p:sp>
        <p:nvSpPr>
          <p:cNvPr id="65" name="TextBox 64"/>
          <p:cNvSpPr txBox="1"/>
          <p:nvPr/>
        </p:nvSpPr>
        <p:spPr>
          <a:xfrm>
            <a:off x="533400" y="9670728"/>
            <a:ext cx="2921965" cy="135973"/>
          </a:xfrm>
          <a:prstGeom prst="rect">
            <a:avLst/>
          </a:prstGeom>
          <a:noFill/>
        </p:spPr>
        <p:txBody>
          <a:bodyPr wrap="square" lIns="0" rIns="0" tIns="0" bIns="0" anchor="t">
            <a:spAutoFit/>
          </a:bodyPr>
          <a:lstStyle/>
          <a:p>
            <a:pPr algn="l"/>
            <a:r>
              <a:rPr sz="764" b="0" i="0">
                <a:solidFill>
                  <a:srgbClr val="4A4A43"/>
                </a:solidFill>
                <a:latin typeface="Montserrat"/>
              </a:rPr>
              <a:t>Assinatura / rubrica:</a:t>
            </a:r>
          </a:p>
        </p:txBody>
      </p:sp>
      <p:cxnSp>
        <p:nvCxnSpPr>
          <p:cNvPr id="66" name="Connector 65"/>
          <p:cNvCxnSpPr/>
          <p:nvPr/>
        </p:nvCxnSpPr>
        <p:spPr>
          <a:xfrm>
            <a:off x="533400" y="9961756"/>
            <a:ext cx="2921965" cy="0"/>
          </a:xfrm>
          <a:prstGeom prst="line">
            <a:avLst/>
          </a:prstGeom>
          <a:ln w="7620">
            <a:solidFill>
              <a:srgbClr val="B5B5AA"/>
            </a:solidFill>
          </a:ln>
        </p:spPr>
      </p:cxnSp>
      <p:cxnSp>
        <p:nvCxnSpPr>
          <p:cNvPr id="67" name="Connector 66"/>
          <p:cNvCxnSpPr/>
          <p:nvPr/>
        </p:nvCxnSpPr>
        <p:spPr>
          <a:xfrm>
            <a:off x="3780028" y="9670728"/>
            <a:ext cx="0" cy="336101"/>
          </a:xfrm>
          <a:prstGeom prst="line">
            <a:avLst/>
          </a:prstGeom>
          <a:ln w="10160">
            <a:solidFill>
              <a:srgbClr val="CDD1BF"/>
            </a:solidFill>
          </a:ln>
        </p:spPr>
      </p:cxnSp>
      <p:sp>
        <p:nvSpPr>
          <p:cNvPr id="68" name="TextBox 67"/>
          <p:cNvSpPr txBox="1"/>
          <p:nvPr/>
        </p:nvSpPr>
        <p:spPr>
          <a:xfrm>
            <a:off x="4104690" y="9670728"/>
            <a:ext cx="2921965" cy="135973"/>
          </a:xfrm>
          <a:prstGeom prst="rect">
            <a:avLst/>
          </a:prstGeom>
          <a:noFill/>
        </p:spPr>
        <p:txBody>
          <a:bodyPr wrap="square" lIns="0" rIns="0" tIns="0" bIns="0" anchor="t">
            <a:spAutoFit/>
          </a:bodyPr>
          <a:lstStyle/>
          <a:p>
            <a:pPr algn="l"/>
            <a:r>
              <a:rPr sz="764" b="0" i="0">
                <a:solidFill>
                  <a:srgbClr val="4A4A43"/>
                </a:solidFill>
                <a:latin typeface="Montserrat"/>
              </a:rPr>
              <a:t>Registro profissional (se aplicável):</a:t>
            </a:r>
          </a:p>
        </p:txBody>
      </p:sp>
      <p:cxnSp>
        <p:nvCxnSpPr>
          <p:cNvPr id="69" name="Connector 68"/>
          <p:cNvCxnSpPr/>
          <p:nvPr/>
        </p:nvCxnSpPr>
        <p:spPr>
          <a:xfrm>
            <a:off x="4104690" y="9961756"/>
            <a:ext cx="2921966" cy="0"/>
          </a:xfrm>
          <a:prstGeom prst="line">
            <a:avLst/>
          </a:prstGeom>
          <a:ln w="7620">
            <a:solidFill>
              <a:srgbClr val="B5B5AA"/>
            </a:solidFill>
          </a:ln>
        </p:spPr>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6EC"/>
        </a:solidFill>
        <a:effectLst/>
      </p:bgPr>
    </p:bg>
    <p:spTree>
      <p:nvGrpSpPr>
        <p:cNvPr id="1" name=""/>
        <p:cNvGrpSpPr/>
        <p:nvPr/>
      </p:nvGrpSpPr>
      <p:grpSpPr/>
      <p:sp>
        <p:nvSpPr>
          <p:cNvPr id="59" name="Rounded Rectangle 58"/>
          <p:cNvSpPr/>
          <p:nvPr/>
        </p:nvSpPr>
        <p:spPr>
          <a:xfrm>
            <a:off x="381000" y="8704589"/>
            <a:ext cx="6798056" cy="1383292"/>
          </a:xfrm>
          <a:prstGeom prst="roundRect">
            <a:avLst>
              <a:gd name="adj" fmla="val 8262"/>
            </a:avLst>
          </a:prstGeom>
          <a:solidFill>
            <a:srgbClr val="FCFAF4"/>
          </a:solidFill>
          <a:ln w="11430">
            <a:solidFill>
              <a:srgbClr val="CDD1BF"/>
            </a:solidFill>
          </a:ln>
          <a:effectLst/>
        </p:spPr>
        <p:txBody>
          <a:bodyPr rtlCol="0" anchor="ctr"/>
          <a:lstStyle/>
          <a:p/>
        </p:txBody>
      </p:sp>
      <p:sp>
        <p:nvSpPr>
          <p:cNvPr id="60" name="Round Same Side Corner Rectangle 59"/>
          <p:cNvSpPr/>
          <p:nvPr/>
        </p:nvSpPr>
        <p:spPr>
          <a:xfrm>
            <a:off x="386715" y="8710304"/>
            <a:ext cx="6786626" cy="304800"/>
          </a:xfrm>
          <a:prstGeom prst="round2SameRect">
            <a:avLst>
              <a:gd name="adj1" fmla="val 35416"/>
              <a:gd name="adj2" fmla="val 0"/>
            </a:avLst>
          </a:prstGeom>
          <a:solidFill>
            <a:srgbClr val="DFE2CB"/>
          </a:solidFill>
          <a:ln>
            <a:noFill/>
          </a:ln>
          <a:effectLst/>
        </p:spPr>
        <p:txBody>
          <a:bodyPr rtlCol="0" anchor="ctr"/>
          <a:lstStyle/>
          <a:p/>
        </p:txBody>
      </p:sp>
      <p:sp>
        <p:nvSpPr>
          <p:cNvPr id="55" name="Rounded Rectangle 54"/>
          <p:cNvSpPr/>
          <p:nvPr/>
        </p:nvSpPr>
        <p:spPr>
          <a:xfrm>
            <a:off x="381000" y="7530935"/>
            <a:ext cx="6798056" cy="1015052"/>
          </a:xfrm>
          <a:prstGeom prst="roundRect">
            <a:avLst>
              <a:gd name="adj" fmla="val 11260"/>
            </a:avLst>
          </a:prstGeom>
          <a:solidFill>
            <a:srgbClr val="FCFAF4"/>
          </a:solidFill>
          <a:ln w="11430">
            <a:solidFill>
              <a:srgbClr val="CDD1BF"/>
            </a:solidFill>
          </a:ln>
          <a:effectLst/>
        </p:spPr>
        <p:txBody>
          <a:bodyPr rtlCol="0" anchor="ctr"/>
          <a:lstStyle/>
          <a:p/>
        </p:txBody>
      </p:sp>
      <p:sp>
        <p:nvSpPr>
          <p:cNvPr id="32" name="Rounded Rectangle 31"/>
          <p:cNvSpPr/>
          <p:nvPr/>
        </p:nvSpPr>
        <p:spPr>
          <a:xfrm>
            <a:off x="381000" y="2713437"/>
            <a:ext cx="6798056" cy="4658895"/>
          </a:xfrm>
          <a:prstGeom prst="roundRect">
            <a:avLst>
              <a:gd name="adj" fmla="val 2453"/>
            </a:avLst>
          </a:prstGeom>
          <a:solidFill>
            <a:srgbClr val="FCFAF4"/>
          </a:solidFill>
          <a:ln w="11430">
            <a:solidFill>
              <a:srgbClr val="CDD1BF"/>
            </a:solidFill>
          </a:ln>
          <a:effectLst/>
        </p:spPr>
        <p:txBody>
          <a:bodyPr rtlCol="0" anchor="ctr"/>
          <a:lstStyle/>
          <a:p/>
        </p:txBody>
      </p:sp>
      <p:sp>
        <p:nvSpPr>
          <p:cNvPr id="33" name="Round Same Side Corner Rectangle 32"/>
          <p:cNvSpPr/>
          <p:nvPr/>
        </p:nvSpPr>
        <p:spPr>
          <a:xfrm>
            <a:off x="386715" y="2719152"/>
            <a:ext cx="6786626" cy="304800"/>
          </a:xfrm>
          <a:prstGeom prst="round2SameRect">
            <a:avLst>
              <a:gd name="adj1" fmla="val 35416"/>
              <a:gd name="adj2" fmla="val 0"/>
            </a:avLst>
          </a:prstGeom>
          <a:solidFill>
            <a:srgbClr val="DFE2CB"/>
          </a:solidFill>
          <a:ln>
            <a:noFill/>
          </a:ln>
          <a:effectLst/>
        </p:spPr>
        <p:txBody>
          <a:bodyPr rtlCol="0" anchor="ctr"/>
          <a:lstStyle/>
          <a:p/>
        </p:txBody>
      </p:sp>
      <p:sp>
        <p:nvSpPr>
          <p:cNvPr id="17" name="Rounded Rectangle 16"/>
          <p:cNvSpPr/>
          <p:nvPr/>
        </p:nvSpPr>
        <p:spPr>
          <a:xfrm>
            <a:off x="381000" y="1409446"/>
            <a:ext cx="6798056" cy="1145389"/>
          </a:xfrm>
          <a:prstGeom prst="roundRect">
            <a:avLst>
              <a:gd name="adj" fmla="val 9979"/>
            </a:avLst>
          </a:prstGeom>
          <a:solidFill>
            <a:srgbClr val="FCFAF4"/>
          </a:solidFill>
          <a:ln w="11430">
            <a:solidFill>
              <a:srgbClr val="CDD1BF"/>
            </a:solidFill>
          </a:ln>
          <a:effectLst/>
        </p:spPr>
        <p:txBody>
          <a:bodyPr rtlCol="0" anchor="ctr"/>
          <a:lstStyle/>
          <a:p/>
        </p:txBody>
      </p:sp>
      <p:sp>
        <p:nvSpPr>
          <p:cNvPr id="18" name="Round Same Side Corner Rectangle 17"/>
          <p:cNvSpPr/>
          <p:nvPr/>
        </p:nvSpPr>
        <p:spPr>
          <a:xfrm>
            <a:off x="386715" y="1415161"/>
            <a:ext cx="6786626" cy="304800"/>
          </a:xfrm>
          <a:prstGeom prst="round2SameRect">
            <a:avLst>
              <a:gd name="adj1" fmla="val 35416"/>
              <a:gd name="adj2" fmla="val 0"/>
            </a:avLst>
          </a:prstGeom>
          <a:solidFill>
            <a:srgbClr val="DFE2CB"/>
          </a:solidFill>
          <a:ln>
            <a:noFill/>
          </a:ln>
          <a:effectLst/>
        </p:spPr>
        <p:txBody>
          <a:bodyPr rtlCol="0" anchor="ctr"/>
          <a:lstStyle/>
          <a:p/>
        </p:txBody>
      </p:sp>
      <p:pic>
        <p:nvPicPr>
          <p:cNvPr id="2" name="Picture 1" descr="folha-esq.png"/>
          <p:cNvPicPr>
            <a:picLocks noChangeAspect="1"/>
          </p:cNvPicPr>
          <p:nvPr/>
        </p:nvPicPr>
        <p:blipFill>
          <a:blip r:embed="rId2"/>
          <a:stretch>
            <a:fillRect/>
          </a:stretch>
        </p:blipFill>
        <p:spPr>
          <a:xfrm>
            <a:off x="0" y="0"/>
            <a:ext cx="1168400" cy="1410399"/>
          </a:xfrm>
          <a:prstGeom prst="rect">
            <a:avLst/>
          </a:prstGeom>
        </p:spPr>
      </p:pic>
      <p:pic>
        <p:nvPicPr>
          <p:cNvPr id="3" name="Picture 2" descr="folha-dir.png"/>
          <p:cNvPicPr>
            <a:picLocks noChangeAspect="1"/>
          </p:cNvPicPr>
          <p:nvPr/>
        </p:nvPicPr>
        <p:blipFill>
          <a:blip r:embed="rId3"/>
          <a:stretch>
            <a:fillRect/>
          </a:stretch>
        </p:blipFill>
        <p:spPr>
          <a:xfrm>
            <a:off x="6544056" y="0"/>
            <a:ext cx="1016000" cy="1570892"/>
          </a:xfrm>
          <a:prstGeom prst="rect">
            <a:avLst/>
          </a:prstGeom>
        </p:spPr>
      </p:pic>
      <p:pic>
        <p:nvPicPr>
          <p:cNvPr id="4" name="Picture 3" descr="folha-esq-baixo.png"/>
          <p:cNvPicPr>
            <a:picLocks noChangeAspect="1"/>
          </p:cNvPicPr>
          <p:nvPr/>
        </p:nvPicPr>
        <p:blipFill>
          <a:blip r:embed="rId4"/>
          <a:stretch>
            <a:fillRect/>
          </a:stretch>
        </p:blipFill>
        <p:spPr>
          <a:xfrm>
            <a:off x="0" y="9618873"/>
            <a:ext cx="889000" cy="1073129"/>
          </a:xfrm>
          <a:prstGeom prst="rect">
            <a:avLst/>
          </a:prstGeom>
        </p:spPr>
      </p:pic>
      <p:pic>
        <p:nvPicPr>
          <p:cNvPr id="5" name="Picture 4" descr="folha-dir-baixo.png"/>
          <p:cNvPicPr>
            <a:picLocks noChangeAspect="1"/>
          </p:cNvPicPr>
          <p:nvPr/>
        </p:nvPicPr>
        <p:blipFill>
          <a:blip r:embed="rId5"/>
          <a:stretch>
            <a:fillRect/>
          </a:stretch>
        </p:blipFill>
        <p:spPr>
          <a:xfrm>
            <a:off x="6823456" y="9553106"/>
            <a:ext cx="736600" cy="1138897"/>
          </a:xfrm>
          <a:prstGeom prst="rect">
            <a:avLst/>
          </a:prstGeom>
        </p:spPr>
      </p:pic>
      <p:pic>
        <p:nvPicPr>
          <p:cNvPr id="6" name="Picture 5" descr="lotus.png"/>
          <p:cNvPicPr>
            <a:picLocks noChangeAspect="1"/>
          </p:cNvPicPr>
          <p:nvPr/>
        </p:nvPicPr>
        <p:blipFill>
          <a:blip r:embed="rId6"/>
          <a:stretch>
            <a:fillRect/>
          </a:stretch>
        </p:blipFill>
        <p:spPr>
          <a:xfrm>
            <a:off x="2865628" y="152400"/>
            <a:ext cx="1828800" cy="459982"/>
          </a:xfrm>
          <a:prstGeom prst="rect">
            <a:avLst/>
          </a:prstGeom>
        </p:spPr>
      </p:pic>
      <p:sp>
        <p:nvSpPr>
          <p:cNvPr id="7" name="TextBox 6"/>
          <p:cNvSpPr txBox="1"/>
          <p:nvPr/>
        </p:nvSpPr>
        <p:spPr>
          <a:xfrm>
            <a:off x="889000" y="635000"/>
            <a:ext cx="5782056" cy="490855"/>
          </a:xfrm>
          <a:prstGeom prst="rect">
            <a:avLst/>
          </a:prstGeom>
          <a:noFill/>
        </p:spPr>
        <p:txBody>
          <a:bodyPr wrap="square" lIns="0" rIns="0" tIns="0" bIns="0" anchor="t">
            <a:spAutoFit/>
          </a:bodyPr>
          <a:lstStyle/>
          <a:p>
            <a:pPr algn="ctr">
              <a:lnSpc>
                <a:spcPct val="90000"/>
              </a:lnSpc>
            </a:pPr>
            <a:r>
              <a:rPr sz="3300" b="1" i="0">
                <a:solidFill>
                  <a:srgbClr val="1F3326"/>
                </a:solidFill>
                <a:latin typeface="Cormorant Garamond"/>
              </a:rPr>
              <a:t>Controle de Pagamentos</a:t>
            </a:r>
          </a:p>
        </p:txBody>
      </p:sp>
      <p:sp>
        <p:nvSpPr>
          <p:cNvPr id="8" name="TextBox 7"/>
          <p:cNvSpPr txBox="1"/>
          <p:nvPr/>
        </p:nvSpPr>
        <p:spPr>
          <a:xfrm>
            <a:off x="762000" y="1130046"/>
            <a:ext cx="6036056" cy="139700"/>
          </a:xfrm>
          <a:prstGeom prst="rect">
            <a:avLst/>
          </a:prstGeom>
          <a:noFill/>
        </p:spPr>
        <p:txBody>
          <a:bodyPr wrap="square" lIns="0" rIns="0" tIns="0" bIns="0" anchor="t">
            <a:spAutoFit/>
          </a:bodyPr>
          <a:lstStyle/>
          <a:p>
            <a:pPr algn="ctr"/>
            <a:r>
              <a:rPr sz="700" b="0" i="0" spc="210">
                <a:solidFill>
                  <a:srgbClr val="3C3C36"/>
                </a:solidFill>
                <a:latin typeface="Montserrat"/>
              </a:rPr>
              <a:t>ORGANIZAÇÃO FINANCEIRA DOS ATENDIMENTOS</a:t>
            </a:r>
          </a:p>
        </p:txBody>
      </p:sp>
      <p:sp>
        <p:nvSpPr>
          <p:cNvPr id="9" name="TextBox 8"/>
          <p:cNvSpPr txBox="1"/>
          <p:nvPr/>
        </p:nvSpPr>
        <p:spPr>
          <a:xfrm>
            <a:off x="533400" y="1872847"/>
            <a:ext cx="3094228" cy="146896"/>
          </a:xfrm>
          <a:prstGeom prst="rect">
            <a:avLst/>
          </a:prstGeom>
          <a:noFill/>
        </p:spPr>
        <p:txBody>
          <a:bodyPr wrap="square" lIns="0" rIns="0" tIns="0" bIns="0" anchor="t">
            <a:spAutoFit/>
          </a:bodyPr>
          <a:lstStyle/>
          <a:p>
            <a:pPr algn="l"/>
            <a:r>
              <a:rPr sz="826" b="0" i="0">
                <a:solidFill>
                  <a:srgbClr val="4A4A43"/>
                </a:solidFill>
                <a:latin typeface="Montserrat"/>
              </a:rPr>
              <a:t>Nome / código:</a:t>
            </a:r>
          </a:p>
        </p:txBody>
      </p:sp>
      <p:cxnSp>
        <p:nvCxnSpPr>
          <p:cNvPr id="10" name="Connector 9"/>
          <p:cNvCxnSpPr/>
          <p:nvPr/>
        </p:nvCxnSpPr>
        <p:spPr>
          <a:xfrm>
            <a:off x="1396027" y="1993512"/>
            <a:ext cx="2231601" cy="0"/>
          </a:xfrm>
          <a:prstGeom prst="line">
            <a:avLst/>
          </a:prstGeom>
          <a:ln w="7620">
            <a:solidFill>
              <a:srgbClr val="B5B5AA"/>
            </a:solidFill>
          </a:ln>
        </p:spPr>
      </p:cxnSp>
      <p:sp>
        <p:nvSpPr>
          <p:cNvPr id="11" name="TextBox 10"/>
          <p:cNvSpPr txBox="1"/>
          <p:nvPr/>
        </p:nvSpPr>
        <p:spPr>
          <a:xfrm>
            <a:off x="533400" y="2134540"/>
            <a:ext cx="3094228" cy="146896"/>
          </a:xfrm>
          <a:prstGeom prst="rect">
            <a:avLst/>
          </a:prstGeom>
          <a:noFill/>
        </p:spPr>
        <p:txBody>
          <a:bodyPr wrap="square" lIns="0" rIns="0" tIns="0" bIns="0" anchor="t">
            <a:spAutoFit/>
          </a:bodyPr>
          <a:lstStyle/>
          <a:p>
            <a:pPr algn="l"/>
            <a:r>
              <a:rPr sz="826" b="0" i="0">
                <a:solidFill>
                  <a:srgbClr val="4A4A43"/>
                </a:solidFill>
                <a:latin typeface="Montserrat"/>
              </a:rPr>
              <a:t>Valor combinado:</a:t>
            </a:r>
          </a:p>
        </p:txBody>
      </p:sp>
      <p:cxnSp>
        <p:nvCxnSpPr>
          <p:cNvPr id="12" name="Connector 11"/>
          <p:cNvCxnSpPr/>
          <p:nvPr/>
        </p:nvCxnSpPr>
        <p:spPr>
          <a:xfrm>
            <a:off x="1516462" y="2255206"/>
            <a:ext cx="2111166" cy="0"/>
          </a:xfrm>
          <a:prstGeom prst="line">
            <a:avLst/>
          </a:prstGeom>
          <a:ln w="7620">
            <a:solidFill>
              <a:srgbClr val="B5B5AA"/>
            </a:solidFill>
          </a:ln>
        </p:spPr>
      </p:cxnSp>
      <p:sp>
        <p:nvSpPr>
          <p:cNvPr id="13" name="TextBox 12"/>
          <p:cNvSpPr txBox="1"/>
          <p:nvPr/>
        </p:nvSpPr>
        <p:spPr>
          <a:xfrm>
            <a:off x="3856228" y="1872847"/>
            <a:ext cx="3170428" cy="146896"/>
          </a:xfrm>
          <a:prstGeom prst="rect">
            <a:avLst/>
          </a:prstGeom>
          <a:noFill/>
        </p:spPr>
        <p:txBody>
          <a:bodyPr wrap="square" lIns="0" rIns="0" tIns="0" bIns="0" anchor="t">
            <a:spAutoFit/>
          </a:bodyPr>
          <a:lstStyle/>
          <a:p>
            <a:pPr algn="l"/>
            <a:r>
              <a:rPr sz="826" b="0" i="0">
                <a:solidFill>
                  <a:srgbClr val="4A4A43"/>
                </a:solidFill>
                <a:latin typeface="Montserrat"/>
              </a:rPr>
              <a:t>Período:</a:t>
            </a:r>
          </a:p>
        </p:txBody>
      </p:sp>
      <p:cxnSp>
        <p:nvCxnSpPr>
          <p:cNvPr id="14" name="Connector 13"/>
          <p:cNvCxnSpPr/>
          <p:nvPr/>
        </p:nvCxnSpPr>
        <p:spPr>
          <a:xfrm>
            <a:off x="4351515" y="1993512"/>
            <a:ext cx="2675141" cy="0"/>
          </a:xfrm>
          <a:prstGeom prst="line">
            <a:avLst/>
          </a:prstGeom>
          <a:ln w="7620">
            <a:solidFill>
              <a:srgbClr val="B5B5AA"/>
            </a:solidFill>
          </a:ln>
        </p:spPr>
      </p:cxnSp>
      <p:sp>
        <p:nvSpPr>
          <p:cNvPr id="15" name="TextBox 14"/>
          <p:cNvSpPr txBox="1"/>
          <p:nvPr/>
        </p:nvSpPr>
        <p:spPr>
          <a:xfrm>
            <a:off x="3856228" y="2134540"/>
            <a:ext cx="3170428" cy="146896"/>
          </a:xfrm>
          <a:prstGeom prst="rect">
            <a:avLst/>
          </a:prstGeom>
          <a:noFill/>
        </p:spPr>
        <p:txBody>
          <a:bodyPr wrap="square" lIns="0" rIns="0" tIns="0" bIns="0" anchor="t">
            <a:spAutoFit/>
          </a:bodyPr>
          <a:lstStyle/>
          <a:p>
            <a:pPr algn="l"/>
            <a:r>
              <a:rPr sz="826" b="0" i="0">
                <a:solidFill>
                  <a:srgbClr val="4A4A43"/>
                </a:solidFill>
                <a:latin typeface="Montserrat"/>
              </a:rPr>
              <a:t>Forma de pagamento:</a:t>
            </a:r>
          </a:p>
        </p:txBody>
      </p:sp>
      <p:cxnSp>
        <p:nvCxnSpPr>
          <p:cNvPr id="16" name="Connector 15"/>
          <p:cNvCxnSpPr/>
          <p:nvPr/>
        </p:nvCxnSpPr>
        <p:spPr>
          <a:xfrm>
            <a:off x="5094785" y="2255206"/>
            <a:ext cx="1931871" cy="0"/>
          </a:xfrm>
          <a:prstGeom prst="line">
            <a:avLst/>
          </a:prstGeom>
          <a:ln w="7620">
            <a:solidFill>
              <a:srgbClr val="B5B5AA"/>
            </a:solidFill>
          </a:ln>
        </p:spPr>
      </p:cxnSp>
      <p:sp>
        <p:nvSpPr>
          <p:cNvPr id="19" name="TextBox 18"/>
          <p:cNvSpPr txBox="1"/>
          <p:nvPr/>
        </p:nvSpPr>
        <p:spPr>
          <a:xfrm>
            <a:off x="558800" y="1409446"/>
            <a:ext cx="5909056" cy="304800"/>
          </a:xfrm>
          <a:prstGeom prst="rect">
            <a:avLst/>
          </a:prstGeom>
          <a:noFill/>
        </p:spPr>
        <p:txBody>
          <a:bodyPr wrap="square" lIns="0" rIns="0" tIns="0" bIns="0" anchor="ctr">
            <a:spAutoFit/>
          </a:bodyPr>
          <a:lstStyle/>
          <a:p>
            <a:pPr algn="l"/>
            <a:r>
              <a:rPr sz="1500" b="1" i="0">
                <a:solidFill>
                  <a:srgbClr val="1F3326"/>
                </a:solidFill>
                <a:latin typeface="Cormorant Garamond"/>
              </a:rPr>
              <a:t>Dados do Atendimento</a:t>
            </a:r>
          </a:p>
        </p:txBody>
      </p:sp>
      <p:pic>
        <p:nvPicPr>
          <p:cNvPr id="20" name="Picture 19" descr="ramo.png"/>
          <p:cNvPicPr>
            <a:picLocks noChangeAspect="1"/>
          </p:cNvPicPr>
          <p:nvPr/>
        </p:nvPicPr>
        <p:blipFill>
          <a:blip r:embed="rId7"/>
          <a:stretch>
            <a:fillRect/>
          </a:stretch>
        </p:blipFill>
        <p:spPr>
          <a:xfrm>
            <a:off x="6671056" y="1471131"/>
            <a:ext cx="381000" cy="181429"/>
          </a:xfrm>
          <a:prstGeom prst="rect">
            <a:avLst/>
          </a:prstGeom>
        </p:spPr>
      </p:pic>
      <p:graphicFrame>
        <p:nvGraphicFramePr>
          <p:cNvPr id="21" name="Table 20"/>
          <p:cNvGraphicFramePr>
            <a:graphicFrameLocks noGrp="1"/>
          </p:cNvGraphicFramePr>
          <p:nvPr/>
        </p:nvGraphicFramePr>
        <p:xfrm>
          <a:off x="533400" y="3176839"/>
          <a:ext cx="6493255" cy="3656009"/>
        </p:xfrm>
        <a:graphic>
          <a:graphicData uri="http://schemas.openxmlformats.org/drawingml/2006/table">
            <a:tbl>
              <a:tblPr firstRow="0" bandRow="0">
                <a:tableStyleId>{5C22544A-7EE6-4342-B048-85BDC9FD1C3A}</a:tableStyleId>
              </a:tblPr>
              <a:tblGrid>
                <a:gridCol w="1298651"/>
                <a:gridCol w="1298651"/>
                <a:gridCol w="1298651"/>
                <a:gridCol w="1428516"/>
                <a:gridCol w="1168786"/>
              </a:tblGrid>
              <a:tr h="254000">
                <a:tc>
                  <a:txBody>
                    <a:bodyPr/>
                    <a:lstStyle/>
                    <a:p>
                      <a:pPr algn="ctr"/>
                      <a:r>
                        <a:rPr sz="1050" b="1">
                          <a:solidFill>
                            <a:srgbClr val="1F3326"/>
                          </a:solidFill>
                          <a:latin typeface="Cormorant Garamond"/>
                        </a:rPr>
                        <a:t>Vencimento</a:t>
                      </a:r>
                      <a:endParaRPr sz="10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DFE2CB"/>
                    </a:solidFill>
                  </a:tcPr>
                </a:tc>
                <a:tc>
                  <a:txBody>
                    <a:bodyPr/>
                    <a:lstStyle/>
                    <a:p>
                      <a:pPr algn="ctr"/>
                      <a:r>
                        <a:rPr sz="1050" b="1">
                          <a:solidFill>
                            <a:srgbClr val="1F3326"/>
                          </a:solidFill>
                          <a:latin typeface="Cormorant Garamond"/>
                        </a:rPr>
                        <a:t>Pagamento</a:t>
                      </a:r>
                      <a:endParaRPr sz="10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DFE2CB"/>
                    </a:solidFill>
                  </a:tcPr>
                </a:tc>
                <a:tc>
                  <a:txBody>
                    <a:bodyPr/>
                    <a:lstStyle/>
                    <a:p>
                      <a:pPr algn="ctr"/>
                      <a:r>
                        <a:rPr sz="1050" b="1">
                          <a:solidFill>
                            <a:srgbClr val="1F3326"/>
                          </a:solidFill>
                          <a:latin typeface="Cormorant Garamond"/>
                        </a:rPr>
                        <a:t>Valor</a:t>
                      </a:r>
                      <a:endParaRPr sz="10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DFE2CB"/>
                    </a:solidFill>
                  </a:tcPr>
                </a:tc>
                <a:tc>
                  <a:txBody>
                    <a:bodyPr/>
                    <a:lstStyle/>
                    <a:p>
                      <a:pPr algn="ctr"/>
                      <a:r>
                        <a:rPr sz="1050" b="1">
                          <a:solidFill>
                            <a:srgbClr val="1F3326"/>
                          </a:solidFill>
                          <a:latin typeface="Cormorant Garamond"/>
                        </a:rPr>
                        <a:t>Forma</a:t>
                      </a:r>
                      <a:endParaRPr sz="10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DFE2CB"/>
                    </a:solidFill>
                  </a:tcPr>
                </a:tc>
                <a:tc>
                  <a:txBody>
                    <a:bodyPr/>
                    <a:lstStyle/>
                    <a:p>
                      <a:pPr algn="ctr"/>
                      <a:r>
                        <a:rPr sz="1050" b="1">
                          <a:solidFill>
                            <a:srgbClr val="1F3326"/>
                          </a:solidFill>
                          <a:latin typeface="Cormorant Garamond"/>
                        </a:rPr>
                        <a:t>Status</a:t>
                      </a:r>
                      <a:endParaRPr sz="10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DFE2CB"/>
                    </a:solidFill>
                  </a:tcPr>
                </a:tc>
              </a:tr>
              <a:tr h="261693">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r>
              <a:tr h="261693">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r>
              <a:tr h="261693">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r>
              <a:tr h="261693">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r>
              <a:tr h="261693">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r>
              <a:tr h="261693">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r>
              <a:tr h="261693">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r>
              <a:tr h="261693">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r>
              <a:tr h="261693">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r>
              <a:tr h="261693">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r>
              <a:tr h="261693">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r>
              <a:tr h="261693">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r>
              <a:tr h="261693">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r>
            </a:tbl>
          </a:graphicData>
        </a:graphic>
      </p:graphicFrame>
      <p:sp>
        <p:nvSpPr>
          <p:cNvPr id="22" name="Rounded Rectangle 21"/>
          <p:cNvSpPr/>
          <p:nvPr/>
        </p:nvSpPr>
        <p:spPr>
          <a:xfrm>
            <a:off x="2806039" y="6959731"/>
            <a:ext cx="4220616" cy="254000"/>
          </a:xfrm>
          <a:prstGeom prst="roundRect">
            <a:avLst>
              <a:gd name="adj" fmla="val 35000"/>
            </a:avLst>
          </a:prstGeom>
          <a:solidFill>
            <a:srgbClr val="F1ECE0"/>
          </a:solidFill>
          <a:ln>
            <a:noFill/>
          </a:ln>
          <a:effectLst/>
        </p:spPr>
        <p:txBody>
          <a:bodyPr rtlCol="0" anchor="ctr"/>
          <a:lstStyle/>
          <a:p/>
        </p:txBody>
      </p:sp>
      <p:sp>
        <p:nvSpPr>
          <p:cNvPr id="23" name="TextBox 22"/>
          <p:cNvSpPr txBox="1"/>
          <p:nvPr/>
        </p:nvSpPr>
        <p:spPr>
          <a:xfrm>
            <a:off x="2958439" y="6959731"/>
            <a:ext cx="635000" cy="254000"/>
          </a:xfrm>
          <a:prstGeom prst="rect">
            <a:avLst/>
          </a:prstGeom>
          <a:noFill/>
        </p:spPr>
        <p:txBody>
          <a:bodyPr wrap="square" lIns="0" rIns="0" tIns="0" bIns="0" anchor="ctr">
            <a:spAutoFit/>
          </a:bodyPr>
          <a:lstStyle/>
          <a:p>
            <a:pPr algn="l"/>
            <a:r>
              <a:rPr sz="1100" b="1" i="0">
                <a:solidFill>
                  <a:srgbClr val="1F3326"/>
                </a:solidFill>
                <a:latin typeface="Cormorant Garamond"/>
              </a:rPr>
              <a:t>Status:</a:t>
            </a:r>
          </a:p>
        </p:txBody>
      </p:sp>
      <p:sp>
        <p:nvSpPr>
          <p:cNvPr id="24" name="Oval 23"/>
          <p:cNvSpPr/>
          <p:nvPr/>
        </p:nvSpPr>
        <p:spPr>
          <a:xfrm>
            <a:off x="3695039" y="7029581"/>
            <a:ext cx="114300" cy="114300"/>
          </a:xfrm>
          <a:prstGeom prst="ellipse">
            <a:avLst/>
          </a:prstGeom>
          <a:solidFill>
            <a:srgbClr val="8FA388"/>
          </a:solidFill>
          <a:ln>
            <a:noFill/>
          </a:ln>
          <a:effectLst/>
        </p:spPr>
        <p:txBody>
          <a:bodyPr rtlCol="0" anchor="ctr"/>
          <a:lstStyle/>
          <a:p/>
        </p:txBody>
      </p:sp>
      <p:sp>
        <p:nvSpPr>
          <p:cNvPr id="25" name="TextBox 24"/>
          <p:cNvSpPr txBox="1"/>
          <p:nvPr/>
        </p:nvSpPr>
        <p:spPr>
          <a:xfrm>
            <a:off x="3860139" y="6959731"/>
            <a:ext cx="610654" cy="254000"/>
          </a:xfrm>
          <a:prstGeom prst="rect">
            <a:avLst/>
          </a:prstGeom>
          <a:noFill/>
        </p:spPr>
        <p:txBody>
          <a:bodyPr wrap="square" lIns="0" rIns="0" tIns="0" bIns="0" anchor="ctr">
            <a:spAutoFit/>
          </a:bodyPr>
          <a:lstStyle/>
          <a:p>
            <a:pPr algn="l"/>
            <a:r>
              <a:rPr sz="740" b="0" i="0">
                <a:solidFill>
                  <a:srgbClr val="3C3C36"/>
                </a:solidFill>
                <a:latin typeface="Montserrat"/>
              </a:rPr>
              <a:t>pago</a:t>
            </a:r>
          </a:p>
        </p:txBody>
      </p:sp>
      <p:sp>
        <p:nvSpPr>
          <p:cNvPr id="26" name="Oval 25"/>
          <p:cNvSpPr/>
          <p:nvPr/>
        </p:nvSpPr>
        <p:spPr>
          <a:xfrm>
            <a:off x="4496193" y="7029581"/>
            <a:ext cx="114300" cy="114300"/>
          </a:xfrm>
          <a:prstGeom prst="ellipse">
            <a:avLst/>
          </a:prstGeom>
          <a:solidFill>
            <a:srgbClr val="D9B36C"/>
          </a:solidFill>
          <a:ln>
            <a:noFill/>
          </a:ln>
          <a:effectLst/>
        </p:spPr>
        <p:txBody>
          <a:bodyPr rtlCol="0" anchor="ctr"/>
          <a:lstStyle/>
          <a:p/>
        </p:txBody>
      </p:sp>
      <p:sp>
        <p:nvSpPr>
          <p:cNvPr id="27" name="TextBox 26"/>
          <p:cNvSpPr txBox="1"/>
          <p:nvPr/>
        </p:nvSpPr>
        <p:spPr>
          <a:xfrm>
            <a:off x="4661293" y="6959731"/>
            <a:ext cx="610654" cy="254000"/>
          </a:xfrm>
          <a:prstGeom prst="rect">
            <a:avLst/>
          </a:prstGeom>
          <a:noFill/>
        </p:spPr>
        <p:txBody>
          <a:bodyPr wrap="square" lIns="0" rIns="0" tIns="0" bIns="0" anchor="ctr">
            <a:spAutoFit/>
          </a:bodyPr>
          <a:lstStyle/>
          <a:p>
            <a:pPr algn="l"/>
            <a:r>
              <a:rPr sz="740" b="0" i="0">
                <a:solidFill>
                  <a:srgbClr val="3C3C36"/>
                </a:solidFill>
                <a:latin typeface="Montserrat"/>
              </a:rPr>
              <a:t>pendente</a:t>
            </a:r>
          </a:p>
        </p:txBody>
      </p:sp>
      <p:sp>
        <p:nvSpPr>
          <p:cNvPr id="28" name="Oval 27"/>
          <p:cNvSpPr/>
          <p:nvPr/>
        </p:nvSpPr>
        <p:spPr>
          <a:xfrm>
            <a:off x="5297347" y="7029581"/>
            <a:ext cx="114300" cy="114300"/>
          </a:xfrm>
          <a:prstGeom prst="ellipse">
            <a:avLst/>
          </a:prstGeom>
          <a:solidFill>
            <a:srgbClr val="C98B5A"/>
          </a:solidFill>
          <a:ln>
            <a:noFill/>
          </a:ln>
          <a:effectLst/>
        </p:spPr>
        <p:txBody>
          <a:bodyPr rtlCol="0" anchor="ctr"/>
          <a:lstStyle/>
          <a:p/>
        </p:txBody>
      </p:sp>
      <p:sp>
        <p:nvSpPr>
          <p:cNvPr id="29" name="TextBox 28"/>
          <p:cNvSpPr txBox="1"/>
          <p:nvPr/>
        </p:nvSpPr>
        <p:spPr>
          <a:xfrm>
            <a:off x="5462447" y="6959731"/>
            <a:ext cx="610654" cy="254000"/>
          </a:xfrm>
          <a:prstGeom prst="rect">
            <a:avLst/>
          </a:prstGeom>
          <a:noFill/>
        </p:spPr>
        <p:txBody>
          <a:bodyPr wrap="square" lIns="0" rIns="0" tIns="0" bIns="0" anchor="ctr">
            <a:spAutoFit/>
          </a:bodyPr>
          <a:lstStyle/>
          <a:p>
            <a:pPr algn="l"/>
            <a:r>
              <a:rPr sz="740" b="0" i="0">
                <a:solidFill>
                  <a:srgbClr val="3C3C36"/>
                </a:solidFill>
                <a:latin typeface="Montserrat"/>
              </a:rPr>
              <a:t>parcial</a:t>
            </a:r>
          </a:p>
        </p:txBody>
      </p:sp>
      <p:sp>
        <p:nvSpPr>
          <p:cNvPr id="30" name="Oval 29"/>
          <p:cNvSpPr/>
          <p:nvPr/>
        </p:nvSpPr>
        <p:spPr>
          <a:xfrm>
            <a:off x="6098501" y="7029581"/>
            <a:ext cx="114300" cy="114300"/>
          </a:xfrm>
          <a:prstGeom prst="ellipse">
            <a:avLst/>
          </a:prstGeom>
          <a:solidFill>
            <a:srgbClr val="C9726B"/>
          </a:solidFill>
          <a:ln>
            <a:noFill/>
          </a:ln>
          <a:effectLst/>
        </p:spPr>
        <p:txBody>
          <a:bodyPr rtlCol="0" anchor="ctr"/>
          <a:lstStyle/>
          <a:p/>
        </p:txBody>
      </p:sp>
      <p:sp>
        <p:nvSpPr>
          <p:cNvPr id="31" name="TextBox 30"/>
          <p:cNvSpPr txBox="1"/>
          <p:nvPr/>
        </p:nvSpPr>
        <p:spPr>
          <a:xfrm>
            <a:off x="6263601" y="6959731"/>
            <a:ext cx="610654" cy="254000"/>
          </a:xfrm>
          <a:prstGeom prst="rect">
            <a:avLst/>
          </a:prstGeom>
          <a:noFill/>
        </p:spPr>
        <p:txBody>
          <a:bodyPr wrap="square" lIns="0" rIns="0" tIns="0" bIns="0" anchor="ctr">
            <a:spAutoFit/>
          </a:bodyPr>
          <a:lstStyle/>
          <a:p>
            <a:pPr algn="l"/>
            <a:r>
              <a:rPr sz="740" b="0" i="0">
                <a:solidFill>
                  <a:srgbClr val="3C3C36"/>
                </a:solidFill>
                <a:latin typeface="Montserrat"/>
              </a:rPr>
              <a:t>cancelado</a:t>
            </a:r>
          </a:p>
        </p:txBody>
      </p:sp>
      <p:sp>
        <p:nvSpPr>
          <p:cNvPr id="34" name="TextBox 33"/>
          <p:cNvSpPr txBox="1"/>
          <p:nvPr/>
        </p:nvSpPr>
        <p:spPr>
          <a:xfrm>
            <a:off x="558800" y="2713437"/>
            <a:ext cx="5909056" cy="304800"/>
          </a:xfrm>
          <a:prstGeom prst="rect">
            <a:avLst/>
          </a:prstGeom>
          <a:noFill/>
        </p:spPr>
        <p:txBody>
          <a:bodyPr wrap="square" lIns="0" rIns="0" tIns="0" bIns="0" anchor="ctr">
            <a:spAutoFit/>
          </a:bodyPr>
          <a:lstStyle/>
          <a:p>
            <a:pPr algn="l"/>
            <a:r>
              <a:rPr sz="1500" b="1" i="0">
                <a:solidFill>
                  <a:srgbClr val="1F3326"/>
                </a:solidFill>
                <a:latin typeface="Cormorant Garamond"/>
              </a:rPr>
              <a:t>Lançamentos</a:t>
            </a:r>
          </a:p>
        </p:txBody>
      </p:sp>
      <p:pic>
        <p:nvPicPr>
          <p:cNvPr id="35" name="Picture 34" descr="ramo.png"/>
          <p:cNvPicPr>
            <a:picLocks noChangeAspect="1"/>
          </p:cNvPicPr>
          <p:nvPr/>
        </p:nvPicPr>
        <p:blipFill>
          <a:blip r:embed="rId7"/>
          <a:stretch>
            <a:fillRect/>
          </a:stretch>
        </p:blipFill>
        <p:spPr>
          <a:xfrm>
            <a:off x="6671056" y="2775123"/>
            <a:ext cx="381000" cy="181429"/>
          </a:xfrm>
          <a:prstGeom prst="rect">
            <a:avLst/>
          </a:prstGeom>
        </p:spPr>
      </p:pic>
      <p:sp>
        <p:nvSpPr>
          <p:cNvPr id="36" name="Rounded Rectangle 35"/>
          <p:cNvSpPr/>
          <p:nvPr/>
        </p:nvSpPr>
        <p:spPr>
          <a:xfrm>
            <a:off x="533400" y="7689537"/>
            <a:ext cx="1537589" cy="697848"/>
          </a:xfrm>
          <a:prstGeom prst="roundRect">
            <a:avLst>
              <a:gd name="adj" fmla="val 10919"/>
            </a:avLst>
          </a:prstGeom>
          <a:solidFill>
            <a:srgbClr val="FCFAF4"/>
          </a:solidFill>
          <a:ln w="8890">
            <a:solidFill>
              <a:srgbClr val="CDD1BF"/>
            </a:solidFill>
          </a:ln>
          <a:effectLst/>
        </p:spPr>
        <p:txBody>
          <a:bodyPr rtlCol="0" anchor="ctr"/>
          <a:lstStyle/>
          <a:p/>
        </p:txBody>
      </p:sp>
      <p:sp>
        <p:nvSpPr>
          <p:cNvPr id="37" name="Round Same Side Corner Rectangle 36"/>
          <p:cNvSpPr/>
          <p:nvPr/>
        </p:nvSpPr>
        <p:spPr>
          <a:xfrm>
            <a:off x="537845" y="7693982"/>
            <a:ext cx="1528698" cy="190500"/>
          </a:xfrm>
          <a:prstGeom prst="round2SameRect">
            <a:avLst>
              <a:gd name="adj1" fmla="val 36666"/>
              <a:gd name="adj2" fmla="val 0"/>
            </a:avLst>
          </a:prstGeom>
          <a:solidFill>
            <a:srgbClr val="DFE2CB"/>
          </a:solidFill>
          <a:ln>
            <a:noFill/>
          </a:ln>
          <a:effectLst/>
        </p:spPr>
        <p:txBody>
          <a:bodyPr rtlCol="0" anchor="ctr"/>
          <a:lstStyle/>
          <a:p/>
        </p:txBody>
      </p:sp>
      <p:sp>
        <p:nvSpPr>
          <p:cNvPr id="38" name="TextBox 37"/>
          <p:cNvSpPr txBox="1"/>
          <p:nvPr/>
        </p:nvSpPr>
        <p:spPr>
          <a:xfrm>
            <a:off x="533400" y="7689537"/>
            <a:ext cx="1537589" cy="190500"/>
          </a:xfrm>
          <a:prstGeom prst="rect">
            <a:avLst/>
          </a:prstGeom>
          <a:noFill/>
        </p:spPr>
        <p:txBody>
          <a:bodyPr wrap="square" lIns="0" rIns="0" tIns="0" bIns="0" anchor="ctr">
            <a:spAutoFit/>
          </a:bodyPr>
          <a:lstStyle/>
          <a:p>
            <a:pPr algn="ctr"/>
            <a:r>
              <a:rPr sz="1050" b="1" i="0">
                <a:solidFill>
                  <a:srgbClr val="1F3326"/>
                </a:solidFill>
                <a:latin typeface="Cormorant Garamond"/>
              </a:rPr>
              <a:t>Total previsto</a:t>
            </a:r>
          </a:p>
        </p:txBody>
      </p:sp>
      <p:sp>
        <p:nvSpPr>
          <p:cNvPr id="39" name="TextBox 38"/>
          <p:cNvSpPr txBox="1"/>
          <p:nvPr/>
        </p:nvSpPr>
        <p:spPr>
          <a:xfrm>
            <a:off x="635000" y="8146085"/>
            <a:ext cx="254000" cy="127000"/>
          </a:xfrm>
          <a:prstGeom prst="rect">
            <a:avLst/>
          </a:prstGeom>
          <a:noFill/>
        </p:spPr>
        <p:txBody>
          <a:bodyPr wrap="square" lIns="0" rIns="0" tIns="0" bIns="0" anchor="t">
            <a:spAutoFit/>
          </a:bodyPr>
          <a:lstStyle/>
          <a:p>
            <a:pPr algn="l"/>
            <a:r>
              <a:rPr sz="760" b="0" i="0">
                <a:solidFill>
                  <a:srgbClr val="4A4A43"/>
                </a:solidFill>
                <a:latin typeface="Montserrat"/>
              </a:rPr>
              <a:t>R$</a:t>
            </a:r>
          </a:p>
        </p:txBody>
      </p:sp>
      <p:cxnSp>
        <p:nvCxnSpPr>
          <p:cNvPr id="40" name="Connector 39"/>
          <p:cNvCxnSpPr/>
          <p:nvPr/>
        </p:nvCxnSpPr>
        <p:spPr>
          <a:xfrm>
            <a:off x="838200" y="8260385"/>
            <a:ext cx="1131189" cy="0"/>
          </a:xfrm>
          <a:prstGeom prst="line">
            <a:avLst/>
          </a:prstGeom>
          <a:ln w="7620">
            <a:solidFill>
              <a:srgbClr val="B5B5AA"/>
            </a:solidFill>
          </a:ln>
        </p:spPr>
      </p:cxnSp>
      <p:sp>
        <p:nvSpPr>
          <p:cNvPr id="41" name="Rounded Rectangle 40"/>
          <p:cNvSpPr/>
          <p:nvPr/>
        </p:nvSpPr>
        <p:spPr>
          <a:xfrm>
            <a:off x="2185289" y="7689537"/>
            <a:ext cx="1537589" cy="697848"/>
          </a:xfrm>
          <a:prstGeom prst="roundRect">
            <a:avLst>
              <a:gd name="adj" fmla="val 10919"/>
            </a:avLst>
          </a:prstGeom>
          <a:solidFill>
            <a:srgbClr val="FCFAF4"/>
          </a:solidFill>
          <a:ln w="8890">
            <a:solidFill>
              <a:srgbClr val="CDD1BF"/>
            </a:solidFill>
          </a:ln>
          <a:effectLst/>
        </p:spPr>
        <p:txBody>
          <a:bodyPr rtlCol="0" anchor="ctr"/>
          <a:lstStyle/>
          <a:p/>
        </p:txBody>
      </p:sp>
      <p:sp>
        <p:nvSpPr>
          <p:cNvPr id="42" name="Round Same Side Corner Rectangle 41"/>
          <p:cNvSpPr/>
          <p:nvPr/>
        </p:nvSpPr>
        <p:spPr>
          <a:xfrm>
            <a:off x="2189734" y="7693982"/>
            <a:ext cx="1528698" cy="190500"/>
          </a:xfrm>
          <a:prstGeom prst="round2SameRect">
            <a:avLst>
              <a:gd name="adj1" fmla="val 36666"/>
              <a:gd name="adj2" fmla="val 0"/>
            </a:avLst>
          </a:prstGeom>
          <a:solidFill>
            <a:srgbClr val="DFE2CB"/>
          </a:solidFill>
          <a:ln>
            <a:noFill/>
          </a:ln>
          <a:effectLst/>
        </p:spPr>
        <p:txBody>
          <a:bodyPr rtlCol="0" anchor="ctr"/>
          <a:lstStyle/>
          <a:p/>
        </p:txBody>
      </p:sp>
      <p:sp>
        <p:nvSpPr>
          <p:cNvPr id="43" name="TextBox 42"/>
          <p:cNvSpPr txBox="1"/>
          <p:nvPr/>
        </p:nvSpPr>
        <p:spPr>
          <a:xfrm>
            <a:off x="2185289" y="7689537"/>
            <a:ext cx="1537589" cy="190500"/>
          </a:xfrm>
          <a:prstGeom prst="rect">
            <a:avLst/>
          </a:prstGeom>
          <a:noFill/>
        </p:spPr>
        <p:txBody>
          <a:bodyPr wrap="square" lIns="0" rIns="0" tIns="0" bIns="0" anchor="ctr">
            <a:spAutoFit/>
          </a:bodyPr>
          <a:lstStyle/>
          <a:p>
            <a:pPr algn="ctr"/>
            <a:r>
              <a:rPr sz="1050" b="1" i="0">
                <a:solidFill>
                  <a:srgbClr val="1F3326"/>
                </a:solidFill>
                <a:latin typeface="Cormorant Garamond"/>
              </a:rPr>
              <a:t>Total recebido</a:t>
            </a:r>
          </a:p>
        </p:txBody>
      </p:sp>
      <p:sp>
        <p:nvSpPr>
          <p:cNvPr id="44" name="TextBox 43"/>
          <p:cNvSpPr txBox="1"/>
          <p:nvPr/>
        </p:nvSpPr>
        <p:spPr>
          <a:xfrm>
            <a:off x="2286889" y="8146085"/>
            <a:ext cx="254000" cy="127000"/>
          </a:xfrm>
          <a:prstGeom prst="rect">
            <a:avLst/>
          </a:prstGeom>
          <a:noFill/>
        </p:spPr>
        <p:txBody>
          <a:bodyPr wrap="square" lIns="0" rIns="0" tIns="0" bIns="0" anchor="t">
            <a:spAutoFit/>
          </a:bodyPr>
          <a:lstStyle/>
          <a:p>
            <a:pPr algn="l"/>
            <a:r>
              <a:rPr sz="760" b="0" i="0">
                <a:solidFill>
                  <a:srgbClr val="4A4A43"/>
                </a:solidFill>
                <a:latin typeface="Montserrat"/>
              </a:rPr>
              <a:t>R$</a:t>
            </a:r>
          </a:p>
        </p:txBody>
      </p:sp>
      <p:cxnSp>
        <p:nvCxnSpPr>
          <p:cNvPr id="45" name="Connector 44"/>
          <p:cNvCxnSpPr/>
          <p:nvPr/>
        </p:nvCxnSpPr>
        <p:spPr>
          <a:xfrm>
            <a:off x="2490089" y="8260385"/>
            <a:ext cx="1131189" cy="0"/>
          </a:xfrm>
          <a:prstGeom prst="line">
            <a:avLst/>
          </a:prstGeom>
          <a:ln w="7620">
            <a:solidFill>
              <a:srgbClr val="B5B5AA"/>
            </a:solidFill>
          </a:ln>
        </p:spPr>
      </p:cxnSp>
      <p:sp>
        <p:nvSpPr>
          <p:cNvPr id="46" name="Rounded Rectangle 45"/>
          <p:cNvSpPr/>
          <p:nvPr/>
        </p:nvSpPr>
        <p:spPr>
          <a:xfrm>
            <a:off x="3837178" y="7689537"/>
            <a:ext cx="1537589" cy="697848"/>
          </a:xfrm>
          <a:prstGeom prst="roundRect">
            <a:avLst>
              <a:gd name="adj" fmla="val 10919"/>
            </a:avLst>
          </a:prstGeom>
          <a:solidFill>
            <a:srgbClr val="FCFAF4"/>
          </a:solidFill>
          <a:ln w="8890">
            <a:solidFill>
              <a:srgbClr val="CDD1BF"/>
            </a:solidFill>
          </a:ln>
          <a:effectLst/>
        </p:spPr>
        <p:txBody>
          <a:bodyPr rtlCol="0" anchor="ctr"/>
          <a:lstStyle/>
          <a:p/>
        </p:txBody>
      </p:sp>
      <p:sp>
        <p:nvSpPr>
          <p:cNvPr id="47" name="Round Same Side Corner Rectangle 46"/>
          <p:cNvSpPr/>
          <p:nvPr/>
        </p:nvSpPr>
        <p:spPr>
          <a:xfrm>
            <a:off x="3841623" y="7693982"/>
            <a:ext cx="1528698" cy="190500"/>
          </a:xfrm>
          <a:prstGeom prst="round2SameRect">
            <a:avLst>
              <a:gd name="adj1" fmla="val 36666"/>
              <a:gd name="adj2" fmla="val 0"/>
            </a:avLst>
          </a:prstGeom>
          <a:solidFill>
            <a:srgbClr val="DFE2CB"/>
          </a:solidFill>
          <a:ln>
            <a:noFill/>
          </a:ln>
          <a:effectLst/>
        </p:spPr>
        <p:txBody>
          <a:bodyPr rtlCol="0" anchor="ctr"/>
          <a:lstStyle/>
          <a:p/>
        </p:txBody>
      </p:sp>
      <p:sp>
        <p:nvSpPr>
          <p:cNvPr id="48" name="TextBox 47"/>
          <p:cNvSpPr txBox="1"/>
          <p:nvPr/>
        </p:nvSpPr>
        <p:spPr>
          <a:xfrm>
            <a:off x="3837178" y="7689537"/>
            <a:ext cx="1537589" cy="190500"/>
          </a:xfrm>
          <a:prstGeom prst="rect">
            <a:avLst/>
          </a:prstGeom>
          <a:noFill/>
        </p:spPr>
        <p:txBody>
          <a:bodyPr wrap="square" lIns="0" rIns="0" tIns="0" bIns="0" anchor="ctr">
            <a:spAutoFit/>
          </a:bodyPr>
          <a:lstStyle/>
          <a:p>
            <a:pPr algn="ctr"/>
            <a:r>
              <a:rPr sz="1050" b="1" i="0">
                <a:solidFill>
                  <a:srgbClr val="1F3326"/>
                </a:solidFill>
                <a:latin typeface="Cormorant Garamond"/>
              </a:rPr>
              <a:t>Total pendente</a:t>
            </a:r>
          </a:p>
        </p:txBody>
      </p:sp>
      <p:sp>
        <p:nvSpPr>
          <p:cNvPr id="49" name="TextBox 48"/>
          <p:cNvSpPr txBox="1"/>
          <p:nvPr/>
        </p:nvSpPr>
        <p:spPr>
          <a:xfrm>
            <a:off x="3938778" y="8146085"/>
            <a:ext cx="254000" cy="127000"/>
          </a:xfrm>
          <a:prstGeom prst="rect">
            <a:avLst/>
          </a:prstGeom>
          <a:noFill/>
        </p:spPr>
        <p:txBody>
          <a:bodyPr wrap="square" lIns="0" rIns="0" tIns="0" bIns="0" anchor="t">
            <a:spAutoFit/>
          </a:bodyPr>
          <a:lstStyle/>
          <a:p>
            <a:pPr algn="l"/>
            <a:r>
              <a:rPr sz="760" b="0" i="0">
                <a:solidFill>
                  <a:srgbClr val="4A4A43"/>
                </a:solidFill>
                <a:latin typeface="Montserrat"/>
              </a:rPr>
              <a:t>R$</a:t>
            </a:r>
          </a:p>
        </p:txBody>
      </p:sp>
      <p:cxnSp>
        <p:nvCxnSpPr>
          <p:cNvPr id="50" name="Connector 49"/>
          <p:cNvCxnSpPr/>
          <p:nvPr/>
        </p:nvCxnSpPr>
        <p:spPr>
          <a:xfrm>
            <a:off x="4141978" y="8260385"/>
            <a:ext cx="1131189" cy="0"/>
          </a:xfrm>
          <a:prstGeom prst="line">
            <a:avLst/>
          </a:prstGeom>
          <a:ln w="7620">
            <a:solidFill>
              <a:srgbClr val="B5B5AA"/>
            </a:solidFill>
          </a:ln>
        </p:spPr>
      </p:cxnSp>
      <p:sp>
        <p:nvSpPr>
          <p:cNvPr id="51" name="Rounded Rectangle 50"/>
          <p:cNvSpPr/>
          <p:nvPr/>
        </p:nvSpPr>
        <p:spPr>
          <a:xfrm>
            <a:off x="5489067" y="7689537"/>
            <a:ext cx="1537589" cy="697848"/>
          </a:xfrm>
          <a:prstGeom prst="roundRect">
            <a:avLst>
              <a:gd name="adj" fmla="val 10919"/>
            </a:avLst>
          </a:prstGeom>
          <a:solidFill>
            <a:srgbClr val="FCFAF4"/>
          </a:solidFill>
          <a:ln w="8890">
            <a:solidFill>
              <a:srgbClr val="CDD1BF"/>
            </a:solidFill>
          </a:ln>
          <a:effectLst/>
        </p:spPr>
        <p:txBody>
          <a:bodyPr rtlCol="0" anchor="ctr"/>
          <a:lstStyle/>
          <a:p/>
        </p:txBody>
      </p:sp>
      <p:sp>
        <p:nvSpPr>
          <p:cNvPr id="52" name="Round Same Side Corner Rectangle 51"/>
          <p:cNvSpPr/>
          <p:nvPr/>
        </p:nvSpPr>
        <p:spPr>
          <a:xfrm>
            <a:off x="5493512" y="7693982"/>
            <a:ext cx="1528698" cy="190500"/>
          </a:xfrm>
          <a:prstGeom prst="round2SameRect">
            <a:avLst>
              <a:gd name="adj1" fmla="val 36666"/>
              <a:gd name="adj2" fmla="val 0"/>
            </a:avLst>
          </a:prstGeom>
          <a:solidFill>
            <a:srgbClr val="DFE2CB"/>
          </a:solidFill>
          <a:ln>
            <a:noFill/>
          </a:ln>
          <a:effectLst/>
        </p:spPr>
        <p:txBody>
          <a:bodyPr rtlCol="0" anchor="ctr"/>
          <a:lstStyle/>
          <a:p/>
        </p:txBody>
      </p:sp>
      <p:sp>
        <p:nvSpPr>
          <p:cNvPr id="53" name="TextBox 52"/>
          <p:cNvSpPr txBox="1"/>
          <p:nvPr/>
        </p:nvSpPr>
        <p:spPr>
          <a:xfrm>
            <a:off x="5489067" y="7689537"/>
            <a:ext cx="1537589" cy="190500"/>
          </a:xfrm>
          <a:prstGeom prst="rect">
            <a:avLst/>
          </a:prstGeom>
          <a:noFill/>
        </p:spPr>
        <p:txBody>
          <a:bodyPr wrap="square" lIns="0" rIns="0" tIns="0" bIns="0" anchor="ctr">
            <a:spAutoFit/>
          </a:bodyPr>
          <a:lstStyle/>
          <a:p>
            <a:pPr algn="ctr"/>
            <a:r>
              <a:rPr sz="1050" b="1" i="0">
                <a:solidFill>
                  <a:srgbClr val="1F3326"/>
                </a:solidFill>
                <a:latin typeface="Cormorant Garamond"/>
              </a:rPr>
              <a:t>Próximo vencimento</a:t>
            </a:r>
          </a:p>
        </p:txBody>
      </p:sp>
      <p:cxnSp>
        <p:nvCxnSpPr>
          <p:cNvPr id="54" name="Connector 53"/>
          <p:cNvCxnSpPr/>
          <p:nvPr/>
        </p:nvCxnSpPr>
        <p:spPr>
          <a:xfrm>
            <a:off x="5590667" y="8260385"/>
            <a:ext cx="1334389" cy="0"/>
          </a:xfrm>
          <a:prstGeom prst="line">
            <a:avLst/>
          </a:prstGeom>
          <a:ln w="7620">
            <a:solidFill>
              <a:srgbClr val="B5B5AA"/>
            </a:solidFill>
          </a:ln>
        </p:spPr>
      </p:cxnSp>
      <p:cxnSp>
        <p:nvCxnSpPr>
          <p:cNvPr id="56" name="Connector 55"/>
          <p:cNvCxnSpPr/>
          <p:nvPr/>
        </p:nvCxnSpPr>
        <p:spPr>
          <a:xfrm>
            <a:off x="533400" y="9383654"/>
            <a:ext cx="6493256" cy="0"/>
          </a:xfrm>
          <a:prstGeom prst="line">
            <a:avLst/>
          </a:prstGeom>
          <a:ln w="7620">
            <a:solidFill>
              <a:srgbClr val="B5B5AA"/>
            </a:solidFill>
          </a:ln>
        </p:spPr>
      </p:cxnSp>
      <p:cxnSp>
        <p:nvCxnSpPr>
          <p:cNvPr id="57" name="Connector 56"/>
          <p:cNvCxnSpPr/>
          <p:nvPr/>
        </p:nvCxnSpPr>
        <p:spPr>
          <a:xfrm>
            <a:off x="533400" y="9637417"/>
            <a:ext cx="6493256" cy="0"/>
          </a:xfrm>
          <a:prstGeom prst="line">
            <a:avLst/>
          </a:prstGeom>
          <a:ln w="7620">
            <a:solidFill>
              <a:srgbClr val="B5B5AA"/>
            </a:solidFill>
          </a:ln>
        </p:spPr>
      </p:cxnSp>
      <p:cxnSp>
        <p:nvCxnSpPr>
          <p:cNvPr id="58" name="Connector 57"/>
          <p:cNvCxnSpPr/>
          <p:nvPr/>
        </p:nvCxnSpPr>
        <p:spPr>
          <a:xfrm>
            <a:off x="533400" y="9891180"/>
            <a:ext cx="6493256" cy="0"/>
          </a:xfrm>
          <a:prstGeom prst="line">
            <a:avLst/>
          </a:prstGeom>
          <a:ln w="7620">
            <a:solidFill>
              <a:srgbClr val="B5B5AA"/>
            </a:solidFill>
          </a:ln>
        </p:spPr>
      </p:cxnSp>
      <p:sp>
        <p:nvSpPr>
          <p:cNvPr id="61" name="TextBox 60"/>
          <p:cNvSpPr txBox="1"/>
          <p:nvPr/>
        </p:nvSpPr>
        <p:spPr>
          <a:xfrm>
            <a:off x="558800" y="8704589"/>
            <a:ext cx="5909056" cy="304800"/>
          </a:xfrm>
          <a:prstGeom prst="rect">
            <a:avLst/>
          </a:prstGeom>
          <a:noFill/>
        </p:spPr>
        <p:txBody>
          <a:bodyPr wrap="square" lIns="0" rIns="0" tIns="0" bIns="0" anchor="ctr">
            <a:spAutoFit/>
          </a:bodyPr>
          <a:lstStyle/>
          <a:p>
            <a:pPr algn="l"/>
            <a:r>
              <a:rPr sz="1500" b="1" i="0">
                <a:solidFill>
                  <a:srgbClr val="1F3326"/>
                </a:solidFill>
                <a:latin typeface="Cormorant Garamond"/>
              </a:rPr>
              <a:t>Observações</a:t>
            </a:r>
          </a:p>
        </p:txBody>
      </p:sp>
      <p:pic>
        <p:nvPicPr>
          <p:cNvPr id="62" name="Picture 61" descr="ramo.png"/>
          <p:cNvPicPr>
            <a:picLocks noChangeAspect="1"/>
          </p:cNvPicPr>
          <p:nvPr/>
        </p:nvPicPr>
        <p:blipFill>
          <a:blip r:embed="rId7"/>
          <a:stretch>
            <a:fillRect/>
          </a:stretch>
        </p:blipFill>
        <p:spPr>
          <a:xfrm>
            <a:off x="6671056" y="8766275"/>
            <a:ext cx="381000" cy="181429"/>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6EC"/>
        </a:solidFill>
        <a:effectLst/>
      </p:bgPr>
    </p:bg>
    <p:spTree>
      <p:nvGrpSpPr>
        <p:cNvPr id="1" name=""/>
        <p:cNvGrpSpPr/>
        <p:nvPr/>
      </p:nvGrpSpPr>
      <p:grpSpPr/>
      <p:sp>
        <p:nvSpPr>
          <p:cNvPr id="29" name="Rounded Rectangle 28"/>
          <p:cNvSpPr/>
          <p:nvPr/>
        </p:nvSpPr>
        <p:spPr>
          <a:xfrm>
            <a:off x="381000" y="8126926"/>
            <a:ext cx="6798056" cy="1962706"/>
          </a:xfrm>
          <a:prstGeom prst="roundRect">
            <a:avLst>
              <a:gd name="adj" fmla="val 5823"/>
            </a:avLst>
          </a:prstGeom>
          <a:solidFill>
            <a:srgbClr val="FCFAF4"/>
          </a:solidFill>
          <a:ln w="11430">
            <a:solidFill>
              <a:srgbClr val="CDD1BF"/>
            </a:solidFill>
          </a:ln>
          <a:effectLst/>
        </p:spPr>
        <p:txBody>
          <a:bodyPr rtlCol="0" anchor="ctr"/>
          <a:lstStyle/>
          <a:p/>
        </p:txBody>
      </p:sp>
      <p:sp>
        <p:nvSpPr>
          <p:cNvPr id="19" name="Rounded Rectangle 18"/>
          <p:cNvSpPr/>
          <p:nvPr/>
        </p:nvSpPr>
        <p:spPr>
          <a:xfrm>
            <a:off x="381000" y="5524616"/>
            <a:ext cx="6798056" cy="2393445"/>
          </a:xfrm>
          <a:prstGeom prst="roundRect">
            <a:avLst>
              <a:gd name="adj" fmla="val 4775"/>
            </a:avLst>
          </a:prstGeom>
          <a:solidFill>
            <a:srgbClr val="FCFAF4"/>
          </a:solidFill>
          <a:ln w="11430">
            <a:solidFill>
              <a:srgbClr val="CDD1BF"/>
            </a:solidFill>
          </a:ln>
          <a:effectLst/>
        </p:spPr>
        <p:txBody>
          <a:bodyPr rtlCol="0" anchor="ctr"/>
          <a:lstStyle/>
          <a:p/>
        </p:txBody>
      </p:sp>
      <p:sp>
        <p:nvSpPr>
          <p:cNvPr id="20" name="Round Same Side Corner Rectangle 19"/>
          <p:cNvSpPr/>
          <p:nvPr/>
        </p:nvSpPr>
        <p:spPr>
          <a:xfrm>
            <a:off x="386715" y="5530331"/>
            <a:ext cx="6786626" cy="304800"/>
          </a:xfrm>
          <a:prstGeom prst="round2SameRect">
            <a:avLst>
              <a:gd name="adj1" fmla="val 35416"/>
              <a:gd name="adj2" fmla="val 0"/>
            </a:avLst>
          </a:prstGeom>
          <a:solidFill>
            <a:srgbClr val="DFE2CB"/>
          </a:solidFill>
          <a:ln>
            <a:noFill/>
          </a:ln>
          <a:effectLst/>
        </p:spPr>
        <p:txBody>
          <a:bodyPr rtlCol="0" anchor="ctr"/>
          <a:lstStyle/>
          <a:p/>
        </p:txBody>
      </p:sp>
      <p:sp>
        <p:nvSpPr>
          <p:cNvPr id="11" name="Rounded Rectangle 10"/>
          <p:cNvSpPr/>
          <p:nvPr/>
        </p:nvSpPr>
        <p:spPr>
          <a:xfrm>
            <a:off x="381000" y="1853692"/>
            <a:ext cx="6798056" cy="3462059"/>
          </a:xfrm>
          <a:prstGeom prst="roundRect">
            <a:avLst>
              <a:gd name="adj" fmla="val 3301"/>
            </a:avLst>
          </a:prstGeom>
          <a:solidFill>
            <a:srgbClr val="FCFAF4"/>
          </a:solidFill>
          <a:ln w="11430">
            <a:solidFill>
              <a:srgbClr val="CDD1BF"/>
            </a:solidFill>
          </a:ln>
          <a:effectLst/>
        </p:spPr>
        <p:txBody>
          <a:bodyPr rtlCol="0" anchor="ctr"/>
          <a:lstStyle/>
          <a:p/>
        </p:txBody>
      </p:sp>
      <p:sp>
        <p:nvSpPr>
          <p:cNvPr id="12" name="Round Same Side Corner Rectangle 11"/>
          <p:cNvSpPr/>
          <p:nvPr/>
        </p:nvSpPr>
        <p:spPr>
          <a:xfrm>
            <a:off x="386715" y="1859407"/>
            <a:ext cx="6786626" cy="304800"/>
          </a:xfrm>
          <a:prstGeom prst="round2SameRect">
            <a:avLst>
              <a:gd name="adj1" fmla="val 35416"/>
              <a:gd name="adj2" fmla="val 0"/>
            </a:avLst>
          </a:prstGeom>
          <a:solidFill>
            <a:srgbClr val="DFE2CB"/>
          </a:solidFill>
          <a:ln>
            <a:noFill/>
          </a:ln>
          <a:effectLst/>
        </p:spPr>
        <p:txBody>
          <a:bodyPr rtlCol="0" anchor="ctr"/>
          <a:lstStyle/>
          <a:p/>
        </p:txBody>
      </p:sp>
      <p:pic>
        <p:nvPicPr>
          <p:cNvPr id="2" name="Picture 1" descr="folha-esq.png"/>
          <p:cNvPicPr>
            <a:picLocks noChangeAspect="1"/>
          </p:cNvPicPr>
          <p:nvPr/>
        </p:nvPicPr>
        <p:blipFill>
          <a:blip r:embed="rId2"/>
          <a:stretch>
            <a:fillRect/>
          </a:stretch>
        </p:blipFill>
        <p:spPr>
          <a:xfrm>
            <a:off x="0" y="0"/>
            <a:ext cx="1168400" cy="1410399"/>
          </a:xfrm>
          <a:prstGeom prst="rect">
            <a:avLst/>
          </a:prstGeom>
        </p:spPr>
      </p:pic>
      <p:pic>
        <p:nvPicPr>
          <p:cNvPr id="3" name="Picture 2" descr="folha-dir.png"/>
          <p:cNvPicPr>
            <a:picLocks noChangeAspect="1"/>
          </p:cNvPicPr>
          <p:nvPr/>
        </p:nvPicPr>
        <p:blipFill>
          <a:blip r:embed="rId3"/>
          <a:stretch>
            <a:fillRect/>
          </a:stretch>
        </p:blipFill>
        <p:spPr>
          <a:xfrm>
            <a:off x="6544056" y="0"/>
            <a:ext cx="1016000" cy="1570892"/>
          </a:xfrm>
          <a:prstGeom prst="rect">
            <a:avLst/>
          </a:prstGeom>
        </p:spPr>
      </p:pic>
      <p:pic>
        <p:nvPicPr>
          <p:cNvPr id="4" name="Picture 3" descr="folha-esq-baixo.png"/>
          <p:cNvPicPr>
            <a:picLocks noChangeAspect="1"/>
          </p:cNvPicPr>
          <p:nvPr/>
        </p:nvPicPr>
        <p:blipFill>
          <a:blip r:embed="rId4"/>
          <a:stretch>
            <a:fillRect/>
          </a:stretch>
        </p:blipFill>
        <p:spPr>
          <a:xfrm>
            <a:off x="0" y="9618873"/>
            <a:ext cx="889000" cy="1073129"/>
          </a:xfrm>
          <a:prstGeom prst="rect">
            <a:avLst/>
          </a:prstGeom>
        </p:spPr>
      </p:pic>
      <p:pic>
        <p:nvPicPr>
          <p:cNvPr id="5" name="Picture 4" descr="folha-dir-baixo.png"/>
          <p:cNvPicPr>
            <a:picLocks noChangeAspect="1"/>
          </p:cNvPicPr>
          <p:nvPr/>
        </p:nvPicPr>
        <p:blipFill>
          <a:blip r:embed="rId5"/>
          <a:stretch>
            <a:fillRect/>
          </a:stretch>
        </p:blipFill>
        <p:spPr>
          <a:xfrm>
            <a:off x="6823456" y="9553106"/>
            <a:ext cx="736600" cy="1138897"/>
          </a:xfrm>
          <a:prstGeom prst="rect">
            <a:avLst/>
          </a:prstGeom>
        </p:spPr>
      </p:pic>
      <p:pic>
        <p:nvPicPr>
          <p:cNvPr id="6" name="Picture 5" descr="lotus.png"/>
          <p:cNvPicPr>
            <a:picLocks noChangeAspect="1"/>
          </p:cNvPicPr>
          <p:nvPr/>
        </p:nvPicPr>
        <p:blipFill>
          <a:blip r:embed="rId6"/>
          <a:stretch>
            <a:fillRect/>
          </a:stretch>
        </p:blipFill>
        <p:spPr>
          <a:xfrm>
            <a:off x="2865628" y="152400"/>
            <a:ext cx="1828800" cy="459982"/>
          </a:xfrm>
          <a:prstGeom prst="rect">
            <a:avLst/>
          </a:prstGeom>
        </p:spPr>
      </p:pic>
      <p:sp>
        <p:nvSpPr>
          <p:cNvPr id="7" name="TextBox 6"/>
          <p:cNvSpPr txBox="1"/>
          <p:nvPr/>
        </p:nvSpPr>
        <p:spPr>
          <a:xfrm>
            <a:off x="889000" y="635000"/>
            <a:ext cx="5782056" cy="930910"/>
          </a:xfrm>
          <a:prstGeom prst="rect">
            <a:avLst/>
          </a:prstGeom>
          <a:noFill/>
        </p:spPr>
        <p:txBody>
          <a:bodyPr wrap="square" lIns="0" rIns="0" tIns="0" bIns="0" anchor="t">
            <a:spAutoFit/>
          </a:bodyPr>
          <a:lstStyle/>
          <a:p>
            <a:pPr algn="ctr">
              <a:lnSpc>
                <a:spcPct val="90000"/>
              </a:lnSpc>
            </a:pPr>
            <a:r>
              <a:rPr sz="3300" b="1" i="0">
                <a:solidFill>
                  <a:srgbClr val="1F3326"/>
                </a:solidFill>
                <a:latin typeface="Cormorant Garamond"/>
              </a:rPr>
              <a:t>Declaração de</a:t>
            </a:r>
          </a:p>
          <a:p>
            <a:pPr algn="ctr">
              <a:lnSpc>
                <a:spcPct val="90000"/>
              </a:lnSpc>
            </a:pPr>
            <a:r>
              <a:rPr sz="3300" b="1" i="0">
                <a:solidFill>
                  <a:srgbClr val="1F3326"/>
                </a:solidFill>
                <a:latin typeface="Cormorant Garamond"/>
              </a:rPr>
              <a:t>Comparecimento</a:t>
            </a:r>
          </a:p>
        </p:txBody>
      </p:sp>
      <p:sp>
        <p:nvSpPr>
          <p:cNvPr id="8" name="TextBox 7"/>
          <p:cNvSpPr txBox="1"/>
          <p:nvPr/>
        </p:nvSpPr>
        <p:spPr>
          <a:xfrm>
            <a:off x="762000" y="1574292"/>
            <a:ext cx="6036056" cy="139700"/>
          </a:xfrm>
          <a:prstGeom prst="rect">
            <a:avLst/>
          </a:prstGeom>
          <a:noFill/>
        </p:spPr>
        <p:txBody>
          <a:bodyPr wrap="square" lIns="0" rIns="0" tIns="0" bIns="0" anchor="t">
            <a:spAutoFit/>
          </a:bodyPr>
          <a:lstStyle/>
          <a:p>
            <a:pPr algn="ctr"/>
            <a:r>
              <a:rPr sz="700" b="0" i="0" spc="210">
                <a:solidFill>
                  <a:srgbClr val="3C3C36"/>
                </a:solidFill>
                <a:latin typeface="Montserrat"/>
              </a:rPr>
              <a:t>MODELO SIMPLES PARA USO PROFISSIONAL</a:t>
            </a:r>
          </a:p>
        </p:txBody>
      </p:sp>
      <p:sp>
        <p:nvSpPr>
          <p:cNvPr id="9" name="TextBox 8"/>
          <p:cNvSpPr txBox="1"/>
          <p:nvPr/>
        </p:nvSpPr>
        <p:spPr>
          <a:xfrm>
            <a:off x="558800" y="2392756"/>
            <a:ext cx="6442456" cy="1754230"/>
          </a:xfrm>
          <a:prstGeom prst="rect">
            <a:avLst/>
          </a:prstGeom>
          <a:noFill/>
        </p:spPr>
        <p:txBody>
          <a:bodyPr wrap="square" lIns="0" rIns="0" tIns="0" bIns="0" anchor="t">
            <a:spAutoFit/>
          </a:bodyPr>
          <a:lstStyle/>
          <a:p>
            <a:pPr algn="l">
              <a:lnSpc>
                <a:spcPct val="185000"/>
              </a:lnSpc>
            </a:pPr>
            <a:r>
              <a:rPr sz="1223" b="0" i="0">
                <a:solidFill>
                  <a:srgbClr val="3C3C36"/>
                </a:solidFill>
                <a:latin typeface="Montserrat"/>
              </a:rPr>
              <a:t>Eu, ____________________________________________________________,</a:t>
            </a:r>
          </a:p>
          <a:p>
            <a:pPr algn="l">
              <a:lnSpc>
                <a:spcPct val="185000"/>
              </a:lnSpc>
            </a:pPr>
            <a:r>
              <a:rPr sz="1223" b="0" i="0">
                <a:solidFill>
                  <a:srgbClr val="3C3C36"/>
                </a:solidFill>
                <a:latin typeface="Montserrat"/>
              </a:rPr>
              <a:t>inscrito(a) no CPF nº ________________________________, declaro que</a:t>
            </a:r>
          </a:p>
          <a:p>
            <a:pPr algn="l">
              <a:lnSpc>
                <a:spcPct val="185000"/>
              </a:lnSpc>
            </a:pPr>
            <a:r>
              <a:rPr sz="1223" b="0" i="0">
                <a:solidFill>
                  <a:srgbClr val="3C3C36"/>
                </a:solidFill>
                <a:latin typeface="Montserrat"/>
              </a:rPr>
              <a:t>a pessoa __________________________________ compareceu ao serviço</a:t>
            </a:r>
          </a:p>
          <a:p>
            <a:pPr algn="l">
              <a:lnSpc>
                <a:spcPct val="185000"/>
              </a:lnSpc>
            </a:pPr>
            <a:r>
              <a:rPr sz="1223" b="0" i="0">
                <a:solidFill>
                  <a:srgbClr val="3C3C36"/>
                </a:solidFill>
                <a:latin typeface="Montserrat"/>
              </a:rPr>
              <a:t>de massoterapia em minha responsabilidade no dia _____ / _____ / ______,</a:t>
            </a:r>
          </a:p>
          <a:p>
            <a:pPr algn="l">
              <a:lnSpc>
                <a:spcPct val="185000"/>
              </a:lnSpc>
            </a:pPr>
            <a:r>
              <a:rPr sz="1223" b="0" i="0">
                <a:solidFill>
                  <a:srgbClr val="3C3C36"/>
                </a:solidFill>
                <a:latin typeface="Montserrat"/>
              </a:rPr>
              <a:t>no período das _________ às _________.</a:t>
            </a:r>
          </a:p>
        </p:txBody>
      </p:sp>
      <p:sp>
        <p:nvSpPr>
          <p:cNvPr id="10" name="TextBox 9"/>
          <p:cNvSpPr txBox="1"/>
          <p:nvPr/>
        </p:nvSpPr>
        <p:spPr>
          <a:xfrm>
            <a:off x="558800" y="4330451"/>
            <a:ext cx="6442456" cy="776435"/>
          </a:xfrm>
          <a:prstGeom prst="rect">
            <a:avLst/>
          </a:prstGeom>
          <a:noFill/>
        </p:spPr>
        <p:txBody>
          <a:bodyPr wrap="square" lIns="0" rIns="0" tIns="0" bIns="0" anchor="t">
            <a:spAutoFit/>
          </a:bodyPr>
          <a:lstStyle/>
          <a:p>
            <a:pPr algn="l">
              <a:lnSpc>
                <a:spcPct val="145000"/>
              </a:lnSpc>
            </a:pPr>
            <a:r>
              <a:rPr sz="1152" b="0" i="0">
                <a:solidFill>
                  <a:srgbClr val="3C3C36"/>
                </a:solidFill>
                <a:latin typeface="Montserrat"/>
              </a:rPr>
              <a:t>Esta declaração é emitida a pedido da pessoa interessada e tem como única finalidade comprovar o comparecimento ao atendimento, não abrangendo informações clínicas, diagnósticos, tratamentos ou outros dados confidenciais.</a:t>
            </a:r>
          </a:p>
        </p:txBody>
      </p:sp>
      <p:sp>
        <p:nvSpPr>
          <p:cNvPr id="13" name="TextBox 12"/>
          <p:cNvSpPr txBox="1"/>
          <p:nvPr/>
        </p:nvSpPr>
        <p:spPr>
          <a:xfrm>
            <a:off x="558800" y="1853692"/>
            <a:ext cx="5909056" cy="304800"/>
          </a:xfrm>
          <a:prstGeom prst="rect">
            <a:avLst/>
          </a:prstGeom>
          <a:noFill/>
        </p:spPr>
        <p:txBody>
          <a:bodyPr wrap="square" lIns="0" rIns="0" tIns="0" bIns="0" anchor="ctr">
            <a:spAutoFit/>
          </a:bodyPr>
          <a:lstStyle/>
          <a:p>
            <a:pPr algn="l"/>
            <a:r>
              <a:rPr sz="1500" b="1" i="0">
                <a:solidFill>
                  <a:srgbClr val="1F3326"/>
                </a:solidFill>
                <a:latin typeface="Cormorant Garamond"/>
              </a:rPr>
              <a:t>Declaração</a:t>
            </a:r>
          </a:p>
        </p:txBody>
      </p:sp>
      <p:pic>
        <p:nvPicPr>
          <p:cNvPr id="14" name="Picture 13" descr="ramo.png"/>
          <p:cNvPicPr>
            <a:picLocks noChangeAspect="1"/>
          </p:cNvPicPr>
          <p:nvPr/>
        </p:nvPicPr>
        <p:blipFill>
          <a:blip r:embed="rId7"/>
          <a:stretch>
            <a:fillRect/>
          </a:stretch>
        </p:blipFill>
        <p:spPr>
          <a:xfrm>
            <a:off x="6671056" y="1915377"/>
            <a:ext cx="381000" cy="181429"/>
          </a:xfrm>
          <a:prstGeom prst="rect">
            <a:avLst/>
          </a:prstGeom>
        </p:spPr>
      </p:pic>
      <p:cxnSp>
        <p:nvCxnSpPr>
          <p:cNvPr id="15" name="Connector 14"/>
          <p:cNvCxnSpPr/>
          <p:nvPr/>
        </p:nvCxnSpPr>
        <p:spPr>
          <a:xfrm>
            <a:off x="558800" y="6417909"/>
            <a:ext cx="6442456" cy="0"/>
          </a:xfrm>
          <a:prstGeom prst="line">
            <a:avLst/>
          </a:prstGeom>
          <a:ln w="7620">
            <a:solidFill>
              <a:srgbClr val="B5B5AA"/>
            </a:solidFill>
          </a:ln>
        </p:spPr>
      </p:cxnSp>
      <p:cxnSp>
        <p:nvCxnSpPr>
          <p:cNvPr id="16" name="Connector 15"/>
          <p:cNvCxnSpPr/>
          <p:nvPr/>
        </p:nvCxnSpPr>
        <p:spPr>
          <a:xfrm>
            <a:off x="558800" y="6835639"/>
            <a:ext cx="6442456" cy="0"/>
          </a:xfrm>
          <a:prstGeom prst="line">
            <a:avLst/>
          </a:prstGeom>
          <a:ln w="7620">
            <a:solidFill>
              <a:srgbClr val="B5B5AA"/>
            </a:solidFill>
          </a:ln>
        </p:spPr>
      </p:cxnSp>
      <p:cxnSp>
        <p:nvCxnSpPr>
          <p:cNvPr id="17" name="Connector 16"/>
          <p:cNvCxnSpPr/>
          <p:nvPr/>
        </p:nvCxnSpPr>
        <p:spPr>
          <a:xfrm>
            <a:off x="558800" y="7253368"/>
            <a:ext cx="6442456" cy="0"/>
          </a:xfrm>
          <a:prstGeom prst="line">
            <a:avLst/>
          </a:prstGeom>
          <a:ln w="7620">
            <a:solidFill>
              <a:srgbClr val="B5B5AA"/>
            </a:solidFill>
          </a:ln>
        </p:spPr>
      </p:cxnSp>
      <p:cxnSp>
        <p:nvCxnSpPr>
          <p:cNvPr id="18" name="Connector 17"/>
          <p:cNvCxnSpPr/>
          <p:nvPr/>
        </p:nvCxnSpPr>
        <p:spPr>
          <a:xfrm>
            <a:off x="558800" y="7671097"/>
            <a:ext cx="6442456" cy="0"/>
          </a:xfrm>
          <a:prstGeom prst="line">
            <a:avLst/>
          </a:prstGeom>
          <a:ln w="7620">
            <a:solidFill>
              <a:srgbClr val="B5B5AA"/>
            </a:solidFill>
          </a:ln>
        </p:spPr>
      </p:cxnSp>
      <p:sp>
        <p:nvSpPr>
          <p:cNvPr id="21" name="TextBox 20"/>
          <p:cNvSpPr txBox="1"/>
          <p:nvPr/>
        </p:nvSpPr>
        <p:spPr>
          <a:xfrm>
            <a:off x="558800" y="5524616"/>
            <a:ext cx="5909056" cy="304800"/>
          </a:xfrm>
          <a:prstGeom prst="rect">
            <a:avLst/>
          </a:prstGeom>
          <a:noFill/>
        </p:spPr>
        <p:txBody>
          <a:bodyPr wrap="square" lIns="0" rIns="0" tIns="0" bIns="0" anchor="ctr">
            <a:spAutoFit/>
          </a:bodyPr>
          <a:lstStyle/>
          <a:p>
            <a:pPr algn="l"/>
            <a:r>
              <a:rPr sz="1500" b="1" i="0">
                <a:solidFill>
                  <a:srgbClr val="1F3326"/>
                </a:solidFill>
                <a:latin typeface="Cormorant Garamond"/>
              </a:rPr>
              <a:t>Finalidade informada pela pessoa solicitante</a:t>
            </a:r>
          </a:p>
        </p:txBody>
      </p:sp>
      <p:pic>
        <p:nvPicPr>
          <p:cNvPr id="22" name="Picture 21" descr="ramo.png"/>
          <p:cNvPicPr>
            <a:picLocks noChangeAspect="1"/>
          </p:cNvPicPr>
          <p:nvPr/>
        </p:nvPicPr>
        <p:blipFill>
          <a:blip r:embed="rId7"/>
          <a:stretch>
            <a:fillRect/>
          </a:stretch>
        </p:blipFill>
        <p:spPr>
          <a:xfrm>
            <a:off x="6671056" y="5586301"/>
            <a:ext cx="381000" cy="181429"/>
          </a:xfrm>
          <a:prstGeom prst="rect">
            <a:avLst/>
          </a:prstGeom>
        </p:spPr>
      </p:pic>
      <p:sp>
        <p:nvSpPr>
          <p:cNvPr id="23" name="TextBox 22"/>
          <p:cNvSpPr txBox="1"/>
          <p:nvPr/>
        </p:nvSpPr>
        <p:spPr>
          <a:xfrm>
            <a:off x="558800" y="8335791"/>
            <a:ext cx="762000" cy="177800"/>
          </a:xfrm>
          <a:prstGeom prst="rect">
            <a:avLst/>
          </a:prstGeom>
          <a:noFill/>
        </p:spPr>
        <p:txBody>
          <a:bodyPr wrap="square" lIns="0" rIns="0" tIns="0" bIns="0" anchor="t">
            <a:spAutoFit/>
          </a:bodyPr>
          <a:lstStyle/>
          <a:p>
            <a:pPr algn="l"/>
            <a:r>
              <a:rPr sz="1223" b="0" i="0">
                <a:solidFill>
                  <a:srgbClr val="3C3C36"/>
                </a:solidFill>
                <a:latin typeface="Montserrat"/>
              </a:rPr>
              <a:t>Cidade:</a:t>
            </a:r>
          </a:p>
        </p:txBody>
      </p:sp>
      <p:cxnSp>
        <p:nvCxnSpPr>
          <p:cNvPr id="24" name="Connector 23"/>
          <p:cNvCxnSpPr/>
          <p:nvPr/>
        </p:nvCxnSpPr>
        <p:spPr>
          <a:xfrm>
            <a:off x="1190999" y="8514556"/>
            <a:ext cx="2717878" cy="0"/>
          </a:xfrm>
          <a:prstGeom prst="line">
            <a:avLst/>
          </a:prstGeom>
          <a:ln w="7620">
            <a:solidFill>
              <a:srgbClr val="4A4A43"/>
            </a:solidFill>
          </a:ln>
        </p:spPr>
      </p:cxnSp>
      <p:sp>
        <p:nvSpPr>
          <p:cNvPr id="25" name="TextBox 24"/>
          <p:cNvSpPr txBox="1"/>
          <p:nvPr/>
        </p:nvSpPr>
        <p:spPr>
          <a:xfrm>
            <a:off x="4424273" y="8335791"/>
            <a:ext cx="2576982" cy="177800"/>
          </a:xfrm>
          <a:prstGeom prst="rect">
            <a:avLst/>
          </a:prstGeom>
          <a:noFill/>
        </p:spPr>
        <p:txBody>
          <a:bodyPr wrap="square" lIns="0" rIns="0" tIns="0" bIns="0" anchor="t">
            <a:spAutoFit/>
          </a:bodyPr>
          <a:lstStyle/>
          <a:p>
            <a:pPr algn="l"/>
            <a:r>
              <a:rPr sz="1223" b="0" i="0">
                <a:solidFill>
                  <a:srgbClr val="3C3C36"/>
                </a:solidFill>
                <a:latin typeface="Montserrat"/>
              </a:rPr>
              <a:t>Data:  _____ / _____ / ________</a:t>
            </a:r>
          </a:p>
        </p:txBody>
      </p:sp>
      <p:cxnSp>
        <p:nvCxnSpPr>
          <p:cNvPr id="26" name="Connector 25"/>
          <p:cNvCxnSpPr/>
          <p:nvPr/>
        </p:nvCxnSpPr>
        <p:spPr>
          <a:xfrm>
            <a:off x="2256028" y="9296568"/>
            <a:ext cx="3048000" cy="0"/>
          </a:xfrm>
          <a:prstGeom prst="line">
            <a:avLst/>
          </a:prstGeom>
          <a:ln w="7620">
            <a:solidFill>
              <a:srgbClr val="4A4A43"/>
            </a:solidFill>
          </a:ln>
        </p:spPr>
      </p:cxnSp>
      <p:sp>
        <p:nvSpPr>
          <p:cNvPr id="27" name="TextBox 26"/>
          <p:cNvSpPr txBox="1"/>
          <p:nvPr/>
        </p:nvSpPr>
        <p:spPr>
          <a:xfrm>
            <a:off x="1875027" y="9360068"/>
            <a:ext cx="3810000" cy="177800"/>
          </a:xfrm>
          <a:prstGeom prst="rect">
            <a:avLst/>
          </a:prstGeom>
          <a:noFill/>
        </p:spPr>
        <p:txBody>
          <a:bodyPr wrap="square" lIns="0" rIns="0" tIns="0" bIns="0" anchor="t">
            <a:spAutoFit/>
          </a:bodyPr>
          <a:lstStyle/>
          <a:p>
            <a:pPr algn="ctr"/>
            <a:r>
              <a:rPr sz="1150" b="1" i="0">
                <a:solidFill>
                  <a:srgbClr val="1F3326"/>
                </a:solidFill>
                <a:latin typeface="Cormorant Garamond"/>
              </a:rPr>
              <a:t>Massoterapeuta / responsável</a:t>
            </a:r>
          </a:p>
        </p:txBody>
      </p:sp>
      <p:sp>
        <p:nvSpPr>
          <p:cNvPr id="28" name="TextBox 27"/>
          <p:cNvSpPr txBox="1"/>
          <p:nvPr/>
        </p:nvSpPr>
        <p:spPr>
          <a:xfrm>
            <a:off x="1875027" y="9563268"/>
            <a:ext cx="3810000" cy="279400"/>
          </a:xfrm>
          <a:prstGeom prst="rect">
            <a:avLst/>
          </a:prstGeom>
          <a:noFill/>
        </p:spPr>
        <p:txBody>
          <a:bodyPr wrap="square" lIns="0" rIns="0" tIns="0" bIns="0" anchor="t">
            <a:spAutoFit/>
          </a:bodyPr>
          <a:lstStyle/>
          <a:p>
            <a:pPr algn="ctr">
              <a:lnSpc>
                <a:spcPct val="130000"/>
              </a:lnSpc>
            </a:pPr>
            <a:r>
              <a:rPr sz="740" b="0" i="0">
                <a:solidFill>
                  <a:srgbClr val="3C3C36"/>
                </a:solidFill>
                <a:latin typeface="Montserrat"/>
              </a:rPr>
              <a:t>nome completo</a:t>
            </a:r>
          </a:p>
          <a:p>
            <a:pPr algn="ctr">
              <a:lnSpc>
                <a:spcPct val="130000"/>
              </a:lnSpc>
            </a:pPr>
            <a:r>
              <a:rPr sz="740" b="0" i="0">
                <a:solidFill>
                  <a:srgbClr val="3C3C36"/>
                </a:solidFill>
                <a:latin typeface="Montserrat"/>
              </a:rPr>
              <a:t>assinatura/carimbo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6EC"/>
        </a:solidFill>
        <a:effectLst/>
      </p:bgPr>
    </p:bg>
    <p:spTree>
      <p:nvGrpSpPr>
        <p:cNvPr id="1" name=""/>
        <p:cNvGrpSpPr/>
        <p:nvPr/>
      </p:nvGrpSpPr>
      <p:grpSpPr/>
      <p:sp>
        <p:nvSpPr>
          <p:cNvPr id="37" name="Rounded Rectangle 36"/>
          <p:cNvSpPr/>
          <p:nvPr/>
        </p:nvSpPr>
        <p:spPr>
          <a:xfrm>
            <a:off x="381000" y="5472484"/>
            <a:ext cx="6798056" cy="3620450"/>
          </a:xfrm>
          <a:prstGeom prst="roundRect">
            <a:avLst>
              <a:gd name="adj" fmla="val 3157"/>
            </a:avLst>
          </a:prstGeom>
          <a:solidFill>
            <a:srgbClr val="FCFAF4"/>
          </a:solidFill>
          <a:ln w="11430">
            <a:solidFill>
              <a:srgbClr val="CDD1BF"/>
            </a:solidFill>
          </a:ln>
          <a:effectLst/>
        </p:spPr>
        <p:txBody>
          <a:bodyPr rtlCol="0" anchor="ctr"/>
          <a:lstStyle/>
          <a:p/>
        </p:txBody>
      </p:sp>
      <p:sp>
        <p:nvSpPr>
          <p:cNvPr id="38" name="Round Same Side Corner Rectangle 37"/>
          <p:cNvSpPr/>
          <p:nvPr/>
        </p:nvSpPr>
        <p:spPr>
          <a:xfrm>
            <a:off x="386715" y="5478199"/>
            <a:ext cx="6786626" cy="304800"/>
          </a:xfrm>
          <a:prstGeom prst="round2SameRect">
            <a:avLst>
              <a:gd name="adj1" fmla="val 35416"/>
              <a:gd name="adj2" fmla="val 0"/>
            </a:avLst>
          </a:prstGeom>
          <a:solidFill>
            <a:srgbClr val="DFE2CB"/>
          </a:solidFill>
          <a:ln>
            <a:noFill/>
          </a:ln>
          <a:effectLst/>
        </p:spPr>
        <p:txBody>
          <a:bodyPr rtlCol="0" anchor="ctr"/>
          <a:lstStyle/>
          <a:p/>
        </p:txBody>
      </p:sp>
      <p:sp>
        <p:nvSpPr>
          <p:cNvPr id="20" name="Rounded Rectangle 19"/>
          <p:cNvSpPr/>
          <p:nvPr/>
        </p:nvSpPr>
        <p:spPr>
          <a:xfrm>
            <a:off x="381000" y="3442623"/>
            <a:ext cx="6798056" cy="1822632"/>
          </a:xfrm>
          <a:prstGeom prst="roundRect">
            <a:avLst>
              <a:gd name="adj" fmla="val 6271"/>
            </a:avLst>
          </a:prstGeom>
          <a:solidFill>
            <a:srgbClr val="FCFAF4"/>
          </a:solidFill>
          <a:ln w="11430">
            <a:solidFill>
              <a:srgbClr val="CDD1BF"/>
            </a:solidFill>
          </a:ln>
          <a:effectLst/>
        </p:spPr>
        <p:txBody>
          <a:bodyPr rtlCol="0" anchor="ctr"/>
          <a:lstStyle/>
          <a:p/>
        </p:txBody>
      </p:sp>
      <p:sp>
        <p:nvSpPr>
          <p:cNvPr id="16" name="Rounded Rectangle 15"/>
          <p:cNvSpPr/>
          <p:nvPr/>
        </p:nvSpPr>
        <p:spPr>
          <a:xfrm>
            <a:off x="381000" y="1853692"/>
            <a:ext cx="6798056" cy="1381703"/>
          </a:xfrm>
          <a:prstGeom prst="roundRect">
            <a:avLst>
              <a:gd name="adj" fmla="val 8272"/>
            </a:avLst>
          </a:prstGeom>
          <a:solidFill>
            <a:srgbClr val="FCFAF4"/>
          </a:solidFill>
          <a:ln w="11430">
            <a:solidFill>
              <a:srgbClr val="CDD1BF"/>
            </a:solidFill>
          </a:ln>
          <a:effectLst/>
        </p:spPr>
        <p:txBody>
          <a:bodyPr rtlCol="0" anchor="ctr"/>
          <a:lstStyle/>
          <a:p/>
        </p:txBody>
      </p:sp>
      <p:sp>
        <p:nvSpPr>
          <p:cNvPr id="17" name="Round Same Side Corner Rectangle 16"/>
          <p:cNvSpPr/>
          <p:nvPr/>
        </p:nvSpPr>
        <p:spPr>
          <a:xfrm>
            <a:off x="386715" y="1859407"/>
            <a:ext cx="6786626" cy="139700"/>
          </a:xfrm>
          <a:prstGeom prst="round2SameRect">
            <a:avLst>
              <a:gd name="adj1" fmla="val 50000"/>
              <a:gd name="adj2" fmla="val 0"/>
            </a:avLst>
          </a:prstGeom>
          <a:solidFill>
            <a:srgbClr val="DFE2CB"/>
          </a:solidFill>
          <a:ln>
            <a:noFill/>
          </a:ln>
          <a:effectLst/>
        </p:spPr>
        <p:txBody>
          <a:bodyPr rtlCol="0" anchor="ctr"/>
          <a:lstStyle/>
          <a:p/>
        </p:txBody>
      </p:sp>
      <p:pic>
        <p:nvPicPr>
          <p:cNvPr id="2" name="Picture 1" descr="folha-esq.png"/>
          <p:cNvPicPr>
            <a:picLocks noChangeAspect="1"/>
          </p:cNvPicPr>
          <p:nvPr/>
        </p:nvPicPr>
        <p:blipFill>
          <a:blip r:embed="rId2"/>
          <a:stretch>
            <a:fillRect/>
          </a:stretch>
        </p:blipFill>
        <p:spPr>
          <a:xfrm>
            <a:off x="0" y="0"/>
            <a:ext cx="1168400" cy="1410399"/>
          </a:xfrm>
          <a:prstGeom prst="rect">
            <a:avLst/>
          </a:prstGeom>
        </p:spPr>
      </p:pic>
      <p:pic>
        <p:nvPicPr>
          <p:cNvPr id="3" name="Picture 2" descr="folha-dir.png"/>
          <p:cNvPicPr>
            <a:picLocks noChangeAspect="1"/>
          </p:cNvPicPr>
          <p:nvPr/>
        </p:nvPicPr>
        <p:blipFill>
          <a:blip r:embed="rId3"/>
          <a:stretch>
            <a:fillRect/>
          </a:stretch>
        </p:blipFill>
        <p:spPr>
          <a:xfrm>
            <a:off x="6544056" y="0"/>
            <a:ext cx="1016000" cy="1570892"/>
          </a:xfrm>
          <a:prstGeom prst="rect">
            <a:avLst/>
          </a:prstGeom>
        </p:spPr>
      </p:pic>
      <p:pic>
        <p:nvPicPr>
          <p:cNvPr id="4" name="Picture 3" descr="folha-esq-baixo.png"/>
          <p:cNvPicPr>
            <a:picLocks noChangeAspect="1"/>
          </p:cNvPicPr>
          <p:nvPr/>
        </p:nvPicPr>
        <p:blipFill>
          <a:blip r:embed="rId4"/>
          <a:stretch>
            <a:fillRect/>
          </a:stretch>
        </p:blipFill>
        <p:spPr>
          <a:xfrm>
            <a:off x="0" y="9618873"/>
            <a:ext cx="889000" cy="1073129"/>
          </a:xfrm>
          <a:prstGeom prst="rect">
            <a:avLst/>
          </a:prstGeom>
        </p:spPr>
      </p:pic>
      <p:pic>
        <p:nvPicPr>
          <p:cNvPr id="5" name="Picture 4" descr="folha-dir-baixo.png"/>
          <p:cNvPicPr>
            <a:picLocks noChangeAspect="1"/>
          </p:cNvPicPr>
          <p:nvPr/>
        </p:nvPicPr>
        <p:blipFill>
          <a:blip r:embed="rId5"/>
          <a:stretch>
            <a:fillRect/>
          </a:stretch>
        </p:blipFill>
        <p:spPr>
          <a:xfrm>
            <a:off x="6823456" y="9553106"/>
            <a:ext cx="736600" cy="1138897"/>
          </a:xfrm>
          <a:prstGeom prst="rect">
            <a:avLst/>
          </a:prstGeom>
        </p:spPr>
      </p:pic>
      <p:pic>
        <p:nvPicPr>
          <p:cNvPr id="6" name="Picture 5" descr="lotus.png"/>
          <p:cNvPicPr>
            <a:picLocks noChangeAspect="1"/>
          </p:cNvPicPr>
          <p:nvPr/>
        </p:nvPicPr>
        <p:blipFill>
          <a:blip r:embed="rId6"/>
          <a:stretch>
            <a:fillRect/>
          </a:stretch>
        </p:blipFill>
        <p:spPr>
          <a:xfrm>
            <a:off x="2865628" y="152400"/>
            <a:ext cx="1828800" cy="459982"/>
          </a:xfrm>
          <a:prstGeom prst="rect">
            <a:avLst/>
          </a:prstGeom>
        </p:spPr>
      </p:pic>
      <p:sp>
        <p:nvSpPr>
          <p:cNvPr id="7" name="TextBox 6"/>
          <p:cNvSpPr txBox="1"/>
          <p:nvPr/>
        </p:nvSpPr>
        <p:spPr>
          <a:xfrm>
            <a:off x="889000" y="635000"/>
            <a:ext cx="5782056" cy="930910"/>
          </a:xfrm>
          <a:prstGeom prst="rect">
            <a:avLst/>
          </a:prstGeom>
          <a:noFill/>
        </p:spPr>
        <p:txBody>
          <a:bodyPr wrap="square" lIns="0" rIns="0" tIns="0" bIns="0" anchor="t">
            <a:spAutoFit/>
          </a:bodyPr>
          <a:lstStyle/>
          <a:p>
            <a:pPr algn="ctr">
              <a:lnSpc>
                <a:spcPct val="90000"/>
              </a:lnSpc>
            </a:pPr>
            <a:r>
              <a:rPr sz="3300" b="1" i="0">
                <a:solidFill>
                  <a:srgbClr val="1F3326"/>
                </a:solidFill>
                <a:latin typeface="Cormorant Garamond"/>
              </a:rPr>
              <a:t>Recibo de Atendimento</a:t>
            </a:r>
          </a:p>
          <a:p>
            <a:pPr algn="ctr">
              <a:lnSpc>
                <a:spcPct val="90000"/>
              </a:lnSpc>
            </a:pPr>
            <a:r>
              <a:rPr sz="3300" b="1" i="0">
                <a:solidFill>
                  <a:srgbClr val="1F3326"/>
                </a:solidFill>
                <a:latin typeface="Cormorant Garamond"/>
              </a:rPr>
              <a:t>em Massoterapia</a:t>
            </a:r>
          </a:p>
        </p:txBody>
      </p:sp>
      <p:sp>
        <p:nvSpPr>
          <p:cNvPr id="8" name="TextBox 7"/>
          <p:cNvSpPr txBox="1"/>
          <p:nvPr/>
        </p:nvSpPr>
        <p:spPr>
          <a:xfrm>
            <a:off x="762000" y="1574292"/>
            <a:ext cx="6036056" cy="139700"/>
          </a:xfrm>
          <a:prstGeom prst="rect">
            <a:avLst/>
          </a:prstGeom>
          <a:noFill/>
        </p:spPr>
        <p:txBody>
          <a:bodyPr wrap="square" lIns="0" rIns="0" tIns="0" bIns="0" anchor="t">
            <a:spAutoFit/>
          </a:bodyPr>
          <a:lstStyle/>
          <a:p>
            <a:pPr algn="ctr"/>
            <a:r>
              <a:rPr sz="700" b="0" i="0" spc="210">
                <a:solidFill>
                  <a:srgbClr val="3C3C36"/>
                </a:solidFill>
                <a:latin typeface="Montserrat"/>
              </a:rPr>
              <a:t>COMPROVANTE DE PAGAMENTO</a:t>
            </a:r>
          </a:p>
        </p:txBody>
      </p:sp>
      <p:sp>
        <p:nvSpPr>
          <p:cNvPr id="9" name="Rounded Rectangle 8"/>
          <p:cNvSpPr/>
          <p:nvPr/>
        </p:nvSpPr>
        <p:spPr>
          <a:xfrm>
            <a:off x="558800" y="2200620"/>
            <a:ext cx="3030728" cy="254000"/>
          </a:xfrm>
          <a:prstGeom prst="roundRect">
            <a:avLst>
              <a:gd name="adj" fmla="val 30000"/>
            </a:avLst>
          </a:prstGeom>
          <a:solidFill>
            <a:srgbClr val="F1ECE0"/>
          </a:solidFill>
          <a:ln>
            <a:noFill/>
          </a:ln>
          <a:effectLst/>
        </p:spPr>
        <p:txBody>
          <a:bodyPr rtlCol="0" anchor="ctr"/>
          <a:lstStyle/>
          <a:p/>
        </p:txBody>
      </p:sp>
      <p:sp>
        <p:nvSpPr>
          <p:cNvPr id="10" name="TextBox 9"/>
          <p:cNvSpPr txBox="1"/>
          <p:nvPr/>
        </p:nvSpPr>
        <p:spPr>
          <a:xfrm>
            <a:off x="673100" y="2200620"/>
            <a:ext cx="2802128" cy="254000"/>
          </a:xfrm>
          <a:prstGeom prst="rect">
            <a:avLst/>
          </a:prstGeom>
          <a:noFill/>
        </p:spPr>
        <p:txBody>
          <a:bodyPr wrap="square" lIns="0" rIns="0" tIns="0" bIns="0" anchor="ctr">
            <a:spAutoFit/>
          </a:bodyPr>
          <a:lstStyle/>
          <a:p>
            <a:pPr algn="l"/>
            <a:r>
              <a:rPr sz="1250" b="1" i="0">
                <a:solidFill>
                  <a:srgbClr val="1F3326"/>
                </a:solidFill>
                <a:latin typeface="Cormorant Garamond"/>
              </a:rPr>
              <a:t>Recibo nº</a:t>
            </a:r>
          </a:p>
        </p:txBody>
      </p:sp>
      <p:sp>
        <p:nvSpPr>
          <p:cNvPr id="11" name="Rounded Rectangle 10"/>
          <p:cNvSpPr/>
          <p:nvPr/>
        </p:nvSpPr>
        <p:spPr>
          <a:xfrm>
            <a:off x="3970528" y="2200620"/>
            <a:ext cx="3030728" cy="254000"/>
          </a:xfrm>
          <a:prstGeom prst="roundRect">
            <a:avLst>
              <a:gd name="adj" fmla="val 30000"/>
            </a:avLst>
          </a:prstGeom>
          <a:solidFill>
            <a:srgbClr val="F1ECE0"/>
          </a:solidFill>
          <a:ln>
            <a:noFill/>
          </a:ln>
          <a:effectLst/>
        </p:spPr>
        <p:txBody>
          <a:bodyPr rtlCol="0" anchor="ctr"/>
          <a:lstStyle/>
          <a:p/>
        </p:txBody>
      </p:sp>
      <p:sp>
        <p:nvSpPr>
          <p:cNvPr id="12" name="TextBox 11"/>
          <p:cNvSpPr txBox="1"/>
          <p:nvPr/>
        </p:nvSpPr>
        <p:spPr>
          <a:xfrm>
            <a:off x="4084828" y="2200620"/>
            <a:ext cx="2802128" cy="254000"/>
          </a:xfrm>
          <a:prstGeom prst="rect">
            <a:avLst/>
          </a:prstGeom>
          <a:noFill/>
        </p:spPr>
        <p:txBody>
          <a:bodyPr wrap="square" lIns="0" rIns="0" tIns="0" bIns="0" anchor="ctr">
            <a:spAutoFit/>
          </a:bodyPr>
          <a:lstStyle/>
          <a:p>
            <a:pPr algn="l"/>
            <a:r>
              <a:rPr sz="1250" b="1" i="0">
                <a:solidFill>
                  <a:srgbClr val="1F3326"/>
                </a:solidFill>
                <a:latin typeface="Cormorant Garamond"/>
              </a:rPr>
              <a:t>Valor – R$</a:t>
            </a:r>
          </a:p>
        </p:txBody>
      </p:sp>
      <p:cxnSp>
        <p:nvCxnSpPr>
          <p:cNvPr id="13" name="Connector 12"/>
          <p:cNvCxnSpPr/>
          <p:nvPr/>
        </p:nvCxnSpPr>
        <p:spPr>
          <a:xfrm>
            <a:off x="609600" y="2951967"/>
            <a:ext cx="2929128" cy="0"/>
          </a:xfrm>
          <a:prstGeom prst="line">
            <a:avLst/>
          </a:prstGeom>
          <a:ln w="7620">
            <a:solidFill>
              <a:srgbClr val="4A4A43"/>
            </a:solidFill>
          </a:ln>
        </p:spPr>
      </p:cxnSp>
      <p:cxnSp>
        <p:nvCxnSpPr>
          <p:cNvPr id="14" name="Connector 13"/>
          <p:cNvCxnSpPr/>
          <p:nvPr/>
        </p:nvCxnSpPr>
        <p:spPr>
          <a:xfrm>
            <a:off x="4021328" y="2951967"/>
            <a:ext cx="2929128" cy="0"/>
          </a:xfrm>
          <a:prstGeom prst="line">
            <a:avLst/>
          </a:prstGeom>
          <a:ln w="7620">
            <a:solidFill>
              <a:srgbClr val="4A4A43"/>
            </a:solidFill>
          </a:ln>
        </p:spPr>
      </p:cxnSp>
      <p:cxnSp>
        <p:nvCxnSpPr>
          <p:cNvPr id="15" name="Connector 14"/>
          <p:cNvCxnSpPr/>
          <p:nvPr/>
        </p:nvCxnSpPr>
        <p:spPr>
          <a:xfrm>
            <a:off x="3780028" y="2200620"/>
            <a:ext cx="0" cy="802147"/>
          </a:xfrm>
          <a:prstGeom prst="line">
            <a:avLst/>
          </a:prstGeom>
          <a:ln w="10160">
            <a:solidFill>
              <a:srgbClr val="CDD1BF"/>
            </a:solidFill>
          </a:ln>
        </p:spPr>
      </p:cxnSp>
      <p:pic>
        <p:nvPicPr>
          <p:cNvPr id="18" name="Picture 17" descr="ramo.png"/>
          <p:cNvPicPr>
            <a:picLocks noChangeAspect="1"/>
          </p:cNvPicPr>
          <p:nvPr/>
        </p:nvPicPr>
        <p:blipFill>
          <a:blip r:embed="rId7"/>
          <a:stretch>
            <a:fillRect/>
          </a:stretch>
        </p:blipFill>
        <p:spPr>
          <a:xfrm>
            <a:off x="6772656" y="1866392"/>
            <a:ext cx="279400" cy="133048"/>
          </a:xfrm>
          <a:prstGeom prst="rect">
            <a:avLst/>
          </a:prstGeom>
        </p:spPr>
      </p:pic>
      <p:sp>
        <p:nvSpPr>
          <p:cNvPr id="19" name="TextBox 18"/>
          <p:cNvSpPr txBox="1"/>
          <p:nvPr/>
        </p:nvSpPr>
        <p:spPr>
          <a:xfrm>
            <a:off x="558800" y="3675252"/>
            <a:ext cx="6442456" cy="1408176"/>
          </a:xfrm>
          <a:prstGeom prst="rect">
            <a:avLst/>
          </a:prstGeom>
          <a:noFill/>
        </p:spPr>
        <p:txBody>
          <a:bodyPr wrap="square" lIns="0" rIns="0" tIns="0" bIns="0" anchor="t">
            <a:spAutoFit/>
          </a:bodyPr>
          <a:lstStyle/>
          <a:p>
            <a:pPr algn="l">
              <a:lnSpc>
                <a:spcPct val="150000"/>
              </a:lnSpc>
            </a:pPr>
            <a:r>
              <a:rPr sz="1680" b="0" i="0">
                <a:solidFill>
                  <a:srgbClr val="1F3326"/>
                </a:solidFill>
                <a:latin typeface="Cormorant Garamond"/>
              </a:rPr>
              <a:t>Recebi de ______________________________________________,</a:t>
            </a:r>
          </a:p>
          <a:p>
            <a:pPr algn="l">
              <a:lnSpc>
                <a:spcPct val="150000"/>
              </a:lnSpc>
            </a:pPr>
            <a:r>
              <a:rPr sz="1680" b="0" i="0">
                <a:solidFill>
                  <a:srgbClr val="1F3326"/>
                </a:solidFill>
                <a:latin typeface="Cormorant Garamond"/>
              </a:rPr>
              <a:t>CPF nº ___________________________, a importância de</a:t>
            </a:r>
          </a:p>
          <a:p>
            <a:pPr algn="l">
              <a:lnSpc>
                <a:spcPct val="150000"/>
              </a:lnSpc>
            </a:pPr>
            <a:r>
              <a:rPr sz="1680" b="0" i="0">
                <a:solidFill>
                  <a:srgbClr val="1F3326"/>
                </a:solidFill>
                <a:latin typeface="Cormorant Garamond"/>
              </a:rPr>
              <a:t>R$ ____________________________, referente ao(s) atendimento(s)</a:t>
            </a:r>
          </a:p>
          <a:p>
            <a:pPr algn="l">
              <a:lnSpc>
                <a:spcPct val="150000"/>
              </a:lnSpc>
            </a:pPr>
            <a:r>
              <a:rPr sz="1680" b="0" i="0">
                <a:solidFill>
                  <a:srgbClr val="1F3326"/>
                </a:solidFill>
                <a:latin typeface="Cormorant Garamond"/>
              </a:rPr>
              <a:t>de massoterapia realizado(s) no período de ____________________.</a:t>
            </a:r>
          </a:p>
        </p:txBody>
      </p:sp>
      <p:sp>
        <p:nvSpPr>
          <p:cNvPr id="21" name="TextBox 20"/>
          <p:cNvSpPr txBox="1"/>
          <p:nvPr/>
        </p:nvSpPr>
        <p:spPr>
          <a:xfrm>
            <a:off x="558800" y="5984512"/>
            <a:ext cx="6442456" cy="162153"/>
          </a:xfrm>
          <a:prstGeom prst="rect">
            <a:avLst/>
          </a:prstGeom>
          <a:noFill/>
        </p:spPr>
        <p:txBody>
          <a:bodyPr wrap="square" lIns="0" rIns="0" tIns="0" bIns="0" anchor="t">
            <a:spAutoFit/>
          </a:bodyPr>
          <a:lstStyle/>
          <a:p>
            <a:pPr algn="l"/>
            <a:r>
              <a:rPr sz="911" b="0" i="0">
                <a:solidFill>
                  <a:srgbClr val="4A4A43"/>
                </a:solidFill>
                <a:latin typeface="Montserrat"/>
              </a:rPr>
              <a:t>Data do pagamento:</a:t>
            </a:r>
          </a:p>
        </p:txBody>
      </p:sp>
      <p:cxnSp>
        <p:nvCxnSpPr>
          <p:cNvPr id="22" name="Connector 21"/>
          <p:cNvCxnSpPr/>
          <p:nvPr/>
        </p:nvCxnSpPr>
        <p:spPr>
          <a:xfrm>
            <a:off x="1818508" y="6117710"/>
            <a:ext cx="5182748" cy="0"/>
          </a:xfrm>
          <a:prstGeom prst="line">
            <a:avLst/>
          </a:prstGeom>
          <a:ln w="7620">
            <a:solidFill>
              <a:srgbClr val="B5B5AA"/>
            </a:solidFill>
          </a:ln>
        </p:spPr>
      </p:cxnSp>
      <p:sp>
        <p:nvSpPr>
          <p:cNvPr id="23" name="TextBox 22"/>
          <p:cNvSpPr txBox="1"/>
          <p:nvPr/>
        </p:nvSpPr>
        <p:spPr>
          <a:xfrm>
            <a:off x="558800" y="6347161"/>
            <a:ext cx="6442456" cy="162153"/>
          </a:xfrm>
          <a:prstGeom prst="rect">
            <a:avLst/>
          </a:prstGeom>
          <a:noFill/>
        </p:spPr>
        <p:txBody>
          <a:bodyPr wrap="square" lIns="0" rIns="0" tIns="0" bIns="0" anchor="t">
            <a:spAutoFit/>
          </a:bodyPr>
          <a:lstStyle/>
          <a:p>
            <a:pPr algn="l"/>
            <a:r>
              <a:rPr sz="911" b="0" i="0">
                <a:solidFill>
                  <a:srgbClr val="4A4A43"/>
                </a:solidFill>
                <a:latin typeface="Montserrat"/>
              </a:rPr>
              <a:t>Forma de pagamento:</a:t>
            </a:r>
          </a:p>
        </p:txBody>
      </p:sp>
      <p:cxnSp>
        <p:nvCxnSpPr>
          <p:cNvPr id="24" name="Connector 23"/>
          <p:cNvCxnSpPr/>
          <p:nvPr/>
        </p:nvCxnSpPr>
        <p:spPr>
          <a:xfrm>
            <a:off x="1919402" y="6480359"/>
            <a:ext cx="5081854" cy="0"/>
          </a:xfrm>
          <a:prstGeom prst="line">
            <a:avLst/>
          </a:prstGeom>
          <a:ln w="7620">
            <a:solidFill>
              <a:srgbClr val="B5B5AA"/>
            </a:solidFill>
          </a:ln>
        </p:spPr>
      </p:cxnSp>
      <p:sp>
        <p:nvSpPr>
          <p:cNvPr id="25" name="TextBox 24"/>
          <p:cNvSpPr txBox="1"/>
          <p:nvPr/>
        </p:nvSpPr>
        <p:spPr>
          <a:xfrm>
            <a:off x="558800" y="6709811"/>
            <a:ext cx="6442456" cy="162153"/>
          </a:xfrm>
          <a:prstGeom prst="rect">
            <a:avLst/>
          </a:prstGeom>
          <a:noFill/>
        </p:spPr>
        <p:txBody>
          <a:bodyPr wrap="square" lIns="0" rIns="0" tIns="0" bIns="0" anchor="t">
            <a:spAutoFit/>
          </a:bodyPr>
          <a:lstStyle/>
          <a:p>
            <a:pPr algn="l"/>
            <a:r>
              <a:rPr sz="911" b="0" i="0">
                <a:solidFill>
                  <a:srgbClr val="4A4A43"/>
                </a:solidFill>
                <a:latin typeface="Montserrat"/>
              </a:rPr>
              <a:t>Quantidade de sessões:</a:t>
            </a:r>
          </a:p>
        </p:txBody>
      </p:sp>
      <p:cxnSp>
        <p:nvCxnSpPr>
          <p:cNvPr id="26" name="Connector 25"/>
          <p:cNvCxnSpPr/>
          <p:nvPr/>
        </p:nvCxnSpPr>
        <p:spPr>
          <a:xfrm>
            <a:off x="1989855" y="6843008"/>
            <a:ext cx="5011401" cy="0"/>
          </a:xfrm>
          <a:prstGeom prst="line">
            <a:avLst/>
          </a:prstGeom>
          <a:ln w="7620">
            <a:solidFill>
              <a:srgbClr val="B5B5AA"/>
            </a:solidFill>
          </a:ln>
        </p:spPr>
      </p:cxnSp>
      <p:sp>
        <p:nvSpPr>
          <p:cNvPr id="27" name="TextBox 26"/>
          <p:cNvSpPr txBox="1"/>
          <p:nvPr/>
        </p:nvSpPr>
        <p:spPr>
          <a:xfrm>
            <a:off x="558800" y="7072460"/>
            <a:ext cx="6442456" cy="162153"/>
          </a:xfrm>
          <a:prstGeom prst="rect">
            <a:avLst/>
          </a:prstGeom>
          <a:noFill/>
        </p:spPr>
        <p:txBody>
          <a:bodyPr wrap="square" lIns="0" rIns="0" tIns="0" bIns="0" anchor="t">
            <a:spAutoFit/>
          </a:bodyPr>
          <a:lstStyle/>
          <a:p>
            <a:pPr algn="l"/>
            <a:r>
              <a:rPr sz="911" b="0" i="0">
                <a:solidFill>
                  <a:srgbClr val="4A4A43"/>
                </a:solidFill>
                <a:latin typeface="Montserrat"/>
              </a:rPr>
              <a:t>Competência / período:</a:t>
            </a:r>
          </a:p>
        </p:txBody>
      </p:sp>
      <p:cxnSp>
        <p:nvCxnSpPr>
          <p:cNvPr id="28" name="Connector 27"/>
          <p:cNvCxnSpPr/>
          <p:nvPr/>
        </p:nvCxnSpPr>
        <p:spPr>
          <a:xfrm>
            <a:off x="1975612" y="7205657"/>
            <a:ext cx="5025644" cy="0"/>
          </a:xfrm>
          <a:prstGeom prst="line">
            <a:avLst/>
          </a:prstGeom>
          <a:ln w="7620">
            <a:solidFill>
              <a:srgbClr val="B5B5AA"/>
            </a:solidFill>
          </a:ln>
        </p:spPr>
      </p:cxnSp>
      <p:sp>
        <p:nvSpPr>
          <p:cNvPr id="29" name="TextBox 28"/>
          <p:cNvSpPr txBox="1"/>
          <p:nvPr/>
        </p:nvSpPr>
        <p:spPr>
          <a:xfrm>
            <a:off x="558800" y="7435109"/>
            <a:ext cx="6442456" cy="162153"/>
          </a:xfrm>
          <a:prstGeom prst="rect">
            <a:avLst/>
          </a:prstGeom>
          <a:noFill/>
        </p:spPr>
        <p:txBody>
          <a:bodyPr wrap="square" lIns="0" rIns="0" tIns="0" bIns="0" anchor="t">
            <a:spAutoFit/>
          </a:bodyPr>
          <a:lstStyle/>
          <a:p>
            <a:pPr algn="l"/>
            <a:r>
              <a:rPr sz="911" b="0" i="0">
                <a:solidFill>
                  <a:srgbClr val="4A4A43"/>
                </a:solidFill>
                <a:latin typeface="Montserrat"/>
              </a:rPr>
              <a:t>Nome do(a) massoterapeuta:</a:t>
            </a:r>
          </a:p>
        </p:txBody>
      </p:sp>
      <p:cxnSp>
        <p:nvCxnSpPr>
          <p:cNvPr id="30" name="Connector 29"/>
          <p:cNvCxnSpPr/>
          <p:nvPr/>
        </p:nvCxnSpPr>
        <p:spPr>
          <a:xfrm>
            <a:off x="2303955" y="7568307"/>
            <a:ext cx="4697301" cy="0"/>
          </a:xfrm>
          <a:prstGeom prst="line">
            <a:avLst/>
          </a:prstGeom>
          <a:ln w="7620">
            <a:solidFill>
              <a:srgbClr val="B5B5AA"/>
            </a:solidFill>
          </a:ln>
        </p:spPr>
      </p:cxnSp>
      <p:sp>
        <p:nvSpPr>
          <p:cNvPr id="31" name="TextBox 30"/>
          <p:cNvSpPr txBox="1"/>
          <p:nvPr/>
        </p:nvSpPr>
        <p:spPr>
          <a:xfrm>
            <a:off x="558800" y="7797758"/>
            <a:ext cx="6442456" cy="162153"/>
          </a:xfrm>
          <a:prstGeom prst="rect">
            <a:avLst/>
          </a:prstGeom>
          <a:noFill/>
        </p:spPr>
        <p:txBody>
          <a:bodyPr wrap="square" lIns="0" rIns="0" tIns="0" bIns="0" anchor="t">
            <a:spAutoFit/>
          </a:bodyPr>
          <a:lstStyle/>
          <a:p>
            <a:pPr algn="l"/>
            <a:r>
              <a:rPr sz="911" b="0" i="0">
                <a:solidFill>
                  <a:srgbClr val="4A4A43"/>
                </a:solidFill>
                <a:latin typeface="Montserrat"/>
              </a:rPr>
              <a:t>Registro profissional (se aplicável):</a:t>
            </a:r>
          </a:p>
        </p:txBody>
      </p:sp>
      <p:cxnSp>
        <p:nvCxnSpPr>
          <p:cNvPr id="32" name="Connector 31"/>
          <p:cNvCxnSpPr/>
          <p:nvPr/>
        </p:nvCxnSpPr>
        <p:spPr>
          <a:xfrm>
            <a:off x="2590909" y="7930956"/>
            <a:ext cx="4410347" cy="0"/>
          </a:xfrm>
          <a:prstGeom prst="line">
            <a:avLst/>
          </a:prstGeom>
          <a:ln w="7620">
            <a:solidFill>
              <a:srgbClr val="B5B5AA"/>
            </a:solidFill>
          </a:ln>
        </p:spPr>
      </p:cxnSp>
      <p:sp>
        <p:nvSpPr>
          <p:cNvPr id="33" name="TextBox 32"/>
          <p:cNvSpPr txBox="1"/>
          <p:nvPr/>
        </p:nvSpPr>
        <p:spPr>
          <a:xfrm>
            <a:off x="558800" y="8160408"/>
            <a:ext cx="6442456" cy="162153"/>
          </a:xfrm>
          <a:prstGeom prst="rect">
            <a:avLst/>
          </a:prstGeom>
          <a:noFill/>
        </p:spPr>
        <p:txBody>
          <a:bodyPr wrap="square" lIns="0" rIns="0" tIns="0" bIns="0" anchor="t">
            <a:spAutoFit/>
          </a:bodyPr>
          <a:lstStyle/>
          <a:p>
            <a:pPr algn="l"/>
            <a:r>
              <a:rPr sz="911" b="0" i="0">
                <a:solidFill>
                  <a:srgbClr val="4A4A43"/>
                </a:solidFill>
                <a:latin typeface="Montserrat"/>
              </a:rPr>
              <a:t>CPF / CNPJ:</a:t>
            </a:r>
          </a:p>
        </p:txBody>
      </p:sp>
      <p:cxnSp>
        <p:nvCxnSpPr>
          <p:cNvPr id="34" name="Connector 33"/>
          <p:cNvCxnSpPr/>
          <p:nvPr/>
        </p:nvCxnSpPr>
        <p:spPr>
          <a:xfrm>
            <a:off x="1297318" y="8293605"/>
            <a:ext cx="5703938" cy="0"/>
          </a:xfrm>
          <a:prstGeom prst="line">
            <a:avLst/>
          </a:prstGeom>
          <a:ln w="7620">
            <a:solidFill>
              <a:srgbClr val="B5B5AA"/>
            </a:solidFill>
          </a:ln>
        </p:spPr>
      </p:cxnSp>
      <p:sp>
        <p:nvSpPr>
          <p:cNvPr id="35" name="TextBox 34"/>
          <p:cNvSpPr txBox="1"/>
          <p:nvPr/>
        </p:nvSpPr>
        <p:spPr>
          <a:xfrm>
            <a:off x="558800" y="8523057"/>
            <a:ext cx="6442456" cy="162153"/>
          </a:xfrm>
          <a:prstGeom prst="rect">
            <a:avLst/>
          </a:prstGeom>
          <a:noFill/>
        </p:spPr>
        <p:txBody>
          <a:bodyPr wrap="square" lIns="0" rIns="0" tIns="0" bIns="0" anchor="t">
            <a:spAutoFit/>
          </a:bodyPr>
          <a:lstStyle/>
          <a:p>
            <a:pPr algn="l"/>
            <a:r>
              <a:rPr sz="911" b="0" i="0">
                <a:solidFill>
                  <a:srgbClr val="4A4A43"/>
                </a:solidFill>
                <a:latin typeface="Montserrat"/>
              </a:rPr>
              <a:t>Contato profissional:</a:t>
            </a:r>
          </a:p>
        </p:txBody>
      </p:sp>
      <p:cxnSp>
        <p:nvCxnSpPr>
          <p:cNvPr id="36" name="Connector 35"/>
          <p:cNvCxnSpPr/>
          <p:nvPr/>
        </p:nvCxnSpPr>
        <p:spPr>
          <a:xfrm>
            <a:off x="1799307" y="8656254"/>
            <a:ext cx="5201949" cy="0"/>
          </a:xfrm>
          <a:prstGeom prst="line">
            <a:avLst/>
          </a:prstGeom>
          <a:ln w="7620">
            <a:solidFill>
              <a:srgbClr val="B5B5AA"/>
            </a:solidFill>
          </a:ln>
        </p:spPr>
      </p:cxnSp>
      <p:sp>
        <p:nvSpPr>
          <p:cNvPr id="39" name="TextBox 38"/>
          <p:cNvSpPr txBox="1"/>
          <p:nvPr/>
        </p:nvSpPr>
        <p:spPr>
          <a:xfrm>
            <a:off x="558800" y="5472484"/>
            <a:ext cx="5909056" cy="304800"/>
          </a:xfrm>
          <a:prstGeom prst="rect">
            <a:avLst/>
          </a:prstGeom>
          <a:noFill/>
        </p:spPr>
        <p:txBody>
          <a:bodyPr wrap="square" lIns="0" rIns="0" tIns="0" bIns="0" anchor="ctr">
            <a:spAutoFit/>
          </a:bodyPr>
          <a:lstStyle/>
          <a:p>
            <a:pPr algn="l"/>
            <a:r>
              <a:rPr sz="1500" b="1" i="0">
                <a:solidFill>
                  <a:srgbClr val="1F3326"/>
                </a:solidFill>
                <a:latin typeface="Cormorant Garamond"/>
              </a:rPr>
              <a:t>Dados do pagamento</a:t>
            </a:r>
          </a:p>
        </p:txBody>
      </p:sp>
      <p:pic>
        <p:nvPicPr>
          <p:cNvPr id="40" name="Picture 39" descr="ramo.png"/>
          <p:cNvPicPr>
            <a:picLocks noChangeAspect="1"/>
          </p:cNvPicPr>
          <p:nvPr/>
        </p:nvPicPr>
        <p:blipFill>
          <a:blip r:embed="rId7"/>
          <a:stretch>
            <a:fillRect/>
          </a:stretch>
        </p:blipFill>
        <p:spPr>
          <a:xfrm>
            <a:off x="6671056" y="5534170"/>
            <a:ext cx="381000" cy="181429"/>
          </a:xfrm>
          <a:prstGeom prst="rect">
            <a:avLst/>
          </a:prstGeom>
        </p:spPr>
      </p:pic>
      <p:cxnSp>
        <p:nvCxnSpPr>
          <p:cNvPr id="41" name="Connector 40"/>
          <p:cNvCxnSpPr/>
          <p:nvPr/>
        </p:nvCxnSpPr>
        <p:spPr>
          <a:xfrm>
            <a:off x="2129028" y="9892419"/>
            <a:ext cx="3302000" cy="0"/>
          </a:xfrm>
          <a:prstGeom prst="line">
            <a:avLst/>
          </a:prstGeom>
          <a:ln w="7620">
            <a:solidFill>
              <a:srgbClr val="4A4A43"/>
            </a:solidFill>
          </a:ln>
        </p:spPr>
      </p:cxnSp>
      <p:sp>
        <p:nvSpPr>
          <p:cNvPr id="42" name="TextBox 41"/>
          <p:cNvSpPr txBox="1"/>
          <p:nvPr/>
        </p:nvSpPr>
        <p:spPr>
          <a:xfrm>
            <a:off x="1875027" y="9955919"/>
            <a:ext cx="3810000" cy="139700"/>
          </a:xfrm>
          <a:prstGeom prst="rect">
            <a:avLst/>
          </a:prstGeom>
          <a:noFill/>
        </p:spPr>
        <p:txBody>
          <a:bodyPr wrap="square" lIns="0" rIns="0" tIns="0" bIns="0" anchor="t">
            <a:spAutoFit/>
          </a:bodyPr>
          <a:lstStyle/>
          <a:p>
            <a:pPr algn="ctr"/>
            <a:r>
              <a:rPr sz="800" b="0" i="0">
                <a:solidFill>
                  <a:srgbClr val="3C3C36"/>
                </a:solidFill>
                <a:latin typeface="Montserrat"/>
              </a:rPr>
              <a:t>Assinatura do(a) profissional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6EC"/>
        </a:solidFill>
        <a:effectLst/>
      </p:bgPr>
    </p:bg>
    <p:spTree>
      <p:nvGrpSpPr>
        <p:cNvPr id="1" name=""/>
        <p:cNvGrpSpPr/>
        <p:nvPr/>
      </p:nvGrpSpPr>
      <p:grpSpPr/>
      <p:sp>
        <p:nvSpPr>
          <p:cNvPr id="40" name="Rounded Rectangle 39"/>
          <p:cNvSpPr/>
          <p:nvPr/>
        </p:nvSpPr>
        <p:spPr>
          <a:xfrm>
            <a:off x="381000" y="8082579"/>
            <a:ext cx="6798056" cy="2019185"/>
          </a:xfrm>
          <a:prstGeom prst="roundRect">
            <a:avLst>
              <a:gd name="adj" fmla="val 5660"/>
            </a:avLst>
          </a:prstGeom>
          <a:solidFill>
            <a:srgbClr val="FCFAF4"/>
          </a:solidFill>
          <a:ln w="11430">
            <a:solidFill>
              <a:srgbClr val="CDD1BF"/>
            </a:solidFill>
          </a:ln>
          <a:effectLst/>
        </p:spPr>
        <p:txBody>
          <a:bodyPr rtlCol="0" anchor="ctr"/>
          <a:lstStyle/>
          <a:p/>
        </p:txBody>
      </p:sp>
      <p:sp>
        <p:nvSpPr>
          <p:cNvPr id="41" name="Round Same Side Corner Rectangle 40"/>
          <p:cNvSpPr/>
          <p:nvPr/>
        </p:nvSpPr>
        <p:spPr>
          <a:xfrm>
            <a:off x="386715" y="8088294"/>
            <a:ext cx="6786626" cy="304800"/>
          </a:xfrm>
          <a:prstGeom prst="round2SameRect">
            <a:avLst>
              <a:gd name="adj1" fmla="val 35416"/>
              <a:gd name="adj2" fmla="val 0"/>
            </a:avLst>
          </a:prstGeom>
          <a:solidFill>
            <a:srgbClr val="DFE2CB"/>
          </a:solidFill>
          <a:ln>
            <a:noFill/>
          </a:ln>
          <a:effectLst/>
        </p:spPr>
        <p:txBody>
          <a:bodyPr rtlCol="0" anchor="ctr"/>
          <a:lstStyle/>
          <a:p/>
        </p:txBody>
      </p:sp>
      <p:sp>
        <p:nvSpPr>
          <p:cNvPr id="34" name="Rounded Rectangle 33"/>
          <p:cNvSpPr/>
          <p:nvPr/>
        </p:nvSpPr>
        <p:spPr>
          <a:xfrm>
            <a:off x="381000" y="6813934"/>
            <a:ext cx="6798056" cy="1097206"/>
          </a:xfrm>
          <a:prstGeom prst="roundRect">
            <a:avLst>
              <a:gd name="adj" fmla="val 10417"/>
            </a:avLst>
          </a:prstGeom>
          <a:solidFill>
            <a:srgbClr val="FCFAF4"/>
          </a:solidFill>
          <a:ln w="11430">
            <a:solidFill>
              <a:srgbClr val="CDD1BF"/>
            </a:solidFill>
          </a:ln>
          <a:effectLst/>
        </p:spPr>
        <p:txBody>
          <a:bodyPr rtlCol="0" anchor="ctr"/>
          <a:lstStyle/>
          <a:p/>
        </p:txBody>
      </p:sp>
      <p:sp>
        <p:nvSpPr>
          <p:cNvPr id="18" name="Rounded Rectangle 17"/>
          <p:cNvSpPr/>
          <p:nvPr/>
        </p:nvSpPr>
        <p:spPr>
          <a:xfrm>
            <a:off x="381000" y="2346335"/>
            <a:ext cx="6798056" cy="4296160"/>
          </a:xfrm>
          <a:prstGeom prst="roundRect">
            <a:avLst>
              <a:gd name="adj" fmla="val 2660"/>
            </a:avLst>
          </a:prstGeom>
          <a:solidFill>
            <a:srgbClr val="FCFAF4"/>
          </a:solidFill>
          <a:ln w="11430">
            <a:solidFill>
              <a:srgbClr val="CDD1BF"/>
            </a:solidFill>
          </a:ln>
          <a:effectLst/>
        </p:spPr>
        <p:txBody>
          <a:bodyPr rtlCol="0" anchor="ctr"/>
          <a:lstStyle/>
          <a:p/>
        </p:txBody>
      </p:sp>
      <p:sp>
        <p:nvSpPr>
          <p:cNvPr id="19" name="Round Same Side Corner Rectangle 18"/>
          <p:cNvSpPr/>
          <p:nvPr/>
        </p:nvSpPr>
        <p:spPr>
          <a:xfrm>
            <a:off x="386715" y="2352050"/>
            <a:ext cx="6786626" cy="304800"/>
          </a:xfrm>
          <a:prstGeom prst="round2SameRect">
            <a:avLst>
              <a:gd name="adj1" fmla="val 35416"/>
              <a:gd name="adj2" fmla="val 0"/>
            </a:avLst>
          </a:prstGeom>
          <a:solidFill>
            <a:srgbClr val="DFE2CB"/>
          </a:solidFill>
          <a:ln>
            <a:noFill/>
          </a:ln>
          <a:effectLst/>
        </p:spPr>
        <p:txBody>
          <a:bodyPr rtlCol="0" anchor="ctr"/>
          <a:lstStyle/>
          <a:p/>
        </p:txBody>
      </p:sp>
      <p:sp>
        <p:nvSpPr>
          <p:cNvPr id="14" name="Rounded Rectangle 13"/>
          <p:cNvSpPr/>
          <p:nvPr/>
        </p:nvSpPr>
        <p:spPr>
          <a:xfrm>
            <a:off x="381000" y="1409446"/>
            <a:ext cx="6798056" cy="765450"/>
          </a:xfrm>
          <a:prstGeom prst="roundRect">
            <a:avLst>
              <a:gd name="adj" fmla="val 14932"/>
            </a:avLst>
          </a:prstGeom>
          <a:solidFill>
            <a:srgbClr val="FCFAF4"/>
          </a:solidFill>
          <a:ln w="11430">
            <a:solidFill>
              <a:srgbClr val="CDD1BF"/>
            </a:solidFill>
          </a:ln>
          <a:effectLst/>
        </p:spPr>
        <p:txBody>
          <a:bodyPr rtlCol="0" anchor="ctr"/>
          <a:lstStyle/>
          <a:p/>
        </p:txBody>
      </p:sp>
      <p:sp>
        <p:nvSpPr>
          <p:cNvPr id="15" name="Round Same Side Corner Rectangle 14"/>
          <p:cNvSpPr/>
          <p:nvPr/>
        </p:nvSpPr>
        <p:spPr>
          <a:xfrm>
            <a:off x="386715" y="1415161"/>
            <a:ext cx="6786626" cy="139700"/>
          </a:xfrm>
          <a:prstGeom prst="round2SameRect">
            <a:avLst>
              <a:gd name="adj1" fmla="val 50000"/>
              <a:gd name="adj2" fmla="val 0"/>
            </a:avLst>
          </a:prstGeom>
          <a:solidFill>
            <a:srgbClr val="DFE2CB"/>
          </a:solidFill>
          <a:ln>
            <a:noFill/>
          </a:ln>
          <a:effectLst/>
        </p:spPr>
        <p:txBody>
          <a:bodyPr rtlCol="0" anchor="ctr"/>
          <a:lstStyle/>
          <a:p/>
        </p:txBody>
      </p:sp>
      <p:pic>
        <p:nvPicPr>
          <p:cNvPr id="2" name="Picture 1" descr="folha-esq.png"/>
          <p:cNvPicPr>
            <a:picLocks noChangeAspect="1"/>
          </p:cNvPicPr>
          <p:nvPr/>
        </p:nvPicPr>
        <p:blipFill>
          <a:blip r:embed="rId2"/>
          <a:stretch>
            <a:fillRect/>
          </a:stretch>
        </p:blipFill>
        <p:spPr>
          <a:xfrm>
            <a:off x="0" y="0"/>
            <a:ext cx="1168400" cy="1410399"/>
          </a:xfrm>
          <a:prstGeom prst="rect">
            <a:avLst/>
          </a:prstGeom>
        </p:spPr>
      </p:pic>
      <p:pic>
        <p:nvPicPr>
          <p:cNvPr id="3" name="Picture 2" descr="folha-dir.png"/>
          <p:cNvPicPr>
            <a:picLocks noChangeAspect="1"/>
          </p:cNvPicPr>
          <p:nvPr/>
        </p:nvPicPr>
        <p:blipFill>
          <a:blip r:embed="rId3"/>
          <a:stretch>
            <a:fillRect/>
          </a:stretch>
        </p:blipFill>
        <p:spPr>
          <a:xfrm>
            <a:off x="6544056" y="0"/>
            <a:ext cx="1016000" cy="1570892"/>
          </a:xfrm>
          <a:prstGeom prst="rect">
            <a:avLst/>
          </a:prstGeom>
        </p:spPr>
      </p:pic>
      <p:pic>
        <p:nvPicPr>
          <p:cNvPr id="4" name="Picture 3" descr="folha-esq-baixo.png"/>
          <p:cNvPicPr>
            <a:picLocks noChangeAspect="1"/>
          </p:cNvPicPr>
          <p:nvPr/>
        </p:nvPicPr>
        <p:blipFill>
          <a:blip r:embed="rId4"/>
          <a:stretch>
            <a:fillRect/>
          </a:stretch>
        </p:blipFill>
        <p:spPr>
          <a:xfrm>
            <a:off x="0" y="9618873"/>
            <a:ext cx="889000" cy="1073129"/>
          </a:xfrm>
          <a:prstGeom prst="rect">
            <a:avLst/>
          </a:prstGeom>
        </p:spPr>
      </p:pic>
      <p:pic>
        <p:nvPicPr>
          <p:cNvPr id="5" name="Picture 4" descr="folha-dir-baixo.png"/>
          <p:cNvPicPr>
            <a:picLocks noChangeAspect="1"/>
          </p:cNvPicPr>
          <p:nvPr/>
        </p:nvPicPr>
        <p:blipFill>
          <a:blip r:embed="rId5"/>
          <a:stretch>
            <a:fillRect/>
          </a:stretch>
        </p:blipFill>
        <p:spPr>
          <a:xfrm>
            <a:off x="6823456" y="9553106"/>
            <a:ext cx="736600" cy="1138897"/>
          </a:xfrm>
          <a:prstGeom prst="rect">
            <a:avLst/>
          </a:prstGeom>
        </p:spPr>
      </p:pic>
      <p:pic>
        <p:nvPicPr>
          <p:cNvPr id="6" name="Picture 5" descr="lotus.png"/>
          <p:cNvPicPr>
            <a:picLocks noChangeAspect="1"/>
          </p:cNvPicPr>
          <p:nvPr/>
        </p:nvPicPr>
        <p:blipFill>
          <a:blip r:embed="rId6"/>
          <a:stretch>
            <a:fillRect/>
          </a:stretch>
        </p:blipFill>
        <p:spPr>
          <a:xfrm>
            <a:off x="2865628" y="152400"/>
            <a:ext cx="1828800" cy="459982"/>
          </a:xfrm>
          <a:prstGeom prst="rect">
            <a:avLst/>
          </a:prstGeom>
        </p:spPr>
      </p:pic>
      <p:sp>
        <p:nvSpPr>
          <p:cNvPr id="7" name="TextBox 6"/>
          <p:cNvSpPr txBox="1"/>
          <p:nvPr/>
        </p:nvSpPr>
        <p:spPr>
          <a:xfrm>
            <a:off x="889000" y="635000"/>
            <a:ext cx="5782056" cy="490855"/>
          </a:xfrm>
          <a:prstGeom prst="rect">
            <a:avLst/>
          </a:prstGeom>
          <a:noFill/>
        </p:spPr>
        <p:txBody>
          <a:bodyPr wrap="square" lIns="0" rIns="0" tIns="0" bIns="0" anchor="t">
            <a:spAutoFit/>
          </a:bodyPr>
          <a:lstStyle/>
          <a:p>
            <a:pPr algn="ctr">
              <a:lnSpc>
                <a:spcPct val="90000"/>
              </a:lnSpc>
            </a:pPr>
            <a:r>
              <a:rPr sz="3300" b="1" i="0">
                <a:solidFill>
                  <a:srgbClr val="1F3326"/>
                </a:solidFill>
                <a:latin typeface="Cormorant Garamond"/>
              </a:rPr>
              <a:t>Controle de Clientes</a:t>
            </a:r>
          </a:p>
        </p:txBody>
      </p:sp>
      <p:sp>
        <p:nvSpPr>
          <p:cNvPr id="8" name="TextBox 7"/>
          <p:cNvSpPr txBox="1"/>
          <p:nvPr/>
        </p:nvSpPr>
        <p:spPr>
          <a:xfrm>
            <a:off x="762000" y="1130046"/>
            <a:ext cx="6036056" cy="139700"/>
          </a:xfrm>
          <a:prstGeom prst="rect">
            <a:avLst/>
          </a:prstGeom>
          <a:noFill/>
        </p:spPr>
        <p:txBody>
          <a:bodyPr wrap="square" lIns="0" rIns="0" tIns="0" bIns="0" anchor="t">
            <a:spAutoFit/>
          </a:bodyPr>
          <a:lstStyle/>
          <a:p>
            <a:pPr algn="ctr"/>
            <a:r>
              <a:rPr sz="700" b="0" i="0" spc="210">
                <a:solidFill>
                  <a:srgbClr val="3C3C36"/>
                </a:solidFill>
                <a:latin typeface="Montserrat"/>
              </a:rPr>
              <a:t>VISÃO GERAL DA AGENDA, PAUSAS E RETORNOS</a:t>
            </a:r>
          </a:p>
        </p:txBody>
      </p:sp>
      <p:sp>
        <p:nvSpPr>
          <p:cNvPr id="9" name="TextBox 8"/>
          <p:cNvSpPr txBox="1"/>
          <p:nvPr/>
        </p:nvSpPr>
        <p:spPr>
          <a:xfrm>
            <a:off x="533400" y="1720584"/>
            <a:ext cx="3068828" cy="151676"/>
          </a:xfrm>
          <a:prstGeom prst="rect">
            <a:avLst/>
          </a:prstGeom>
          <a:noFill/>
        </p:spPr>
        <p:txBody>
          <a:bodyPr wrap="square" lIns="0" rIns="0" tIns="0" bIns="0" anchor="t">
            <a:spAutoFit/>
          </a:bodyPr>
          <a:lstStyle/>
          <a:p>
            <a:pPr algn="l"/>
            <a:r>
              <a:rPr sz="853" b="0" i="0">
                <a:solidFill>
                  <a:srgbClr val="4A4A43"/>
                </a:solidFill>
                <a:latin typeface="Montserrat"/>
              </a:rPr>
              <a:t>Período de referência:</a:t>
            </a:r>
          </a:p>
        </p:txBody>
      </p:sp>
      <p:cxnSp>
        <p:nvCxnSpPr>
          <p:cNvPr id="10" name="Connector 9"/>
          <p:cNvCxnSpPr/>
          <p:nvPr/>
        </p:nvCxnSpPr>
        <p:spPr>
          <a:xfrm>
            <a:off x="1780995" y="1845176"/>
            <a:ext cx="1821233" cy="0"/>
          </a:xfrm>
          <a:prstGeom prst="line">
            <a:avLst/>
          </a:prstGeom>
          <a:ln w="7620">
            <a:solidFill>
              <a:srgbClr val="B5B5AA"/>
            </a:solidFill>
          </a:ln>
        </p:spPr>
      </p:cxnSp>
      <p:sp>
        <p:nvSpPr>
          <p:cNvPr id="11" name="TextBox 10"/>
          <p:cNvSpPr txBox="1"/>
          <p:nvPr/>
        </p:nvSpPr>
        <p:spPr>
          <a:xfrm>
            <a:off x="3856228" y="1720584"/>
            <a:ext cx="3170428" cy="151676"/>
          </a:xfrm>
          <a:prstGeom prst="rect">
            <a:avLst/>
          </a:prstGeom>
          <a:noFill/>
        </p:spPr>
        <p:txBody>
          <a:bodyPr wrap="square" lIns="0" rIns="0" tIns="0" bIns="0" anchor="t">
            <a:spAutoFit/>
          </a:bodyPr>
          <a:lstStyle/>
          <a:p>
            <a:pPr algn="l"/>
            <a:r>
              <a:rPr sz="853" b="0" i="0">
                <a:solidFill>
                  <a:srgbClr val="4A4A43"/>
                </a:solidFill>
                <a:latin typeface="Montserrat"/>
              </a:rPr>
              <a:t>Profissional:</a:t>
            </a:r>
          </a:p>
        </p:txBody>
      </p:sp>
      <p:cxnSp>
        <p:nvCxnSpPr>
          <p:cNvPr id="12" name="Connector 11"/>
          <p:cNvCxnSpPr/>
          <p:nvPr/>
        </p:nvCxnSpPr>
        <p:spPr>
          <a:xfrm>
            <a:off x="4563068" y="1845176"/>
            <a:ext cx="2463588" cy="0"/>
          </a:xfrm>
          <a:prstGeom prst="line">
            <a:avLst/>
          </a:prstGeom>
          <a:ln w="7620">
            <a:solidFill>
              <a:srgbClr val="B5B5AA"/>
            </a:solidFill>
          </a:ln>
        </p:spPr>
      </p:cxnSp>
      <p:cxnSp>
        <p:nvCxnSpPr>
          <p:cNvPr id="13" name="Connector 12"/>
          <p:cNvCxnSpPr/>
          <p:nvPr/>
        </p:nvCxnSpPr>
        <p:spPr>
          <a:xfrm>
            <a:off x="3729228" y="1682484"/>
            <a:ext cx="0" cy="295574"/>
          </a:xfrm>
          <a:prstGeom prst="line">
            <a:avLst/>
          </a:prstGeom>
          <a:ln w="10160">
            <a:solidFill>
              <a:srgbClr val="CDD1BF"/>
            </a:solidFill>
          </a:ln>
        </p:spPr>
      </p:cxnSp>
      <p:pic>
        <p:nvPicPr>
          <p:cNvPr id="16" name="Picture 15" descr="ramo.png"/>
          <p:cNvPicPr>
            <a:picLocks noChangeAspect="1"/>
          </p:cNvPicPr>
          <p:nvPr/>
        </p:nvPicPr>
        <p:blipFill>
          <a:blip r:embed="rId7"/>
          <a:stretch>
            <a:fillRect/>
          </a:stretch>
        </p:blipFill>
        <p:spPr>
          <a:xfrm>
            <a:off x="6772656" y="1422146"/>
            <a:ext cx="279400" cy="133048"/>
          </a:xfrm>
          <a:prstGeom prst="rect">
            <a:avLst/>
          </a:prstGeom>
        </p:spPr>
      </p:pic>
      <p:graphicFrame>
        <p:nvGraphicFramePr>
          <p:cNvPr id="17" name="Table 16"/>
          <p:cNvGraphicFramePr>
            <a:graphicFrameLocks noGrp="1"/>
          </p:cNvGraphicFramePr>
          <p:nvPr/>
        </p:nvGraphicFramePr>
        <p:xfrm>
          <a:off x="533400" y="2822573"/>
          <a:ext cx="6493252" cy="3648476"/>
        </p:xfrm>
        <a:graphic>
          <a:graphicData uri="http://schemas.openxmlformats.org/drawingml/2006/table">
            <a:tbl>
              <a:tblPr firstRow="0" bandRow="0">
                <a:tableStyleId>{5C22544A-7EE6-4342-B048-85BDC9FD1C3A}</a:tableStyleId>
              </a:tblPr>
              <a:tblGrid>
                <a:gridCol w="1558381"/>
                <a:gridCol w="714258"/>
                <a:gridCol w="909055"/>
                <a:gridCol w="1038920"/>
                <a:gridCol w="779190"/>
                <a:gridCol w="1493448"/>
              </a:tblGrid>
              <a:tr h="254000">
                <a:tc>
                  <a:txBody>
                    <a:bodyPr/>
                    <a:lstStyle/>
                    <a:p>
                      <a:pPr algn="ctr"/>
                      <a:r>
                        <a:rPr sz="1050" b="1">
                          <a:solidFill>
                            <a:srgbClr val="1F3326"/>
                          </a:solidFill>
                          <a:latin typeface="Cormorant Garamond"/>
                        </a:rPr>
                        <a:t>Nome / código</a:t>
                      </a:r>
                      <a:endParaRPr sz="10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DFE2CB"/>
                    </a:solidFill>
                  </a:tcPr>
                </a:tc>
                <a:tc>
                  <a:txBody>
                    <a:bodyPr/>
                    <a:lstStyle/>
                    <a:p>
                      <a:pPr algn="ctr"/>
                      <a:r>
                        <a:rPr sz="1050" b="1">
                          <a:solidFill>
                            <a:srgbClr val="1F3326"/>
                          </a:solidFill>
                          <a:latin typeface="Cormorant Garamond"/>
                        </a:rPr>
                        <a:t>Início</a:t>
                      </a:r>
                      <a:endParaRPr sz="10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DFE2CB"/>
                    </a:solidFill>
                  </a:tcPr>
                </a:tc>
                <a:tc>
                  <a:txBody>
                    <a:bodyPr/>
                    <a:lstStyle/>
                    <a:p>
                      <a:pPr algn="ctr"/>
                      <a:r>
                        <a:rPr sz="1050" b="1">
                          <a:solidFill>
                            <a:srgbClr val="1F3326"/>
                          </a:solidFill>
                          <a:latin typeface="Cormorant Garamond"/>
                        </a:rPr>
                        <a:t>Frequência</a:t>
                      </a:r>
                      <a:endParaRPr sz="10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DFE2CB"/>
                    </a:solidFill>
                  </a:tcPr>
                </a:tc>
                <a:tc>
                  <a:txBody>
                    <a:bodyPr/>
                    <a:lstStyle/>
                    <a:p>
                      <a:pPr algn="ctr"/>
                      <a:r>
                        <a:rPr sz="1050" b="1">
                          <a:solidFill>
                            <a:srgbClr val="1F3326"/>
                          </a:solidFill>
                          <a:latin typeface="Cormorant Garamond"/>
                        </a:rPr>
                        <a:t>Última sessão</a:t>
                      </a:r>
                      <a:endParaRPr sz="10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DFE2CB"/>
                    </a:solidFill>
                  </a:tcPr>
                </a:tc>
                <a:tc>
                  <a:txBody>
                    <a:bodyPr/>
                    <a:lstStyle/>
                    <a:p>
                      <a:pPr algn="ctr"/>
                      <a:r>
                        <a:rPr sz="1050" b="1">
                          <a:solidFill>
                            <a:srgbClr val="1F3326"/>
                          </a:solidFill>
                          <a:latin typeface="Cormorant Garamond"/>
                        </a:rPr>
                        <a:t>Status</a:t>
                      </a:r>
                      <a:endParaRPr sz="10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DFE2CB"/>
                    </a:solidFill>
                  </a:tcPr>
                </a:tc>
                <a:tc>
                  <a:txBody>
                    <a:bodyPr/>
                    <a:lstStyle/>
                    <a:p>
                      <a:pPr algn="ctr"/>
                      <a:r>
                        <a:rPr sz="1050" b="1">
                          <a:solidFill>
                            <a:srgbClr val="1F3326"/>
                          </a:solidFill>
                          <a:latin typeface="Cormorant Garamond"/>
                        </a:rPr>
                        <a:t>Próxima ação</a:t>
                      </a:r>
                      <a:endParaRPr sz="10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DFE2CB"/>
                    </a:solidFill>
                  </a:tcPr>
                </a:tc>
              </a:tr>
              <a:tr h="282873">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r>
              <a:tr h="282873">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r>
              <a:tr h="282873">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r>
              <a:tr h="282873">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r>
              <a:tr h="282873">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r>
              <a:tr h="282873">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r>
              <a:tr h="282873">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r>
              <a:tr h="282873">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r>
              <a:tr h="282873">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r>
              <a:tr h="282873">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r>
              <a:tr h="282873">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CFAF4"/>
                    </a:solidFill>
                  </a:tcPr>
                </a:tc>
              </a:tr>
              <a:tr h="282873">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c>
                  <a:txBody>
                    <a:bodyPr/>
                    <a:lstStyle/>
                    <a:p>
                      <a:pPr algn="l"/>
                      <a:endParaRPr sz="750"/>
                    </a:p>
                  </a:txBody>
                  <a:tcPr marL="50800" marR="50800" marT="12700" marB="12700" anchor="ctr">
                    <a:lnL w="6350" cap="flat" cmpd="sng" algn="ctr">
                      <a:solidFill>
                        <a:srgbClr val="CDD1BF"/>
                      </a:solidFill>
                      <a:prstDash val="solid"/>
                    </a:lnL>
                    <a:lnR w="6350" cap="flat" cmpd="sng" algn="ctr">
                      <a:solidFill>
                        <a:srgbClr val="CDD1BF"/>
                      </a:solidFill>
                      <a:prstDash val="solid"/>
                    </a:lnR>
                    <a:lnT w="6350" cap="flat" cmpd="sng" algn="ctr">
                      <a:solidFill>
                        <a:srgbClr val="CDD1BF"/>
                      </a:solidFill>
                      <a:prstDash val="solid"/>
                    </a:lnT>
                    <a:lnB w="6350" cap="flat" cmpd="sng" algn="ctr">
                      <a:solidFill>
                        <a:srgbClr val="CDD1BF"/>
                      </a:solidFill>
                      <a:prstDash val="solid"/>
                    </a:lnB>
                    <a:solidFill>
                      <a:srgbClr val="F4F1E7"/>
                    </a:solidFill>
                  </a:tcPr>
                </a:tc>
              </a:tr>
            </a:tbl>
          </a:graphicData>
        </a:graphic>
      </p:graphicFrame>
      <p:sp>
        <p:nvSpPr>
          <p:cNvPr id="20" name="TextBox 19"/>
          <p:cNvSpPr txBox="1"/>
          <p:nvPr/>
        </p:nvSpPr>
        <p:spPr>
          <a:xfrm>
            <a:off x="558800" y="2346335"/>
            <a:ext cx="5909056" cy="304800"/>
          </a:xfrm>
          <a:prstGeom prst="rect">
            <a:avLst/>
          </a:prstGeom>
          <a:noFill/>
        </p:spPr>
        <p:txBody>
          <a:bodyPr wrap="square" lIns="0" rIns="0" tIns="0" bIns="0" anchor="ctr">
            <a:spAutoFit/>
          </a:bodyPr>
          <a:lstStyle/>
          <a:p>
            <a:pPr algn="l"/>
            <a:r>
              <a:rPr sz="1500" b="1" i="0">
                <a:solidFill>
                  <a:srgbClr val="1F3326"/>
                </a:solidFill>
                <a:latin typeface="Cormorant Garamond"/>
              </a:rPr>
              <a:t>Acompanhamento da carteira</a:t>
            </a:r>
          </a:p>
        </p:txBody>
      </p:sp>
      <p:pic>
        <p:nvPicPr>
          <p:cNvPr id="21" name="Picture 20" descr="ramo.png"/>
          <p:cNvPicPr>
            <a:picLocks noChangeAspect="1"/>
          </p:cNvPicPr>
          <p:nvPr/>
        </p:nvPicPr>
        <p:blipFill>
          <a:blip r:embed="rId7"/>
          <a:stretch>
            <a:fillRect/>
          </a:stretch>
        </p:blipFill>
        <p:spPr>
          <a:xfrm>
            <a:off x="6671056" y="2408020"/>
            <a:ext cx="381000" cy="181429"/>
          </a:xfrm>
          <a:prstGeom prst="rect">
            <a:avLst/>
          </a:prstGeom>
        </p:spPr>
      </p:pic>
      <p:sp>
        <p:nvSpPr>
          <p:cNvPr id="22" name="Rounded Rectangle 21"/>
          <p:cNvSpPr/>
          <p:nvPr/>
        </p:nvSpPr>
        <p:spPr>
          <a:xfrm>
            <a:off x="533400" y="6985372"/>
            <a:ext cx="1537589" cy="190500"/>
          </a:xfrm>
          <a:prstGeom prst="roundRect">
            <a:avLst>
              <a:gd name="adj" fmla="val 33333"/>
            </a:avLst>
          </a:prstGeom>
          <a:solidFill>
            <a:srgbClr val="DFE2CB"/>
          </a:solidFill>
          <a:ln>
            <a:noFill/>
          </a:ln>
          <a:effectLst/>
        </p:spPr>
        <p:txBody>
          <a:bodyPr rtlCol="0" anchor="ctr"/>
          <a:lstStyle/>
          <a:p/>
        </p:txBody>
      </p:sp>
      <p:sp>
        <p:nvSpPr>
          <p:cNvPr id="23" name="TextBox 22"/>
          <p:cNvSpPr txBox="1"/>
          <p:nvPr/>
        </p:nvSpPr>
        <p:spPr>
          <a:xfrm>
            <a:off x="533400" y="6985372"/>
            <a:ext cx="1537589" cy="190500"/>
          </a:xfrm>
          <a:prstGeom prst="rect">
            <a:avLst/>
          </a:prstGeom>
          <a:noFill/>
        </p:spPr>
        <p:txBody>
          <a:bodyPr wrap="square" lIns="0" rIns="0" tIns="0" bIns="0" anchor="ctr">
            <a:spAutoFit/>
          </a:bodyPr>
          <a:lstStyle/>
          <a:p>
            <a:pPr algn="ctr"/>
            <a:r>
              <a:rPr sz="1050" b="1" i="0">
                <a:solidFill>
                  <a:srgbClr val="1F3326"/>
                </a:solidFill>
                <a:latin typeface="Cormorant Garamond"/>
              </a:rPr>
              <a:t>Total ativos</a:t>
            </a:r>
          </a:p>
        </p:txBody>
      </p:sp>
      <p:sp>
        <p:nvSpPr>
          <p:cNvPr id="24" name="Rounded Rectangle 23"/>
          <p:cNvSpPr/>
          <p:nvPr/>
        </p:nvSpPr>
        <p:spPr>
          <a:xfrm>
            <a:off x="533400" y="7226672"/>
            <a:ext cx="1537589" cy="525729"/>
          </a:xfrm>
          <a:prstGeom prst="roundRect">
            <a:avLst>
              <a:gd name="adj" fmla="val 12078"/>
            </a:avLst>
          </a:prstGeom>
          <a:solidFill>
            <a:srgbClr val="F1ECE0"/>
          </a:solidFill>
          <a:ln>
            <a:noFill/>
          </a:ln>
          <a:effectLst/>
        </p:spPr>
        <p:txBody>
          <a:bodyPr rtlCol="0" anchor="ctr"/>
          <a:lstStyle/>
          <a:p/>
        </p:txBody>
      </p:sp>
      <p:sp>
        <p:nvSpPr>
          <p:cNvPr id="25" name="Rounded Rectangle 24"/>
          <p:cNvSpPr/>
          <p:nvPr/>
        </p:nvSpPr>
        <p:spPr>
          <a:xfrm>
            <a:off x="2185289" y="6985372"/>
            <a:ext cx="1537589" cy="190500"/>
          </a:xfrm>
          <a:prstGeom prst="roundRect">
            <a:avLst>
              <a:gd name="adj" fmla="val 33333"/>
            </a:avLst>
          </a:prstGeom>
          <a:solidFill>
            <a:srgbClr val="DFE2CB"/>
          </a:solidFill>
          <a:ln>
            <a:noFill/>
          </a:ln>
          <a:effectLst/>
        </p:spPr>
        <p:txBody>
          <a:bodyPr rtlCol="0" anchor="ctr"/>
          <a:lstStyle/>
          <a:p/>
        </p:txBody>
      </p:sp>
      <p:sp>
        <p:nvSpPr>
          <p:cNvPr id="26" name="TextBox 25"/>
          <p:cNvSpPr txBox="1"/>
          <p:nvPr/>
        </p:nvSpPr>
        <p:spPr>
          <a:xfrm>
            <a:off x="2185289" y="6985372"/>
            <a:ext cx="1537589" cy="190500"/>
          </a:xfrm>
          <a:prstGeom prst="rect">
            <a:avLst/>
          </a:prstGeom>
          <a:noFill/>
        </p:spPr>
        <p:txBody>
          <a:bodyPr wrap="square" lIns="0" rIns="0" tIns="0" bIns="0" anchor="ctr">
            <a:spAutoFit/>
          </a:bodyPr>
          <a:lstStyle/>
          <a:p>
            <a:pPr algn="ctr"/>
            <a:r>
              <a:rPr sz="1050" b="1" i="0">
                <a:solidFill>
                  <a:srgbClr val="1F3326"/>
                </a:solidFill>
                <a:latin typeface="Cormorant Garamond"/>
              </a:rPr>
              <a:t>Total pausados</a:t>
            </a:r>
          </a:p>
        </p:txBody>
      </p:sp>
      <p:sp>
        <p:nvSpPr>
          <p:cNvPr id="27" name="Rounded Rectangle 26"/>
          <p:cNvSpPr/>
          <p:nvPr/>
        </p:nvSpPr>
        <p:spPr>
          <a:xfrm>
            <a:off x="2185289" y="7226672"/>
            <a:ext cx="1537589" cy="525729"/>
          </a:xfrm>
          <a:prstGeom prst="roundRect">
            <a:avLst>
              <a:gd name="adj" fmla="val 12078"/>
            </a:avLst>
          </a:prstGeom>
          <a:solidFill>
            <a:srgbClr val="F1ECE0"/>
          </a:solidFill>
          <a:ln>
            <a:noFill/>
          </a:ln>
          <a:effectLst/>
        </p:spPr>
        <p:txBody>
          <a:bodyPr rtlCol="0" anchor="ctr"/>
          <a:lstStyle/>
          <a:p/>
        </p:txBody>
      </p:sp>
      <p:sp>
        <p:nvSpPr>
          <p:cNvPr id="28" name="Rounded Rectangle 27"/>
          <p:cNvSpPr/>
          <p:nvPr/>
        </p:nvSpPr>
        <p:spPr>
          <a:xfrm>
            <a:off x="3837178" y="6985372"/>
            <a:ext cx="1537589" cy="190500"/>
          </a:xfrm>
          <a:prstGeom prst="roundRect">
            <a:avLst>
              <a:gd name="adj" fmla="val 33333"/>
            </a:avLst>
          </a:prstGeom>
          <a:solidFill>
            <a:srgbClr val="DFE2CB"/>
          </a:solidFill>
          <a:ln>
            <a:noFill/>
          </a:ln>
          <a:effectLst/>
        </p:spPr>
        <p:txBody>
          <a:bodyPr rtlCol="0" anchor="ctr"/>
          <a:lstStyle/>
          <a:p/>
        </p:txBody>
      </p:sp>
      <p:sp>
        <p:nvSpPr>
          <p:cNvPr id="29" name="TextBox 28"/>
          <p:cNvSpPr txBox="1"/>
          <p:nvPr/>
        </p:nvSpPr>
        <p:spPr>
          <a:xfrm>
            <a:off x="3837178" y="6985372"/>
            <a:ext cx="1537589" cy="190500"/>
          </a:xfrm>
          <a:prstGeom prst="rect">
            <a:avLst/>
          </a:prstGeom>
          <a:noFill/>
        </p:spPr>
        <p:txBody>
          <a:bodyPr wrap="square" lIns="0" rIns="0" tIns="0" bIns="0" anchor="ctr">
            <a:spAutoFit/>
          </a:bodyPr>
          <a:lstStyle/>
          <a:p>
            <a:pPr algn="ctr"/>
            <a:r>
              <a:rPr sz="1050" b="1" i="0">
                <a:solidFill>
                  <a:srgbClr val="1F3326"/>
                </a:solidFill>
                <a:latin typeface="Cormorant Garamond"/>
              </a:rPr>
              <a:t>Total encerrados</a:t>
            </a:r>
          </a:p>
        </p:txBody>
      </p:sp>
      <p:sp>
        <p:nvSpPr>
          <p:cNvPr id="30" name="Rounded Rectangle 29"/>
          <p:cNvSpPr/>
          <p:nvPr/>
        </p:nvSpPr>
        <p:spPr>
          <a:xfrm>
            <a:off x="3837178" y="7226672"/>
            <a:ext cx="1537589" cy="525729"/>
          </a:xfrm>
          <a:prstGeom prst="roundRect">
            <a:avLst>
              <a:gd name="adj" fmla="val 12078"/>
            </a:avLst>
          </a:prstGeom>
          <a:solidFill>
            <a:srgbClr val="F1ECE0"/>
          </a:solidFill>
          <a:ln>
            <a:noFill/>
          </a:ln>
          <a:effectLst/>
        </p:spPr>
        <p:txBody>
          <a:bodyPr rtlCol="0" anchor="ctr"/>
          <a:lstStyle/>
          <a:p/>
        </p:txBody>
      </p:sp>
      <p:sp>
        <p:nvSpPr>
          <p:cNvPr id="31" name="Rounded Rectangle 30"/>
          <p:cNvSpPr/>
          <p:nvPr/>
        </p:nvSpPr>
        <p:spPr>
          <a:xfrm>
            <a:off x="5489067" y="6985372"/>
            <a:ext cx="1537589" cy="190500"/>
          </a:xfrm>
          <a:prstGeom prst="roundRect">
            <a:avLst>
              <a:gd name="adj" fmla="val 33333"/>
            </a:avLst>
          </a:prstGeom>
          <a:solidFill>
            <a:srgbClr val="DFE2CB"/>
          </a:solidFill>
          <a:ln>
            <a:noFill/>
          </a:ln>
          <a:effectLst/>
        </p:spPr>
        <p:txBody>
          <a:bodyPr rtlCol="0" anchor="ctr"/>
          <a:lstStyle/>
          <a:p/>
        </p:txBody>
      </p:sp>
      <p:sp>
        <p:nvSpPr>
          <p:cNvPr id="32" name="TextBox 31"/>
          <p:cNvSpPr txBox="1"/>
          <p:nvPr/>
        </p:nvSpPr>
        <p:spPr>
          <a:xfrm>
            <a:off x="5489067" y="6985372"/>
            <a:ext cx="1537589" cy="190500"/>
          </a:xfrm>
          <a:prstGeom prst="rect">
            <a:avLst/>
          </a:prstGeom>
          <a:noFill/>
        </p:spPr>
        <p:txBody>
          <a:bodyPr wrap="square" lIns="0" rIns="0" tIns="0" bIns="0" anchor="ctr">
            <a:spAutoFit/>
          </a:bodyPr>
          <a:lstStyle/>
          <a:p>
            <a:pPr algn="ctr"/>
            <a:r>
              <a:rPr sz="1050" b="1" i="0">
                <a:solidFill>
                  <a:srgbClr val="1F3326"/>
                </a:solidFill>
                <a:latin typeface="Cormorant Garamond"/>
              </a:rPr>
              <a:t>Retornos pendentes</a:t>
            </a:r>
          </a:p>
        </p:txBody>
      </p:sp>
      <p:sp>
        <p:nvSpPr>
          <p:cNvPr id="33" name="Rounded Rectangle 32"/>
          <p:cNvSpPr/>
          <p:nvPr/>
        </p:nvSpPr>
        <p:spPr>
          <a:xfrm>
            <a:off x="5489067" y="7226672"/>
            <a:ext cx="1537589" cy="525729"/>
          </a:xfrm>
          <a:prstGeom prst="roundRect">
            <a:avLst>
              <a:gd name="adj" fmla="val 12078"/>
            </a:avLst>
          </a:prstGeom>
          <a:solidFill>
            <a:srgbClr val="F1ECE0"/>
          </a:solidFill>
          <a:ln>
            <a:noFill/>
          </a:ln>
          <a:effectLst/>
        </p:spPr>
        <p:txBody>
          <a:bodyPr rtlCol="0" anchor="ctr"/>
          <a:lstStyle/>
          <a:p/>
        </p:txBody>
      </p:sp>
      <p:cxnSp>
        <p:nvCxnSpPr>
          <p:cNvPr id="35" name="Connector 34"/>
          <p:cNvCxnSpPr/>
          <p:nvPr/>
        </p:nvCxnSpPr>
        <p:spPr>
          <a:xfrm>
            <a:off x="533400" y="8795019"/>
            <a:ext cx="6493256" cy="0"/>
          </a:xfrm>
          <a:prstGeom prst="line">
            <a:avLst/>
          </a:prstGeom>
          <a:ln w="7620">
            <a:solidFill>
              <a:srgbClr val="B5B5AA"/>
            </a:solidFill>
          </a:ln>
        </p:spPr>
      </p:cxnSp>
      <p:cxnSp>
        <p:nvCxnSpPr>
          <p:cNvPr id="36" name="Connector 35"/>
          <p:cNvCxnSpPr/>
          <p:nvPr/>
        </p:nvCxnSpPr>
        <p:spPr>
          <a:xfrm>
            <a:off x="533400" y="9069321"/>
            <a:ext cx="6493256" cy="0"/>
          </a:xfrm>
          <a:prstGeom prst="line">
            <a:avLst/>
          </a:prstGeom>
          <a:ln w="7620">
            <a:solidFill>
              <a:srgbClr val="B5B5AA"/>
            </a:solidFill>
          </a:ln>
        </p:spPr>
      </p:cxnSp>
      <p:cxnSp>
        <p:nvCxnSpPr>
          <p:cNvPr id="37" name="Connector 36"/>
          <p:cNvCxnSpPr/>
          <p:nvPr/>
        </p:nvCxnSpPr>
        <p:spPr>
          <a:xfrm>
            <a:off x="533400" y="9343622"/>
            <a:ext cx="6493256" cy="0"/>
          </a:xfrm>
          <a:prstGeom prst="line">
            <a:avLst/>
          </a:prstGeom>
          <a:ln w="7620">
            <a:solidFill>
              <a:srgbClr val="B5B5AA"/>
            </a:solidFill>
          </a:ln>
        </p:spPr>
      </p:cxnSp>
      <p:cxnSp>
        <p:nvCxnSpPr>
          <p:cNvPr id="38" name="Connector 37"/>
          <p:cNvCxnSpPr/>
          <p:nvPr/>
        </p:nvCxnSpPr>
        <p:spPr>
          <a:xfrm>
            <a:off x="533400" y="9617924"/>
            <a:ext cx="6493256" cy="0"/>
          </a:xfrm>
          <a:prstGeom prst="line">
            <a:avLst/>
          </a:prstGeom>
          <a:ln w="7620">
            <a:solidFill>
              <a:srgbClr val="B5B5AA"/>
            </a:solidFill>
          </a:ln>
        </p:spPr>
      </p:cxnSp>
      <p:cxnSp>
        <p:nvCxnSpPr>
          <p:cNvPr id="39" name="Connector 38"/>
          <p:cNvCxnSpPr/>
          <p:nvPr/>
        </p:nvCxnSpPr>
        <p:spPr>
          <a:xfrm>
            <a:off x="533400" y="9892226"/>
            <a:ext cx="6493256" cy="0"/>
          </a:xfrm>
          <a:prstGeom prst="line">
            <a:avLst/>
          </a:prstGeom>
          <a:ln w="7620">
            <a:solidFill>
              <a:srgbClr val="B5B5AA"/>
            </a:solidFill>
          </a:ln>
        </p:spPr>
      </p:cxnSp>
      <p:sp>
        <p:nvSpPr>
          <p:cNvPr id="42" name="TextBox 41"/>
          <p:cNvSpPr txBox="1"/>
          <p:nvPr/>
        </p:nvSpPr>
        <p:spPr>
          <a:xfrm>
            <a:off x="558800" y="8082579"/>
            <a:ext cx="5909056" cy="304800"/>
          </a:xfrm>
          <a:prstGeom prst="rect">
            <a:avLst/>
          </a:prstGeom>
          <a:noFill/>
        </p:spPr>
        <p:txBody>
          <a:bodyPr wrap="square" lIns="0" rIns="0" tIns="0" bIns="0" anchor="ctr">
            <a:spAutoFit/>
          </a:bodyPr>
          <a:lstStyle/>
          <a:p>
            <a:pPr algn="l"/>
            <a:r>
              <a:rPr sz="1500" b="1" i="0">
                <a:solidFill>
                  <a:srgbClr val="1F3326"/>
                </a:solidFill>
                <a:latin typeface="Cormorant Garamond"/>
              </a:rPr>
              <a:t>Ações de acompanhamento administrativo</a:t>
            </a:r>
          </a:p>
        </p:txBody>
      </p:sp>
      <p:pic>
        <p:nvPicPr>
          <p:cNvPr id="43" name="Picture 42" descr="ramo.png"/>
          <p:cNvPicPr>
            <a:picLocks noChangeAspect="1"/>
          </p:cNvPicPr>
          <p:nvPr/>
        </p:nvPicPr>
        <p:blipFill>
          <a:blip r:embed="rId7"/>
          <a:stretch>
            <a:fillRect/>
          </a:stretch>
        </p:blipFill>
        <p:spPr>
          <a:xfrm>
            <a:off x="6671056" y="8144265"/>
            <a:ext cx="381000" cy="181429"/>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6EC"/>
        </a:solidFill>
        <a:effectLst/>
      </p:bgPr>
    </p:bg>
    <p:spTree>
      <p:nvGrpSpPr>
        <p:cNvPr id="1" name=""/>
        <p:cNvGrpSpPr/>
        <p:nvPr/>
      </p:nvGrpSpPr>
      <p:grpSpPr/>
      <p:sp>
        <p:nvSpPr>
          <p:cNvPr id="39" name="Rounded Rectangle 38"/>
          <p:cNvSpPr/>
          <p:nvPr/>
        </p:nvSpPr>
        <p:spPr>
          <a:xfrm>
            <a:off x="381000" y="7815937"/>
            <a:ext cx="6798056" cy="2296238"/>
          </a:xfrm>
          <a:prstGeom prst="roundRect">
            <a:avLst>
              <a:gd name="adj" fmla="val 4977"/>
            </a:avLst>
          </a:prstGeom>
          <a:solidFill>
            <a:srgbClr val="FCFAF4"/>
          </a:solidFill>
          <a:ln w="11430">
            <a:solidFill>
              <a:srgbClr val="CDD1BF"/>
            </a:solidFill>
          </a:ln>
          <a:effectLst/>
        </p:spPr>
        <p:txBody>
          <a:bodyPr rtlCol="0" anchor="ctr"/>
          <a:lstStyle/>
          <a:p/>
        </p:txBody>
      </p:sp>
      <p:sp>
        <p:nvSpPr>
          <p:cNvPr id="40" name="Round Same Side Corner Rectangle 39"/>
          <p:cNvSpPr/>
          <p:nvPr/>
        </p:nvSpPr>
        <p:spPr>
          <a:xfrm>
            <a:off x="386715" y="7821652"/>
            <a:ext cx="6786626" cy="304800"/>
          </a:xfrm>
          <a:prstGeom prst="round2SameRect">
            <a:avLst>
              <a:gd name="adj1" fmla="val 35416"/>
              <a:gd name="adj2" fmla="val 0"/>
            </a:avLst>
          </a:prstGeom>
          <a:solidFill>
            <a:srgbClr val="DFE2CB"/>
          </a:solidFill>
          <a:ln>
            <a:noFill/>
          </a:ln>
          <a:effectLst/>
        </p:spPr>
        <p:txBody>
          <a:bodyPr rtlCol="0" anchor="ctr"/>
          <a:lstStyle/>
          <a:p/>
        </p:txBody>
      </p:sp>
      <p:sp>
        <p:nvSpPr>
          <p:cNvPr id="30" name="Rounded Rectangle 29"/>
          <p:cNvSpPr/>
          <p:nvPr/>
        </p:nvSpPr>
        <p:spPr>
          <a:xfrm>
            <a:off x="381000" y="3966377"/>
            <a:ext cx="6798056" cy="3650416"/>
          </a:xfrm>
          <a:prstGeom prst="roundRect">
            <a:avLst>
              <a:gd name="adj" fmla="val 3131"/>
            </a:avLst>
          </a:prstGeom>
          <a:solidFill>
            <a:srgbClr val="FCFAF4"/>
          </a:solidFill>
          <a:ln w="11430">
            <a:solidFill>
              <a:srgbClr val="CDD1BF"/>
            </a:solidFill>
          </a:ln>
          <a:effectLst/>
        </p:spPr>
        <p:txBody>
          <a:bodyPr rtlCol="0" anchor="ctr"/>
          <a:lstStyle/>
          <a:p/>
        </p:txBody>
      </p:sp>
      <p:sp>
        <p:nvSpPr>
          <p:cNvPr id="31" name="Round Same Side Corner Rectangle 30"/>
          <p:cNvSpPr/>
          <p:nvPr/>
        </p:nvSpPr>
        <p:spPr>
          <a:xfrm>
            <a:off x="386715" y="3972092"/>
            <a:ext cx="6786626" cy="304800"/>
          </a:xfrm>
          <a:prstGeom prst="round2SameRect">
            <a:avLst>
              <a:gd name="adj1" fmla="val 35416"/>
              <a:gd name="adj2" fmla="val 0"/>
            </a:avLst>
          </a:prstGeom>
          <a:solidFill>
            <a:srgbClr val="DFE2CB"/>
          </a:solidFill>
          <a:ln>
            <a:noFill/>
          </a:ln>
          <a:effectLst/>
        </p:spPr>
        <p:txBody>
          <a:bodyPr rtlCol="0" anchor="ctr"/>
          <a:lstStyle/>
          <a:p/>
        </p:txBody>
      </p:sp>
      <p:sp>
        <p:nvSpPr>
          <p:cNvPr id="11" name="Rounded Rectangle 10"/>
          <p:cNvSpPr/>
          <p:nvPr/>
        </p:nvSpPr>
        <p:spPr>
          <a:xfrm>
            <a:off x="381000" y="1409446"/>
            <a:ext cx="6798056" cy="2357787"/>
          </a:xfrm>
          <a:prstGeom prst="roundRect">
            <a:avLst>
              <a:gd name="adj" fmla="val 4847"/>
            </a:avLst>
          </a:prstGeom>
          <a:solidFill>
            <a:srgbClr val="FCFAF4"/>
          </a:solidFill>
          <a:ln w="11430">
            <a:solidFill>
              <a:srgbClr val="CDD1BF"/>
            </a:solidFill>
          </a:ln>
          <a:effectLst/>
        </p:spPr>
        <p:txBody>
          <a:bodyPr rtlCol="0" anchor="ctr"/>
          <a:lstStyle/>
          <a:p/>
        </p:txBody>
      </p:sp>
      <p:sp>
        <p:nvSpPr>
          <p:cNvPr id="12" name="Round Same Side Corner Rectangle 11"/>
          <p:cNvSpPr/>
          <p:nvPr/>
        </p:nvSpPr>
        <p:spPr>
          <a:xfrm>
            <a:off x="386715" y="1415161"/>
            <a:ext cx="6786626" cy="139700"/>
          </a:xfrm>
          <a:prstGeom prst="round2SameRect">
            <a:avLst>
              <a:gd name="adj1" fmla="val 50000"/>
              <a:gd name="adj2" fmla="val 0"/>
            </a:avLst>
          </a:prstGeom>
          <a:solidFill>
            <a:srgbClr val="DFE2CB"/>
          </a:solidFill>
          <a:ln>
            <a:noFill/>
          </a:ln>
          <a:effectLst/>
        </p:spPr>
        <p:txBody>
          <a:bodyPr rtlCol="0" anchor="ctr"/>
          <a:lstStyle/>
          <a:p/>
        </p:txBody>
      </p:sp>
      <p:pic>
        <p:nvPicPr>
          <p:cNvPr id="2" name="Picture 1" descr="folha-esq.png"/>
          <p:cNvPicPr>
            <a:picLocks noChangeAspect="1"/>
          </p:cNvPicPr>
          <p:nvPr/>
        </p:nvPicPr>
        <p:blipFill>
          <a:blip r:embed="rId2"/>
          <a:stretch>
            <a:fillRect/>
          </a:stretch>
        </p:blipFill>
        <p:spPr>
          <a:xfrm>
            <a:off x="0" y="0"/>
            <a:ext cx="1168400" cy="1410399"/>
          </a:xfrm>
          <a:prstGeom prst="rect">
            <a:avLst/>
          </a:prstGeom>
        </p:spPr>
      </p:pic>
      <p:pic>
        <p:nvPicPr>
          <p:cNvPr id="3" name="Picture 2" descr="folha-dir.png"/>
          <p:cNvPicPr>
            <a:picLocks noChangeAspect="1"/>
          </p:cNvPicPr>
          <p:nvPr/>
        </p:nvPicPr>
        <p:blipFill>
          <a:blip r:embed="rId3"/>
          <a:stretch>
            <a:fillRect/>
          </a:stretch>
        </p:blipFill>
        <p:spPr>
          <a:xfrm>
            <a:off x="6544056" y="0"/>
            <a:ext cx="1016000" cy="1570892"/>
          </a:xfrm>
          <a:prstGeom prst="rect">
            <a:avLst/>
          </a:prstGeom>
        </p:spPr>
      </p:pic>
      <p:pic>
        <p:nvPicPr>
          <p:cNvPr id="4" name="Picture 3" descr="folha-esq-baixo.png"/>
          <p:cNvPicPr>
            <a:picLocks noChangeAspect="1"/>
          </p:cNvPicPr>
          <p:nvPr/>
        </p:nvPicPr>
        <p:blipFill>
          <a:blip r:embed="rId4"/>
          <a:stretch>
            <a:fillRect/>
          </a:stretch>
        </p:blipFill>
        <p:spPr>
          <a:xfrm>
            <a:off x="0" y="9618873"/>
            <a:ext cx="889000" cy="1073129"/>
          </a:xfrm>
          <a:prstGeom prst="rect">
            <a:avLst/>
          </a:prstGeom>
        </p:spPr>
      </p:pic>
      <p:pic>
        <p:nvPicPr>
          <p:cNvPr id="5" name="Picture 4" descr="folha-dir-baixo.png"/>
          <p:cNvPicPr>
            <a:picLocks noChangeAspect="1"/>
          </p:cNvPicPr>
          <p:nvPr/>
        </p:nvPicPr>
        <p:blipFill>
          <a:blip r:embed="rId5"/>
          <a:stretch>
            <a:fillRect/>
          </a:stretch>
        </p:blipFill>
        <p:spPr>
          <a:xfrm>
            <a:off x="6823456" y="9553106"/>
            <a:ext cx="736600" cy="1138897"/>
          </a:xfrm>
          <a:prstGeom prst="rect">
            <a:avLst/>
          </a:prstGeom>
        </p:spPr>
      </p:pic>
      <p:pic>
        <p:nvPicPr>
          <p:cNvPr id="6" name="Picture 5" descr="lotus.png"/>
          <p:cNvPicPr>
            <a:picLocks noChangeAspect="1"/>
          </p:cNvPicPr>
          <p:nvPr/>
        </p:nvPicPr>
        <p:blipFill>
          <a:blip r:embed="rId6"/>
          <a:stretch>
            <a:fillRect/>
          </a:stretch>
        </p:blipFill>
        <p:spPr>
          <a:xfrm>
            <a:off x="2865628" y="152400"/>
            <a:ext cx="1828800" cy="459982"/>
          </a:xfrm>
          <a:prstGeom prst="rect">
            <a:avLst/>
          </a:prstGeom>
        </p:spPr>
      </p:pic>
      <p:sp>
        <p:nvSpPr>
          <p:cNvPr id="7" name="TextBox 6"/>
          <p:cNvSpPr txBox="1"/>
          <p:nvPr/>
        </p:nvSpPr>
        <p:spPr>
          <a:xfrm>
            <a:off x="889000" y="635000"/>
            <a:ext cx="5782056" cy="490855"/>
          </a:xfrm>
          <a:prstGeom prst="rect">
            <a:avLst/>
          </a:prstGeom>
          <a:noFill/>
        </p:spPr>
        <p:txBody>
          <a:bodyPr wrap="square" lIns="0" rIns="0" tIns="0" bIns="0" anchor="t">
            <a:spAutoFit/>
          </a:bodyPr>
          <a:lstStyle/>
          <a:p>
            <a:pPr algn="ctr">
              <a:lnSpc>
                <a:spcPct val="90000"/>
              </a:lnSpc>
            </a:pPr>
            <a:r>
              <a:rPr sz="3300" b="1" i="0">
                <a:solidFill>
                  <a:srgbClr val="1F3326"/>
                </a:solidFill>
                <a:latin typeface="Cormorant Garamond"/>
              </a:rPr>
              <a:t>Seja Bem-vindo(a)</a:t>
            </a:r>
          </a:p>
        </p:txBody>
      </p:sp>
      <p:sp>
        <p:nvSpPr>
          <p:cNvPr id="8" name="TextBox 7"/>
          <p:cNvSpPr txBox="1"/>
          <p:nvPr/>
        </p:nvSpPr>
        <p:spPr>
          <a:xfrm>
            <a:off x="762000" y="1130046"/>
            <a:ext cx="6036056" cy="139700"/>
          </a:xfrm>
          <a:prstGeom prst="rect">
            <a:avLst/>
          </a:prstGeom>
          <a:noFill/>
        </p:spPr>
        <p:txBody>
          <a:bodyPr wrap="square" lIns="0" rIns="0" tIns="0" bIns="0" anchor="t">
            <a:spAutoFit/>
          </a:bodyPr>
          <a:lstStyle/>
          <a:p>
            <a:pPr algn="ctr"/>
            <a:r>
              <a:rPr sz="700" b="0" i="0" spc="210">
                <a:solidFill>
                  <a:srgbClr val="3C3C36"/>
                </a:solidFill>
                <a:latin typeface="Montserrat"/>
              </a:rPr>
              <a:t>UM ESPAÇO DE ACOLHIMENTO, CUIDADO E BEM-ESTAR</a:t>
            </a:r>
          </a:p>
        </p:txBody>
      </p:sp>
      <p:sp>
        <p:nvSpPr>
          <p:cNvPr id="9" name="Rounded Rectangle 8"/>
          <p:cNvSpPr/>
          <p:nvPr/>
        </p:nvSpPr>
        <p:spPr>
          <a:xfrm>
            <a:off x="533400" y="1748289"/>
            <a:ext cx="6493256" cy="1819799"/>
          </a:xfrm>
          <a:prstGeom prst="roundRect">
            <a:avLst>
              <a:gd name="adj" fmla="val 4187"/>
            </a:avLst>
          </a:prstGeom>
          <a:solidFill>
            <a:srgbClr val="F1ECE0"/>
          </a:solidFill>
          <a:ln>
            <a:noFill/>
          </a:ln>
          <a:effectLst/>
        </p:spPr>
        <p:txBody>
          <a:bodyPr rtlCol="0" anchor="ctr"/>
          <a:lstStyle/>
          <a:p/>
        </p:txBody>
      </p:sp>
      <p:sp>
        <p:nvSpPr>
          <p:cNvPr id="10" name="TextBox 9"/>
          <p:cNvSpPr txBox="1"/>
          <p:nvPr/>
        </p:nvSpPr>
        <p:spPr>
          <a:xfrm>
            <a:off x="673100" y="1907604"/>
            <a:ext cx="6213856" cy="1620655"/>
          </a:xfrm>
          <a:prstGeom prst="rect">
            <a:avLst/>
          </a:prstGeom>
          <a:noFill/>
        </p:spPr>
        <p:txBody>
          <a:bodyPr wrap="square" lIns="0" rIns="0" tIns="0" bIns="0" anchor="t">
            <a:spAutoFit/>
          </a:bodyPr>
          <a:lstStyle/>
          <a:p>
            <a:pPr algn="l">
              <a:lnSpc>
                <a:spcPct val="150000"/>
              </a:lnSpc>
              <a:spcAft>
                <a:spcPts val="500"/>
              </a:spcAft>
            </a:pPr>
            <a:r>
              <a:rPr sz="1030" b="0" i="0">
                <a:solidFill>
                  <a:srgbClr val="3C3C36"/>
                </a:solidFill>
                <a:latin typeface="Montserrat"/>
              </a:rPr>
              <a:t>Cada atendimento de massoterapia é planejado para promover o seu conforto, relaxamento e bem-estar, com um olhar atento às suas necessidades individuais.</a:t>
            </a:r>
          </a:p>
          <a:p>
            <a:pPr algn="l">
              <a:lnSpc>
                <a:spcPct val="150000"/>
              </a:lnSpc>
              <a:spcAft>
                <a:spcPts val="500"/>
              </a:spcAft>
            </a:pPr>
            <a:r>
              <a:rPr sz="1030" b="0" i="0">
                <a:solidFill>
                  <a:srgbClr val="3C3C36"/>
                </a:solidFill>
                <a:latin typeface="Montserrat"/>
              </a:rPr>
              <a:t>Aqui, você encontra um espaço seguro e acolhedor, onde o cuidado, o respeito e a escuta são sempre prioridades. Sinta-se à vontade para compartilhar suas preferências, eventuais desconfortos e expectativas, para que possamos tornar sua experiência ainda mais positiva e personalizada.</a:t>
            </a:r>
          </a:p>
        </p:txBody>
      </p:sp>
      <p:pic>
        <p:nvPicPr>
          <p:cNvPr id="13" name="Picture 12" descr="ramo.png"/>
          <p:cNvPicPr>
            <a:picLocks noChangeAspect="1"/>
          </p:cNvPicPr>
          <p:nvPr/>
        </p:nvPicPr>
        <p:blipFill>
          <a:blip r:embed="rId7"/>
          <a:stretch>
            <a:fillRect/>
          </a:stretch>
        </p:blipFill>
        <p:spPr>
          <a:xfrm>
            <a:off x="6772656" y="1422146"/>
            <a:ext cx="279400" cy="133048"/>
          </a:xfrm>
          <a:prstGeom prst="rect">
            <a:avLst/>
          </a:prstGeom>
        </p:spPr>
      </p:pic>
      <p:sp>
        <p:nvSpPr>
          <p:cNvPr id="14" name="Rounded Rectangle 13"/>
          <p:cNvSpPr/>
          <p:nvPr/>
        </p:nvSpPr>
        <p:spPr>
          <a:xfrm>
            <a:off x="533400" y="4470320"/>
            <a:ext cx="3183128" cy="1394006"/>
          </a:xfrm>
          <a:prstGeom prst="roundRect">
            <a:avLst>
              <a:gd name="adj" fmla="val 6377"/>
            </a:avLst>
          </a:prstGeom>
          <a:solidFill>
            <a:srgbClr val="F1ECE0"/>
          </a:solidFill>
          <a:ln>
            <a:noFill/>
          </a:ln>
          <a:effectLst/>
        </p:spPr>
        <p:txBody>
          <a:bodyPr rtlCol="0" anchor="ctr"/>
          <a:lstStyle/>
          <a:p/>
        </p:txBody>
      </p:sp>
      <p:pic>
        <p:nvPicPr>
          <p:cNvPr id="15" name="Picture 14" descr="icone-1.png"/>
          <p:cNvPicPr>
            <a:picLocks noChangeAspect="1"/>
          </p:cNvPicPr>
          <p:nvPr/>
        </p:nvPicPr>
        <p:blipFill>
          <a:blip r:embed="rId8"/>
          <a:stretch>
            <a:fillRect/>
          </a:stretch>
        </p:blipFill>
        <p:spPr>
          <a:xfrm>
            <a:off x="660400" y="4913324"/>
            <a:ext cx="508000" cy="504180"/>
          </a:xfrm>
          <a:prstGeom prst="rect">
            <a:avLst/>
          </a:prstGeom>
        </p:spPr>
      </p:pic>
      <p:sp>
        <p:nvSpPr>
          <p:cNvPr id="16" name="TextBox 15"/>
          <p:cNvSpPr txBox="1"/>
          <p:nvPr/>
        </p:nvSpPr>
        <p:spPr>
          <a:xfrm>
            <a:off x="1270000" y="4584620"/>
            <a:ext cx="2344928" cy="172651"/>
          </a:xfrm>
          <a:prstGeom prst="rect">
            <a:avLst/>
          </a:prstGeom>
          <a:noFill/>
        </p:spPr>
        <p:txBody>
          <a:bodyPr wrap="square" lIns="0" rIns="0" tIns="0" bIns="0" anchor="t">
            <a:spAutoFit/>
          </a:bodyPr>
          <a:lstStyle/>
          <a:p>
            <a:pPr algn="l">
              <a:lnSpc>
                <a:spcPct val="110000"/>
              </a:lnSpc>
            </a:pPr>
            <a:r>
              <a:rPr sz="1007" b="1" i="0">
                <a:solidFill>
                  <a:srgbClr val="1F3326"/>
                </a:solidFill>
                <a:latin typeface="Montserrat"/>
              </a:rPr>
              <a:t>Reserve um momento tranquilo</a:t>
            </a:r>
          </a:p>
        </p:txBody>
      </p:sp>
      <p:sp>
        <p:nvSpPr>
          <p:cNvPr id="17" name="TextBox 16"/>
          <p:cNvSpPr txBox="1"/>
          <p:nvPr/>
        </p:nvSpPr>
        <p:spPr>
          <a:xfrm>
            <a:off x="1270000" y="4788978"/>
            <a:ext cx="2344928" cy="1165406"/>
          </a:xfrm>
          <a:prstGeom prst="rect">
            <a:avLst/>
          </a:prstGeom>
          <a:noFill/>
        </p:spPr>
        <p:txBody>
          <a:bodyPr wrap="square" lIns="0" rIns="0" tIns="0" bIns="0" anchor="t">
            <a:spAutoFit/>
          </a:bodyPr>
          <a:lstStyle/>
          <a:p>
            <a:pPr algn="l">
              <a:lnSpc>
                <a:spcPct val="130000"/>
              </a:lnSpc>
            </a:pPr>
            <a:r>
              <a:rPr sz="875" b="0" i="0">
                <a:solidFill>
                  <a:srgbClr val="3C3C36"/>
                </a:solidFill>
                <a:latin typeface="Montserrat"/>
              </a:rPr>
              <a:t>Procure vir com tempo, para que possa aproveitar o atendimento com calma e sem pressa.</a:t>
            </a:r>
          </a:p>
        </p:txBody>
      </p:sp>
      <p:sp>
        <p:nvSpPr>
          <p:cNvPr id="18" name="Rounded Rectangle 17"/>
          <p:cNvSpPr/>
          <p:nvPr/>
        </p:nvSpPr>
        <p:spPr>
          <a:xfrm>
            <a:off x="3843528" y="4470320"/>
            <a:ext cx="3183128" cy="1394006"/>
          </a:xfrm>
          <a:prstGeom prst="roundRect">
            <a:avLst>
              <a:gd name="adj" fmla="val 6377"/>
            </a:avLst>
          </a:prstGeom>
          <a:solidFill>
            <a:srgbClr val="F1ECE0"/>
          </a:solidFill>
          <a:ln>
            <a:noFill/>
          </a:ln>
          <a:effectLst/>
        </p:spPr>
        <p:txBody>
          <a:bodyPr rtlCol="0" anchor="ctr"/>
          <a:lstStyle/>
          <a:p/>
        </p:txBody>
      </p:sp>
      <p:pic>
        <p:nvPicPr>
          <p:cNvPr id="19" name="Picture 18" descr="icone-2.png"/>
          <p:cNvPicPr>
            <a:picLocks noChangeAspect="1"/>
          </p:cNvPicPr>
          <p:nvPr/>
        </p:nvPicPr>
        <p:blipFill>
          <a:blip r:embed="rId9"/>
          <a:stretch>
            <a:fillRect/>
          </a:stretch>
        </p:blipFill>
        <p:spPr>
          <a:xfrm>
            <a:off x="3970528" y="4913324"/>
            <a:ext cx="508000" cy="504237"/>
          </a:xfrm>
          <a:prstGeom prst="rect">
            <a:avLst/>
          </a:prstGeom>
        </p:spPr>
      </p:pic>
      <p:sp>
        <p:nvSpPr>
          <p:cNvPr id="20" name="TextBox 19"/>
          <p:cNvSpPr txBox="1"/>
          <p:nvPr/>
        </p:nvSpPr>
        <p:spPr>
          <a:xfrm>
            <a:off x="4580128" y="4584620"/>
            <a:ext cx="2344928" cy="172651"/>
          </a:xfrm>
          <a:prstGeom prst="rect">
            <a:avLst/>
          </a:prstGeom>
          <a:noFill/>
        </p:spPr>
        <p:txBody>
          <a:bodyPr wrap="square" lIns="0" rIns="0" tIns="0" bIns="0" anchor="t">
            <a:spAutoFit/>
          </a:bodyPr>
          <a:lstStyle/>
          <a:p>
            <a:pPr algn="l">
              <a:lnSpc>
                <a:spcPct val="110000"/>
              </a:lnSpc>
            </a:pPr>
            <a:r>
              <a:rPr sz="1007" b="1" i="0">
                <a:solidFill>
                  <a:srgbClr val="1F3326"/>
                </a:solidFill>
                <a:latin typeface="Montserrat"/>
              </a:rPr>
              <a:t>Use roupas confortáveis</a:t>
            </a:r>
          </a:p>
        </p:txBody>
      </p:sp>
      <p:sp>
        <p:nvSpPr>
          <p:cNvPr id="21" name="TextBox 20"/>
          <p:cNvSpPr txBox="1"/>
          <p:nvPr/>
        </p:nvSpPr>
        <p:spPr>
          <a:xfrm>
            <a:off x="4580128" y="4788978"/>
            <a:ext cx="2344928" cy="1165406"/>
          </a:xfrm>
          <a:prstGeom prst="rect">
            <a:avLst/>
          </a:prstGeom>
          <a:noFill/>
        </p:spPr>
        <p:txBody>
          <a:bodyPr wrap="square" lIns="0" rIns="0" tIns="0" bIns="0" anchor="t">
            <a:spAutoFit/>
          </a:bodyPr>
          <a:lstStyle/>
          <a:p>
            <a:pPr algn="l">
              <a:lnSpc>
                <a:spcPct val="130000"/>
              </a:lnSpc>
            </a:pPr>
            <a:r>
              <a:rPr sz="875" b="0" i="0">
                <a:solidFill>
                  <a:srgbClr val="3C3C36"/>
                </a:solidFill>
                <a:latin typeface="Montserrat"/>
              </a:rPr>
              <a:t>Vista algo leve e confortável para facilitar seu bem-estar antes e após a sessão.</a:t>
            </a:r>
          </a:p>
        </p:txBody>
      </p:sp>
      <p:sp>
        <p:nvSpPr>
          <p:cNvPr id="22" name="Rounded Rectangle 21"/>
          <p:cNvSpPr/>
          <p:nvPr/>
        </p:nvSpPr>
        <p:spPr>
          <a:xfrm>
            <a:off x="533400" y="6023642"/>
            <a:ext cx="3183128" cy="1394006"/>
          </a:xfrm>
          <a:prstGeom prst="roundRect">
            <a:avLst>
              <a:gd name="adj" fmla="val 6377"/>
            </a:avLst>
          </a:prstGeom>
          <a:solidFill>
            <a:srgbClr val="F1ECE0"/>
          </a:solidFill>
          <a:ln>
            <a:noFill/>
          </a:ln>
          <a:effectLst/>
        </p:spPr>
        <p:txBody>
          <a:bodyPr rtlCol="0" anchor="ctr"/>
          <a:lstStyle/>
          <a:p/>
        </p:txBody>
      </p:sp>
      <p:pic>
        <p:nvPicPr>
          <p:cNvPr id="23" name="Picture 22" descr="icone-3.png"/>
          <p:cNvPicPr>
            <a:picLocks noChangeAspect="1"/>
          </p:cNvPicPr>
          <p:nvPr/>
        </p:nvPicPr>
        <p:blipFill>
          <a:blip r:embed="rId10"/>
          <a:stretch>
            <a:fillRect/>
          </a:stretch>
        </p:blipFill>
        <p:spPr>
          <a:xfrm>
            <a:off x="660400" y="6466646"/>
            <a:ext cx="508000" cy="504237"/>
          </a:xfrm>
          <a:prstGeom prst="rect">
            <a:avLst/>
          </a:prstGeom>
        </p:spPr>
      </p:pic>
      <p:sp>
        <p:nvSpPr>
          <p:cNvPr id="24" name="TextBox 23"/>
          <p:cNvSpPr txBox="1"/>
          <p:nvPr/>
        </p:nvSpPr>
        <p:spPr>
          <a:xfrm>
            <a:off x="1270000" y="6137942"/>
            <a:ext cx="2344928" cy="172651"/>
          </a:xfrm>
          <a:prstGeom prst="rect">
            <a:avLst/>
          </a:prstGeom>
          <a:noFill/>
        </p:spPr>
        <p:txBody>
          <a:bodyPr wrap="square" lIns="0" rIns="0" tIns="0" bIns="0" anchor="t">
            <a:spAutoFit/>
          </a:bodyPr>
          <a:lstStyle/>
          <a:p>
            <a:pPr algn="l">
              <a:lnSpc>
                <a:spcPct val="110000"/>
              </a:lnSpc>
            </a:pPr>
            <a:r>
              <a:rPr sz="1007" b="1" i="0">
                <a:solidFill>
                  <a:srgbClr val="1F3326"/>
                </a:solidFill>
                <a:latin typeface="Montserrat"/>
              </a:rPr>
              <a:t>Chegue alguns minutos antes</a:t>
            </a:r>
          </a:p>
        </p:txBody>
      </p:sp>
      <p:sp>
        <p:nvSpPr>
          <p:cNvPr id="25" name="TextBox 24"/>
          <p:cNvSpPr txBox="1"/>
          <p:nvPr/>
        </p:nvSpPr>
        <p:spPr>
          <a:xfrm>
            <a:off x="1270000" y="6342300"/>
            <a:ext cx="2344928" cy="1165406"/>
          </a:xfrm>
          <a:prstGeom prst="rect">
            <a:avLst/>
          </a:prstGeom>
          <a:noFill/>
        </p:spPr>
        <p:txBody>
          <a:bodyPr wrap="square" lIns="0" rIns="0" tIns="0" bIns="0" anchor="t">
            <a:spAutoFit/>
          </a:bodyPr>
          <a:lstStyle/>
          <a:p>
            <a:pPr algn="l">
              <a:lnSpc>
                <a:spcPct val="130000"/>
              </a:lnSpc>
            </a:pPr>
            <a:r>
              <a:rPr sz="875" b="0" i="0">
                <a:solidFill>
                  <a:srgbClr val="3C3C36"/>
                </a:solidFill>
                <a:latin typeface="Montserrat"/>
              </a:rPr>
              <a:t>Isso nos ajuda a acolher você com tranquilidade e preparar o ambiente com todo o cuidado.</a:t>
            </a:r>
          </a:p>
        </p:txBody>
      </p:sp>
      <p:sp>
        <p:nvSpPr>
          <p:cNvPr id="26" name="Rounded Rectangle 25"/>
          <p:cNvSpPr/>
          <p:nvPr/>
        </p:nvSpPr>
        <p:spPr>
          <a:xfrm>
            <a:off x="3843528" y="6023642"/>
            <a:ext cx="3183128" cy="1394006"/>
          </a:xfrm>
          <a:prstGeom prst="roundRect">
            <a:avLst>
              <a:gd name="adj" fmla="val 6377"/>
            </a:avLst>
          </a:prstGeom>
          <a:solidFill>
            <a:srgbClr val="F1ECE0"/>
          </a:solidFill>
          <a:ln>
            <a:noFill/>
          </a:ln>
          <a:effectLst/>
        </p:spPr>
        <p:txBody>
          <a:bodyPr rtlCol="0" anchor="ctr"/>
          <a:lstStyle/>
          <a:p/>
        </p:txBody>
      </p:sp>
      <p:pic>
        <p:nvPicPr>
          <p:cNvPr id="27" name="Picture 26" descr="icone-4.png"/>
          <p:cNvPicPr>
            <a:picLocks noChangeAspect="1"/>
          </p:cNvPicPr>
          <p:nvPr/>
        </p:nvPicPr>
        <p:blipFill>
          <a:blip r:embed="rId11"/>
          <a:stretch>
            <a:fillRect/>
          </a:stretch>
        </p:blipFill>
        <p:spPr>
          <a:xfrm>
            <a:off x="3970528" y="6466646"/>
            <a:ext cx="508000" cy="504237"/>
          </a:xfrm>
          <a:prstGeom prst="rect">
            <a:avLst/>
          </a:prstGeom>
        </p:spPr>
      </p:pic>
      <p:sp>
        <p:nvSpPr>
          <p:cNvPr id="28" name="TextBox 27"/>
          <p:cNvSpPr txBox="1"/>
          <p:nvPr/>
        </p:nvSpPr>
        <p:spPr>
          <a:xfrm>
            <a:off x="4580128" y="6137942"/>
            <a:ext cx="2344928" cy="345303"/>
          </a:xfrm>
          <a:prstGeom prst="rect">
            <a:avLst/>
          </a:prstGeom>
          <a:noFill/>
        </p:spPr>
        <p:txBody>
          <a:bodyPr wrap="square" lIns="0" rIns="0" tIns="0" bIns="0" anchor="t">
            <a:spAutoFit/>
          </a:bodyPr>
          <a:lstStyle/>
          <a:p>
            <a:pPr algn="l">
              <a:lnSpc>
                <a:spcPct val="110000"/>
              </a:lnSpc>
            </a:pPr>
            <a:r>
              <a:rPr sz="1007" b="1" i="0">
                <a:solidFill>
                  <a:srgbClr val="1F3326"/>
                </a:solidFill>
                <a:latin typeface="Montserrat"/>
              </a:rPr>
              <a:t>Informe restrições ou condições de saúde</a:t>
            </a:r>
          </a:p>
        </p:txBody>
      </p:sp>
      <p:sp>
        <p:nvSpPr>
          <p:cNvPr id="29" name="TextBox 28"/>
          <p:cNvSpPr txBox="1"/>
          <p:nvPr/>
        </p:nvSpPr>
        <p:spPr>
          <a:xfrm>
            <a:off x="4580128" y="6508557"/>
            <a:ext cx="2344928" cy="1165406"/>
          </a:xfrm>
          <a:prstGeom prst="rect">
            <a:avLst/>
          </a:prstGeom>
          <a:noFill/>
        </p:spPr>
        <p:txBody>
          <a:bodyPr wrap="square" lIns="0" rIns="0" tIns="0" bIns="0" anchor="t">
            <a:spAutoFit/>
          </a:bodyPr>
          <a:lstStyle/>
          <a:p>
            <a:pPr algn="l">
              <a:lnSpc>
                <a:spcPct val="130000"/>
              </a:lnSpc>
            </a:pPr>
            <a:r>
              <a:rPr sz="875" b="0" i="0">
                <a:solidFill>
                  <a:srgbClr val="3C3C36"/>
                </a:solidFill>
                <a:latin typeface="Montserrat"/>
              </a:rPr>
              <a:t>Compartilhe qualquer condição, restrição ou necessidade especial para que o atendimento seja seguro e adequado a você.</a:t>
            </a:r>
          </a:p>
        </p:txBody>
      </p:sp>
      <p:sp>
        <p:nvSpPr>
          <p:cNvPr id="32" name="TextBox 31"/>
          <p:cNvSpPr txBox="1"/>
          <p:nvPr/>
        </p:nvSpPr>
        <p:spPr>
          <a:xfrm>
            <a:off x="558800" y="3966377"/>
            <a:ext cx="5909056" cy="304800"/>
          </a:xfrm>
          <a:prstGeom prst="rect">
            <a:avLst/>
          </a:prstGeom>
          <a:noFill/>
        </p:spPr>
        <p:txBody>
          <a:bodyPr wrap="square" lIns="0" rIns="0" tIns="0" bIns="0" anchor="ctr">
            <a:spAutoFit/>
          </a:bodyPr>
          <a:lstStyle/>
          <a:p>
            <a:pPr algn="l"/>
            <a:r>
              <a:rPr sz="1500" b="1" i="0">
                <a:solidFill>
                  <a:srgbClr val="1F3326"/>
                </a:solidFill>
                <a:latin typeface="Cormorant Garamond"/>
              </a:rPr>
              <a:t>Seus primeiros passos</a:t>
            </a:r>
          </a:p>
        </p:txBody>
      </p:sp>
      <p:pic>
        <p:nvPicPr>
          <p:cNvPr id="33" name="Picture 32" descr="ramo.png"/>
          <p:cNvPicPr>
            <a:picLocks noChangeAspect="1"/>
          </p:cNvPicPr>
          <p:nvPr/>
        </p:nvPicPr>
        <p:blipFill>
          <a:blip r:embed="rId7"/>
          <a:stretch>
            <a:fillRect/>
          </a:stretch>
        </p:blipFill>
        <p:spPr>
          <a:xfrm>
            <a:off x="6671056" y="4028062"/>
            <a:ext cx="381000" cy="181429"/>
          </a:xfrm>
          <a:prstGeom prst="rect">
            <a:avLst/>
          </a:prstGeom>
        </p:spPr>
      </p:pic>
      <p:cxnSp>
        <p:nvCxnSpPr>
          <p:cNvPr id="34" name="Connector 33"/>
          <p:cNvCxnSpPr/>
          <p:nvPr/>
        </p:nvCxnSpPr>
        <p:spPr>
          <a:xfrm>
            <a:off x="533400" y="8600411"/>
            <a:ext cx="6493256" cy="0"/>
          </a:xfrm>
          <a:prstGeom prst="line">
            <a:avLst/>
          </a:prstGeom>
          <a:ln w="7620">
            <a:solidFill>
              <a:srgbClr val="B5B5AA"/>
            </a:solidFill>
          </a:ln>
        </p:spPr>
      </p:cxnSp>
      <p:cxnSp>
        <p:nvCxnSpPr>
          <p:cNvPr id="35" name="Connector 34"/>
          <p:cNvCxnSpPr/>
          <p:nvPr/>
        </p:nvCxnSpPr>
        <p:spPr>
          <a:xfrm>
            <a:off x="533400" y="8919041"/>
            <a:ext cx="6493256" cy="0"/>
          </a:xfrm>
          <a:prstGeom prst="line">
            <a:avLst/>
          </a:prstGeom>
          <a:ln w="7620">
            <a:solidFill>
              <a:srgbClr val="B5B5AA"/>
            </a:solidFill>
          </a:ln>
        </p:spPr>
      </p:cxnSp>
      <p:cxnSp>
        <p:nvCxnSpPr>
          <p:cNvPr id="36" name="Connector 35"/>
          <p:cNvCxnSpPr/>
          <p:nvPr/>
        </p:nvCxnSpPr>
        <p:spPr>
          <a:xfrm>
            <a:off x="533400" y="9237671"/>
            <a:ext cx="6493256" cy="0"/>
          </a:xfrm>
          <a:prstGeom prst="line">
            <a:avLst/>
          </a:prstGeom>
          <a:ln w="7620">
            <a:solidFill>
              <a:srgbClr val="B5B5AA"/>
            </a:solidFill>
          </a:ln>
        </p:spPr>
      </p:cxnSp>
      <p:cxnSp>
        <p:nvCxnSpPr>
          <p:cNvPr id="37" name="Connector 36"/>
          <p:cNvCxnSpPr/>
          <p:nvPr/>
        </p:nvCxnSpPr>
        <p:spPr>
          <a:xfrm>
            <a:off x="533400" y="9556301"/>
            <a:ext cx="6493256" cy="0"/>
          </a:xfrm>
          <a:prstGeom prst="line">
            <a:avLst/>
          </a:prstGeom>
          <a:ln w="7620">
            <a:solidFill>
              <a:srgbClr val="B5B5AA"/>
            </a:solidFill>
          </a:ln>
        </p:spPr>
      </p:cxnSp>
      <p:cxnSp>
        <p:nvCxnSpPr>
          <p:cNvPr id="38" name="Connector 37"/>
          <p:cNvCxnSpPr/>
          <p:nvPr/>
        </p:nvCxnSpPr>
        <p:spPr>
          <a:xfrm>
            <a:off x="533400" y="9874931"/>
            <a:ext cx="6493256" cy="0"/>
          </a:xfrm>
          <a:prstGeom prst="line">
            <a:avLst/>
          </a:prstGeom>
          <a:ln w="7620">
            <a:solidFill>
              <a:srgbClr val="B5B5AA"/>
            </a:solidFill>
          </a:ln>
        </p:spPr>
      </p:cxnSp>
      <p:sp>
        <p:nvSpPr>
          <p:cNvPr id="41" name="TextBox 40"/>
          <p:cNvSpPr txBox="1"/>
          <p:nvPr/>
        </p:nvSpPr>
        <p:spPr>
          <a:xfrm>
            <a:off x="558800" y="7815937"/>
            <a:ext cx="5909056" cy="304800"/>
          </a:xfrm>
          <a:prstGeom prst="rect">
            <a:avLst/>
          </a:prstGeom>
          <a:noFill/>
        </p:spPr>
        <p:txBody>
          <a:bodyPr wrap="square" lIns="0" rIns="0" tIns="0" bIns="0" anchor="ctr">
            <a:spAutoFit/>
          </a:bodyPr>
          <a:lstStyle/>
          <a:p>
            <a:pPr algn="l"/>
            <a:r>
              <a:rPr sz="1500" b="1" i="0">
                <a:solidFill>
                  <a:srgbClr val="1F3326"/>
                </a:solidFill>
                <a:latin typeface="Cormorant Garamond"/>
              </a:rPr>
              <a:t>O que gostaria de lembrar para o primeiro atendimento?</a:t>
            </a:r>
          </a:p>
        </p:txBody>
      </p:sp>
      <p:pic>
        <p:nvPicPr>
          <p:cNvPr id="42" name="Picture 41" descr="ramo.png"/>
          <p:cNvPicPr>
            <a:picLocks noChangeAspect="1"/>
          </p:cNvPicPr>
          <p:nvPr/>
        </p:nvPicPr>
        <p:blipFill>
          <a:blip r:embed="rId7"/>
          <a:stretch>
            <a:fillRect/>
          </a:stretch>
        </p:blipFill>
        <p:spPr>
          <a:xfrm>
            <a:off x="6671056" y="7877622"/>
            <a:ext cx="381000" cy="181429"/>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5EE"/>
        </a:solidFill>
        <a:effectLst/>
      </p:bgPr>
    </p:bg>
    <p:spTree>
      <p:nvGrpSpPr>
        <p:cNvPr id="1" name=""/>
        <p:cNvGrpSpPr/>
        <p:nvPr/>
      </p:nvGrpSpPr>
      <p:grpSpPr/>
      <p:sp>
        <p:nvSpPr>
          <p:cNvPr id="41" name="Rounded Rectangle 40"/>
          <p:cNvSpPr/>
          <p:nvPr/>
        </p:nvSpPr>
        <p:spPr>
          <a:xfrm>
            <a:off x="381000" y="8769845"/>
            <a:ext cx="6798056" cy="1274950"/>
          </a:xfrm>
          <a:prstGeom prst="roundRect">
            <a:avLst>
              <a:gd name="adj" fmla="val 7968"/>
            </a:avLst>
          </a:prstGeom>
          <a:solidFill>
            <a:srgbClr val="FDFCF8"/>
          </a:solidFill>
          <a:ln w="10160">
            <a:solidFill>
              <a:srgbClr val="D7D4C9"/>
            </a:solidFill>
          </a:ln>
          <a:effectLst/>
        </p:spPr>
        <p:txBody>
          <a:bodyPr rtlCol="0" anchor="ctr"/>
          <a:lstStyle/>
          <a:p/>
        </p:txBody>
      </p:sp>
      <p:sp>
        <p:nvSpPr>
          <p:cNvPr id="42" name="Round Same Side Corner Rectangle 41"/>
          <p:cNvSpPr/>
          <p:nvPr/>
        </p:nvSpPr>
        <p:spPr>
          <a:xfrm>
            <a:off x="381000" y="8769845"/>
            <a:ext cx="6798056" cy="266700"/>
          </a:xfrm>
          <a:prstGeom prst="round2SameRect">
            <a:avLst>
              <a:gd name="adj1" fmla="val 38095"/>
              <a:gd name="adj2" fmla="val 0"/>
            </a:avLst>
          </a:prstGeom>
          <a:solidFill>
            <a:srgbClr val="3F5C4A"/>
          </a:solidFill>
          <a:ln>
            <a:noFill/>
          </a:ln>
          <a:effectLst/>
        </p:spPr>
        <p:txBody>
          <a:bodyPr rtlCol="0" anchor="ctr"/>
          <a:lstStyle/>
          <a:p/>
        </p:txBody>
      </p:sp>
      <p:sp>
        <p:nvSpPr>
          <p:cNvPr id="37" name="Rounded Rectangle 36"/>
          <p:cNvSpPr/>
          <p:nvPr/>
        </p:nvSpPr>
        <p:spPr>
          <a:xfrm>
            <a:off x="381000" y="7304801"/>
            <a:ext cx="6798056" cy="1274950"/>
          </a:xfrm>
          <a:prstGeom prst="roundRect">
            <a:avLst>
              <a:gd name="adj" fmla="val 7968"/>
            </a:avLst>
          </a:prstGeom>
          <a:solidFill>
            <a:srgbClr val="FDFCF8"/>
          </a:solidFill>
          <a:ln w="10160">
            <a:solidFill>
              <a:srgbClr val="D7D4C9"/>
            </a:solidFill>
          </a:ln>
          <a:effectLst/>
        </p:spPr>
        <p:txBody>
          <a:bodyPr rtlCol="0" anchor="ctr"/>
          <a:lstStyle/>
          <a:p/>
        </p:txBody>
      </p:sp>
      <p:sp>
        <p:nvSpPr>
          <p:cNvPr id="38" name="Round Same Side Corner Rectangle 37"/>
          <p:cNvSpPr/>
          <p:nvPr/>
        </p:nvSpPr>
        <p:spPr>
          <a:xfrm>
            <a:off x="381000" y="7304801"/>
            <a:ext cx="6798056" cy="266700"/>
          </a:xfrm>
          <a:prstGeom prst="round2SameRect">
            <a:avLst>
              <a:gd name="adj1" fmla="val 38095"/>
              <a:gd name="adj2" fmla="val 0"/>
            </a:avLst>
          </a:prstGeom>
          <a:solidFill>
            <a:srgbClr val="3F5C4A"/>
          </a:solidFill>
          <a:ln>
            <a:noFill/>
          </a:ln>
          <a:effectLst/>
        </p:spPr>
        <p:txBody>
          <a:bodyPr rtlCol="0" anchor="ctr"/>
          <a:lstStyle/>
          <a:p/>
        </p:txBody>
      </p:sp>
      <p:sp>
        <p:nvSpPr>
          <p:cNvPr id="33" name="Rounded Rectangle 32"/>
          <p:cNvSpPr/>
          <p:nvPr/>
        </p:nvSpPr>
        <p:spPr>
          <a:xfrm>
            <a:off x="381000" y="6058742"/>
            <a:ext cx="6798056" cy="1055965"/>
          </a:xfrm>
          <a:prstGeom prst="roundRect">
            <a:avLst>
              <a:gd name="adj" fmla="val 9621"/>
            </a:avLst>
          </a:prstGeom>
          <a:solidFill>
            <a:srgbClr val="FDFCF8"/>
          </a:solidFill>
          <a:ln w="10160">
            <a:solidFill>
              <a:srgbClr val="D7D4C9"/>
            </a:solidFill>
          </a:ln>
          <a:effectLst/>
        </p:spPr>
        <p:txBody>
          <a:bodyPr rtlCol="0" anchor="ctr"/>
          <a:lstStyle/>
          <a:p/>
        </p:txBody>
      </p:sp>
      <p:sp>
        <p:nvSpPr>
          <p:cNvPr id="34" name="Round Same Side Corner Rectangle 33"/>
          <p:cNvSpPr/>
          <p:nvPr/>
        </p:nvSpPr>
        <p:spPr>
          <a:xfrm>
            <a:off x="381000" y="6058742"/>
            <a:ext cx="6798056" cy="266700"/>
          </a:xfrm>
          <a:prstGeom prst="round2SameRect">
            <a:avLst>
              <a:gd name="adj1" fmla="val 38095"/>
              <a:gd name="adj2" fmla="val 0"/>
            </a:avLst>
          </a:prstGeom>
          <a:solidFill>
            <a:srgbClr val="3F5C4A"/>
          </a:solidFill>
          <a:ln>
            <a:noFill/>
          </a:ln>
          <a:effectLst/>
        </p:spPr>
        <p:txBody>
          <a:bodyPr rtlCol="0" anchor="ctr"/>
          <a:lstStyle/>
          <a:p/>
        </p:txBody>
      </p:sp>
      <p:sp>
        <p:nvSpPr>
          <p:cNvPr id="29" name="Rounded Rectangle 28"/>
          <p:cNvSpPr/>
          <p:nvPr/>
        </p:nvSpPr>
        <p:spPr>
          <a:xfrm>
            <a:off x="381000" y="4593697"/>
            <a:ext cx="6798056" cy="1274950"/>
          </a:xfrm>
          <a:prstGeom prst="roundRect">
            <a:avLst>
              <a:gd name="adj" fmla="val 7968"/>
            </a:avLst>
          </a:prstGeom>
          <a:solidFill>
            <a:srgbClr val="FDFCF8"/>
          </a:solidFill>
          <a:ln w="10160">
            <a:solidFill>
              <a:srgbClr val="D7D4C9"/>
            </a:solidFill>
          </a:ln>
          <a:effectLst/>
        </p:spPr>
        <p:txBody>
          <a:bodyPr rtlCol="0" anchor="ctr"/>
          <a:lstStyle/>
          <a:p/>
        </p:txBody>
      </p:sp>
      <p:sp>
        <p:nvSpPr>
          <p:cNvPr id="30" name="Round Same Side Corner Rectangle 29"/>
          <p:cNvSpPr/>
          <p:nvPr/>
        </p:nvSpPr>
        <p:spPr>
          <a:xfrm>
            <a:off x="381000" y="4593697"/>
            <a:ext cx="6798056" cy="266700"/>
          </a:xfrm>
          <a:prstGeom prst="round2SameRect">
            <a:avLst>
              <a:gd name="adj1" fmla="val 38095"/>
              <a:gd name="adj2" fmla="val 0"/>
            </a:avLst>
          </a:prstGeom>
          <a:solidFill>
            <a:srgbClr val="3F5C4A"/>
          </a:solidFill>
          <a:ln>
            <a:noFill/>
          </a:ln>
          <a:effectLst/>
        </p:spPr>
        <p:txBody>
          <a:bodyPr rtlCol="0" anchor="ctr"/>
          <a:lstStyle/>
          <a:p/>
        </p:txBody>
      </p:sp>
      <p:sp>
        <p:nvSpPr>
          <p:cNvPr id="25" name="Rounded Rectangle 24"/>
          <p:cNvSpPr/>
          <p:nvPr/>
        </p:nvSpPr>
        <p:spPr>
          <a:xfrm>
            <a:off x="381000" y="3128653"/>
            <a:ext cx="6798056" cy="1274950"/>
          </a:xfrm>
          <a:prstGeom prst="roundRect">
            <a:avLst>
              <a:gd name="adj" fmla="val 7968"/>
            </a:avLst>
          </a:prstGeom>
          <a:solidFill>
            <a:srgbClr val="FDFCF8"/>
          </a:solidFill>
          <a:ln w="10160">
            <a:solidFill>
              <a:srgbClr val="D7D4C9"/>
            </a:solidFill>
          </a:ln>
          <a:effectLst/>
        </p:spPr>
        <p:txBody>
          <a:bodyPr rtlCol="0" anchor="ctr"/>
          <a:lstStyle/>
          <a:p/>
        </p:txBody>
      </p:sp>
      <p:sp>
        <p:nvSpPr>
          <p:cNvPr id="26" name="Round Same Side Corner Rectangle 25"/>
          <p:cNvSpPr/>
          <p:nvPr/>
        </p:nvSpPr>
        <p:spPr>
          <a:xfrm>
            <a:off x="381000" y="3128653"/>
            <a:ext cx="6798056" cy="266700"/>
          </a:xfrm>
          <a:prstGeom prst="round2SameRect">
            <a:avLst>
              <a:gd name="adj1" fmla="val 38095"/>
              <a:gd name="adj2" fmla="val 0"/>
            </a:avLst>
          </a:prstGeom>
          <a:solidFill>
            <a:srgbClr val="3F5C4A"/>
          </a:solidFill>
          <a:ln>
            <a:noFill/>
          </a:ln>
          <a:effectLst/>
        </p:spPr>
        <p:txBody>
          <a:bodyPr rtlCol="0" anchor="ctr"/>
          <a:lstStyle/>
          <a:p/>
        </p:txBody>
      </p:sp>
      <p:sp>
        <p:nvSpPr>
          <p:cNvPr id="21" name="Rounded Rectangle 20"/>
          <p:cNvSpPr/>
          <p:nvPr/>
        </p:nvSpPr>
        <p:spPr>
          <a:xfrm>
            <a:off x="381000" y="1444625"/>
            <a:ext cx="6798056" cy="1493935"/>
          </a:xfrm>
          <a:prstGeom prst="roundRect">
            <a:avLst>
              <a:gd name="adj" fmla="val 6800"/>
            </a:avLst>
          </a:prstGeom>
          <a:solidFill>
            <a:srgbClr val="FDFCF8"/>
          </a:solidFill>
          <a:ln w="10160">
            <a:solidFill>
              <a:srgbClr val="D7D4C9"/>
            </a:solidFill>
          </a:ln>
          <a:effectLst/>
        </p:spPr>
        <p:txBody>
          <a:bodyPr rtlCol="0" anchor="ctr"/>
          <a:lstStyle/>
          <a:p/>
        </p:txBody>
      </p:sp>
      <p:sp>
        <p:nvSpPr>
          <p:cNvPr id="22" name="Round Same Side Corner Rectangle 21"/>
          <p:cNvSpPr/>
          <p:nvPr/>
        </p:nvSpPr>
        <p:spPr>
          <a:xfrm>
            <a:off x="381000" y="1444625"/>
            <a:ext cx="6798056" cy="266700"/>
          </a:xfrm>
          <a:prstGeom prst="round2SameRect">
            <a:avLst>
              <a:gd name="adj1" fmla="val 38095"/>
              <a:gd name="adj2" fmla="val 0"/>
            </a:avLst>
          </a:prstGeom>
          <a:solidFill>
            <a:srgbClr val="3F5C4A"/>
          </a:solidFill>
          <a:ln>
            <a:noFill/>
          </a:ln>
          <a:effectLst/>
        </p:spPr>
        <p:txBody>
          <a:bodyPr rtlCol="0" anchor="ctr"/>
          <a:lstStyle/>
          <a:p/>
        </p:txBody>
      </p:sp>
      <p:cxnSp>
        <p:nvCxnSpPr>
          <p:cNvPr id="2" name="Connector 1"/>
          <p:cNvCxnSpPr/>
          <p:nvPr/>
        </p:nvCxnSpPr>
        <p:spPr>
          <a:xfrm>
            <a:off x="38100" y="25400"/>
            <a:ext cx="660400" cy="660400"/>
          </a:xfrm>
          <a:prstGeom prst="line">
            <a:avLst/>
          </a:prstGeom>
          <a:ln w="13970">
            <a:solidFill>
              <a:srgbClr val="B08D4F"/>
            </a:solidFill>
          </a:ln>
        </p:spPr>
      </p:cxnSp>
      <p:sp>
        <p:nvSpPr>
          <p:cNvPr id="3" name="Oval 2"/>
          <p:cNvSpPr/>
          <p:nvPr/>
        </p:nvSpPr>
        <p:spPr>
          <a:xfrm>
            <a:off x="191770" y="77470"/>
            <a:ext cx="190500" cy="215900"/>
          </a:xfrm>
          <a:prstGeom prst="ellipse">
            <a:avLst/>
          </a:prstGeom>
          <a:solidFill>
            <a:srgbClr val="8FA388"/>
          </a:solidFill>
          <a:ln>
            <a:noFill/>
          </a:ln>
          <a:effectLst/>
        </p:spPr>
        <p:txBody>
          <a:bodyPr rtlCol="0" anchor="ctr"/>
          <a:lstStyle/>
          <a:p/>
        </p:txBody>
      </p:sp>
      <p:sp>
        <p:nvSpPr>
          <p:cNvPr id="4" name="Oval 3"/>
          <p:cNvSpPr/>
          <p:nvPr/>
        </p:nvSpPr>
        <p:spPr>
          <a:xfrm>
            <a:off x="330708" y="216408"/>
            <a:ext cx="203200" cy="228600"/>
          </a:xfrm>
          <a:prstGeom prst="ellipse">
            <a:avLst/>
          </a:prstGeom>
          <a:solidFill>
            <a:srgbClr val="8FA388"/>
          </a:solidFill>
          <a:ln>
            <a:noFill/>
          </a:ln>
          <a:effectLst/>
        </p:spPr>
        <p:txBody>
          <a:bodyPr rtlCol="0" anchor="ctr"/>
          <a:lstStyle/>
          <a:p/>
        </p:txBody>
      </p:sp>
      <p:sp>
        <p:nvSpPr>
          <p:cNvPr id="5" name="Oval 4"/>
          <p:cNvSpPr/>
          <p:nvPr/>
        </p:nvSpPr>
        <p:spPr>
          <a:xfrm>
            <a:off x="482345" y="368045"/>
            <a:ext cx="190500" cy="215900"/>
          </a:xfrm>
          <a:prstGeom prst="ellipse">
            <a:avLst/>
          </a:prstGeom>
          <a:solidFill>
            <a:srgbClr val="8FA388"/>
          </a:solidFill>
          <a:ln>
            <a:noFill/>
          </a:ln>
          <a:effectLst/>
        </p:spPr>
        <p:txBody>
          <a:bodyPr rtlCol="0" anchor="ctr"/>
          <a:lstStyle/>
          <a:p/>
        </p:txBody>
      </p:sp>
      <p:cxnSp>
        <p:nvCxnSpPr>
          <p:cNvPr id="6" name="Connector 5"/>
          <p:cNvCxnSpPr/>
          <p:nvPr/>
        </p:nvCxnSpPr>
        <p:spPr>
          <a:xfrm flipH="1">
            <a:off x="6861556" y="25400"/>
            <a:ext cx="660400" cy="660400"/>
          </a:xfrm>
          <a:prstGeom prst="line">
            <a:avLst/>
          </a:prstGeom>
          <a:ln w="13970">
            <a:solidFill>
              <a:srgbClr val="B08D4F"/>
            </a:solidFill>
          </a:ln>
        </p:spPr>
      </p:cxnSp>
      <p:sp>
        <p:nvSpPr>
          <p:cNvPr id="7" name="Oval 6"/>
          <p:cNvSpPr/>
          <p:nvPr/>
        </p:nvSpPr>
        <p:spPr>
          <a:xfrm>
            <a:off x="7177785" y="77470"/>
            <a:ext cx="190500" cy="215900"/>
          </a:xfrm>
          <a:prstGeom prst="ellipse">
            <a:avLst/>
          </a:prstGeom>
          <a:solidFill>
            <a:srgbClr val="8FA388"/>
          </a:solidFill>
          <a:ln>
            <a:noFill/>
          </a:ln>
          <a:effectLst/>
        </p:spPr>
        <p:txBody>
          <a:bodyPr rtlCol="0" anchor="ctr"/>
          <a:lstStyle/>
          <a:p/>
        </p:txBody>
      </p:sp>
      <p:sp>
        <p:nvSpPr>
          <p:cNvPr id="8" name="Oval 7"/>
          <p:cNvSpPr/>
          <p:nvPr/>
        </p:nvSpPr>
        <p:spPr>
          <a:xfrm>
            <a:off x="7026148" y="216408"/>
            <a:ext cx="203200" cy="228600"/>
          </a:xfrm>
          <a:prstGeom prst="ellipse">
            <a:avLst/>
          </a:prstGeom>
          <a:solidFill>
            <a:srgbClr val="8FA388"/>
          </a:solidFill>
          <a:ln>
            <a:noFill/>
          </a:ln>
          <a:effectLst/>
        </p:spPr>
        <p:txBody>
          <a:bodyPr rtlCol="0" anchor="ctr"/>
          <a:lstStyle/>
          <a:p/>
        </p:txBody>
      </p:sp>
      <p:sp>
        <p:nvSpPr>
          <p:cNvPr id="9" name="Oval 8"/>
          <p:cNvSpPr/>
          <p:nvPr/>
        </p:nvSpPr>
        <p:spPr>
          <a:xfrm>
            <a:off x="6887209" y="368045"/>
            <a:ext cx="190500" cy="215900"/>
          </a:xfrm>
          <a:prstGeom prst="ellipse">
            <a:avLst/>
          </a:prstGeom>
          <a:solidFill>
            <a:srgbClr val="8FA388"/>
          </a:solidFill>
          <a:ln>
            <a:noFill/>
          </a:ln>
          <a:effectLst/>
        </p:spPr>
        <p:txBody>
          <a:bodyPr rtlCol="0" anchor="ctr"/>
          <a:lstStyle/>
          <a:p/>
        </p:txBody>
      </p:sp>
      <p:sp>
        <p:nvSpPr>
          <p:cNvPr id="10" name="Oval 9"/>
          <p:cNvSpPr/>
          <p:nvPr/>
        </p:nvSpPr>
        <p:spPr>
          <a:xfrm>
            <a:off x="3500628" y="127000"/>
            <a:ext cx="114300" cy="215900"/>
          </a:xfrm>
          <a:prstGeom prst="ellipse">
            <a:avLst/>
          </a:prstGeom>
          <a:noFill/>
          <a:ln w="10160">
            <a:solidFill>
              <a:srgbClr val="B08D4F"/>
            </a:solidFill>
          </a:ln>
          <a:effectLst/>
        </p:spPr>
        <p:txBody>
          <a:bodyPr rtlCol="0" anchor="ctr"/>
          <a:lstStyle/>
          <a:p/>
        </p:txBody>
      </p:sp>
      <p:sp>
        <p:nvSpPr>
          <p:cNvPr id="11" name="Oval 10"/>
          <p:cNvSpPr/>
          <p:nvPr/>
        </p:nvSpPr>
        <p:spPr>
          <a:xfrm>
            <a:off x="3595878" y="127000"/>
            <a:ext cx="114300" cy="215900"/>
          </a:xfrm>
          <a:prstGeom prst="ellipse">
            <a:avLst/>
          </a:prstGeom>
          <a:noFill/>
          <a:ln w="10160">
            <a:solidFill>
              <a:srgbClr val="B08D4F"/>
            </a:solidFill>
          </a:ln>
          <a:effectLst/>
        </p:spPr>
        <p:txBody>
          <a:bodyPr rtlCol="0" anchor="ctr"/>
          <a:lstStyle/>
          <a:p/>
        </p:txBody>
      </p:sp>
      <p:sp>
        <p:nvSpPr>
          <p:cNvPr id="12" name="Oval 11"/>
          <p:cNvSpPr/>
          <p:nvPr/>
        </p:nvSpPr>
        <p:spPr>
          <a:xfrm>
            <a:off x="3691128" y="127000"/>
            <a:ext cx="114300" cy="215900"/>
          </a:xfrm>
          <a:prstGeom prst="ellipse">
            <a:avLst/>
          </a:prstGeom>
          <a:noFill/>
          <a:ln w="10160">
            <a:solidFill>
              <a:srgbClr val="B08D4F"/>
            </a:solidFill>
          </a:ln>
          <a:effectLst/>
        </p:spPr>
        <p:txBody>
          <a:bodyPr rtlCol="0" anchor="ctr"/>
          <a:lstStyle/>
          <a:p/>
        </p:txBody>
      </p:sp>
      <p:sp>
        <p:nvSpPr>
          <p:cNvPr id="13" name="Oval 12"/>
          <p:cNvSpPr/>
          <p:nvPr/>
        </p:nvSpPr>
        <p:spPr>
          <a:xfrm>
            <a:off x="3786378" y="127000"/>
            <a:ext cx="114300" cy="215900"/>
          </a:xfrm>
          <a:prstGeom prst="ellipse">
            <a:avLst/>
          </a:prstGeom>
          <a:noFill/>
          <a:ln w="10160">
            <a:solidFill>
              <a:srgbClr val="B08D4F"/>
            </a:solidFill>
          </a:ln>
          <a:effectLst/>
        </p:spPr>
        <p:txBody>
          <a:bodyPr rtlCol="0" anchor="ctr"/>
          <a:lstStyle/>
          <a:p/>
        </p:txBody>
      </p:sp>
      <p:sp>
        <p:nvSpPr>
          <p:cNvPr id="14" name="Oval 13"/>
          <p:cNvSpPr/>
          <p:nvPr/>
        </p:nvSpPr>
        <p:spPr>
          <a:xfrm>
            <a:off x="3881628" y="127000"/>
            <a:ext cx="114300" cy="215900"/>
          </a:xfrm>
          <a:prstGeom prst="ellipse">
            <a:avLst/>
          </a:prstGeom>
          <a:noFill/>
          <a:ln w="10160">
            <a:solidFill>
              <a:srgbClr val="B08D4F"/>
            </a:solidFill>
          </a:ln>
          <a:effectLst/>
        </p:spPr>
        <p:txBody>
          <a:bodyPr rtlCol="0" anchor="ctr"/>
          <a:lstStyle/>
          <a:p/>
        </p:txBody>
      </p:sp>
      <p:sp>
        <p:nvSpPr>
          <p:cNvPr id="15" name="Arc 14"/>
          <p:cNvSpPr/>
          <p:nvPr/>
        </p:nvSpPr>
        <p:spPr>
          <a:xfrm>
            <a:off x="3437128" y="165100"/>
            <a:ext cx="685800" cy="381000"/>
          </a:xfrm>
          <a:prstGeom prst="arc">
            <a:avLst>
              <a:gd name="adj1" fmla="val 18000000"/>
              <a:gd name="adj2" fmla="val 0"/>
            </a:avLst>
          </a:prstGeom>
          <a:noFill/>
          <a:ln w="10160">
            <a:solidFill>
              <a:srgbClr val="B08D4F"/>
            </a:solidFill>
          </a:ln>
          <a:effectLst/>
        </p:spPr>
        <p:txBody>
          <a:bodyPr rtlCol="0" anchor="ctr"/>
          <a:lstStyle/>
          <a:p>
            <a:pPr algn="ctr"/>
          </a:p>
        </p:txBody>
      </p:sp>
      <p:sp>
        <p:nvSpPr>
          <p:cNvPr id="16" name="TextBox 15"/>
          <p:cNvSpPr txBox="1"/>
          <p:nvPr/>
        </p:nvSpPr>
        <p:spPr>
          <a:xfrm>
            <a:off x="254000" y="635000"/>
            <a:ext cx="7052056" cy="444500"/>
          </a:xfrm>
          <a:prstGeom prst="rect">
            <a:avLst/>
          </a:prstGeom>
          <a:noFill/>
        </p:spPr>
        <p:txBody>
          <a:bodyPr wrap="square" lIns="0" rIns="0" tIns="0" bIns="0" anchor="t">
            <a:spAutoFit/>
          </a:bodyPr>
          <a:lstStyle/>
          <a:p>
            <a:pPr algn="ctr"/>
            <a:r>
              <a:rPr sz="2500" b="1" i="0">
                <a:solidFill>
                  <a:srgbClr val="3F5C4A"/>
                </a:solidFill>
                <a:latin typeface="Libre Baskerville"/>
              </a:rPr>
              <a:t>COMO FUNCIONA O ATENDIMENTO</a:t>
            </a:r>
          </a:p>
        </p:txBody>
      </p:sp>
      <p:sp>
        <p:nvSpPr>
          <p:cNvPr id="17" name="TextBox 16"/>
          <p:cNvSpPr txBox="1"/>
          <p:nvPr/>
        </p:nvSpPr>
        <p:spPr>
          <a:xfrm>
            <a:off x="508000" y="1063625"/>
            <a:ext cx="6544056" cy="177800"/>
          </a:xfrm>
          <a:prstGeom prst="rect">
            <a:avLst/>
          </a:prstGeom>
          <a:noFill/>
        </p:spPr>
        <p:txBody>
          <a:bodyPr wrap="square" lIns="0" rIns="0" tIns="0" bIns="0" anchor="t">
            <a:spAutoFit/>
          </a:bodyPr>
          <a:lstStyle/>
          <a:p>
            <a:pPr algn="ctr"/>
            <a:r>
              <a:rPr sz="950" b="0" i="0">
                <a:solidFill>
                  <a:srgbClr val="2A2A26"/>
                </a:solidFill>
                <a:latin typeface="Montserrat"/>
              </a:rPr>
              <a:t>Informações essenciais para seu atendimento em massoterapia</a:t>
            </a:r>
          </a:p>
        </p:txBody>
      </p:sp>
      <p:sp>
        <p:nvSpPr>
          <p:cNvPr id="18" name="TextBox 17"/>
          <p:cNvSpPr txBox="1"/>
          <p:nvPr/>
        </p:nvSpPr>
        <p:spPr>
          <a:xfrm>
            <a:off x="762000" y="10196703"/>
            <a:ext cx="6036056" cy="127000"/>
          </a:xfrm>
          <a:prstGeom prst="rect">
            <a:avLst/>
          </a:prstGeom>
          <a:noFill/>
        </p:spPr>
        <p:txBody>
          <a:bodyPr wrap="square" lIns="0" rIns="0" tIns="0" bIns="0" anchor="t">
            <a:spAutoFit/>
          </a:bodyPr>
          <a:lstStyle/>
          <a:p>
            <a:pPr algn="ctr"/>
            <a:r>
              <a:rPr sz="650" b="0" i="0">
                <a:solidFill>
                  <a:srgbClr val="77776E"/>
                </a:solidFill>
                <a:latin typeface="Montserrat"/>
              </a:rPr>
              <a:t>MASSOTERAPIA • CUIDADO • BEM-ESTAR</a:t>
            </a:r>
          </a:p>
        </p:txBody>
      </p:sp>
      <p:cxnSp>
        <p:nvCxnSpPr>
          <p:cNvPr id="19" name="Connector 18"/>
          <p:cNvCxnSpPr/>
          <p:nvPr/>
        </p:nvCxnSpPr>
        <p:spPr>
          <a:xfrm>
            <a:off x="1968500" y="10336403"/>
            <a:ext cx="3623056" cy="0"/>
          </a:xfrm>
          <a:prstGeom prst="line">
            <a:avLst/>
          </a:prstGeom>
          <a:ln w="8890">
            <a:solidFill>
              <a:srgbClr val="B08D4F"/>
            </a:solidFill>
          </a:ln>
        </p:spPr>
      </p:cxnSp>
      <p:sp>
        <p:nvSpPr>
          <p:cNvPr id="20" name="TextBox 19"/>
          <p:cNvSpPr txBox="1"/>
          <p:nvPr/>
        </p:nvSpPr>
        <p:spPr>
          <a:xfrm>
            <a:off x="533400" y="1901418"/>
            <a:ext cx="6493256" cy="656954"/>
          </a:xfrm>
          <a:prstGeom prst="rect">
            <a:avLst/>
          </a:prstGeom>
          <a:noFill/>
        </p:spPr>
        <p:txBody>
          <a:bodyPr wrap="square" lIns="0" rIns="0" tIns="0" bIns="0" anchor="t">
            <a:spAutoFit/>
          </a:bodyPr>
          <a:lstStyle/>
          <a:p>
            <a:pPr algn="l">
              <a:lnSpc>
                <a:spcPct val="140000"/>
              </a:lnSpc>
            </a:pPr>
            <a:r>
              <a:rPr sz="1009" b="0" i="0">
                <a:solidFill>
                  <a:srgbClr val="2A2A26"/>
                </a:solidFill>
                <a:latin typeface="Montserrat"/>
              </a:rPr>
              <a:t>Cada sessão possui duração aproximada de ______ minutos e ocorrerá com a frequência combinada entre cliente e profissional, podendo ser ajustada conforme a evolução e os objetivos do atendimento.</a:t>
            </a:r>
          </a:p>
        </p:txBody>
      </p:sp>
      <p:sp>
        <p:nvSpPr>
          <p:cNvPr id="23" name="TextBox 22"/>
          <p:cNvSpPr txBox="1"/>
          <p:nvPr/>
        </p:nvSpPr>
        <p:spPr>
          <a:xfrm>
            <a:off x="508000" y="1444625"/>
            <a:ext cx="6544056" cy="266700"/>
          </a:xfrm>
          <a:prstGeom prst="rect">
            <a:avLst/>
          </a:prstGeom>
          <a:noFill/>
        </p:spPr>
        <p:txBody>
          <a:bodyPr wrap="square" lIns="0" rIns="0" tIns="0" bIns="0" anchor="ctr">
            <a:spAutoFit/>
          </a:bodyPr>
          <a:lstStyle/>
          <a:p>
            <a:pPr algn="l"/>
            <a:r>
              <a:rPr sz="840" b="1" i="0">
                <a:solidFill>
                  <a:srgbClr val="FFFFFF"/>
                </a:solidFill>
                <a:latin typeface="Montserrat"/>
              </a:rPr>
              <a:t>SESSÕES</a:t>
            </a:r>
          </a:p>
        </p:txBody>
      </p:sp>
      <p:sp>
        <p:nvSpPr>
          <p:cNvPr id="24" name="TextBox 23"/>
          <p:cNvSpPr txBox="1"/>
          <p:nvPr/>
        </p:nvSpPr>
        <p:spPr>
          <a:xfrm>
            <a:off x="533400" y="3585447"/>
            <a:ext cx="6493256" cy="437969"/>
          </a:xfrm>
          <a:prstGeom prst="rect">
            <a:avLst/>
          </a:prstGeom>
          <a:noFill/>
        </p:spPr>
        <p:txBody>
          <a:bodyPr wrap="square" lIns="0" rIns="0" tIns="0" bIns="0" anchor="t">
            <a:spAutoFit/>
          </a:bodyPr>
          <a:lstStyle/>
          <a:p>
            <a:pPr algn="l">
              <a:lnSpc>
                <a:spcPct val="140000"/>
              </a:lnSpc>
            </a:pPr>
            <a:r>
              <a:rPr sz="1009" b="0" i="0">
                <a:solidFill>
                  <a:srgbClr val="2A2A26"/>
                </a:solidFill>
                <a:latin typeface="Montserrat"/>
              </a:rPr>
              <a:t>Use roupas confortáveis, evite refeições muito pesadas imediatamente antes do atendimento, mantenha-se hidratado(a) e informe qualquer alteração importante no estado de saúde.</a:t>
            </a:r>
          </a:p>
        </p:txBody>
      </p:sp>
      <p:sp>
        <p:nvSpPr>
          <p:cNvPr id="27" name="TextBox 26"/>
          <p:cNvSpPr txBox="1"/>
          <p:nvPr/>
        </p:nvSpPr>
        <p:spPr>
          <a:xfrm>
            <a:off x="508000" y="3128653"/>
            <a:ext cx="6544056" cy="266700"/>
          </a:xfrm>
          <a:prstGeom prst="rect">
            <a:avLst/>
          </a:prstGeom>
          <a:noFill/>
        </p:spPr>
        <p:txBody>
          <a:bodyPr wrap="square" lIns="0" rIns="0" tIns="0" bIns="0" anchor="ctr">
            <a:spAutoFit/>
          </a:bodyPr>
          <a:lstStyle/>
          <a:p>
            <a:pPr algn="l"/>
            <a:r>
              <a:rPr sz="840" b="1" i="0">
                <a:solidFill>
                  <a:srgbClr val="FFFFFF"/>
                </a:solidFill>
                <a:latin typeface="Montserrat"/>
              </a:rPr>
              <a:t>PREPARAÇÃO PARA A SESSÃO</a:t>
            </a:r>
          </a:p>
        </p:txBody>
      </p:sp>
      <p:sp>
        <p:nvSpPr>
          <p:cNvPr id="28" name="TextBox 27"/>
          <p:cNvSpPr txBox="1"/>
          <p:nvPr/>
        </p:nvSpPr>
        <p:spPr>
          <a:xfrm>
            <a:off x="533400" y="5050491"/>
            <a:ext cx="6493256" cy="437969"/>
          </a:xfrm>
          <a:prstGeom prst="rect">
            <a:avLst/>
          </a:prstGeom>
          <a:noFill/>
        </p:spPr>
        <p:txBody>
          <a:bodyPr wrap="square" lIns="0" rIns="0" tIns="0" bIns="0" anchor="t">
            <a:spAutoFit/>
          </a:bodyPr>
          <a:lstStyle/>
          <a:p>
            <a:pPr algn="l">
              <a:lnSpc>
                <a:spcPct val="140000"/>
              </a:lnSpc>
            </a:pPr>
            <a:r>
              <a:rPr sz="1009" b="0" i="0">
                <a:solidFill>
                  <a:srgbClr val="2A2A26"/>
                </a:solidFill>
                <a:latin typeface="Montserrat"/>
              </a:rPr>
              <a:t>O atendimento será realizado com respeito, privacidade e atenção às suas necessidades. Comunique qualquer dor, desconforto ou preferência de pressão durante a sessão.</a:t>
            </a:r>
          </a:p>
        </p:txBody>
      </p:sp>
      <p:sp>
        <p:nvSpPr>
          <p:cNvPr id="31" name="TextBox 30"/>
          <p:cNvSpPr txBox="1"/>
          <p:nvPr/>
        </p:nvSpPr>
        <p:spPr>
          <a:xfrm>
            <a:off x="508000" y="4593697"/>
            <a:ext cx="6544056" cy="266700"/>
          </a:xfrm>
          <a:prstGeom prst="rect">
            <a:avLst/>
          </a:prstGeom>
          <a:noFill/>
        </p:spPr>
        <p:txBody>
          <a:bodyPr wrap="square" lIns="0" rIns="0" tIns="0" bIns="0" anchor="ctr">
            <a:spAutoFit/>
          </a:bodyPr>
          <a:lstStyle/>
          <a:p>
            <a:pPr algn="l"/>
            <a:r>
              <a:rPr sz="840" b="1" i="0">
                <a:solidFill>
                  <a:srgbClr val="FFFFFF"/>
                </a:solidFill>
                <a:latin typeface="Montserrat"/>
              </a:rPr>
              <a:t>DURANTE O ATENDIMENTO</a:t>
            </a:r>
          </a:p>
        </p:txBody>
      </p:sp>
      <p:sp>
        <p:nvSpPr>
          <p:cNvPr id="32" name="TextBox 31"/>
          <p:cNvSpPr txBox="1"/>
          <p:nvPr/>
        </p:nvSpPr>
        <p:spPr>
          <a:xfrm>
            <a:off x="533400" y="6515535"/>
            <a:ext cx="6493256" cy="218984"/>
          </a:xfrm>
          <a:prstGeom prst="rect">
            <a:avLst/>
          </a:prstGeom>
          <a:noFill/>
        </p:spPr>
        <p:txBody>
          <a:bodyPr wrap="square" lIns="0" rIns="0" tIns="0" bIns="0" anchor="t">
            <a:spAutoFit/>
          </a:bodyPr>
          <a:lstStyle/>
          <a:p>
            <a:pPr algn="l">
              <a:lnSpc>
                <a:spcPct val="140000"/>
              </a:lnSpc>
            </a:pPr>
            <a:r>
              <a:rPr sz="1009" b="0" i="0">
                <a:solidFill>
                  <a:srgbClr val="2A2A26"/>
                </a:solidFill>
                <a:latin typeface="Montserrat"/>
              </a:rPr>
              <a:t>O canal __________________ será utilizado para confirmações, lembretes e assuntos administrativos.</a:t>
            </a:r>
          </a:p>
        </p:txBody>
      </p:sp>
      <p:sp>
        <p:nvSpPr>
          <p:cNvPr id="35" name="TextBox 34"/>
          <p:cNvSpPr txBox="1"/>
          <p:nvPr/>
        </p:nvSpPr>
        <p:spPr>
          <a:xfrm>
            <a:off x="508000" y="6058742"/>
            <a:ext cx="6544056" cy="266700"/>
          </a:xfrm>
          <a:prstGeom prst="rect">
            <a:avLst/>
          </a:prstGeom>
          <a:noFill/>
        </p:spPr>
        <p:txBody>
          <a:bodyPr wrap="square" lIns="0" rIns="0" tIns="0" bIns="0" anchor="ctr">
            <a:spAutoFit/>
          </a:bodyPr>
          <a:lstStyle/>
          <a:p>
            <a:pPr algn="l"/>
            <a:r>
              <a:rPr sz="840" b="1" i="0">
                <a:solidFill>
                  <a:srgbClr val="FFFFFF"/>
                </a:solidFill>
                <a:latin typeface="Montserrat"/>
              </a:rPr>
              <a:t>CONTATO ENTRE SESSÕES</a:t>
            </a:r>
          </a:p>
        </p:txBody>
      </p:sp>
      <p:sp>
        <p:nvSpPr>
          <p:cNvPr id="36" name="TextBox 35"/>
          <p:cNvSpPr txBox="1"/>
          <p:nvPr/>
        </p:nvSpPr>
        <p:spPr>
          <a:xfrm>
            <a:off x="533400" y="7761595"/>
            <a:ext cx="6493256" cy="437969"/>
          </a:xfrm>
          <a:prstGeom prst="rect">
            <a:avLst/>
          </a:prstGeom>
          <a:noFill/>
        </p:spPr>
        <p:txBody>
          <a:bodyPr wrap="square" lIns="0" rIns="0" tIns="0" bIns="0" anchor="t">
            <a:spAutoFit/>
          </a:bodyPr>
          <a:lstStyle/>
          <a:p>
            <a:pPr algn="l">
              <a:lnSpc>
                <a:spcPct val="140000"/>
              </a:lnSpc>
            </a:pPr>
            <a:r>
              <a:rPr sz="1009" b="0" i="0">
                <a:solidFill>
                  <a:srgbClr val="2A2A26"/>
                </a:solidFill>
                <a:latin typeface="Montserrat"/>
              </a:rPr>
              <a:t>Caso precise cancelar ou reagendar, avise com pelo menos ______ horas de antecedência. As condições específicas devem seguir a política do profissional.</a:t>
            </a:r>
          </a:p>
        </p:txBody>
      </p:sp>
      <p:sp>
        <p:nvSpPr>
          <p:cNvPr id="39" name="TextBox 38"/>
          <p:cNvSpPr txBox="1"/>
          <p:nvPr/>
        </p:nvSpPr>
        <p:spPr>
          <a:xfrm>
            <a:off x="508000" y="7304801"/>
            <a:ext cx="6544056" cy="266700"/>
          </a:xfrm>
          <a:prstGeom prst="rect">
            <a:avLst/>
          </a:prstGeom>
          <a:noFill/>
        </p:spPr>
        <p:txBody>
          <a:bodyPr wrap="square" lIns="0" rIns="0" tIns="0" bIns="0" anchor="ctr">
            <a:spAutoFit/>
          </a:bodyPr>
          <a:lstStyle/>
          <a:p>
            <a:pPr algn="l"/>
            <a:r>
              <a:rPr sz="840" b="1" i="0">
                <a:solidFill>
                  <a:srgbClr val="FFFFFF"/>
                </a:solidFill>
                <a:latin typeface="Montserrat"/>
              </a:rPr>
              <a:t>FALTAS E REAGENDAMENTOS</a:t>
            </a:r>
          </a:p>
        </p:txBody>
      </p:sp>
      <p:sp>
        <p:nvSpPr>
          <p:cNvPr id="40" name="TextBox 39"/>
          <p:cNvSpPr txBox="1"/>
          <p:nvPr/>
        </p:nvSpPr>
        <p:spPr>
          <a:xfrm>
            <a:off x="533400" y="9226639"/>
            <a:ext cx="6493256" cy="437969"/>
          </a:xfrm>
          <a:prstGeom prst="rect">
            <a:avLst/>
          </a:prstGeom>
          <a:noFill/>
        </p:spPr>
        <p:txBody>
          <a:bodyPr wrap="square" lIns="0" rIns="0" tIns="0" bIns="0" anchor="t">
            <a:spAutoFit/>
          </a:bodyPr>
          <a:lstStyle/>
          <a:p>
            <a:pPr algn="l">
              <a:lnSpc>
                <a:spcPct val="140000"/>
              </a:lnSpc>
            </a:pPr>
            <a:r>
              <a:rPr sz="1009" b="0" i="0">
                <a:solidFill>
                  <a:srgbClr val="2A2A26"/>
                </a:solidFill>
                <a:latin typeface="Montserrat"/>
              </a:rPr>
              <a:t>A massoterapia não substitui atendimento médico de urgência. Em caso de sintomas intensos ou intercorrência clínica, procure o serviço de saúde adequado.</a:t>
            </a:r>
          </a:p>
        </p:txBody>
      </p:sp>
      <p:sp>
        <p:nvSpPr>
          <p:cNvPr id="43" name="TextBox 42"/>
          <p:cNvSpPr txBox="1"/>
          <p:nvPr/>
        </p:nvSpPr>
        <p:spPr>
          <a:xfrm>
            <a:off x="508000" y="8769845"/>
            <a:ext cx="6544056" cy="266700"/>
          </a:xfrm>
          <a:prstGeom prst="rect">
            <a:avLst/>
          </a:prstGeom>
          <a:noFill/>
        </p:spPr>
        <p:txBody>
          <a:bodyPr wrap="square" lIns="0" rIns="0" tIns="0" bIns="0" anchor="ctr">
            <a:spAutoFit/>
          </a:bodyPr>
          <a:lstStyle/>
          <a:p>
            <a:pPr algn="l"/>
            <a:r>
              <a:rPr sz="840" b="1" i="0">
                <a:solidFill>
                  <a:srgbClr val="FFFFFF"/>
                </a:solidFill>
                <a:latin typeface="Montserrat"/>
              </a:rPr>
              <a:t>EM SITUAÇÃO DE URGÊNCIA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5EE"/>
        </a:solidFill>
        <a:effectLst/>
      </p:bgPr>
    </p:bg>
    <p:spTree>
      <p:nvGrpSpPr>
        <p:cNvPr id="1" name=""/>
        <p:cNvGrpSpPr/>
        <p:nvPr/>
      </p:nvGrpSpPr>
      <p:grpSpPr/>
      <p:sp>
        <p:nvSpPr>
          <p:cNvPr id="77" name="Rounded Rectangle 76"/>
          <p:cNvSpPr/>
          <p:nvPr/>
        </p:nvSpPr>
        <p:spPr>
          <a:xfrm>
            <a:off x="381000" y="7799889"/>
            <a:ext cx="6798056" cy="2224671"/>
          </a:xfrm>
          <a:prstGeom prst="roundRect">
            <a:avLst>
              <a:gd name="adj" fmla="val 4566"/>
            </a:avLst>
          </a:prstGeom>
          <a:solidFill>
            <a:srgbClr val="FDFCF8"/>
          </a:solidFill>
          <a:ln w="10160">
            <a:solidFill>
              <a:srgbClr val="D7D4C9"/>
            </a:solidFill>
          </a:ln>
          <a:effectLst/>
        </p:spPr>
        <p:txBody>
          <a:bodyPr rtlCol="0" anchor="ctr"/>
          <a:lstStyle/>
          <a:p/>
        </p:txBody>
      </p:sp>
      <p:sp>
        <p:nvSpPr>
          <p:cNvPr id="78" name="Round Same Side Corner Rectangle 77"/>
          <p:cNvSpPr/>
          <p:nvPr/>
        </p:nvSpPr>
        <p:spPr>
          <a:xfrm>
            <a:off x="381000" y="7799889"/>
            <a:ext cx="6798056" cy="266700"/>
          </a:xfrm>
          <a:prstGeom prst="round2SameRect">
            <a:avLst>
              <a:gd name="adj1" fmla="val 38095"/>
              <a:gd name="adj2" fmla="val 0"/>
            </a:avLst>
          </a:prstGeom>
          <a:solidFill>
            <a:srgbClr val="3F5C4A"/>
          </a:solidFill>
          <a:ln>
            <a:noFill/>
          </a:ln>
          <a:effectLst/>
        </p:spPr>
        <p:txBody>
          <a:bodyPr rtlCol="0" anchor="ctr"/>
          <a:lstStyle/>
          <a:p/>
        </p:txBody>
      </p:sp>
      <p:sp>
        <p:nvSpPr>
          <p:cNvPr id="68" name="Rounded Rectangle 67"/>
          <p:cNvSpPr/>
          <p:nvPr/>
        </p:nvSpPr>
        <p:spPr>
          <a:xfrm>
            <a:off x="381000" y="5895630"/>
            <a:ext cx="6798056" cy="1743769"/>
          </a:xfrm>
          <a:prstGeom prst="roundRect">
            <a:avLst>
              <a:gd name="adj" fmla="val 5826"/>
            </a:avLst>
          </a:prstGeom>
          <a:solidFill>
            <a:srgbClr val="FDFCF8"/>
          </a:solidFill>
          <a:ln w="10160">
            <a:solidFill>
              <a:srgbClr val="D7D4C9"/>
            </a:solidFill>
          </a:ln>
          <a:effectLst/>
        </p:spPr>
        <p:txBody>
          <a:bodyPr rtlCol="0" anchor="ctr"/>
          <a:lstStyle/>
          <a:p/>
        </p:txBody>
      </p:sp>
      <p:sp>
        <p:nvSpPr>
          <p:cNvPr id="69" name="Round Same Side Corner Rectangle 68"/>
          <p:cNvSpPr/>
          <p:nvPr/>
        </p:nvSpPr>
        <p:spPr>
          <a:xfrm>
            <a:off x="381000" y="5895630"/>
            <a:ext cx="6798056" cy="266700"/>
          </a:xfrm>
          <a:prstGeom prst="round2SameRect">
            <a:avLst>
              <a:gd name="adj1" fmla="val 38095"/>
              <a:gd name="adj2" fmla="val 0"/>
            </a:avLst>
          </a:prstGeom>
          <a:solidFill>
            <a:srgbClr val="3F5C4A"/>
          </a:solidFill>
          <a:ln>
            <a:noFill/>
          </a:ln>
          <a:effectLst/>
        </p:spPr>
        <p:txBody>
          <a:bodyPr rtlCol="0" anchor="ctr"/>
          <a:lstStyle/>
          <a:p/>
        </p:txBody>
      </p:sp>
      <p:sp>
        <p:nvSpPr>
          <p:cNvPr id="65" name="Rounded Rectangle 64"/>
          <p:cNvSpPr/>
          <p:nvPr/>
        </p:nvSpPr>
        <p:spPr>
          <a:xfrm>
            <a:off x="3843528" y="6322820"/>
            <a:ext cx="3157728" cy="1156090"/>
          </a:xfrm>
          <a:prstGeom prst="roundRect">
            <a:avLst>
              <a:gd name="adj" fmla="val 8788"/>
            </a:avLst>
          </a:prstGeom>
          <a:solidFill>
            <a:srgbClr val="FDFCF8"/>
          </a:solidFill>
          <a:ln w="10160">
            <a:solidFill>
              <a:srgbClr val="D7D4C9"/>
            </a:solidFill>
          </a:ln>
          <a:effectLst/>
        </p:spPr>
        <p:txBody>
          <a:bodyPr rtlCol="0" anchor="ctr"/>
          <a:lstStyle/>
          <a:p/>
        </p:txBody>
      </p:sp>
      <p:sp>
        <p:nvSpPr>
          <p:cNvPr id="66" name="Round Same Side Corner Rectangle 65"/>
          <p:cNvSpPr/>
          <p:nvPr/>
        </p:nvSpPr>
        <p:spPr>
          <a:xfrm>
            <a:off x="3843528" y="6322820"/>
            <a:ext cx="3157728" cy="241300"/>
          </a:xfrm>
          <a:prstGeom prst="round2SameRect">
            <a:avLst>
              <a:gd name="adj1" fmla="val 42105"/>
              <a:gd name="adj2" fmla="val 0"/>
            </a:avLst>
          </a:prstGeom>
          <a:solidFill>
            <a:srgbClr val="3F5C4A"/>
          </a:solidFill>
          <a:ln>
            <a:noFill/>
          </a:ln>
          <a:effectLst/>
        </p:spPr>
        <p:txBody>
          <a:bodyPr rtlCol="0" anchor="ctr"/>
          <a:lstStyle/>
          <a:p/>
        </p:txBody>
      </p:sp>
      <p:sp>
        <p:nvSpPr>
          <p:cNvPr id="59" name="Rounded Rectangle 58"/>
          <p:cNvSpPr/>
          <p:nvPr/>
        </p:nvSpPr>
        <p:spPr>
          <a:xfrm>
            <a:off x="508000" y="6322820"/>
            <a:ext cx="3157728" cy="1156090"/>
          </a:xfrm>
          <a:prstGeom prst="roundRect">
            <a:avLst>
              <a:gd name="adj" fmla="val 8788"/>
            </a:avLst>
          </a:prstGeom>
          <a:solidFill>
            <a:srgbClr val="FDFCF8"/>
          </a:solidFill>
          <a:ln w="10160">
            <a:solidFill>
              <a:srgbClr val="D7D4C9"/>
            </a:solidFill>
          </a:ln>
          <a:effectLst/>
        </p:spPr>
        <p:txBody>
          <a:bodyPr rtlCol="0" anchor="ctr"/>
          <a:lstStyle/>
          <a:p/>
        </p:txBody>
      </p:sp>
      <p:sp>
        <p:nvSpPr>
          <p:cNvPr id="60" name="Round Same Side Corner Rectangle 59"/>
          <p:cNvSpPr/>
          <p:nvPr/>
        </p:nvSpPr>
        <p:spPr>
          <a:xfrm>
            <a:off x="508000" y="6322820"/>
            <a:ext cx="3157728" cy="241300"/>
          </a:xfrm>
          <a:prstGeom prst="round2SameRect">
            <a:avLst>
              <a:gd name="adj1" fmla="val 42105"/>
              <a:gd name="adj2" fmla="val 0"/>
            </a:avLst>
          </a:prstGeom>
          <a:solidFill>
            <a:srgbClr val="3F5C4A"/>
          </a:solidFill>
          <a:ln>
            <a:noFill/>
          </a:ln>
          <a:effectLst/>
        </p:spPr>
        <p:txBody>
          <a:bodyPr rtlCol="0" anchor="ctr"/>
          <a:lstStyle/>
          <a:p/>
        </p:txBody>
      </p:sp>
      <p:sp>
        <p:nvSpPr>
          <p:cNvPr id="53" name="Rounded Rectangle 52"/>
          <p:cNvSpPr/>
          <p:nvPr/>
        </p:nvSpPr>
        <p:spPr>
          <a:xfrm>
            <a:off x="381000" y="3750637"/>
            <a:ext cx="6798056" cy="1984503"/>
          </a:xfrm>
          <a:prstGeom prst="roundRect">
            <a:avLst>
              <a:gd name="adj" fmla="val 5119"/>
            </a:avLst>
          </a:prstGeom>
          <a:solidFill>
            <a:srgbClr val="FDFCF8"/>
          </a:solidFill>
          <a:ln w="10160">
            <a:solidFill>
              <a:srgbClr val="D7D4C9"/>
            </a:solidFill>
          </a:ln>
          <a:effectLst/>
        </p:spPr>
        <p:txBody>
          <a:bodyPr rtlCol="0" anchor="ctr"/>
          <a:lstStyle/>
          <a:p/>
        </p:txBody>
      </p:sp>
      <p:sp>
        <p:nvSpPr>
          <p:cNvPr id="54" name="Round Same Side Corner Rectangle 53"/>
          <p:cNvSpPr/>
          <p:nvPr/>
        </p:nvSpPr>
        <p:spPr>
          <a:xfrm>
            <a:off x="381000" y="3750637"/>
            <a:ext cx="6798056" cy="266700"/>
          </a:xfrm>
          <a:prstGeom prst="round2SameRect">
            <a:avLst>
              <a:gd name="adj1" fmla="val 38095"/>
              <a:gd name="adj2" fmla="val 0"/>
            </a:avLst>
          </a:prstGeom>
          <a:solidFill>
            <a:srgbClr val="3F5C4A"/>
          </a:solidFill>
          <a:ln>
            <a:noFill/>
          </a:ln>
          <a:effectLst/>
        </p:spPr>
        <p:txBody>
          <a:bodyPr rtlCol="0" anchor="ctr"/>
          <a:lstStyle/>
          <a:p/>
        </p:txBody>
      </p:sp>
      <p:sp>
        <p:nvSpPr>
          <p:cNvPr id="50" name="Rounded Rectangle 49"/>
          <p:cNvSpPr/>
          <p:nvPr/>
        </p:nvSpPr>
        <p:spPr>
          <a:xfrm>
            <a:off x="3843528" y="4177827"/>
            <a:ext cx="3157728" cy="1396824"/>
          </a:xfrm>
          <a:prstGeom prst="roundRect">
            <a:avLst>
              <a:gd name="adj" fmla="val 7273"/>
            </a:avLst>
          </a:prstGeom>
          <a:solidFill>
            <a:srgbClr val="FDFCF8"/>
          </a:solidFill>
          <a:ln w="10160">
            <a:solidFill>
              <a:srgbClr val="D7D4C9"/>
            </a:solidFill>
          </a:ln>
          <a:effectLst/>
        </p:spPr>
        <p:txBody>
          <a:bodyPr rtlCol="0" anchor="ctr"/>
          <a:lstStyle/>
          <a:p/>
        </p:txBody>
      </p:sp>
      <p:sp>
        <p:nvSpPr>
          <p:cNvPr id="51" name="Round Same Side Corner Rectangle 50"/>
          <p:cNvSpPr/>
          <p:nvPr/>
        </p:nvSpPr>
        <p:spPr>
          <a:xfrm>
            <a:off x="3843528" y="4177827"/>
            <a:ext cx="3157728" cy="241300"/>
          </a:xfrm>
          <a:prstGeom prst="round2SameRect">
            <a:avLst>
              <a:gd name="adj1" fmla="val 42105"/>
              <a:gd name="adj2" fmla="val 0"/>
            </a:avLst>
          </a:prstGeom>
          <a:solidFill>
            <a:srgbClr val="3F5C4A"/>
          </a:solidFill>
          <a:ln>
            <a:noFill/>
          </a:ln>
          <a:effectLst/>
        </p:spPr>
        <p:txBody>
          <a:bodyPr rtlCol="0" anchor="ctr"/>
          <a:lstStyle/>
          <a:p/>
        </p:txBody>
      </p:sp>
      <p:sp>
        <p:nvSpPr>
          <p:cNvPr id="43" name="Rounded Rectangle 42"/>
          <p:cNvSpPr/>
          <p:nvPr/>
        </p:nvSpPr>
        <p:spPr>
          <a:xfrm>
            <a:off x="508000" y="4177827"/>
            <a:ext cx="3157728" cy="1396824"/>
          </a:xfrm>
          <a:prstGeom prst="roundRect">
            <a:avLst>
              <a:gd name="adj" fmla="val 7273"/>
            </a:avLst>
          </a:prstGeom>
          <a:solidFill>
            <a:srgbClr val="FDFCF8"/>
          </a:solidFill>
          <a:ln w="10160">
            <a:solidFill>
              <a:srgbClr val="D7D4C9"/>
            </a:solidFill>
          </a:ln>
          <a:effectLst/>
        </p:spPr>
        <p:txBody>
          <a:bodyPr rtlCol="0" anchor="ctr"/>
          <a:lstStyle/>
          <a:p/>
        </p:txBody>
      </p:sp>
      <p:sp>
        <p:nvSpPr>
          <p:cNvPr id="44" name="Round Same Side Corner Rectangle 43"/>
          <p:cNvSpPr/>
          <p:nvPr/>
        </p:nvSpPr>
        <p:spPr>
          <a:xfrm>
            <a:off x="508000" y="4177827"/>
            <a:ext cx="3157728" cy="241300"/>
          </a:xfrm>
          <a:prstGeom prst="round2SameRect">
            <a:avLst>
              <a:gd name="adj1" fmla="val 42105"/>
              <a:gd name="adj2" fmla="val 0"/>
            </a:avLst>
          </a:prstGeom>
          <a:solidFill>
            <a:srgbClr val="3F5C4A"/>
          </a:solidFill>
          <a:ln>
            <a:noFill/>
          </a:ln>
          <a:effectLst/>
        </p:spPr>
        <p:txBody>
          <a:bodyPr rtlCol="0" anchor="ctr"/>
          <a:lstStyle/>
          <a:p/>
        </p:txBody>
      </p:sp>
      <p:sp>
        <p:nvSpPr>
          <p:cNvPr id="36" name="Rounded Rectangle 35"/>
          <p:cNvSpPr/>
          <p:nvPr/>
        </p:nvSpPr>
        <p:spPr>
          <a:xfrm>
            <a:off x="381000" y="1461770"/>
            <a:ext cx="6798056" cy="2128378"/>
          </a:xfrm>
          <a:prstGeom prst="roundRect">
            <a:avLst>
              <a:gd name="adj" fmla="val 4773"/>
            </a:avLst>
          </a:prstGeom>
          <a:solidFill>
            <a:srgbClr val="FDFCF8"/>
          </a:solidFill>
          <a:ln w="10160">
            <a:solidFill>
              <a:srgbClr val="D7D4C9"/>
            </a:solidFill>
          </a:ln>
          <a:effectLst/>
        </p:spPr>
        <p:txBody>
          <a:bodyPr rtlCol="0" anchor="ctr"/>
          <a:lstStyle/>
          <a:p/>
        </p:txBody>
      </p:sp>
      <p:sp>
        <p:nvSpPr>
          <p:cNvPr id="37" name="Round Same Side Corner Rectangle 36"/>
          <p:cNvSpPr/>
          <p:nvPr/>
        </p:nvSpPr>
        <p:spPr>
          <a:xfrm>
            <a:off x="381000" y="1461770"/>
            <a:ext cx="6798056" cy="266700"/>
          </a:xfrm>
          <a:prstGeom prst="round2SameRect">
            <a:avLst>
              <a:gd name="adj1" fmla="val 38095"/>
              <a:gd name="adj2" fmla="val 0"/>
            </a:avLst>
          </a:prstGeom>
          <a:solidFill>
            <a:srgbClr val="3F5C4A"/>
          </a:solidFill>
          <a:ln>
            <a:noFill/>
          </a:ln>
          <a:effectLst/>
        </p:spPr>
        <p:txBody>
          <a:bodyPr rtlCol="0" anchor="ctr"/>
          <a:lstStyle/>
          <a:p/>
        </p:txBody>
      </p:sp>
      <p:cxnSp>
        <p:nvCxnSpPr>
          <p:cNvPr id="2" name="Connector 1"/>
          <p:cNvCxnSpPr/>
          <p:nvPr/>
        </p:nvCxnSpPr>
        <p:spPr>
          <a:xfrm>
            <a:off x="38100" y="25400"/>
            <a:ext cx="660400" cy="660400"/>
          </a:xfrm>
          <a:prstGeom prst="line">
            <a:avLst/>
          </a:prstGeom>
          <a:ln w="13970">
            <a:solidFill>
              <a:srgbClr val="B08D4F"/>
            </a:solidFill>
          </a:ln>
        </p:spPr>
      </p:cxnSp>
      <p:sp>
        <p:nvSpPr>
          <p:cNvPr id="3" name="Oval 2"/>
          <p:cNvSpPr/>
          <p:nvPr/>
        </p:nvSpPr>
        <p:spPr>
          <a:xfrm>
            <a:off x="191770" y="77470"/>
            <a:ext cx="190500" cy="215900"/>
          </a:xfrm>
          <a:prstGeom prst="ellipse">
            <a:avLst/>
          </a:prstGeom>
          <a:solidFill>
            <a:srgbClr val="8FA388"/>
          </a:solidFill>
          <a:ln>
            <a:noFill/>
          </a:ln>
          <a:effectLst/>
        </p:spPr>
        <p:txBody>
          <a:bodyPr rtlCol="0" anchor="ctr"/>
          <a:lstStyle/>
          <a:p/>
        </p:txBody>
      </p:sp>
      <p:sp>
        <p:nvSpPr>
          <p:cNvPr id="4" name="Oval 3"/>
          <p:cNvSpPr/>
          <p:nvPr/>
        </p:nvSpPr>
        <p:spPr>
          <a:xfrm>
            <a:off x="330708" y="216408"/>
            <a:ext cx="203200" cy="228600"/>
          </a:xfrm>
          <a:prstGeom prst="ellipse">
            <a:avLst/>
          </a:prstGeom>
          <a:solidFill>
            <a:srgbClr val="8FA388"/>
          </a:solidFill>
          <a:ln>
            <a:noFill/>
          </a:ln>
          <a:effectLst/>
        </p:spPr>
        <p:txBody>
          <a:bodyPr rtlCol="0" anchor="ctr"/>
          <a:lstStyle/>
          <a:p/>
        </p:txBody>
      </p:sp>
      <p:sp>
        <p:nvSpPr>
          <p:cNvPr id="5" name="Oval 4"/>
          <p:cNvSpPr/>
          <p:nvPr/>
        </p:nvSpPr>
        <p:spPr>
          <a:xfrm>
            <a:off x="482345" y="368045"/>
            <a:ext cx="190500" cy="215900"/>
          </a:xfrm>
          <a:prstGeom prst="ellipse">
            <a:avLst/>
          </a:prstGeom>
          <a:solidFill>
            <a:srgbClr val="8FA388"/>
          </a:solidFill>
          <a:ln>
            <a:noFill/>
          </a:ln>
          <a:effectLst/>
        </p:spPr>
        <p:txBody>
          <a:bodyPr rtlCol="0" anchor="ctr"/>
          <a:lstStyle/>
          <a:p/>
        </p:txBody>
      </p:sp>
      <p:cxnSp>
        <p:nvCxnSpPr>
          <p:cNvPr id="6" name="Connector 5"/>
          <p:cNvCxnSpPr/>
          <p:nvPr/>
        </p:nvCxnSpPr>
        <p:spPr>
          <a:xfrm flipH="1">
            <a:off x="6861556" y="25400"/>
            <a:ext cx="660400" cy="660400"/>
          </a:xfrm>
          <a:prstGeom prst="line">
            <a:avLst/>
          </a:prstGeom>
          <a:ln w="13970">
            <a:solidFill>
              <a:srgbClr val="B08D4F"/>
            </a:solidFill>
          </a:ln>
        </p:spPr>
      </p:cxnSp>
      <p:sp>
        <p:nvSpPr>
          <p:cNvPr id="7" name="Oval 6"/>
          <p:cNvSpPr/>
          <p:nvPr/>
        </p:nvSpPr>
        <p:spPr>
          <a:xfrm>
            <a:off x="7177785" y="77470"/>
            <a:ext cx="190500" cy="215900"/>
          </a:xfrm>
          <a:prstGeom prst="ellipse">
            <a:avLst/>
          </a:prstGeom>
          <a:solidFill>
            <a:srgbClr val="8FA388"/>
          </a:solidFill>
          <a:ln>
            <a:noFill/>
          </a:ln>
          <a:effectLst/>
        </p:spPr>
        <p:txBody>
          <a:bodyPr rtlCol="0" anchor="ctr"/>
          <a:lstStyle/>
          <a:p/>
        </p:txBody>
      </p:sp>
      <p:sp>
        <p:nvSpPr>
          <p:cNvPr id="8" name="Oval 7"/>
          <p:cNvSpPr/>
          <p:nvPr/>
        </p:nvSpPr>
        <p:spPr>
          <a:xfrm>
            <a:off x="7026148" y="216408"/>
            <a:ext cx="203200" cy="228600"/>
          </a:xfrm>
          <a:prstGeom prst="ellipse">
            <a:avLst/>
          </a:prstGeom>
          <a:solidFill>
            <a:srgbClr val="8FA388"/>
          </a:solidFill>
          <a:ln>
            <a:noFill/>
          </a:ln>
          <a:effectLst/>
        </p:spPr>
        <p:txBody>
          <a:bodyPr rtlCol="0" anchor="ctr"/>
          <a:lstStyle/>
          <a:p/>
        </p:txBody>
      </p:sp>
      <p:sp>
        <p:nvSpPr>
          <p:cNvPr id="9" name="Oval 8"/>
          <p:cNvSpPr/>
          <p:nvPr/>
        </p:nvSpPr>
        <p:spPr>
          <a:xfrm>
            <a:off x="6887209" y="368045"/>
            <a:ext cx="190500" cy="215900"/>
          </a:xfrm>
          <a:prstGeom prst="ellipse">
            <a:avLst/>
          </a:prstGeom>
          <a:solidFill>
            <a:srgbClr val="8FA388"/>
          </a:solidFill>
          <a:ln>
            <a:noFill/>
          </a:ln>
          <a:effectLst/>
        </p:spPr>
        <p:txBody>
          <a:bodyPr rtlCol="0" anchor="ctr"/>
          <a:lstStyle/>
          <a:p/>
        </p:txBody>
      </p:sp>
      <p:sp>
        <p:nvSpPr>
          <p:cNvPr id="10" name="Oval 9"/>
          <p:cNvSpPr/>
          <p:nvPr/>
        </p:nvSpPr>
        <p:spPr>
          <a:xfrm>
            <a:off x="3500628" y="127000"/>
            <a:ext cx="114300" cy="215900"/>
          </a:xfrm>
          <a:prstGeom prst="ellipse">
            <a:avLst/>
          </a:prstGeom>
          <a:noFill/>
          <a:ln w="10160">
            <a:solidFill>
              <a:srgbClr val="B08D4F"/>
            </a:solidFill>
          </a:ln>
          <a:effectLst/>
        </p:spPr>
        <p:txBody>
          <a:bodyPr rtlCol="0" anchor="ctr"/>
          <a:lstStyle/>
          <a:p/>
        </p:txBody>
      </p:sp>
      <p:sp>
        <p:nvSpPr>
          <p:cNvPr id="11" name="Oval 10"/>
          <p:cNvSpPr/>
          <p:nvPr/>
        </p:nvSpPr>
        <p:spPr>
          <a:xfrm>
            <a:off x="3595878" y="127000"/>
            <a:ext cx="114300" cy="215900"/>
          </a:xfrm>
          <a:prstGeom prst="ellipse">
            <a:avLst/>
          </a:prstGeom>
          <a:noFill/>
          <a:ln w="10160">
            <a:solidFill>
              <a:srgbClr val="B08D4F"/>
            </a:solidFill>
          </a:ln>
          <a:effectLst/>
        </p:spPr>
        <p:txBody>
          <a:bodyPr rtlCol="0" anchor="ctr"/>
          <a:lstStyle/>
          <a:p/>
        </p:txBody>
      </p:sp>
      <p:sp>
        <p:nvSpPr>
          <p:cNvPr id="12" name="Oval 11"/>
          <p:cNvSpPr/>
          <p:nvPr/>
        </p:nvSpPr>
        <p:spPr>
          <a:xfrm>
            <a:off x="3691128" y="127000"/>
            <a:ext cx="114300" cy="215900"/>
          </a:xfrm>
          <a:prstGeom prst="ellipse">
            <a:avLst/>
          </a:prstGeom>
          <a:noFill/>
          <a:ln w="10160">
            <a:solidFill>
              <a:srgbClr val="B08D4F"/>
            </a:solidFill>
          </a:ln>
          <a:effectLst/>
        </p:spPr>
        <p:txBody>
          <a:bodyPr rtlCol="0" anchor="ctr"/>
          <a:lstStyle/>
          <a:p/>
        </p:txBody>
      </p:sp>
      <p:sp>
        <p:nvSpPr>
          <p:cNvPr id="13" name="Oval 12"/>
          <p:cNvSpPr/>
          <p:nvPr/>
        </p:nvSpPr>
        <p:spPr>
          <a:xfrm>
            <a:off x="3786378" y="127000"/>
            <a:ext cx="114300" cy="215900"/>
          </a:xfrm>
          <a:prstGeom prst="ellipse">
            <a:avLst/>
          </a:prstGeom>
          <a:noFill/>
          <a:ln w="10160">
            <a:solidFill>
              <a:srgbClr val="B08D4F"/>
            </a:solidFill>
          </a:ln>
          <a:effectLst/>
        </p:spPr>
        <p:txBody>
          <a:bodyPr rtlCol="0" anchor="ctr"/>
          <a:lstStyle/>
          <a:p/>
        </p:txBody>
      </p:sp>
      <p:sp>
        <p:nvSpPr>
          <p:cNvPr id="14" name="Oval 13"/>
          <p:cNvSpPr/>
          <p:nvPr/>
        </p:nvSpPr>
        <p:spPr>
          <a:xfrm>
            <a:off x="3881628" y="127000"/>
            <a:ext cx="114300" cy="215900"/>
          </a:xfrm>
          <a:prstGeom prst="ellipse">
            <a:avLst/>
          </a:prstGeom>
          <a:noFill/>
          <a:ln w="10160">
            <a:solidFill>
              <a:srgbClr val="B08D4F"/>
            </a:solidFill>
          </a:ln>
          <a:effectLst/>
        </p:spPr>
        <p:txBody>
          <a:bodyPr rtlCol="0" anchor="ctr"/>
          <a:lstStyle/>
          <a:p/>
        </p:txBody>
      </p:sp>
      <p:sp>
        <p:nvSpPr>
          <p:cNvPr id="15" name="Arc 14"/>
          <p:cNvSpPr/>
          <p:nvPr/>
        </p:nvSpPr>
        <p:spPr>
          <a:xfrm>
            <a:off x="3437128" y="165100"/>
            <a:ext cx="685800" cy="381000"/>
          </a:xfrm>
          <a:prstGeom prst="arc">
            <a:avLst>
              <a:gd name="adj1" fmla="val 18000000"/>
              <a:gd name="adj2" fmla="val 0"/>
            </a:avLst>
          </a:prstGeom>
          <a:noFill/>
          <a:ln w="10160">
            <a:solidFill>
              <a:srgbClr val="B08D4F"/>
            </a:solidFill>
          </a:ln>
          <a:effectLst/>
        </p:spPr>
        <p:txBody>
          <a:bodyPr rtlCol="0" anchor="ctr"/>
          <a:lstStyle/>
          <a:p>
            <a:pPr algn="ctr"/>
          </a:p>
        </p:txBody>
      </p:sp>
      <p:sp>
        <p:nvSpPr>
          <p:cNvPr id="16" name="TextBox 15"/>
          <p:cNvSpPr txBox="1"/>
          <p:nvPr/>
        </p:nvSpPr>
        <p:spPr>
          <a:xfrm>
            <a:off x="254000" y="635000"/>
            <a:ext cx="7052056" cy="462280"/>
          </a:xfrm>
          <a:prstGeom prst="rect">
            <a:avLst/>
          </a:prstGeom>
          <a:noFill/>
        </p:spPr>
        <p:txBody>
          <a:bodyPr wrap="square" lIns="0" rIns="0" tIns="0" bIns="0" anchor="t">
            <a:spAutoFit/>
          </a:bodyPr>
          <a:lstStyle/>
          <a:p>
            <a:pPr algn="ctr"/>
            <a:r>
              <a:rPr sz="2600" b="1" i="0">
                <a:solidFill>
                  <a:srgbClr val="3F5C4A"/>
                </a:solidFill>
                <a:latin typeface="Libre Baskerville"/>
              </a:rPr>
              <a:t>INFORMAÇÕES DO ESPAÇO</a:t>
            </a:r>
          </a:p>
        </p:txBody>
      </p:sp>
      <p:sp>
        <p:nvSpPr>
          <p:cNvPr id="17" name="TextBox 16"/>
          <p:cNvSpPr txBox="1"/>
          <p:nvPr/>
        </p:nvSpPr>
        <p:spPr>
          <a:xfrm>
            <a:off x="508000" y="1080770"/>
            <a:ext cx="6544056" cy="177800"/>
          </a:xfrm>
          <a:prstGeom prst="rect">
            <a:avLst/>
          </a:prstGeom>
          <a:noFill/>
        </p:spPr>
        <p:txBody>
          <a:bodyPr wrap="square" lIns="0" rIns="0" tIns="0" bIns="0" anchor="t">
            <a:spAutoFit/>
          </a:bodyPr>
          <a:lstStyle/>
          <a:p>
            <a:pPr algn="ctr"/>
            <a:r>
              <a:rPr sz="950" b="0" i="0">
                <a:solidFill>
                  <a:srgbClr val="2A2A26"/>
                </a:solidFill>
                <a:latin typeface="Montserrat"/>
              </a:rPr>
              <a:t>Guarde esta ficha para consultas rápidas</a:t>
            </a:r>
          </a:p>
        </p:txBody>
      </p:sp>
      <p:sp>
        <p:nvSpPr>
          <p:cNvPr id="18" name="TextBox 17"/>
          <p:cNvSpPr txBox="1"/>
          <p:nvPr/>
        </p:nvSpPr>
        <p:spPr>
          <a:xfrm>
            <a:off x="762000" y="10196703"/>
            <a:ext cx="6036056" cy="127000"/>
          </a:xfrm>
          <a:prstGeom prst="rect">
            <a:avLst/>
          </a:prstGeom>
          <a:noFill/>
        </p:spPr>
        <p:txBody>
          <a:bodyPr wrap="square" lIns="0" rIns="0" tIns="0" bIns="0" anchor="t">
            <a:spAutoFit/>
          </a:bodyPr>
          <a:lstStyle/>
          <a:p>
            <a:pPr algn="ctr"/>
            <a:r>
              <a:rPr sz="650" b="0" i="0">
                <a:solidFill>
                  <a:srgbClr val="77776E"/>
                </a:solidFill>
                <a:latin typeface="Montserrat"/>
              </a:rPr>
              <a:t>MASSOTERAPIA • CUIDADO • BEM-ESTAR</a:t>
            </a:r>
          </a:p>
        </p:txBody>
      </p:sp>
      <p:cxnSp>
        <p:nvCxnSpPr>
          <p:cNvPr id="19" name="Connector 18"/>
          <p:cNvCxnSpPr/>
          <p:nvPr/>
        </p:nvCxnSpPr>
        <p:spPr>
          <a:xfrm>
            <a:off x="1968500" y="10336403"/>
            <a:ext cx="3623056" cy="0"/>
          </a:xfrm>
          <a:prstGeom prst="line">
            <a:avLst/>
          </a:prstGeom>
          <a:ln w="8890">
            <a:solidFill>
              <a:srgbClr val="B08D4F"/>
            </a:solidFill>
          </a:ln>
        </p:spPr>
      </p:cxnSp>
      <p:sp>
        <p:nvSpPr>
          <p:cNvPr id="20" name="TextBox 19"/>
          <p:cNvSpPr txBox="1"/>
          <p:nvPr/>
        </p:nvSpPr>
        <p:spPr>
          <a:xfrm>
            <a:off x="533400" y="1888959"/>
            <a:ext cx="3056128" cy="159252"/>
          </a:xfrm>
          <a:prstGeom prst="rect">
            <a:avLst/>
          </a:prstGeom>
          <a:noFill/>
        </p:spPr>
        <p:txBody>
          <a:bodyPr wrap="square" lIns="0" rIns="0" tIns="0" bIns="0" anchor="t">
            <a:spAutoFit/>
          </a:bodyPr>
          <a:lstStyle/>
          <a:p>
            <a:pPr algn="l"/>
            <a:r>
              <a:rPr sz="895" b="0" i="0">
                <a:solidFill>
                  <a:srgbClr val="2A2A26"/>
                </a:solidFill>
                <a:latin typeface="Montserrat"/>
              </a:rPr>
              <a:t>Nome do(a) massoterapeuta:</a:t>
            </a:r>
          </a:p>
        </p:txBody>
      </p:sp>
      <p:cxnSp>
        <p:nvCxnSpPr>
          <p:cNvPr id="21" name="Connector 20"/>
          <p:cNvCxnSpPr/>
          <p:nvPr/>
        </p:nvCxnSpPr>
        <p:spPr>
          <a:xfrm>
            <a:off x="2261164" y="2025461"/>
            <a:ext cx="1328364" cy="0"/>
          </a:xfrm>
          <a:prstGeom prst="line">
            <a:avLst/>
          </a:prstGeom>
          <a:ln w="7620">
            <a:solidFill>
              <a:srgbClr val="B4B2A8"/>
            </a:solidFill>
          </a:ln>
        </p:spPr>
      </p:cxnSp>
      <p:sp>
        <p:nvSpPr>
          <p:cNvPr id="22" name="TextBox 21"/>
          <p:cNvSpPr txBox="1"/>
          <p:nvPr/>
        </p:nvSpPr>
        <p:spPr>
          <a:xfrm>
            <a:off x="533400" y="2274134"/>
            <a:ext cx="3056128" cy="159252"/>
          </a:xfrm>
          <a:prstGeom prst="rect">
            <a:avLst/>
          </a:prstGeom>
          <a:noFill/>
        </p:spPr>
        <p:txBody>
          <a:bodyPr wrap="square" lIns="0" rIns="0" tIns="0" bIns="0" anchor="t">
            <a:spAutoFit/>
          </a:bodyPr>
          <a:lstStyle/>
          <a:p>
            <a:pPr algn="l"/>
            <a:r>
              <a:rPr sz="895" b="0" i="0">
                <a:solidFill>
                  <a:srgbClr val="2A2A26"/>
                </a:solidFill>
                <a:latin typeface="Montserrat"/>
              </a:rPr>
              <a:t>Telefone / WhatsApp:</a:t>
            </a:r>
          </a:p>
        </p:txBody>
      </p:sp>
      <p:cxnSp>
        <p:nvCxnSpPr>
          <p:cNvPr id="23" name="Connector 22"/>
          <p:cNvCxnSpPr/>
          <p:nvPr/>
        </p:nvCxnSpPr>
        <p:spPr>
          <a:xfrm>
            <a:off x="1818796" y="2410636"/>
            <a:ext cx="1770732" cy="0"/>
          </a:xfrm>
          <a:prstGeom prst="line">
            <a:avLst/>
          </a:prstGeom>
          <a:ln w="7620">
            <a:solidFill>
              <a:srgbClr val="B4B2A8"/>
            </a:solidFill>
          </a:ln>
        </p:spPr>
      </p:cxnSp>
      <p:sp>
        <p:nvSpPr>
          <p:cNvPr id="24" name="TextBox 23"/>
          <p:cNvSpPr txBox="1"/>
          <p:nvPr/>
        </p:nvSpPr>
        <p:spPr>
          <a:xfrm>
            <a:off x="533400" y="2659309"/>
            <a:ext cx="3056128" cy="159252"/>
          </a:xfrm>
          <a:prstGeom prst="rect">
            <a:avLst/>
          </a:prstGeom>
          <a:noFill/>
        </p:spPr>
        <p:txBody>
          <a:bodyPr wrap="square" lIns="0" rIns="0" tIns="0" bIns="0" anchor="t">
            <a:spAutoFit/>
          </a:bodyPr>
          <a:lstStyle/>
          <a:p>
            <a:pPr algn="l"/>
            <a:r>
              <a:rPr sz="895" b="0" i="0">
                <a:solidFill>
                  <a:srgbClr val="2A2A26"/>
                </a:solidFill>
                <a:latin typeface="Montserrat"/>
              </a:rPr>
              <a:t>Endereço do espaço:</a:t>
            </a:r>
          </a:p>
        </p:txBody>
      </p:sp>
      <p:cxnSp>
        <p:nvCxnSpPr>
          <p:cNvPr id="25" name="Connector 24"/>
          <p:cNvCxnSpPr/>
          <p:nvPr/>
        </p:nvCxnSpPr>
        <p:spPr>
          <a:xfrm>
            <a:off x="1790233" y="2795810"/>
            <a:ext cx="1799295" cy="0"/>
          </a:xfrm>
          <a:prstGeom prst="line">
            <a:avLst/>
          </a:prstGeom>
          <a:ln w="7620">
            <a:solidFill>
              <a:srgbClr val="B4B2A8"/>
            </a:solidFill>
          </a:ln>
        </p:spPr>
      </p:cxnSp>
      <p:sp>
        <p:nvSpPr>
          <p:cNvPr id="26" name="TextBox 25"/>
          <p:cNvSpPr txBox="1"/>
          <p:nvPr/>
        </p:nvSpPr>
        <p:spPr>
          <a:xfrm>
            <a:off x="533400" y="3044483"/>
            <a:ext cx="3056128" cy="159252"/>
          </a:xfrm>
          <a:prstGeom prst="rect">
            <a:avLst/>
          </a:prstGeom>
          <a:noFill/>
        </p:spPr>
        <p:txBody>
          <a:bodyPr wrap="square" lIns="0" rIns="0" tIns="0" bIns="0" anchor="t">
            <a:spAutoFit/>
          </a:bodyPr>
          <a:lstStyle/>
          <a:p>
            <a:pPr algn="l"/>
            <a:r>
              <a:rPr sz="895" b="0" i="0">
                <a:solidFill>
                  <a:srgbClr val="2A2A26"/>
                </a:solidFill>
                <a:latin typeface="Montserrat"/>
              </a:rPr>
              <a:t>Dias e horários de atendimento:</a:t>
            </a:r>
          </a:p>
        </p:txBody>
      </p:sp>
      <p:cxnSp>
        <p:nvCxnSpPr>
          <p:cNvPr id="27" name="Connector 26"/>
          <p:cNvCxnSpPr/>
          <p:nvPr/>
        </p:nvCxnSpPr>
        <p:spPr>
          <a:xfrm>
            <a:off x="2419155" y="3180985"/>
            <a:ext cx="1170373" cy="0"/>
          </a:xfrm>
          <a:prstGeom prst="line">
            <a:avLst/>
          </a:prstGeom>
          <a:ln w="7620">
            <a:solidFill>
              <a:srgbClr val="B4B2A8"/>
            </a:solidFill>
          </a:ln>
        </p:spPr>
      </p:cxnSp>
      <p:sp>
        <p:nvSpPr>
          <p:cNvPr id="28" name="TextBox 27"/>
          <p:cNvSpPr txBox="1"/>
          <p:nvPr/>
        </p:nvSpPr>
        <p:spPr>
          <a:xfrm>
            <a:off x="3970528" y="1888959"/>
            <a:ext cx="3056128" cy="159252"/>
          </a:xfrm>
          <a:prstGeom prst="rect">
            <a:avLst/>
          </a:prstGeom>
          <a:noFill/>
        </p:spPr>
        <p:txBody>
          <a:bodyPr wrap="square" lIns="0" rIns="0" tIns="0" bIns="0" anchor="t">
            <a:spAutoFit/>
          </a:bodyPr>
          <a:lstStyle/>
          <a:p>
            <a:pPr algn="l"/>
            <a:r>
              <a:rPr sz="895" b="0" i="0">
                <a:solidFill>
                  <a:srgbClr val="2A2A26"/>
                </a:solidFill>
                <a:latin typeface="Montserrat"/>
              </a:rPr>
              <a:t>Registro profissional (se aplicável):</a:t>
            </a:r>
          </a:p>
        </p:txBody>
      </p:sp>
      <p:cxnSp>
        <p:nvCxnSpPr>
          <p:cNvPr id="29" name="Connector 28"/>
          <p:cNvCxnSpPr/>
          <p:nvPr/>
        </p:nvCxnSpPr>
        <p:spPr>
          <a:xfrm>
            <a:off x="5980112" y="2025461"/>
            <a:ext cx="1046544" cy="0"/>
          </a:xfrm>
          <a:prstGeom prst="line">
            <a:avLst/>
          </a:prstGeom>
          <a:ln w="7620">
            <a:solidFill>
              <a:srgbClr val="B4B2A8"/>
            </a:solidFill>
          </a:ln>
        </p:spPr>
      </p:cxnSp>
      <p:sp>
        <p:nvSpPr>
          <p:cNvPr id="30" name="TextBox 29"/>
          <p:cNvSpPr txBox="1"/>
          <p:nvPr/>
        </p:nvSpPr>
        <p:spPr>
          <a:xfrm>
            <a:off x="3970528" y="2274134"/>
            <a:ext cx="3056128" cy="159252"/>
          </a:xfrm>
          <a:prstGeom prst="rect">
            <a:avLst/>
          </a:prstGeom>
          <a:noFill/>
        </p:spPr>
        <p:txBody>
          <a:bodyPr wrap="square" lIns="0" rIns="0" tIns="0" bIns="0" anchor="t">
            <a:spAutoFit/>
          </a:bodyPr>
          <a:lstStyle/>
          <a:p>
            <a:pPr algn="l"/>
            <a:r>
              <a:rPr sz="895" b="0" i="0">
                <a:solidFill>
                  <a:srgbClr val="2A2A26"/>
                </a:solidFill>
                <a:latin typeface="Montserrat"/>
              </a:rPr>
              <a:t>E-mail:</a:t>
            </a:r>
          </a:p>
        </p:txBody>
      </p:sp>
      <p:cxnSp>
        <p:nvCxnSpPr>
          <p:cNvPr id="31" name="Connector 30"/>
          <p:cNvCxnSpPr/>
          <p:nvPr/>
        </p:nvCxnSpPr>
        <p:spPr>
          <a:xfrm>
            <a:off x="4437144" y="2410636"/>
            <a:ext cx="2589512" cy="0"/>
          </a:xfrm>
          <a:prstGeom prst="line">
            <a:avLst/>
          </a:prstGeom>
          <a:ln w="7620">
            <a:solidFill>
              <a:srgbClr val="B4B2A8"/>
            </a:solidFill>
          </a:ln>
        </p:spPr>
      </p:cxnSp>
      <p:sp>
        <p:nvSpPr>
          <p:cNvPr id="32" name="TextBox 31"/>
          <p:cNvSpPr txBox="1"/>
          <p:nvPr/>
        </p:nvSpPr>
        <p:spPr>
          <a:xfrm>
            <a:off x="3970528" y="2659309"/>
            <a:ext cx="3056128" cy="159252"/>
          </a:xfrm>
          <a:prstGeom prst="rect">
            <a:avLst/>
          </a:prstGeom>
          <a:noFill/>
        </p:spPr>
        <p:txBody>
          <a:bodyPr wrap="square" lIns="0" rIns="0" tIns="0" bIns="0" anchor="t">
            <a:spAutoFit/>
          </a:bodyPr>
          <a:lstStyle/>
          <a:p>
            <a:pPr algn="l"/>
            <a:r>
              <a:rPr sz="895" b="0" i="0">
                <a:solidFill>
                  <a:srgbClr val="2A2A26"/>
                </a:solidFill>
                <a:latin typeface="Montserrat"/>
              </a:rPr>
              <a:t>Link / localização:</a:t>
            </a:r>
          </a:p>
        </p:txBody>
      </p:sp>
      <p:cxnSp>
        <p:nvCxnSpPr>
          <p:cNvPr id="33" name="Connector 32"/>
          <p:cNvCxnSpPr/>
          <p:nvPr/>
        </p:nvCxnSpPr>
        <p:spPr>
          <a:xfrm>
            <a:off x="5033095" y="2795810"/>
            <a:ext cx="1993561" cy="0"/>
          </a:xfrm>
          <a:prstGeom prst="line">
            <a:avLst/>
          </a:prstGeom>
          <a:ln w="7620">
            <a:solidFill>
              <a:srgbClr val="B4B2A8"/>
            </a:solidFill>
          </a:ln>
        </p:spPr>
      </p:cxnSp>
      <p:sp>
        <p:nvSpPr>
          <p:cNvPr id="34" name="TextBox 33"/>
          <p:cNvSpPr txBox="1"/>
          <p:nvPr/>
        </p:nvSpPr>
        <p:spPr>
          <a:xfrm>
            <a:off x="3970528" y="3044483"/>
            <a:ext cx="3056128" cy="159252"/>
          </a:xfrm>
          <a:prstGeom prst="rect">
            <a:avLst/>
          </a:prstGeom>
          <a:noFill/>
        </p:spPr>
        <p:txBody>
          <a:bodyPr wrap="square" lIns="0" rIns="0" tIns="0" bIns="0" anchor="t">
            <a:spAutoFit/>
          </a:bodyPr>
          <a:lstStyle/>
          <a:p>
            <a:pPr algn="l"/>
            <a:r>
              <a:rPr sz="895" b="0" i="0">
                <a:solidFill>
                  <a:srgbClr val="2A2A26"/>
                </a:solidFill>
                <a:latin typeface="Montserrat"/>
              </a:rPr>
              <a:t>Duração média da sessão:</a:t>
            </a:r>
          </a:p>
        </p:txBody>
      </p:sp>
      <p:cxnSp>
        <p:nvCxnSpPr>
          <p:cNvPr id="35" name="Connector 34"/>
          <p:cNvCxnSpPr/>
          <p:nvPr/>
        </p:nvCxnSpPr>
        <p:spPr>
          <a:xfrm>
            <a:off x="5523346" y="3180985"/>
            <a:ext cx="1503310" cy="0"/>
          </a:xfrm>
          <a:prstGeom prst="line">
            <a:avLst/>
          </a:prstGeom>
          <a:ln w="7620">
            <a:solidFill>
              <a:srgbClr val="B4B2A8"/>
            </a:solidFill>
          </a:ln>
        </p:spPr>
      </p:cxnSp>
      <p:sp>
        <p:nvSpPr>
          <p:cNvPr id="38" name="TextBox 37"/>
          <p:cNvSpPr txBox="1"/>
          <p:nvPr/>
        </p:nvSpPr>
        <p:spPr>
          <a:xfrm>
            <a:off x="508000" y="1461770"/>
            <a:ext cx="6544056" cy="266700"/>
          </a:xfrm>
          <a:prstGeom prst="rect">
            <a:avLst/>
          </a:prstGeom>
          <a:noFill/>
        </p:spPr>
        <p:txBody>
          <a:bodyPr wrap="square" lIns="0" rIns="0" tIns="0" bIns="0" anchor="ctr">
            <a:spAutoFit/>
          </a:bodyPr>
          <a:lstStyle/>
          <a:p>
            <a:pPr algn="l"/>
            <a:r>
              <a:rPr sz="840" b="1" i="0">
                <a:solidFill>
                  <a:srgbClr val="FFFFFF"/>
                </a:solidFill>
                <a:latin typeface="Montserrat"/>
              </a:rPr>
              <a:t>INFORMAÇÕES PROFISSIONAIS</a:t>
            </a:r>
          </a:p>
        </p:txBody>
      </p:sp>
      <p:cxnSp>
        <p:nvCxnSpPr>
          <p:cNvPr id="39" name="Connector 38"/>
          <p:cNvCxnSpPr/>
          <p:nvPr/>
        </p:nvCxnSpPr>
        <p:spPr>
          <a:xfrm>
            <a:off x="660400" y="4718055"/>
            <a:ext cx="2903728" cy="0"/>
          </a:xfrm>
          <a:prstGeom prst="line">
            <a:avLst/>
          </a:prstGeom>
          <a:ln w="7620">
            <a:solidFill>
              <a:srgbClr val="B4B2A8"/>
            </a:solidFill>
          </a:ln>
        </p:spPr>
      </p:cxnSp>
      <p:cxnSp>
        <p:nvCxnSpPr>
          <p:cNvPr id="40" name="Connector 39"/>
          <p:cNvCxnSpPr/>
          <p:nvPr/>
        </p:nvCxnSpPr>
        <p:spPr>
          <a:xfrm>
            <a:off x="660400" y="4958789"/>
            <a:ext cx="2903728" cy="0"/>
          </a:xfrm>
          <a:prstGeom prst="line">
            <a:avLst/>
          </a:prstGeom>
          <a:ln w="7620">
            <a:solidFill>
              <a:srgbClr val="B4B2A8"/>
            </a:solidFill>
          </a:ln>
        </p:spPr>
      </p:cxnSp>
      <p:cxnSp>
        <p:nvCxnSpPr>
          <p:cNvPr id="41" name="Connector 40"/>
          <p:cNvCxnSpPr/>
          <p:nvPr/>
        </p:nvCxnSpPr>
        <p:spPr>
          <a:xfrm>
            <a:off x="660400" y="5199523"/>
            <a:ext cx="2903728" cy="0"/>
          </a:xfrm>
          <a:prstGeom prst="line">
            <a:avLst/>
          </a:prstGeom>
          <a:ln w="7620">
            <a:solidFill>
              <a:srgbClr val="B4B2A8"/>
            </a:solidFill>
          </a:ln>
        </p:spPr>
      </p:cxnSp>
      <p:cxnSp>
        <p:nvCxnSpPr>
          <p:cNvPr id="42" name="Connector 41"/>
          <p:cNvCxnSpPr/>
          <p:nvPr/>
        </p:nvCxnSpPr>
        <p:spPr>
          <a:xfrm>
            <a:off x="660400" y="5440257"/>
            <a:ext cx="2903728" cy="0"/>
          </a:xfrm>
          <a:prstGeom prst="line">
            <a:avLst/>
          </a:prstGeom>
          <a:ln w="7620">
            <a:solidFill>
              <a:srgbClr val="B4B2A8"/>
            </a:solidFill>
          </a:ln>
        </p:spPr>
      </p:cxnSp>
      <p:sp>
        <p:nvSpPr>
          <p:cNvPr id="45" name="TextBox 44"/>
          <p:cNvSpPr txBox="1"/>
          <p:nvPr/>
        </p:nvSpPr>
        <p:spPr>
          <a:xfrm>
            <a:off x="635000" y="4177827"/>
            <a:ext cx="2903728" cy="241300"/>
          </a:xfrm>
          <a:prstGeom prst="rect">
            <a:avLst/>
          </a:prstGeom>
          <a:noFill/>
        </p:spPr>
        <p:txBody>
          <a:bodyPr wrap="square" lIns="0" rIns="0" tIns="0" bIns="0" anchor="ctr">
            <a:spAutoFit/>
          </a:bodyPr>
          <a:lstStyle/>
          <a:p>
            <a:pPr algn="l"/>
            <a:r>
              <a:rPr sz="760" b="1" i="0">
                <a:solidFill>
                  <a:srgbClr val="FFFFFF"/>
                </a:solidFill>
                <a:latin typeface="Montserrat"/>
              </a:rPr>
              <a:t>FORMA E DATA DE PAGAMENTO</a:t>
            </a:r>
          </a:p>
        </p:txBody>
      </p:sp>
      <p:cxnSp>
        <p:nvCxnSpPr>
          <p:cNvPr id="46" name="Connector 45"/>
          <p:cNvCxnSpPr/>
          <p:nvPr/>
        </p:nvCxnSpPr>
        <p:spPr>
          <a:xfrm>
            <a:off x="3995928" y="4718055"/>
            <a:ext cx="2903728" cy="0"/>
          </a:xfrm>
          <a:prstGeom prst="line">
            <a:avLst/>
          </a:prstGeom>
          <a:ln w="7620">
            <a:solidFill>
              <a:srgbClr val="B4B2A8"/>
            </a:solidFill>
          </a:ln>
        </p:spPr>
      </p:cxnSp>
      <p:cxnSp>
        <p:nvCxnSpPr>
          <p:cNvPr id="47" name="Connector 46"/>
          <p:cNvCxnSpPr/>
          <p:nvPr/>
        </p:nvCxnSpPr>
        <p:spPr>
          <a:xfrm>
            <a:off x="3995928" y="4958789"/>
            <a:ext cx="2903728" cy="0"/>
          </a:xfrm>
          <a:prstGeom prst="line">
            <a:avLst/>
          </a:prstGeom>
          <a:ln w="7620">
            <a:solidFill>
              <a:srgbClr val="B4B2A8"/>
            </a:solidFill>
          </a:ln>
        </p:spPr>
      </p:cxnSp>
      <p:cxnSp>
        <p:nvCxnSpPr>
          <p:cNvPr id="48" name="Connector 47"/>
          <p:cNvCxnSpPr/>
          <p:nvPr/>
        </p:nvCxnSpPr>
        <p:spPr>
          <a:xfrm>
            <a:off x="3995928" y="5199523"/>
            <a:ext cx="2903728" cy="0"/>
          </a:xfrm>
          <a:prstGeom prst="line">
            <a:avLst/>
          </a:prstGeom>
          <a:ln w="7620">
            <a:solidFill>
              <a:srgbClr val="B4B2A8"/>
            </a:solidFill>
          </a:ln>
        </p:spPr>
      </p:cxnSp>
      <p:cxnSp>
        <p:nvCxnSpPr>
          <p:cNvPr id="49" name="Connector 48"/>
          <p:cNvCxnSpPr/>
          <p:nvPr/>
        </p:nvCxnSpPr>
        <p:spPr>
          <a:xfrm>
            <a:off x="3995928" y="5440257"/>
            <a:ext cx="2903728" cy="0"/>
          </a:xfrm>
          <a:prstGeom prst="line">
            <a:avLst/>
          </a:prstGeom>
          <a:ln w="7620">
            <a:solidFill>
              <a:srgbClr val="B4B2A8"/>
            </a:solidFill>
          </a:ln>
        </p:spPr>
      </p:cxnSp>
      <p:sp>
        <p:nvSpPr>
          <p:cNvPr id="52" name="TextBox 51"/>
          <p:cNvSpPr txBox="1"/>
          <p:nvPr/>
        </p:nvSpPr>
        <p:spPr>
          <a:xfrm>
            <a:off x="3970528" y="4177827"/>
            <a:ext cx="2903728" cy="241300"/>
          </a:xfrm>
          <a:prstGeom prst="rect">
            <a:avLst/>
          </a:prstGeom>
          <a:noFill/>
        </p:spPr>
        <p:txBody>
          <a:bodyPr wrap="square" lIns="0" rIns="0" tIns="0" bIns="0" anchor="ctr">
            <a:spAutoFit/>
          </a:bodyPr>
          <a:lstStyle/>
          <a:p>
            <a:pPr algn="l"/>
            <a:r>
              <a:rPr sz="760" b="1" i="0">
                <a:solidFill>
                  <a:srgbClr val="FFFFFF"/>
                </a:solidFill>
                <a:latin typeface="Montserrat"/>
              </a:rPr>
              <a:t>PRAZO PARA CANCELAMENTO / REAGENDAMENTO</a:t>
            </a:r>
          </a:p>
        </p:txBody>
      </p:sp>
      <p:sp>
        <p:nvSpPr>
          <p:cNvPr id="55" name="TextBox 54"/>
          <p:cNvSpPr txBox="1"/>
          <p:nvPr/>
        </p:nvSpPr>
        <p:spPr>
          <a:xfrm>
            <a:off x="508000" y="3750637"/>
            <a:ext cx="6544056" cy="266700"/>
          </a:xfrm>
          <a:prstGeom prst="rect">
            <a:avLst/>
          </a:prstGeom>
          <a:noFill/>
        </p:spPr>
        <p:txBody>
          <a:bodyPr wrap="square" lIns="0" rIns="0" tIns="0" bIns="0" anchor="ctr">
            <a:spAutoFit/>
          </a:bodyPr>
          <a:lstStyle/>
          <a:p>
            <a:pPr algn="l"/>
            <a:r>
              <a:rPr sz="840" b="1" i="0">
                <a:solidFill>
                  <a:srgbClr val="FFFFFF"/>
                </a:solidFill>
                <a:latin typeface="Montserrat"/>
              </a:rPr>
              <a:t>COMBINAÇÕES IMPORTANTES</a:t>
            </a:r>
          </a:p>
        </p:txBody>
      </p:sp>
      <p:cxnSp>
        <p:nvCxnSpPr>
          <p:cNvPr id="56" name="Connector 55"/>
          <p:cNvCxnSpPr/>
          <p:nvPr/>
        </p:nvCxnSpPr>
        <p:spPr>
          <a:xfrm>
            <a:off x="660400" y="6863048"/>
            <a:ext cx="2903728" cy="0"/>
          </a:xfrm>
          <a:prstGeom prst="line">
            <a:avLst/>
          </a:prstGeom>
          <a:ln w="7620">
            <a:solidFill>
              <a:srgbClr val="B4B2A8"/>
            </a:solidFill>
          </a:ln>
        </p:spPr>
      </p:cxnSp>
      <p:cxnSp>
        <p:nvCxnSpPr>
          <p:cNvPr id="57" name="Connector 56"/>
          <p:cNvCxnSpPr/>
          <p:nvPr/>
        </p:nvCxnSpPr>
        <p:spPr>
          <a:xfrm>
            <a:off x="660400" y="7103782"/>
            <a:ext cx="2903728" cy="0"/>
          </a:xfrm>
          <a:prstGeom prst="line">
            <a:avLst/>
          </a:prstGeom>
          <a:ln w="7620">
            <a:solidFill>
              <a:srgbClr val="B4B2A8"/>
            </a:solidFill>
          </a:ln>
        </p:spPr>
      </p:cxnSp>
      <p:cxnSp>
        <p:nvCxnSpPr>
          <p:cNvPr id="58" name="Connector 57"/>
          <p:cNvCxnSpPr/>
          <p:nvPr/>
        </p:nvCxnSpPr>
        <p:spPr>
          <a:xfrm>
            <a:off x="660400" y="7344516"/>
            <a:ext cx="2903728" cy="0"/>
          </a:xfrm>
          <a:prstGeom prst="line">
            <a:avLst/>
          </a:prstGeom>
          <a:ln w="7620">
            <a:solidFill>
              <a:srgbClr val="B4B2A8"/>
            </a:solidFill>
          </a:ln>
        </p:spPr>
      </p:cxnSp>
      <p:sp>
        <p:nvSpPr>
          <p:cNvPr id="61" name="TextBox 60"/>
          <p:cNvSpPr txBox="1"/>
          <p:nvPr/>
        </p:nvSpPr>
        <p:spPr>
          <a:xfrm>
            <a:off x="635000" y="6322820"/>
            <a:ext cx="2903728" cy="241300"/>
          </a:xfrm>
          <a:prstGeom prst="rect">
            <a:avLst/>
          </a:prstGeom>
          <a:noFill/>
        </p:spPr>
        <p:txBody>
          <a:bodyPr wrap="square" lIns="0" rIns="0" tIns="0" bIns="0" anchor="ctr">
            <a:spAutoFit/>
          </a:bodyPr>
          <a:lstStyle/>
          <a:p>
            <a:pPr algn="l"/>
            <a:r>
              <a:rPr sz="760" b="1" i="0">
                <a:solidFill>
                  <a:srgbClr val="FFFFFF"/>
                </a:solidFill>
                <a:latin typeface="Montserrat"/>
              </a:rPr>
              <a:t>CUIDADOS RECOMENDADOS</a:t>
            </a:r>
          </a:p>
        </p:txBody>
      </p:sp>
      <p:cxnSp>
        <p:nvCxnSpPr>
          <p:cNvPr id="62" name="Connector 61"/>
          <p:cNvCxnSpPr/>
          <p:nvPr/>
        </p:nvCxnSpPr>
        <p:spPr>
          <a:xfrm>
            <a:off x="3995928" y="6863048"/>
            <a:ext cx="2903728" cy="0"/>
          </a:xfrm>
          <a:prstGeom prst="line">
            <a:avLst/>
          </a:prstGeom>
          <a:ln w="7620">
            <a:solidFill>
              <a:srgbClr val="B4B2A8"/>
            </a:solidFill>
          </a:ln>
        </p:spPr>
      </p:cxnSp>
      <p:cxnSp>
        <p:nvCxnSpPr>
          <p:cNvPr id="63" name="Connector 62"/>
          <p:cNvCxnSpPr/>
          <p:nvPr/>
        </p:nvCxnSpPr>
        <p:spPr>
          <a:xfrm>
            <a:off x="3995928" y="7103782"/>
            <a:ext cx="2903728" cy="0"/>
          </a:xfrm>
          <a:prstGeom prst="line">
            <a:avLst/>
          </a:prstGeom>
          <a:ln w="7620">
            <a:solidFill>
              <a:srgbClr val="B4B2A8"/>
            </a:solidFill>
          </a:ln>
        </p:spPr>
      </p:cxnSp>
      <p:cxnSp>
        <p:nvCxnSpPr>
          <p:cNvPr id="64" name="Connector 63"/>
          <p:cNvCxnSpPr/>
          <p:nvPr/>
        </p:nvCxnSpPr>
        <p:spPr>
          <a:xfrm>
            <a:off x="3995928" y="7344516"/>
            <a:ext cx="2903728" cy="0"/>
          </a:xfrm>
          <a:prstGeom prst="line">
            <a:avLst/>
          </a:prstGeom>
          <a:ln w="7620">
            <a:solidFill>
              <a:srgbClr val="B4B2A8"/>
            </a:solidFill>
          </a:ln>
        </p:spPr>
      </p:cxnSp>
      <p:sp>
        <p:nvSpPr>
          <p:cNvPr id="67" name="TextBox 66"/>
          <p:cNvSpPr txBox="1"/>
          <p:nvPr/>
        </p:nvSpPr>
        <p:spPr>
          <a:xfrm>
            <a:off x="3970528" y="6322820"/>
            <a:ext cx="2903728" cy="241300"/>
          </a:xfrm>
          <a:prstGeom prst="rect">
            <a:avLst/>
          </a:prstGeom>
          <a:noFill/>
        </p:spPr>
        <p:txBody>
          <a:bodyPr wrap="square" lIns="0" rIns="0" tIns="0" bIns="0" anchor="ctr">
            <a:spAutoFit/>
          </a:bodyPr>
          <a:lstStyle/>
          <a:p>
            <a:pPr algn="l"/>
            <a:r>
              <a:rPr sz="760" b="1" i="0">
                <a:solidFill>
                  <a:srgbClr val="FFFFFF"/>
                </a:solidFill>
                <a:latin typeface="Montserrat"/>
              </a:rPr>
              <a:t>OBSERVAÇÕES IMPORTANTES</a:t>
            </a:r>
          </a:p>
        </p:txBody>
      </p:sp>
      <p:sp>
        <p:nvSpPr>
          <p:cNvPr id="70" name="TextBox 69"/>
          <p:cNvSpPr txBox="1"/>
          <p:nvPr/>
        </p:nvSpPr>
        <p:spPr>
          <a:xfrm>
            <a:off x="508000" y="5895630"/>
            <a:ext cx="6544056" cy="266700"/>
          </a:xfrm>
          <a:prstGeom prst="rect">
            <a:avLst/>
          </a:prstGeom>
          <a:noFill/>
        </p:spPr>
        <p:txBody>
          <a:bodyPr wrap="square" lIns="0" rIns="0" tIns="0" bIns="0" anchor="ctr">
            <a:spAutoFit/>
          </a:bodyPr>
          <a:lstStyle/>
          <a:p>
            <a:pPr algn="l"/>
            <a:r>
              <a:rPr sz="840" b="1" i="0">
                <a:solidFill>
                  <a:srgbClr val="FFFFFF"/>
                </a:solidFill>
                <a:latin typeface="Montserrat"/>
              </a:rPr>
              <a:t>PÓS-ATENDIMENTO</a:t>
            </a:r>
          </a:p>
        </p:txBody>
      </p:sp>
      <p:cxnSp>
        <p:nvCxnSpPr>
          <p:cNvPr id="71" name="Connector 70"/>
          <p:cNvCxnSpPr/>
          <p:nvPr/>
        </p:nvCxnSpPr>
        <p:spPr>
          <a:xfrm>
            <a:off x="533400" y="8461810"/>
            <a:ext cx="6493256" cy="0"/>
          </a:xfrm>
          <a:prstGeom prst="line">
            <a:avLst/>
          </a:prstGeom>
          <a:ln w="7620">
            <a:solidFill>
              <a:srgbClr val="B4B2A8"/>
            </a:solidFill>
          </a:ln>
        </p:spPr>
      </p:cxnSp>
      <p:cxnSp>
        <p:nvCxnSpPr>
          <p:cNvPr id="72" name="Connector 71"/>
          <p:cNvCxnSpPr/>
          <p:nvPr/>
        </p:nvCxnSpPr>
        <p:spPr>
          <a:xfrm>
            <a:off x="533400" y="8734643"/>
            <a:ext cx="6493256" cy="0"/>
          </a:xfrm>
          <a:prstGeom prst="line">
            <a:avLst/>
          </a:prstGeom>
          <a:ln w="7620">
            <a:solidFill>
              <a:srgbClr val="B4B2A8"/>
            </a:solidFill>
          </a:ln>
        </p:spPr>
      </p:cxnSp>
      <p:cxnSp>
        <p:nvCxnSpPr>
          <p:cNvPr id="73" name="Connector 72"/>
          <p:cNvCxnSpPr/>
          <p:nvPr/>
        </p:nvCxnSpPr>
        <p:spPr>
          <a:xfrm>
            <a:off x="533400" y="9007475"/>
            <a:ext cx="6493256" cy="0"/>
          </a:xfrm>
          <a:prstGeom prst="line">
            <a:avLst/>
          </a:prstGeom>
          <a:ln w="7620">
            <a:solidFill>
              <a:srgbClr val="B4B2A8"/>
            </a:solidFill>
          </a:ln>
        </p:spPr>
      </p:cxnSp>
      <p:cxnSp>
        <p:nvCxnSpPr>
          <p:cNvPr id="74" name="Connector 73"/>
          <p:cNvCxnSpPr/>
          <p:nvPr/>
        </p:nvCxnSpPr>
        <p:spPr>
          <a:xfrm>
            <a:off x="533400" y="9280307"/>
            <a:ext cx="6493256" cy="0"/>
          </a:xfrm>
          <a:prstGeom prst="line">
            <a:avLst/>
          </a:prstGeom>
          <a:ln w="7620">
            <a:solidFill>
              <a:srgbClr val="B4B2A8"/>
            </a:solidFill>
          </a:ln>
        </p:spPr>
      </p:cxnSp>
      <p:cxnSp>
        <p:nvCxnSpPr>
          <p:cNvPr id="75" name="Connector 74"/>
          <p:cNvCxnSpPr/>
          <p:nvPr/>
        </p:nvCxnSpPr>
        <p:spPr>
          <a:xfrm>
            <a:off x="533400" y="9553139"/>
            <a:ext cx="6493256" cy="0"/>
          </a:xfrm>
          <a:prstGeom prst="line">
            <a:avLst/>
          </a:prstGeom>
          <a:ln w="7620">
            <a:solidFill>
              <a:srgbClr val="B4B2A8"/>
            </a:solidFill>
          </a:ln>
        </p:spPr>
      </p:cxnSp>
      <p:cxnSp>
        <p:nvCxnSpPr>
          <p:cNvPr id="76" name="Connector 75"/>
          <p:cNvCxnSpPr/>
          <p:nvPr/>
        </p:nvCxnSpPr>
        <p:spPr>
          <a:xfrm>
            <a:off x="533400" y="9825971"/>
            <a:ext cx="6493256" cy="0"/>
          </a:xfrm>
          <a:prstGeom prst="line">
            <a:avLst/>
          </a:prstGeom>
          <a:ln w="7620">
            <a:solidFill>
              <a:srgbClr val="B4B2A8"/>
            </a:solidFill>
          </a:ln>
        </p:spPr>
      </p:cxnSp>
      <p:sp>
        <p:nvSpPr>
          <p:cNvPr id="79" name="TextBox 78"/>
          <p:cNvSpPr txBox="1"/>
          <p:nvPr/>
        </p:nvSpPr>
        <p:spPr>
          <a:xfrm>
            <a:off x="508000" y="7799889"/>
            <a:ext cx="6544056" cy="266700"/>
          </a:xfrm>
          <a:prstGeom prst="rect">
            <a:avLst/>
          </a:prstGeom>
          <a:noFill/>
        </p:spPr>
        <p:txBody>
          <a:bodyPr wrap="square" lIns="0" rIns="0" tIns="0" bIns="0" anchor="ctr">
            <a:spAutoFit/>
          </a:bodyPr>
          <a:lstStyle/>
          <a:p>
            <a:pPr algn="l"/>
            <a:r>
              <a:rPr sz="840" b="1" i="0">
                <a:solidFill>
                  <a:srgbClr val="FFFFFF"/>
                </a:solidFill>
                <a:latin typeface="Montserrat"/>
              </a:rPr>
              <a:t>OUTRAS INFORMAÇÕES IMPORTANTES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5EE"/>
        </a:solidFill>
        <a:effectLst/>
      </p:bgPr>
    </p:bg>
    <p:spTree>
      <p:nvGrpSpPr>
        <p:cNvPr id="1" name=""/>
        <p:cNvGrpSpPr/>
        <p:nvPr/>
      </p:nvGrpSpPr>
      <p:grpSpPr/>
      <p:sp>
        <p:nvSpPr>
          <p:cNvPr id="41" name="Rounded Rectangle 40"/>
          <p:cNvSpPr/>
          <p:nvPr/>
        </p:nvSpPr>
        <p:spPr>
          <a:xfrm>
            <a:off x="381000" y="7728897"/>
            <a:ext cx="6798056" cy="2171997"/>
          </a:xfrm>
          <a:prstGeom prst="roundRect">
            <a:avLst>
              <a:gd name="adj" fmla="val 4677"/>
            </a:avLst>
          </a:prstGeom>
          <a:solidFill>
            <a:srgbClr val="FDFCF8"/>
          </a:solidFill>
          <a:ln w="10160">
            <a:solidFill>
              <a:srgbClr val="D7D4C9"/>
            </a:solidFill>
          </a:ln>
          <a:effectLst/>
        </p:spPr>
        <p:txBody>
          <a:bodyPr rtlCol="0" anchor="ctr"/>
          <a:lstStyle/>
          <a:p/>
        </p:txBody>
      </p:sp>
      <p:sp>
        <p:nvSpPr>
          <p:cNvPr id="42" name="Round Same Side Corner Rectangle 41"/>
          <p:cNvSpPr/>
          <p:nvPr/>
        </p:nvSpPr>
        <p:spPr>
          <a:xfrm>
            <a:off x="381000" y="7728897"/>
            <a:ext cx="6798056" cy="266700"/>
          </a:xfrm>
          <a:prstGeom prst="round2SameRect">
            <a:avLst>
              <a:gd name="adj1" fmla="val 38095"/>
              <a:gd name="adj2" fmla="val 0"/>
            </a:avLst>
          </a:prstGeom>
          <a:solidFill>
            <a:srgbClr val="3F5C4A"/>
          </a:solidFill>
          <a:ln>
            <a:noFill/>
          </a:ln>
          <a:effectLst/>
        </p:spPr>
        <p:txBody>
          <a:bodyPr rtlCol="0" anchor="ctr"/>
          <a:lstStyle/>
          <a:p/>
        </p:txBody>
      </p:sp>
      <p:sp>
        <p:nvSpPr>
          <p:cNvPr id="33" name="Rounded Rectangle 32"/>
          <p:cNvSpPr/>
          <p:nvPr/>
        </p:nvSpPr>
        <p:spPr>
          <a:xfrm>
            <a:off x="381000" y="6162115"/>
            <a:ext cx="6798056" cy="1385325"/>
          </a:xfrm>
          <a:prstGeom prst="roundRect">
            <a:avLst>
              <a:gd name="adj" fmla="val 7334"/>
            </a:avLst>
          </a:prstGeom>
          <a:solidFill>
            <a:srgbClr val="FDFCF8"/>
          </a:solidFill>
          <a:ln w="10160">
            <a:solidFill>
              <a:srgbClr val="D7D4C9"/>
            </a:solidFill>
          </a:ln>
          <a:effectLst/>
        </p:spPr>
        <p:txBody>
          <a:bodyPr rtlCol="0" anchor="ctr"/>
          <a:lstStyle/>
          <a:p/>
        </p:txBody>
      </p:sp>
      <p:sp>
        <p:nvSpPr>
          <p:cNvPr id="34" name="Round Same Side Corner Rectangle 33"/>
          <p:cNvSpPr/>
          <p:nvPr/>
        </p:nvSpPr>
        <p:spPr>
          <a:xfrm>
            <a:off x="381000" y="6162115"/>
            <a:ext cx="6798056" cy="266700"/>
          </a:xfrm>
          <a:prstGeom prst="round2SameRect">
            <a:avLst>
              <a:gd name="adj1" fmla="val 38095"/>
              <a:gd name="adj2" fmla="val 0"/>
            </a:avLst>
          </a:prstGeom>
          <a:solidFill>
            <a:srgbClr val="3F5C4A"/>
          </a:solidFill>
          <a:ln>
            <a:noFill/>
          </a:ln>
          <a:effectLst/>
        </p:spPr>
        <p:txBody>
          <a:bodyPr rtlCol="0" anchor="ctr"/>
          <a:lstStyle/>
          <a:p/>
        </p:txBody>
      </p:sp>
      <p:sp>
        <p:nvSpPr>
          <p:cNvPr id="29" name="Rounded Rectangle 28"/>
          <p:cNvSpPr/>
          <p:nvPr/>
        </p:nvSpPr>
        <p:spPr>
          <a:xfrm>
            <a:off x="381000" y="4595333"/>
            <a:ext cx="6798056" cy="1385325"/>
          </a:xfrm>
          <a:prstGeom prst="roundRect">
            <a:avLst>
              <a:gd name="adj" fmla="val 7334"/>
            </a:avLst>
          </a:prstGeom>
          <a:solidFill>
            <a:srgbClr val="FDFCF8"/>
          </a:solidFill>
          <a:ln w="10160">
            <a:solidFill>
              <a:srgbClr val="D7D4C9"/>
            </a:solidFill>
          </a:ln>
          <a:effectLst/>
        </p:spPr>
        <p:txBody>
          <a:bodyPr rtlCol="0" anchor="ctr"/>
          <a:lstStyle/>
          <a:p/>
        </p:txBody>
      </p:sp>
      <p:sp>
        <p:nvSpPr>
          <p:cNvPr id="30" name="Round Same Side Corner Rectangle 29"/>
          <p:cNvSpPr/>
          <p:nvPr/>
        </p:nvSpPr>
        <p:spPr>
          <a:xfrm>
            <a:off x="381000" y="4595333"/>
            <a:ext cx="6798056" cy="266700"/>
          </a:xfrm>
          <a:prstGeom prst="round2SameRect">
            <a:avLst>
              <a:gd name="adj1" fmla="val 38095"/>
              <a:gd name="adj2" fmla="val 0"/>
            </a:avLst>
          </a:prstGeom>
          <a:solidFill>
            <a:srgbClr val="3F5C4A"/>
          </a:solidFill>
          <a:ln>
            <a:noFill/>
          </a:ln>
          <a:effectLst/>
        </p:spPr>
        <p:txBody>
          <a:bodyPr rtlCol="0" anchor="ctr"/>
          <a:lstStyle/>
          <a:p/>
        </p:txBody>
      </p:sp>
      <p:sp>
        <p:nvSpPr>
          <p:cNvPr id="25" name="Rounded Rectangle 24"/>
          <p:cNvSpPr/>
          <p:nvPr/>
        </p:nvSpPr>
        <p:spPr>
          <a:xfrm>
            <a:off x="381000" y="3028551"/>
            <a:ext cx="6798056" cy="1385325"/>
          </a:xfrm>
          <a:prstGeom prst="roundRect">
            <a:avLst>
              <a:gd name="adj" fmla="val 7334"/>
            </a:avLst>
          </a:prstGeom>
          <a:solidFill>
            <a:srgbClr val="FDFCF8"/>
          </a:solidFill>
          <a:ln w="10160">
            <a:solidFill>
              <a:srgbClr val="D7D4C9"/>
            </a:solidFill>
          </a:ln>
          <a:effectLst/>
        </p:spPr>
        <p:txBody>
          <a:bodyPr rtlCol="0" anchor="ctr"/>
          <a:lstStyle/>
          <a:p/>
        </p:txBody>
      </p:sp>
      <p:sp>
        <p:nvSpPr>
          <p:cNvPr id="26" name="Round Same Side Corner Rectangle 25"/>
          <p:cNvSpPr/>
          <p:nvPr/>
        </p:nvSpPr>
        <p:spPr>
          <a:xfrm>
            <a:off x="381000" y="3028551"/>
            <a:ext cx="6798056" cy="266700"/>
          </a:xfrm>
          <a:prstGeom prst="round2SameRect">
            <a:avLst>
              <a:gd name="adj1" fmla="val 38095"/>
              <a:gd name="adj2" fmla="val 0"/>
            </a:avLst>
          </a:prstGeom>
          <a:solidFill>
            <a:srgbClr val="3F5C4A"/>
          </a:solidFill>
          <a:ln>
            <a:noFill/>
          </a:ln>
          <a:effectLst/>
        </p:spPr>
        <p:txBody>
          <a:bodyPr rtlCol="0" anchor="ctr"/>
          <a:lstStyle/>
          <a:p/>
        </p:txBody>
      </p:sp>
      <p:sp>
        <p:nvSpPr>
          <p:cNvPr id="21" name="Rounded Rectangle 20"/>
          <p:cNvSpPr/>
          <p:nvPr/>
        </p:nvSpPr>
        <p:spPr>
          <a:xfrm>
            <a:off x="381000" y="1461770"/>
            <a:ext cx="6798056" cy="1385325"/>
          </a:xfrm>
          <a:prstGeom prst="roundRect">
            <a:avLst>
              <a:gd name="adj" fmla="val 7334"/>
            </a:avLst>
          </a:prstGeom>
          <a:solidFill>
            <a:srgbClr val="FDFCF8"/>
          </a:solidFill>
          <a:ln w="10160">
            <a:solidFill>
              <a:srgbClr val="D7D4C9"/>
            </a:solidFill>
          </a:ln>
          <a:effectLst/>
        </p:spPr>
        <p:txBody>
          <a:bodyPr rtlCol="0" anchor="ctr"/>
          <a:lstStyle/>
          <a:p/>
        </p:txBody>
      </p:sp>
      <p:sp>
        <p:nvSpPr>
          <p:cNvPr id="22" name="Round Same Side Corner Rectangle 21"/>
          <p:cNvSpPr/>
          <p:nvPr/>
        </p:nvSpPr>
        <p:spPr>
          <a:xfrm>
            <a:off x="381000" y="1461770"/>
            <a:ext cx="6798056" cy="266700"/>
          </a:xfrm>
          <a:prstGeom prst="round2SameRect">
            <a:avLst>
              <a:gd name="adj1" fmla="val 38095"/>
              <a:gd name="adj2" fmla="val 0"/>
            </a:avLst>
          </a:prstGeom>
          <a:solidFill>
            <a:srgbClr val="3F5C4A"/>
          </a:solidFill>
          <a:ln>
            <a:noFill/>
          </a:ln>
          <a:effectLst/>
        </p:spPr>
        <p:txBody>
          <a:bodyPr rtlCol="0" anchor="ctr"/>
          <a:lstStyle/>
          <a:p/>
        </p:txBody>
      </p:sp>
      <p:cxnSp>
        <p:nvCxnSpPr>
          <p:cNvPr id="2" name="Connector 1"/>
          <p:cNvCxnSpPr/>
          <p:nvPr/>
        </p:nvCxnSpPr>
        <p:spPr>
          <a:xfrm>
            <a:off x="38100" y="25400"/>
            <a:ext cx="660400" cy="660400"/>
          </a:xfrm>
          <a:prstGeom prst="line">
            <a:avLst/>
          </a:prstGeom>
          <a:ln w="13970">
            <a:solidFill>
              <a:srgbClr val="B08D4F"/>
            </a:solidFill>
          </a:ln>
        </p:spPr>
      </p:cxnSp>
      <p:sp>
        <p:nvSpPr>
          <p:cNvPr id="3" name="Oval 2"/>
          <p:cNvSpPr/>
          <p:nvPr/>
        </p:nvSpPr>
        <p:spPr>
          <a:xfrm>
            <a:off x="191770" y="77470"/>
            <a:ext cx="190500" cy="215900"/>
          </a:xfrm>
          <a:prstGeom prst="ellipse">
            <a:avLst/>
          </a:prstGeom>
          <a:solidFill>
            <a:srgbClr val="8FA388"/>
          </a:solidFill>
          <a:ln>
            <a:noFill/>
          </a:ln>
          <a:effectLst/>
        </p:spPr>
        <p:txBody>
          <a:bodyPr rtlCol="0" anchor="ctr"/>
          <a:lstStyle/>
          <a:p/>
        </p:txBody>
      </p:sp>
      <p:sp>
        <p:nvSpPr>
          <p:cNvPr id="4" name="Oval 3"/>
          <p:cNvSpPr/>
          <p:nvPr/>
        </p:nvSpPr>
        <p:spPr>
          <a:xfrm>
            <a:off x="330708" y="216408"/>
            <a:ext cx="203200" cy="228600"/>
          </a:xfrm>
          <a:prstGeom prst="ellipse">
            <a:avLst/>
          </a:prstGeom>
          <a:solidFill>
            <a:srgbClr val="8FA388"/>
          </a:solidFill>
          <a:ln>
            <a:noFill/>
          </a:ln>
          <a:effectLst/>
        </p:spPr>
        <p:txBody>
          <a:bodyPr rtlCol="0" anchor="ctr"/>
          <a:lstStyle/>
          <a:p/>
        </p:txBody>
      </p:sp>
      <p:sp>
        <p:nvSpPr>
          <p:cNvPr id="5" name="Oval 4"/>
          <p:cNvSpPr/>
          <p:nvPr/>
        </p:nvSpPr>
        <p:spPr>
          <a:xfrm>
            <a:off x="482345" y="368045"/>
            <a:ext cx="190500" cy="215900"/>
          </a:xfrm>
          <a:prstGeom prst="ellipse">
            <a:avLst/>
          </a:prstGeom>
          <a:solidFill>
            <a:srgbClr val="8FA388"/>
          </a:solidFill>
          <a:ln>
            <a:noFill/>
          </a:ln>
          <a:effectLst/>
        </p:spPr>
        <p:txBody>
          <a:bodyPr rtlCol="0" anchor="ctr"/>
          <a:lstStyle/>
          <a:p/>
        </p:txBody>
      </p:sp>
      <p:cxnSp>
        <p:nvCxnSpPr>
          <p:cNvPr id="6" name="Connector 5"/>
          <p:cNvCxnSpPr/>
          <p:nvPr/>
        </p:nvCxnSpPr>
        <p:spPr>
          <a:xfrm flipH="1">
            <a:off x="6861556" y="25400"/>
            <a:ext cx="660400" cy="660400"/>
          </a:xfrm>
          <a:prstGeom prst="line">
            <a:avLst/>
          </a:prstGeom>
          <a:ln w="13970">
            <a:solidFill>
              <a:srgbClr val="B08D4F"/>
            </a:solidFill>
          </a:ln>
        </p:spPr>
      </p:cxnSp>
      <p:sp>
        <p:nvSpPr>
          <p:cNvPr id="7" name="Oval 6"/>
          <p:cNvSpPr/>
          <p:nvPr/>
        </p:nvSpPr>
        <p:spPr>
          <a:xfrm>
            <a:off x="7177785" y="77470"/>
            <a:ext cx="190500" cy="215900"/>
          </a:xfrm>
          <a:prstGeom prst="ellipse">
            <a:avLst/>
          </a:prstGeom>
          <a:solidFill>
            <a:srgbClr val="8FA388"/>
          </a:solidFill>
          <a:ln>
            <a:noFill/>
          </a:ln>
          <a:effectLst/>
        </p:spPr>
        <p:txBody>
          <a:bodyPr rtlCol="0" anchor="ctr"/>
          <a:lstStyle/>
          <a:p/>
        </p:txBody>
      </p:sp>
      <p:sp>
        <p:nvSpPr>
          <p:cNvPr id="8" name="Oval 7"/>
          <p:cNvSpPr/>
          <p:nvPr/>
        </p:nvSpPr>
        <p:spPr>
          <a:xfrm>
            <a:off x="7026148" y="216408"/>
            <a:ext cx="203200" cy="228600"/>
          </a:xfrm>
          <a:prstGeom prst="ellipse">
            <a:avLst/>
          </a:prstGeom>
          <a:solidFill>
            <a:srgbClr val="8FA388"/>
          </a:solidFill>
          <a:ln>
            <a:noFill/>
          </a:ln>
          <a:effectLst/>
        </p:spPr>
        <p:txBody>
          <a:bodyPr rtlCol="0" anchor="ctr"/>
          <a:lstStyle/>
          <a:p/>
        </p:txBody>
      </p:sp>
      <p:sp>
        <p:nvSpPr>
          <p:cNvPr id="9" name="Oval 8"/>
          <p:cNvSpPr/>
          <p:nvPr/>
        </p:nvSpPr>
        <p:spPr>
          <a:xfrm>
            <a:off x="6887209" y="368045"/>
            <a:ext cx="190500" cy="215900"/>
          </a:xfrm>
          <a:prstGeom prst="ellipse">
            <a:avLst/>
          </a:prstGeom>
          <a:solidFill>
            <a:srgbClr val="8FA388"/>
          </a:solidFill>
          <a:ln>
            <a:noFill/>
          </a:ln>
          <a:effectLst/>
        </p:spPr>
        <p:txBody>
          <a:bodyPr rtlCol="0" anchor="ctr"/>
          <a:lstStyle/>
          <a:p/>
        </p:txBody>
      </p:sp>
      <p:sp>
        <p:nvSpPr>
          <p:cNvPr id="10" name="Oval 9"/>
          <p:cNvSpPr/>
          <p:nvPr/>
        </p:nvSpPr>
        <p:spPr>
          <a:xfrm>
            <a:off x="3500628" y="127000"/>
            <a:ext cx="114300" cy="215900"/>
          </a:xfrm>
          <a:prstGeom prst="ellipse">
            <a:avLst/>
          </a:prstGeom>
          <a:noFill/>
          <a:ln w="10160">
            <a:solidFill>
              <a:srgbClr val="B08D4F"/>
            </a:solidFill>
          </a:ln>
          <a:effectLst/>
        </p:spPr>
        <p:txBody>
          <a:bodyPr rtlCol="0" anchor="ctr"/>
          <a:lstStyle/>
          <a:p/>
        </p:txBody>
      </p:sp>
      <p:sp>
        <p:nvSpPr>
          <p:cNvPr id="11" name="Oval 10"/>
          <p:cNvSpPr/>
          <p:nvPr/>
        </p:nvSpPr>
        <p:spPr>
          <a:xfrm>
            <a:off x="3595878" y="127000"/>
            <a:ext cx="114300" cy="215900"/>
          </a:xfrm>
          <a:prstGeom prst="ellipse">
            <a:avLst/>
          </a:prstGeom>
          <a:noFill/>
          <a:ln w="10160">
            <a:solidFill>
              <a:srgbClr val="B08D4F"/>
            </a:solidFill>
          </a:ln>
          <a:effectLst/>
        </p:spPr>
        <p:txBody>
          <a:bodyPr rtlCol="0" anchor="ctr"/>
          <a:lstStyle/>
          <a:p/>
        </p:txBody>
      </p:sp>
      <p:sp>
        <p:nvSpPr>
          <p:cNvPr id="12" name="Oval 11"/>
          <p:cNvSpPr/>
          <p:nvPr/>
        </p:nvSpPr>
        <p:spPr>
          <a:xfrm>
            <a:off x="3691128" y="127000"/>
            <a:ext cx="114300" cy="215900"/>
          </a:xfrm>
          <a:prstGeom prst="ellipse">
            <a:avLst/>
          </a:prstGeom>
          <a:noFill/>
          <a:ln w="10160">
            <a:solidFill>
              <a:srgbClr val="B08D4F"/>
            </a:solidFill>
          </a:ln>
          <a:effectLst/>
        </p:spPr>
        <p:txBody>
          <a:bodyPr rtlCol="0" anchor="ctr"/>
          <a:lstStyle/>
          <a:p/>
        </p:txBody>
      </p:sp>
      <p:sp>
        <p:nvSpPr>
          <p:cNvPr id="13" name="Oval 12"/>
          <p:cNvSpPr/>
          <p:nvPr/>
        </p:nvSpPr>
        <p:spPr>
          <a:xfrm>
            <a:off x="3786378" y="127000"/>
            <a:ext cx="114300" cy="215900"/>
          </a:xfrm>
          <a:prstGeom prst="ellipse">
            <a:avLst/>
          </a:prstGeom>
          <a:noFill/>
          <a:ln w="10160">
            <a:solidFill>
              <a:srgbClr val="B08D4F"/>
            </a:solidFill>
          </a:ln>
          <a:effectLst/>
        </p:spPr>
        <p:txBody>
          <a:bodyPr rtlCol="0" anchor="ctr"/>
          <a:lstStyle/>
          <a:p/>
        </p:txBody>
      </p:sp>
      <p:sp>
        <p:nvSpPr>
          <p:cNvPr id="14" name="Oval 13"/>
          <p:cNvSpPr/>
          <p:nvPr/>
        </p:nvSpPr>
        <p:spPr>
          <a:xfrm>
            <a:off x="3881628" y="127000"/>
            <a:ext cx="114300" cy="215900"/>
          </a:xfrm>
          <a:prstGeom prst="ellipse">
            <a:avLst/>
          </a:prstGeom>
          <a:noFill/>
          <a:ln w="10160">
            <a:solidFill>
              <a:srgbClr val="B08D4F"/>
            </a:solidFill>
          </a:ln>
          <a:effectLst/>
        </p:spPr>
        <p:txBody>
          <a:bodyPr rtlCol="0" anchor="ctr"/>
          <a:lstStyle/>
          <a:p/>
        </p:txBody>
      </p:sp>
      <p:sp>
        <p:nvSpPr>
          <p:cNvPr id="15" name="Arc 14"/>
          <p:cNvSpPr/>
          <p:nvPr/>
        </p:nvSpPr>
        <p:spPr>
          <a:xfrm>
            <a:off x="3437128" y="165100"/>
            <a:ext cx="685800" cy="381000"/>
          </a:xfrm>
          <a:prstGeom prst="arc">
            <a:avLst>
              <a:gd name="adj1" fmla="val 18000000"/>
              <a:gd name="adj2" fmla="val 0"/>
            </a:avLst>
          </a:prstGeom>
          <a:noFill/>
          <a:ln w="10160">
            <a:solidFill>
              <a:srgbClr val="B08D4F"/>
            </a:solidFill>
          </a:ln>
          <a:effectLst/>
        </p:spPr>
        <p:txBody>
          <a:bodyPr rtlCol="0" anchor="ctr"/>
          <a:lstStyle/>
          <a:p>
            <a:pPr algn="ctr"/>
          </a:p>
        </p:txBody>
      </p:sp>
      <p:sp>
        <p:nvSpPr>
          <p:cNvPr id="16" name="TextBox 15"/>
          <p:cNvSpPr txBox="1"/>
          <p:nvPr/>
        </p:nvSpPr>
        <p:spPr>
          <a:xfrm>
            <a:off x="254000" y="635000"/>
            <a:ext cx="7052056" cy="462280"/>
          </a:xfrm>
          <a:prstGeom prst="rect">
            <a:avLst/>
          </a:prstGeom>
          <a:noFill/>
        </p:spPr>
        <p:txBody>
          <a:bodyPr wrap="square" lIns="0" rIns="0" tIns="0" bIns="0" anchor="t">
            <a:spAutoFit/>
          </a:bodyPr>
          <a:lstStyle/>
          <a:p>
            <a:pPr algn="ctr"/>
            <a:r>
              <a:rPr sz="2600" b="1" i="0">
                <a:solidFill>
                  <a:srgbClr val="3F5C4A"/>
                </a:solidFill>
                <a:latin typeface="Libre Baskerville"/>
              </a:rPr>
              <a:t>LEMBRETES DE AGENDAMENTOS</a:t>
            </a:r>
          </a:p>
        </p:txBody>
      </p:sp>
      <p:sp>
        <p:nvSpPr>
          <p:cNvPr id="17" name="TextBox 16"/>
          <p:cNvSpPr txBox="1"/>
          <p:nvPr/>
        </p:nvSpPr>
        <p:spPr>
          <a:xfrm>
            <a:off x="508000" y="1080770"/>
            <a:ext cx="6544056" cy="177800"/>
          </a:xfrm>
          <a:prstGeom prst="rect">
            <a:avLst/>
          </a:prstGeom>
          <a:noFill/>
        </p:spPr>
        <p:txBody>
          <a:bodyPr wrap="square" lIns="0" rIns="0" tIns="0" bIns="0" anchor="t">
            <a:spAutoFit/>
          </a:bodyPr>
          <a:lstStyle/>
          <a:p>
            <a:pPr algn="ctr"/>
            <a:r>
              <a:rPr sz="950" b="0" i="0">
                <a:solidFill>
                  <a:srgbClr val="2A2A26"/>
                </a:solidFill>
                <a:latin typeface="Montserrat"/>
              </a:rPr>
              <a:t>Textos prontos para adaptar e enviar</a:t>
            </a:r>
          </a:p>
        </p:txBody>
      </p:sp>
      <p:sp>
        <p:nvSpPr>
          <p:cNvPr id="18" name="TextBox 17"/>
          <p:cNvSpPr txBox="1"/>
          <p:nvPr/>
        </p:nvSpPr>
        <p:spPr>
          <a:xfrm>
            <a:off x="762000" y="10196703"/>
            <a:ext cx="6036056" cy="127000"/>
          </a:xfrm>
          <a:prstGeom prst="rect">
            <a:avLst/>
          </a:prstGeom>
          <a:noFill/>
        </p:spPr>
        <p:txBody>
          <a:bodyPr wrap="square" lIns="0" rIns="0" tIns="0" bIns="0" anchor="t">
            <a:spAutoFit/>
          </a:bodyPr>
          <a:lstStyle/>
          <a:p>
            <a:pPr algn="ctr"/>
            <a:r>
              <a:rPr sz="650" b="0" i="0">
                <a:solidFill>
                  <a:srgbClr val="77776E"/>
                </a:solidFill>
                <a:latin typeface="Montserrat"/>
              </a:rPr>
              <a:t>MASSOTERAPIA • CUIDADO • BEM-ESTAR</a:t>
            </a:r>
          </a:p>
        </p:txBody>
      </p:sp>
      <p:cxnSp>
        <p:nvCxnSpPr>
          <p:cNvPr id="19" name="Connector 18"/>
          <p:cNvCxnSpPr/>
          <p:nvPr/>
        </p:nvCxnSpPr>
        <p:spPr>
          <a:xfrm>
            <a:off x="1968500" y="10336403"/>
            <a:ext cx="3623056" cy="0"/>
          </a:xfrm>
          <a:prstGeom prst="line">
            <a:avLst/>
          </a:prstGeom>
          <a:ln w="8890">
            <a:solidFill>
              <a:srgbClr val="B08D4F"/>
            </a:solidFill>
          </a:ln>
        </p:spPr>
      </p:cxnSp>
      <p:sp>
        <p:nvSpPr>
          <p:cNvPr id="20" name="TextBox 19"/>
          <p:cNvSpPr txBox="1"/>
          <p:nvPr/>
        </p:nvSpPr>
        <p:spPr>
          <a:xfrm>
            <a:off x="533400" y="1909926"/>
            <a:ext cx="6493256" cy="429088"/>
          </a:xfrm>
          <a:prstGeom prst="rect">
            <a:avLst/>
          </a:prstGeom>
          <a:noFill/>
        </p:spPr>
        <p:txBody>
          <a:bodyPr wrap="square" lIns="0" rIns="0" tIns="0" bIns="0" anchor="t">
            <a:spAutoFit/>
          </a:bodyPr>
          <a:lstStyle/>
          <a:p>
            <a:pPr algn="l">
              <a:lnSpc>
                <a:spcPct val="140000"/>
              </a:lnSpc>
            </a:pPr>
            <a:r>
              <a:rPr sz="989" b="0" i="0">
                <a:solidFill>
                  <a:srgbClr val="2A2A26"/>
                </a:solidFill>
                <a:latin typeface="Montserrat"/>
              </a:rPr>
              <a:t>Olá, [nome]! Passando para confirmar nosso atendimento amanhã, [data], às [horário]. Se precisar ajustar o horário, me avise por aqui.</a:t>
            </a:r>
          </a:p>
        </p:txBody>
      </p:sp>
      <p:sp>
        <p:nvSpPr>
          <p:cNvPr id="23" name="TextBox 22"/>
          <p:cNvSpPr txBox="1"/>
          <p:nvPr/>
        </p:nvSpPr>
        <p:spPr>
          <a:xfrm>
            <a:off x="508000" y="1461770"/>
            <a:ext cx="6544056" cy="266700"/>
          </a:xfrm>
          <a:prstGeom prst="rect">
            <a:avLst/>
          </a:prstGeom>
          <a:noFill/>
        </p:spPr>
        <p:txBody>
          <a:bodyPr wrap="square" lIns="0" rIns="0" tIns="0" bIns="0" anchor="ctr">
            <a:spAutoFit/>
          </a:bodyPr>
          <a:lstStyle/>
          <a:p>
            <a:pPr algn="l"/>
            <a:r>
              <a:rPr sz="840" b="1" i="0">
                <a:solidFill>
                  <a:srgbClr val="FFFFFF"/>
                </a:solidFill>
                <a:latin typeface="Montserrat"/>
              </a:rPr>
              <a:t>CONFIRMAÇÃO — 24 HORAS ANTES</a:t>
            </a:r>
          </a:p>
        </p:txBody>
      </p:sp>
      <p:sp>
        <p:nvSpPr>
          <p:cNvPr id="24" name="TextBox 23"/>
          <p:cNvSpPr txBox="1"/>
          <p:nvPr/>
        </p:nvSpPr>
        <p:spPr>
          <a:xfrm>
            <a:off x="533400" y="3476708"/>
            <a:ext cx="6493256" cy="429088"/>
          </a:xfrm>
          <a:prstGeom prst="rect">
            <a:avLst/>
          </a:prstGeom>
          <a:noFill/>
        </p:spPr>
        <p:txBody>
          <a:bodyPr wrap="square" lIns="0" rIns="0" tIns="0" bIns="0" anchor="t">
            <a:spAutoFit/>
          </a:bodyPr>
          <a:lstStyle/>
          <a:p>
            <a:pPr algn="l">
              <a:lnSpc>
                <a:spcPct val="140000"/>
              </a:lnSpc>
            </a:pPr>
            <a:r>
              <a:rPr sz="989" b="0" i="0">
                <a:solidFill>
                  <a:srgbClr val="2A2A26"/>
                </a:solidFill>
                <a:latin typeface="Montserrat"/>
              </a:rPr>
              <a:t>Olá, [nome]! Lembrete do nosso atendimento hoje, às [horário]. [Endereço ou referência, se necessário]. Até mais!</a:t>
            </a:r>
          </a:p>
        </p:txBody>
      </p:sp>
      <p:sp>
        <p:nvSpPr>
          <p:cNvPr id="27" name="TextBox 26"/>
          <p:cNvSpPr txBox="1"/>
          <p:nvPr/>
        </p:nvSpPr>
        <p:spPr>
          <a:xfrm>
            <a:off x="508000" y="3028551"/>
            <a:ext cx="6544056" cy="266700"/>
          </a:xfrm>
          <a:prstGeom prst="rect">
            <a:avLst/>
          </a:prstGeom>
          <a:noFill/>
        </p:spPr>
        <p:txBody>
          <a:bodyPr wrap="square" lIns="0" rIns="0" tIns="0" bIns="0" anchor="ctr">
            <a:spAutoFit/>
          </a:bodyPr>
          <a:lstStyle/>
          <a:p>
            <a:pPr algn="l"/>
            <a:r>
              <a:rPr sz="840" b="1" i="0">
                <a:solidFill>
                  <a:srgbClr val="FFFFFF"/>
                </a:solidFill>
                <a:latin typeface="Montserrat"/>
              </a:rPr>
              <a:t>CONFIRMAÇÃO — NO MESMO DIA</a:t>
            </a:r>
          </a:p>
        </p:txBody>
      </p:sp>
      <p:sp>
        <p:nvSpPr>
          <p:cNvPr id="28" name="TextBox 27"/>
          <p:cNvSpPr txBox="1"/>
          <p:nvPr/>
        </p:nvSpPr>
        <p:spPr>
          <a:xfrm>
            <a:off x="533400" y="5043490"/>
            <a:ext cx="6493256" cy="429088"/>
          </a:xfrm>
          <a:prstGeom prst="rect">
            <a:avLst/>
          </a:prstGeom>
          <a:noFill/>
        </p:spPr>
        <p:txBody>
          <a:bodyPr wrap="square" lIns="0" rIns="0" tIns="0" bIns="0" anchor="t">
            <a:spAutoFit/>
          </a:bodyPr>
          <a:lstStyle/>
          <a:p>
            <a:pPr algn="l">
              <a:lnSpc>
                <a:spcPct val="140000"/>
              </a:lnSpc>
            </a:pPr>
            <a:r>
              <a:rPr sz="989" b="0" i="0">
                <a:solidFill>
                  <a:srgbClr val="2A2A26"/>
                </a:solidFill>
                <a:latin typeface="Montserrat"/>
              </a:rPr>
              <a:t>Olá, [nome]! Nosso atendimento está confirmado para [data], às [horário]. Estarei no local combinado. Se houver qualquer ajuste, me avise com antecedência.</a:t>
            </a:r>
          </a:p>
        </p:txBody>
      </p:sp>
      <p:sp>
        <p:nvSpPr>
          <p:cNvPr id="31" name="TextBox 30"/>
          <p:cNvSpPr txBox="1"/>
          <p:nvPr/>
        </p:nvSpPr>
        <p:spPr>
          <a:xfrm>
            <a:off x="508000" y="4595333"/>
            <a:ext cx="6544056" cy="266700"/>
          </a:xfrm>
          <a:prstGeom prst="rect">
            <a:avLst/>
          </a:prstGeom>
          <a:noFill/>
        </p:spPr>
        <p:txBody>
          <a:bodyPr wrap="square" lIns="0" rIns="0" tIns="0" bIns="0" anchor="ctr">
            <a:spAutoFit/>
          </a:bodyPr>
          <a:lstStyle/>
          <a:p>
            <a:pPr algn="l"/>
            <a:r>
              <a:rPr sz="840" b="1" i="0">
                <a:solidFill>
                  <a:srgbClr val="FFFFFF"/>
                </a:solidFill>
                <a:latin typeface="Montserrat"/>
              </a:rPr>
              <a:t>ATENDIMENTO DOMICILIAR / EMPRESARIAL</a:t>
            </a:r>
          </a:p>
        </p:txBody>
      </p:sp>
      <p:sp>
        <p:nvSpPr>
          <p:cNvPr id="32" name="TextBox 31"/>
          <p:cNvSpPr txBox="1"/>
          <p:nvPr/>
        </p:nvSpPr>
        <p:spPr>
          <a:xfrm>
            <a:off x="533400" y="6610272"/>
            <a:ext cx="6493256" cy="429088"/>
          </a:xfrm>
          <a:prstGeom prst="rect">
            <a:avLst/>
          </a:prstGeom>
          <a:noFill/>
        </p:spPr>
        <p:txBody>
          <a:bodyPr wrap="square" lIns="0" rIns="0" tIns="0" bIns="0" anchor="t">
            <a:spAutoFit/>
          </a:bodyPr>
          <a:lstStyle/>
          <a:p>
            <a:pPr algn="l">
              <a:lnSpc>
                <a:spcPct val="140000"/>
              </a:lnSpc>
            </a:pPr>
            <a:r>
              <a:rPr sz="989" b="0" i="0">
                <a:solidFill>
                  <a:srgbClr val="2A2A26"/>
                </a:solidFill>
                <a:latin typeface="Montserrat"/>
              </a:rPr>
              <a:t>Oi, [nome]! Sua próxima sessão ficou agendada para [data], às [horário]. Qualquer necessidade de alteração, avise com a antecedência combinada.</a:t>
            </a:r>
          </a:p>
        </p:txBody>
      </p:sp>
      <p:sp>
        <p:nvSpPr>
          <p:cNvPr id="35" name="TextBox 34"/>
          <p:cNvSpPr txBox="1"/>
          <p:nvPr/>
        </p:nvSpPr>
        <p:spPr>
          <a:xfrm>
            <a:off x="508000" y="6162115"/>
            <a:ext cx="6544056" cy="266700"/>
          </a:xfrm>
          <a:prstGeom prst="rect">
            <a:avLst/>
          </a:prstGeom>
          <a:noFill/>
        </p:spPr>
        <p:txBody>
          <a:bodyPr wrap="square" lIns="0" rIns="0" tIns="0" bIns="0" anchor="ctr">
            <a:spAutoFit/>
          </a:bodyPr>
          <a:lstStyle/>
          <a:p>
            <a:pPr algn="l"/>
            <a:r>
              <a:rPr sz="840" b="1" i="0">
                <a:solidFill>
                  <a:srgbClr val="FFFFFF"/>
                </a:solidFill>
                <a:latin typeface="Montserrat"/>
              </a:rPr>
              <a:t>PRÓXIMA SESSÃO AGENDADA</a:t>
            </a:r>
          </a:p>
        </p:txBody>
      </p:sp>
      <p:cxnSp>
        <p:nvCxnSpPr>
          <p:cNvPr id="36" name="Connector 35"/>
          <p:cNvCxnSpPr/>
          <p:nvPr/>
        </p:nvCxnSpPr>
        <p:spPr>
          <a:xfrm>
            <a:off x="533400" y="8447431"/>
            <a:ext cx="6493256" cy="0"/>
          </a:xfrm>
          <a:prstGeom prst="line">
            <a:avLst/>
          </a:prstGeom>
          <a:ln w="7620">
            <a:solidFill>
              <a:srgbClr val="B4B2A8"/>
            </a:solidFill>
          </a:ln>
        </p:spPr>
      </p:cxnSp>
      <p:cxnSp>
        <p:nvCxnSpPr>
          <p:cNvPr id="37" name="Connector 36"/>
          <p:cNvCxnSpPr/>
          <p:nvPr/>
        </p:nvCxnSpPr>
        <p:spPr>
          <a:xfrm>
            <a:off x="533400" y="8755907"/>
            <a:ext cx="6493256" cy="0"/>
          </a:xfrm>
          <a:prstGeom prst="line">
            <a:avLst/>
          </a:prstGeom>
          <a:ln w="7620">
            <a:solidFill>
              <a:srgbClr val="B4B2A8"/>
            </a:solidFill>
          </a:ln>
        </p:spPr>
      </p:cxnSp>
      <p:cxnSp>
        <p:nvCxnSpPr>
          <p:cNvPr id="38" name="Connector 37"/>
          <p:cNvCxnSpPr/>
          <p:nvPr/>
        </p:nvCxnSpPr>
        <p:spPr>
          <a:xfrm>
            <a:off x="533400" y="9064384"/>
            <a:ext cx="6493256" cy="0"/>
          </a:xfrm>
          <a:prstGeom prst="line">
            <a:avLst/>
          </a:prstGeom>
          <a:ln w="7620">
            <a:solidFill>
              <a:srgbClr val="B4B2A8"/>
            </a:solidFill>
          </a:ln>
        </p:spPr>
      </p:cxnSp>
      <p:cxnSp>
        <p:nvCxnSpPr>
          <p:cNvPr id="39" name="Connector 38"/>
          <p:cNvCxnSpPr/>
          <p:nvPr/>
        </p:nvCxnSpPr>
        <p:spPr>
          <a:xfrm>
            <a:off x="533400" y="9372861"/>
            <a:ext cx="6493256" cy="0"/>
          </a:xfrm>
          <a:prstGeom prst="line">
            <a:avLst/>
          </a:prstGeom>
          <a:ln w="7620">
            <a:solidFill>
              <a:srgbClr val="B4B2A8"/>
            </a:solidFill>
          </a:ln>
        </p:spPr>
      </p:cxnSp>
      <p:cxnSp>
        <p:nvCxnSpPr>
          <p:cNvPr id="40" name="Connector 39"/>
          <p:cNvCxnSpPr/>
          <p:nvPr/>
        </p:nvCxnSpPr>
        <p:spPr>
          <a:xfrm>
            <a:off x="533400" y="9681337"/>
            <a:ext cx="6493256" cy="0"/>
          </a:xfrm>
          <a:prstGeom prst="line">
            <a:avLst/>
          </a:prstGeom>
          <a:ln w="7620">
            <a:solidFill>
              <a:srgbClr val="B4B2A8"/>
            </a:solidFill>
          </a:ln>
        </p:spPr>
      </p:cxnSp>
      <p:sp>
        <p:nvSpPr>
          <p:cNvPr id="43" name="TextBox 42"/>
          <p:cNvSpPr txBox="1"/>
          <p:nvPr/>
        </p:nvSpPr>
        <p:spPr>
          <a:xfrm>
            <a:off x="508000" y="7728897"/>
            <a:ext cx="6544056" cy="266700"/>
          </a:xfrm>
          <a:prstGeom prst="rect">
            <a:avLst/>
          </a:prstGeom>
          <a:noFill/>
        </p:spPr>
        <p:txBody>
          <a:bodyPr wrap="square" lIns="0" rIns="0" tIns="0" bIns="0" anchor="ctr">
            <a:spAutoFit/>
          </a:bodyPr>
          <a:lstStyle/>
          <a:p>
            <a:pPr algn="l"/>
            <a:r>
              <a:rPr sz="840" b="1" i="0">
                <a:solidFill>
                  <a:srgbClr val="FFFFFF"/>
                </a:solidFill>
                <a:latin typeface="Montserrat"/>
              </a:rPr>
              <a:t>MINHA VERSÃO PERSONALIZADA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5EE"/>
        </a:solidFill>
        <a:effectLst/>
      </p:bgPr>
    </p:bg>
    <p:spTree>
      <p:nvGrpSpPr>
        <p:cNvPr id="1" name=""/>
        <p:cNvGrpSpPr/>
        <p:nvPr/>
      </p:nvGrpSpPr>
      <p:grpSpPr/>
      <p:sp>
        <p:nvSpPr>
          <p:cNvPr id="33" name="Rounded Rectangle 32"/>
          <p:cNvSpPr/>
          <p:nvPr/>
        </p:nvSpPr>
        <p:spPr>
          <a:xfrm>
            <a:off x="381000" y="7427156"/>
            <a:ext cx="6798056" cy="1723035"/>
          </a:xfrm>
          <a:prstGeom prst="roundRect">
            <a:avLst>
              <a:gd name="adj" fmla="val 5896"/>
            </a:avLst>
          </a:prstGeom>
          <a:solidFill>
            <a:srgbClr val="FDFCF8"/>
          </a:solidFill>
          <a:ln w="10160">
            <a:solidFill>
              <a:srgbClr val="D7D4C9"/>
            </a:solidFill>
          </a:ln>
          <a:effectLst/>
        </p:spPr>
        <p:txBody>
          <a:bodyPr rtlCol="0" anchor="ctr"/>
          <a:lstStyle/>
          <a:p/>
        </p:txBody>
      </p:sp>
      <p:sp>
        <p:nvSpPr>
          <p:cNvPr id="34" name="Round Same Side Corner Rectangle 33"/>
          <p:cNvSpPr/>
          <p:nvPr/>
        </p:nvSpPr>
        <p:spPr>
          <a:xfrm>
            <a:off x="381000" y="7427156"/>
            <a:ext cx="6798056" cy="266700"/>
          </a:xfrm>
          <a:prstGeom prst="round2SameRect">
            <a:avLst>
              <a:gd name="adj1" fmla="val 38095"/>
              <a:gd name="adj2" fmla="val 0"/>
            </a:avLst>
          </a:prstGeom>
          <a:solidFill>
            <a:srgbClr val="3F5C4A"/>
          </a:solidFill>
          <a:ln>
            <a:noFill/>
          </a:ln>
          <a:effectLst/>
        </p:spPr>
        <p:txBody>
          <a:bodyPr rtlCol="0" anchor="ctr"/>
          <a:lstStyle/>
          <a:p/>
        </p:txBody>
      </p:sp>
      <p:sp>
        <p:nvSpPr>
          <p:cNvPr id="29" name="Rounded Rectangle 28"/>
          <p:cNvSpPr/>
          <p:nvPr/>
        </p:nvSpPr>
        <p:spPr>
          <a:xfrm>
            <a:off x="381000" y="5438694"/>
            <a:ext cx="6798056" cy="1723035"/>
          </a:xfrm>
          <a:prstGeom prst="roundRect">
            <a:avLst>
              <a:gd name="adj" fmla="val 5896"/>
            </a:avLst>
          </a:prstGeom>
          <a:solidFill>
            <a:srgbClr val="FDFCF8"/>
          </a:solidFill>
          <a:ln w="10160">
            <a:solidFill>
              <a:srgbClr val="D7D4C9"/>
            </a:solidFill>
          </a:ln>
          <a:effectLst/>
        </p:spPr>
        <p:txBody>
          <a:bodyPr rtlCol="0" anchor="ctr"/>
          <a:lstStyle/>
          <a:p/>
        </p:txBody>
      </p:sp>
      <p:sp>
        <p:nvSpPr>
          <p:cNvPr id="30" name="Round Same Side Corner Rectangle 29"/>
          <p:cNvSpPr/>
          <p:nvPr/>
        </p:nvSpPr>
        <p:spPr>
          <a:xfrm>
            <a:off x="381000" y="5438694"/>
            <a:ext cx="6798056" cy="266700"/>
          </a:xfrm>
          <a:prstGeom prst="round2SameRect">
            <a:avLst>
              <a:gd name="adj1" fmla="val 38095"/>
              <a:gd name="adj2" fmla="val 0"/>
            </a:avLst>
          </a:prstGeom>
          <a:solidFill>
            <a:srgbClr val="3F5C4A"/>
          </a:solidFill>
          <a:ln>
            <a:noFill/>
          </a:ln>
          <a:effectLst/>
        </p:spPr>
        <p:txBody>
          <a:bodyPr rtlCol="0" anchor="ctr"/>
          <a:lstStyle/>
          <a:p/>
        </p:txBody>
      </p:sp>
      <p:sp>
        <p:nvSpPr>
          <p:cNvPr id="25" name="Rounded Rectangle 24"/>
          <p:cNvSpPr/>
          <p:nvPr/>
        </p:nvSpPr>
        <p:spPr>
          <a:xfrm>
            <a:off x="381000" y="3450232"/>
            <a:ext cx="6798056" cy="1723035"/>
          </a:xfrm>
          <a:prstGeom prst="roundRect">
            <a:avLst>
              <a:gd name="adj" fmla="val 5896"/>
            </a:avLst>
          </a:prstGeom>
          <a:solidFill>
            <a:srgbClr val="FDFCF8"/>
          </a:solidFill>
          <a:ln w="10160">
            <a:solidFill>
              <a:srgbClr val="D7D4C9"/>
            </a:solidFill>
          </a:ln>
          <a:effectLst/>
        </p:spPr>
        <p:txBody>
          <a:bodyPr rtlCol="0" anchor="ctr"/>
          <a:lstStyle/>
          <a:p/>
        </p:txBody>
      </p:sp>
      <p:sp>
        <p:nvSpPr>
          <p:cNvPr id="26" name="Round Same Side Corner Rectangle 25"/>
          <p:cNvSpPr/>
          <p:nvPr/>
        </p:nvSpPr>
        <p:spPr>
          <a:xfrm>
            <a:off x="381000" y="3450232"/>
            <a:ext cx="6798056" cy="266700"/>
          </a:xfrm>
          <a:prstGeom prst="round2SameRect">
            <a:avLst>
              <a:gd name="adj1" fmla="val 38095"/>
              <a:gd name="adj2" fmla="val 0"/>
            </a:avLst>
          </a:prstGeom>
          <a:solidFill>
            <a:srgbClr val="3F5C4A"/>
          </a:solidFill>
          <a:ln>
            <a:noFill/>
          </a:ln>
          <a:effectLst/>
        </p:spPr>
        <p:txBody>
          <a:bodyPr rtlCol="0" anchor="ctr"/>
          <a:lstStyle/>
          <a:p/>
        </p:txBody>
      </p:sp>
      <p:sp>
        <p:nvSpPr>
          <p:cNvPr id="21" name="Rounded Rectangle 20"/>
          <p:cNvSpPr/>
          <p:nvPr/>
        </p:nvSpPr>
        <p:spPr>
          <a:xfrm>
            <a:off x="381000" y="1461770"/>
            <a:ext cx="6798056" cy="1723035"/>
          </a:xfrm>
          <a:prstGeom prst="roundRect">
            <a:avLst>
              <a:gd name="adj" fmla="val 5896"/>
            </a:avLst>
          </a:prstGeom>
          <a:solidFill>
            <a:srgbClr val="FDFCF8"/>
          </a:solidFill>
          <a:ln w="10160">
            <a:solidFill>
              <a:srgbClr val="D7D4C9"/>
            </a:solidFill>
          </a:ln>
          <a:effectLst/>
        </p:spPr>
        <p:txBody>
          <a:bodyPr rtlCol="0" anchor="ctr"/>
          <a:lstStyle/>
          <a:p/>
        </p:txBody>
      </p:sp>
      <p:sp>
        <p:nvSpPr>
          <p:cNvPr id="22" name="Round Same Side Corner Rectangle 21"/>
          <p:cNvSpPr/>
          <p:nvPr/>
        </p:nvSpPr>
        <p:spPr>
          <a:xfrm>
            <a:off x="381000" y="1461770"/>
            <a:ext cx="6798056" cy="266700"/>
          </a:xfrm>
          <a:prstGeom prst="round2SameRect">
            <a:avLst>
              <a:gd name="adj1" fmla="val 38095"/>
              <a:gd name="adj2" fmla="val 0"/>
            </a:avLst>
          </a:prstGeom>
          <a:solidFill>
            <a:srgbClr val="3F5C4A"/>
          </a:solidFill>
          <a:ln>
            <a:noFill/>
          </a:ln>
          <a:effectLst/>
        </p:spPr>
        <p:txBody>
          <a:bodyPr rtlCol="0" anchor="ctr"/>
          <a:lstStyle/>
          <a:p/>
        </p:txBody>
      </p:sp>
      <p:cxnSp>
        <p:nvCxnSpPr>
          <p:cNvPr id="2" name="Connector 1"/>
          <p:cNvCxnSpPr/>
          <p:nvPr/>
        </p:nvCxnSpPr>
        <p:spPr>
          <a:xfrm>
            <a:off x="38100" y="25400"/>
            <a:ext cx="660400" cy="660400"/>
          </a:xfrm>
          <a:prstGeom prst="line">
            <a:avLst/>
          </a:prstGeom>
          <a:ln w="13970">
            <a:solidFill>
              <a:srgbClr val="B08D4F"/>
            </a:solidFill>
          </a:ln>
        </p:spPr>
      </p:cxnSp>
      <p:sp>
        <p:nvSpPr>
          <p:cNvPr id="3" name="Oval 2"/>
          <p:cNvSpPr/>
          <p:nvPr/>
        </p:nvSpPr>
        <p:spPr>
          <a:xfrm>
            <a:off x="191770" y="77470"/>
            <a:ext cx="190500" cy="215900"/>
          </a:xfrm>
          <a:prstGeom prst="ellipse">
            <a:avLst/>
          </a:prstGeom>
          <a:solidFill>
            <a:srgbClr val="8FA388"/>
          </a:solidFill>
          <a:ln>
            <a:noFill/>
          </a:ln>
          <a:effectLst/>
        </p:spPr>
        <p:txBody>
          <a:bodyPr rtlCol="0" anchor="ctr"/>
          <a:lstStyle/>
          <a:p/>
        </p:txBody>
      </p:sp>
      <p:sp>
        <p:nvSpPr>
          <p:cNvPr id="4" name="Oval 3"/>
          <p:cNvSpPr/>
          <p:nvPr/>
        </p:nvSpPr>
        <p:spPr>
          <a:xfrm>
            <a:off x="330708" y="216408"/>
            <a:ext cx="203200" cy="228600"/>
          </a:xfrm>
          <a:prstGeom prst="ellipse">
            <a:avLst/>
          </a:prstGeom>
          <a:solidFill>
            <a:srgbClr val="8FA388"/>
          </a:solidFill>
          <a:ln>
            <a:noFill/>
          </a:ln>
          <a:effectLst/>
        </p:spPr>
        <p:txBody>
          <a:bodyPr rtlCol="0" anchor="ctr"/>
          <a:lstStyle/>
          <a:p/>
        </p:txBody>
      </p:sp>
      <p:sp>
        <p:nvSpPr>
          <p:cNvPr id="5" name="Oval 4"/>
          <p:cNvSpPr/>
          <p:nvPr/>
        </p:nvSpPr>
        <p:spPr>
          <a:xfrm>
            <a:off x="482345" y="368045"/>
            <a:ext cx="190500" cy="215900"/>
          </a:xfrm>
          <a:prstGeom prst="ellipse">
            <a:avLst/>
          </a:prstGeom>
          <a:solidFill>
            <a:srgbClr val="8FA388"/>
          </a:solidFill>
          <a:ln>
            <a:noFill/>
          </a:ln>
          <a:effectLst/>
        </p:spPr>
        <p:txBody>
          <a:bodyPr rtlCol="0" anchor="ctr"/>
          <a:lstStyle/>
          <a:p/>
        </p:txBody>
      </p:sp>
      <p:cxnSp>
        <p:nvCxnSpPr>
          <p:cNvPr id="6" name="Connector 5"/>
          <p:cNvCxnSpPr/>
          <p:nvPr/>
        </p:nvCxnSpPr>
        <p:spPr>
          <a:xfrm flipH="1">
            <a:off x="6861556" y="25400"/>
            <a:ext cx="660400" cy="660400"/>
          </a:xfrm>
          <a:prstGeom prst="line">
            <a:avLst/>
          </a:prstGeom>
          <a:ln w="13970">
            <a:solidFill>
              <a:srgbClr val="B08D4F"/>
            </a:solidFill>
          </a:ln>
        </p:spPr>
      </p:cxnSp>
      <p:sp>
        <p:nvSpPr>
          <p:cNvPr id="7" name="Oval 6"/>
          <p:cNvSpPr/>
          <p:nvPr/>
        </p:nvSpPr>
        <p:spPr>
          <a:xfrm>
            <a:off x="7177785" y="77470"/>
            <a:ext cx="190500" cy="215900"/>
          </a:xfrm>
          <a:prstGeom prst="ellipse">
            <a:avLst/>
          </a:prstGeom>
          <a:solidFill>
            <a:srgbClr val="8FA388"/>
          </a:solidFill>
          <a:ln>
            <a:noFill/>
          </a:ln>
          <a:effectLst/>
        </p:spPr>
        <p:txBody>
          <a:bodyPr rtlCol="0" anchor="ctr"/>
          <a:lstStyle/>
          <a:p/>
        </p:txBody>
      </p:sp>
      <p:sp>
        <p:nvSpPr>
          <p:cNvPr id="8" name="Oval 7"/>
          <p:cNvSpPr/>
          <p:nvPr/>
        </p:nvSpPr>
        <p:spPr>
          <a:xfrm>
            <a:off x="7026148" y="216408"/>
            <a:ext cx="203200" cy="228600"/>
          </a:xfrm>
          <a:prstGeom prst="ellipse">
            <a:avLst/>
          </a:prstGeom>
          <a:solidFill>
            <a:srgbClr val="8FA388"/>
          </a:solidFill>
          <a:ln>
            <a:noFill/>
          </a:ln>
          <a:effectLst/>
        </p:spPr>
        <p:txBody>
          <a:bodyPr rtlCol="0" anchor="ctr"/>
          <a:lstStyle/>
          <a:p/>
        </p:txBody>
      </p:sp>
      <p:sp>
        <p:nvSpPr>
          <p:cNvPr id="9" name="Oval 8"/>
          <p:cNvSpPr/>
          <p:nvPr/>
        </p:nvSpPr>
        <p:spPr>
          <a:xfrm>
            <a:off x="6887209" y="368045"/>
            <a:ext cx="190500" cy="215900"/>
          </a:xfrm>
          <a:prstGeom prst="ellipse">
            <a:avLst/>
          </a:prstGeom>
          <a:solidFill>
            <a:srgbClr val="8FA388"/>
          </a:solidFill>
          <a:ln>
            <a:noFill/>
          </a:ln>
          <a:effectLst/>
        </p:spPr>
        <p:txBody>
          <a:bodyPr rtlCol="0" anchor="ctr"/>
          <a:lstStyle/>
          <a:p/>
        </p:txBody>
      </p:sp>
      <p:sp>
        <p:nvSpPr>
          <p:cNvPr id="10" name="Oval 9"/>
          <p:cNvSpPr/>
          <p:nvPr/>
        </p:nvSpPr>
        <p:spPr>
          <a:xfrm>
            <a:off x="3500628" y="127000"/>
            <a:ext cx="114300" cy="215900"/>
          </a:xfrm>
          <a:prstGeom prst="ellipse">
            <a:avLst/>
          </a:prstGeom>
          <a:noFill/>
          <a:ln w="10160">
            <a:solidFill>
              <a:srgbClr val="B08D4F"/>
            </a:solidFill>
          </a:ln>
          <a:effectLst/>
        </p:spPr>
        <p:txBody>
          <a:bodyPr rtlCol="0" anchor="ctr"/>
          <a:lstStyle/>
          <a:p/>
        </p:txBody>
      </p:sp>
      <p:sp>
        <p:nvSpPr>
          <p:cNvPr id="11" name="Oval 10"/>
          <p:cNvSpPr/>
          <p:nvPr/>
        </p:nvSpPr>
        <p:spPr>
          <a:xfrm>
            <a:off x="3595878" y="127000"/>
            <a:ext cx="114300" cy="215900"/>
          </a:xfrm>
          <a:prstGeom prst="ellipse">
            <a:avLst/>
          </a:prstGeom>
          <a:noFill/>
          <a:ln w="10160">
            <a:solidFill>
              <a:srgbClr val="B08D4F"/>
            </a:solidFill>
          </a:ln>
          <a:effectLst/>
        </p:spPr>
        <p:txBody>
          <a:bodyPr rtlCol="0" anchor="ctr"/>
          <a:lstStyle/>
          <a:p/>
        </p:txBody>
      </p:sp>
      <p:sp>
        <p:nvSpPr>
          <p:cNvPr id="12" name="Oval 11"/>
          <p:cNvSpPr/>
          <p:nvPr/>
        </p:nvSpPr>
        <p:spPr>
          <a:xfrm>
            <a:off x="3691128" y="127000"/>
            <a:ext cx="114300" cy="215900"/>
          </a:xfrm>
          <a:prstGeom prst="ellipse">
            <a:avLst/>
          </a:prstGeom>
          <a:noFill/>
          <a:ln w="10160">
            <a:solidFill>
              <a:srgbClr val="B08D4F"/>
            </a:solidFill>
          </a:ln>
          <a:effectLst/>
        </p:spPr>
        <p:txBody>
          <a:bodyPr rtlCol="0" anchor="ctr"/>
          <a:lstStyle/>
          <a:p/>
        </p:txBody>
      </p:sp>
      <p:sp>
        <p:nvSpPr>
          <p:cNvPr id="13" name="Oval 12"/>
          <p:cNvSpPr/>
          <p:nvPr/>
        </p:nvSpPr>
        <p:spPr>
          <a:xfrm>
            <a:off x="3786378" y="127000"/>
            <a:ext cx="114300" cy="215900"/>
          </a:xfrm>
          <a:prstGeom prst="ellipse">
            <a:avLst/>
          </a:prstGeom>
          <a:noFill/>
          <a:ln w="10160">
            <a:solidFill>
              <a:srgbClr val="B08D4F"/>
            </a:solidFill>
          </a:ln>
          <a:effectLst/>
        </p:spPr>
        <p:txBody>
          <a:bodyPr rtlCol="0" anchor="ctr"/>
          <a:lstStyle/>
          <a:p/>
        </p:txBody>
      </p:sp>
      <p:sp>
        <p:nvSpPr>
          <p:cNvPr id="14" name="Oval 13"/>
          <p:cNvSpPr/>
          <p:nvPr/>
        </p:nvSpPr>
        <p:spPr>
          <a:xfrm>
            <a:off x="3881628" y="127000"/>
            <a:ext cx="114300" cy="215900"/>
          </a:xfrm>
          <a:prstGeom prst="ellipse">
            <a:avLst/>
          </a:prstGeom>
          <a:noFill/>
          <a:ln w="10160">
            <a:solidFill>
              <a:srgbClr val="B08D4F"/>
            </a:solidFill>
          </a:ln>
          <a:effectLst/>
        </p:spPr>
        <p:txBody>
          <a:bodyPr rtlCol="0" anchor="ctr"/>
          <a:lstStyle/>
          <a:p/>
        </p:txBody>
      </p:sp>
      <p:sp>
        <p:nvSpPr>
          <p:cNvPr id="15" name="Arc 14"/>
          <p:cNvSpPr/>
          <p:nvPr/>
        </p:nvSpPr>
        <p:spPr>
          <a:xfrm>
            <a:off x="3437128" y="165100"/>
            <a:ext cx="685800" cy="381000"/>
          </a:xfrm>
          <a:prstGeom prst="arc">
            <a:avLst>
              <a:gd name="adj1" fmla="val 18000000"/>
              <a:gd name="adj2" fmla="val 0"/>
            </a:avLst>
          </a:prstGeom>
          <a:noFill/>
          <a:ln w="10160">
            <a:solidFill>
              <a:srgbClr val="B08D4F"/>
            </a:solidFill>
          </a:ln>
          <a:effectLst/>
        </p:spPr>
        <p:txBody>
          <a:bodyPr rtlCol="0" anchor="ctr"/>
          <a:lstStyle/>
          <a:p>
            <a:pPr algn="ctr"/>
          </a:p>
        </p:txBody>
      </p:sp>
      <p:sp>
        <p:nvSpPr>
          <p:cNvPr id="16" name="TextBox 15"/>
          <p:cNvSpPr txBox="1"/>
          <p:nvPr/>
        </p:nvSpPr>
        <p:spPr>
          <a:xfrm>
            <a:off x="254000" y="635000"/>
            <a:ext cx="7052056" cy="462280"/>
          </a:xfrm>
          <a:prstGeom prst="rect">
            <a:avLst/>
          </a:prstGeom>
          <a:noFill/>
        </p:spPr>
        <p:txBody>
          <a:bodyPr wrap="square" lIns="0" rIns="0" tIns="0" bIns="0" anchor="t">
            <a:spAutoFit/>
          </a:bodyPr>
          <a:lstStyle/>
          <a:p>
            <a:pPr algn="ctr"/>
            <a:r>
              <a:rPr sz="2600" b="1" i="0">
                <a:solidFill>
                  <a:srgbClr val="3F5C4A"/>
                </a:solidFill>
                <a:latin typeface="Libre Baskerville"/>
              </a:rPr>
              <a:t>LEMBRETES DE PAGAMENTOS</a:t>
            </a:r>
          </a:p>
        </p:txBody>
      </p:sp>
      <p:sp>
        <p:nvSpPr>
          <p:cNvPr id="17" name="TextBox 16"/>
          <p:cNvSpPr txBox="1"/>
          <p:nvPr/>
        </p:nvSpPr>
        <p:spPr>
          <a:xfrm>
            <a:off x="508000" y="1080770"/>
            <a:ext cx="6544056" cy="177800"/>
          </a:xfrm>
          <a:prstGeom prst="rect">
            <a:avLst/>
          </a:prstGeom>
          <a:noFill/>
        </p:spPr>
        <p:txBody>
          <a:bodyPr wrap="square" lIns="0" rIns="0" tIns="0" bIns="0" anchor="t">
            <a:spAutoFit/>
          </a:bodyPr>
          <a:lstStyle/>
          <a:p>
            <a:pPr algn="ctr"/>
            <a:r>
              <a:rPr sz="950" b="0" i="0">
                <a:solidFill>
                  <a:srgbClr val="2A2A26"/>
                </a:solidFill>
                <a:latin typeface="Montserrat"/>
              </a:rPr>
              <a:t>Comunicação clara e respeitosa</a:t>
            </a:r>
          </a:p>
        </p:txBody>
      </p:sp>
      <p:sp>
        <p:nvSpPr>
          <p:cNvPr id="18" name="TextBox 17"/>
          <p:cNvSpPr txBox="1"/>
          <p:nvPr/>
        </p:nvSpPr>
        <p:spPr>
          <a:xfrm>
            <a:off x="762000" y="10196703"/>
            <a:ext cx="6036056" cy="127000"/>
          </a:xfrm>
          <a:prstGeom prst="rect">
            <a:avLst/>
          </a:prstGeom>
          <a:noFill/>
        </p:spPr>
        <p:txBody>
          <a:bodyPr wrap="square" lIns="0" rIns="0" tIns="0" bIns="0" anchor="t">
            <a:spAutoFit/>
          </a:bodyPr>
          <a:lstStyle/>
          <a:p>
            <a:pPr algn="ctr"/>
            <a:r>
              <a:rPr sz="650" b="0" i="0">
                <a:solidFill>
                  <a:srgbClr val="77776E"/>
                </a:solidFill>
                <a:latin typeface="Montserrat"/>
              </a:rPr>
              <a:t>MASSOTERAPIA • CUIDADO • BEM-ESTAR</a:t>
            </a:r>
          </a:p>
        </p:txBody>
      </p:sp>
      <p:cxnSp>
        <p:nvCxnSpPr>
          <p:cNvPr id="19" name="Connector 18"/>
          <p:cNvCxnSpPr/>
          <p:nvPr/>
        </p:nvCxnSpPr>
        <p:spPr>
          <a:xfrm>
            <a:off x="1968500" y="10336403"/>
            <a:ext cx="3623056" cy="0"/>
          </a:xfrm>
          <a:prstGeom prst="line">
            <a:avLst/>
          </a:prstGeom>
          <a:ln w="8890">
            <a:solidFill>
              <a:srgbClr val="B08D4F"/>
            </a:solidFill>
          </a:ln>
        </p:spPr>
      </p:cxnSp>
      <p:sp>
        <p:nvSpPr>
          <p:cNvPr id="20" name="TextBox 19"/>
          <p:cNvSpPr txBox="1"/>
          <p:nvPr/>
        </p:nvSpPr>
        <p:spPr>
          <a:xfrm>
            <a:off x="533400" y="1993896"/>
            <a:ext cx="6493256" cy="447714"/>
          </a:xfrm>
          <a:prstGeom prst="rect">
            <a:avLst/>
          </a:prstGeom>
          <a:noFill/>
        </p:spPr>
        <p:txBody>
          <a:bodyPr wrap="square" lIns="0" rIns="0" tIns="0" bIns="0" anchor="t">
            <a:spAutoFit/>
          </a:bodyPr>
          <a:lstStyle/>
          <a:p>
            <a:pPr algn="l">
              <a:lnSpc>
                <a:spcPct val="140000"/>
              </a:lnSpc>
            </a:pPr>
            <a:r>
              <a:rPr sz="1031" b="0" i="0">
                <a:solidFill>
                  <a:srgbClr val="2A2A26"/>
                </a:solidFill>
                <a:latin typeface="Montserrat"/>
              </a:rPr>
              <a:t>Oi, [nome]! Lembrete de que o pagamento referente a [sessão/pacote/período] vence em [data]. O valor é R$ [valor] e pode ser pago por [forma].</a:t>
            </a:r>
          </a:p>
        </p:txBody>
      </p:sp>
      <p:sp>
        <p:nvSpPr>
          <p:cNvPr id="23" name="TextBox 22"/>
          <p:cNvSpPr txBox="1"/>
          <p:nvPr/>
        </p:nvSpPr>
        <p:spPr>
          <a:xfrm>
            <a:off x="508000" y="1461770"/>
            <a:ext cx="6544056" cy="266700"/>
          </a:xfrm>
          <a:prstGeom prst="rect">
            <a:avLst/>
          </a:prstGeom>
          <a:noFill/>
        </p:spPr>
        <p:txBody>
          <a:bodyPr wrap="square" lIns="0" rIns="0" tIns="0" bIns="0" anchor="ctr">
            <a:spAutoFit/>
          </a:bodyPr>
          <a:lstStyle/>
          <a:p>
            <a:pPr algn="l"/>
            <a:r>
              <a:rPr sz="840" b="1" i="0">
                <a:solidFill>
                  <a:srgbClr val="FFFFFF"/>
                </a:solidFill>
                <a:latin typeface="Montserrat"/>
              </a:rPr>
              <a:t>ANTES DO VENCIMENTO</a:t>
            </a:r>
          </a:p>
        </p:txBody>
      </p:sp>
      <p:sp>
        <p:nvSpPr>
          <p:cNvPr id="24" name="TextBox 23"/>
          <p:cNvSpPr txBox="1"/>
          <p:nvPr/>
        </p:nvSpPr>
        <p:spPr>
          <a:xfrm>
            <a:off x="533400" y="3982358"/>
            <a:ext cx="6493256" cy="447714"/>
          </a:xfrm>
          <a:prstGeom prst="rect">
            <a:avLst/>
          </a:prstGeom>
          <a:noFill/>
        </p:spPr>
        <p:txBody>
          <a:bodyPr wrap="square" lIns="0" rIns="0" tIns="0" bIns="0" anchor="t">
            <a:spAutoFit/>
          </a:bodyPr>
          <a:lstStyle/>
          <a:p>
            <a:pPr algn="l">
              <a:lnSpc>
                <a:spcPct val="140000"/>
              </a:lnSpc>
            </a:pPr>
            <a:r>
              <a:rPr sz="1031" b="0" i="0">
                <a:solidFill>
                  <a:srgbClr val="2A2A26"/>
                </a:solidFill>
                <a:latin typeface="Montserrat"/>
              </a:rPr>
              <a:t>Olá, [nome]! Passando para lembrar que o pagamento de R$ [valor], referente a [sessão/pacote/período], vence hoje. Se já realizou, desconsidere esta mensagem.</a:t>
            </a:r>
          </a:p>
        </p:txBody>
      </p:sp>
      <p:sp>
        <p:nvSpPr>
          <p:cNvPr id="27" name="TextBox 26"/>
          <p:cNvSpPr txBox="1"/>
          <p:nvPr/>
        </p:nvSpPr>
        <p:spPr>
          <a:xfrm>
            <a:off x="508000" y="3450232"/>
            <a:ext cx="6544056" cy="266700"/>
          </a:xfrm>
          <a:prstGeom prst="rect">
            <a:avLst/>
          </a:prstGeom>
          <a:noFill/>
        </p:spPr>
        <p:txBody>
          <a:bodyPr wrap="square" lIns="0" rIns="0" tIns="0" bIns="0" anchor="ctr">
            <a:spAutoFit/>
          </a:bodyPr>
          <a:lstStyle/>
          <a:p>
            <a:pPr algn="l"/>
            <a:r>
              <a:rPr sz="840" b="1" i="0">
                <a:solidFill>
                  <a:srgbClr val="FFFFFF"/>
                </a:solidFill>
                <a:latin typeface="Montserrat"/>
              </a:rPr>
              <a:t>NO DIA DO VENCIMENTO</a:t>
            </a:r>
          </a:p>
        </p:txBody>
      </p:sp>
      <p:sp>
        <p:nvSpPr>
          <p:cNvPr id="28" name="TextBox 27"/>
          <p:cNvSpPr txBox="1"/>
          <p:nvPr/>
        </p:nvSpPr>
        <p:spPr>
          <a:xfrm>
            <a:off x="533400" y="5970821"/>
            <a:ext cx="6493256" cy="447714"/>
          </a:xfrm>
          <a:prstGeom prst="rect">
            <a:avLst/>
          </a:prstGeom>
          <a:noFill/>
        </p:spPr>
        <p:txBody>
          <a:bodyPr wrap="square" lIns="0" rIns="0" tIns="0" bIns="0" anchor="t">
            <a:spAutoFit/>
          </a:bodyPr>
          <a:lstStyle/>
          <a:p>
            <a:pPr algn="l">
              <a:lnSpc>
                <a:spcPct val="140000"/>
              </a:lnSpc>
            </a:pPr>
            <a:r>
              <a:rPr sz="1031" b="0" i="0">
                <a:solidFill>
                  <a:srgbClr val="2A2A26"/>
                </a:solidFill>
                <a:latin typeface="Montserrat"/>
              </a:rPr>
              <a:t>Oi, [nome]! Ainda não consegui identificar o pagamento referente a [sessão/pacote/período]. Poderia verificar, por favor? Se já foi realizado, envie o comprovante para atualização do controle.</a:t>
            </a:r>
          </a:p>
        </p:txBody>
      </p:sp>
      <p:sp>
        <p:nvSpPr>
          <p:cNvPr id="31" name="TextBox 30"/>
          <p:cNvSpPr txBox="1"/>
          <p:nvPr/>
        </p:nvSpPr>
        <p:spPr>
          <a:xfrm>
            <a:off x="508000" y="5438694"/>
            <a:ext cx="6544056" cy="266700"/>
          </a:xfrm>
          <a:prstGeom prst="rect">
            <a:avLst/>
          </a:prstGeom>
          <a:noFill/>
        </p:spPr>
        <p:txBody>
          <a:bodyPr wrap="square" lIns="0" rIns="0" tIns="0" bIns="0" anchor="ctr">
            <a:spAutoFit/>
          </a:bodyPr>
          <a:lstStyle/>
          <a:p>
            <a:pPr algn="l"/>
            <a:r>
              <a:rPr sz="840" b="1" i="0">
                <a:solidFill>
                  <a:srgbClr val="FFFFFF"/>
                </a:solidFill>
                <a:latin typeface="Montserrat"/>
              </a:rPr>
              <a:t>PAGAMENTO NÃO IDENTIFICADO</a:t>
            </a:r>
          </a:p>
        </p:txBody>
      </p:sp>
      <p:sp>
        <p:nvSpPr>
          <p:cNvPr id="32" name="TextBox 31"/>
          <p:cNvSpPr txBox="1"/>
          <p:nvPr/>
        </p:nvSpPr>
        <p:spPr>
          <a:xfrm>
            <a:off x="533400" y="7959283"/>
            <a:ext cx="6493256" cy="447714"/>
          </a:xfrm>
          <a:prstGeom prst="rect">
            <a:avLst/>
          </a:prstGeom>
          <a:noFill/>
        </p:spPr>
        <p:txBody>
          <a:bodyPr wrap="square" lIns="0" rIns="0" tIns="0" bIns="0" anchor="t">
            <a:spAutoFit/>
          </a:bodyPr>
          <a:lstStyle/>
          <a:p>
            <a:pPr algn="l">
              <a:lnSpc>
                <a:spcPct val="140000"/>
              </a:lnSpc>
            </a:pPr>
            <a:r>
              <a:rPr sz="1031" b="0" i="0">
                <a:solidFill>
                  <a:srgbClr val="2A2A26"/>
                </a:solidFill>
                <a:latin typeface="Montserrat"/>
              </a:rPr>
              <a:t>Olá, [nome]! Pagamento recebido com sucesso. Obrigado(a)! Se precisar de recibo, ele será enviado por [canal/prazo].</a:t>
            </a:r>
          </a:p>
        </p:txBody>
      </p:sp>
      <p:sp>
        <p:nvSpPr>
          <p:cNvPr id="35" name="TextBox 34"/>
          <p:cNvSpPr txBox="1"/>
          <p:nvPr/>
        </p:nvSpPr>
        <p:spPr>
          <a:xfrm>
            <a:off x="508000" y="7427156"/>
            <a:ext cx="6544056" cy="266700"/>
          </a:xfrm>
          <a:prstGeom prst="rect">
            <a:avLst/>
          </a:prstGeom>
          <a:noFill/>
        </p:spPr>
        <p:txBody>
          <a:bodyPr wrap="square" lIns="0" rIns="0" tIns="0" bIns="0" anchor="ctr">
            <a:spAutoFit/>
          </a:bodyPr>
          <a:lstStyle/>
          <a:p>
            <a:pPr algn="l"/>
            <a:r>
              <a:rPr sz="840" b="1" i="0">
                <a:solidFill>
                  <a:srgbClr val="FFFFFF"/>
                </a:solidFill>
                <a:latin typeface="Montserrat"/>
              </a:rPr>
              <a:t>CONFIRMAÇÃO DE RECEBIMENTO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5EE"/>
        </a:solidFill>
        <a:effectLst/>
      </p:bgPr>
    </p:bg>
    <p:spTree>
      <p:nvGrpSpPr>
        <p:cNvPr id="1" name=""/>
        <p:cNvGrpSpPr/>
        <p:nvPr/>
      </p:nvGrpSpPr>
      <p:grpSpPr/>
      <p:sp>
        <p:nvSpPr>
          <p:cNvPr id="41" name="Rounded Rectangle 40"/>
          <p:cNvSpPr/>
          <p:nvPr/>
        </p:nvSpPr>
        <p:spPr>
          <a:xfrm>
            <a:off x="381000" y="7794114"/>
            <a:ext cx="6798056" cy="2106191"/>
          </a:xfrm>
          <a:prstGeom prst="roundRect">
            <a:avLst>
              <a:gd name="adj" fmla="val 4823"/>
            </a:avLst>
          </a:prstGeom>
          <a:solidFill>
            <a:srgbClr val="FDFCF8"/>
          </a:solidFill>
          <a:ln w="10160">
            <a:solidFill>
              <a:srgbClr val="D7D4C9"/>
            </a:solidFill>
          </a:ln>
          <a:effectLst/>
        </p:spPr>
        <p:txBody>
          <a:bodyPr rtlCol="0" anchor="ctr"/>
          <a:lstStyle/>
          <a:p/>
        </p:txBody>
      </p:sp>
      <p:sp>
        <p:nvSpPr>
          <p:cNvPr id="42" name="Round Same Side Corner Rectangle 41"/>
          <p:cNvSpPr/>
          <p:nvPr/>
        </p:nvSpPr>
        <p:spPr>
          <a:xfrm>
            <a:off x="381000" y="7794114"/>
            <a:ext cx="6798056" cy="266700"/>
          </a:xfrm>
          <a:prstGeom prst="round2SameRect">
            <a:avLst>
              <a:gd name="adj1" fmla="val 38095"/>
              <a:gd name="adj2" fmla="val 0"/>
            </a:avLst>
          </a:prstGeom>
          <a:solidFill>
            <a:srgbClr val="3F5C4A"/>
          </a:solidFill>
          <a:ln>
            <a:noFill/>
          </a:ln>
          <a:effectLst/>
        </p:spPr>
        <p:txBody>
          <a:bodyPr rtlCol="0" anchor="ctr"/>
          <a:lstStyle/>
          <a:p/>
        </p:txBody>
      </p:sp>
      <p:sp>
        <p:nvSpPr>
          <p:cNvPr id="33" name="Rounded Rectangle 32"/>
          <p:cNvSpPr/>
          <p:nvPr/>
        </p:nvSpPr>
        <p:spPr>
          <a:xfrm>
            <a:off x="381000" y="6263859"/>
            <a:ext cx="6798056" cy="1355065"/>
          </a:xfrm>
          <a:prstGeom prst="roundRect">
            <a:avLst>
              <a:gd name="adj" fmla="val 7497"/>
            </a:avLst>
          </a:prstGeom>
          <a:solidFill>
            <a:srgbClr val="FDFCF8"/>
          </a:solidFill>
          <a:ln w="10160">
            <a:solidFill>
              <a:srgbClr val="D7D4C9"/>
            </a:solidFill>
          </a:ln>
          <a:effectLst/>
        </p:spPr>
        <p:txBody>
          <a:bodyPr rtlCol="0" anchor="ctr"/>
          <a:lstStyle/>
          <a:p/>
        </p:txBody>
      </p:sp>
      <p:sp>
        <p:nvSpPr>
          <p:cNvPr id="34" name="Round Same Side Corner Rectangle 33"/>
          <p:cNvSpPr/>
          <p:nvPr/>
        </p:nvSpPr>
        <p:spPr>
          <a:xfrm>
            <a:off x="381000" y="6263859"/>
            <a:ext cx="6798056" cy="266700"/>
          </a:xfrm>
          <a:prstGeom prst="round2SameRect">
            <a:avLst>
              <a:gd name="adj1" fmla="val 38095"/>
              <a:gd name="adj2" fmla="val 0"/>
            </a:avLst>
          </a:prstGeom>
          <a:solidFill>
            <a:srgbClr val="3F5C4A"/>
          </a:solidFill>
          <a:ln>
            <a:noFill/>
          </a:ln>
          <a:effectLst/>
        </p:spPr>
        <p:txBody>
          <a:bodyPr rtlCol="0" anchor="ctr"/>
          <a:lstStyle/>
          <a:p/>
        </p:txBody>
      </p:sp>
      <p:sp>
        <p:nvSpPr>
          <p:cNvPr id="29" name="Rounded Rectangle 28"/>
          <p:cNvSpPr/>
          <p:nvPr/>
        </p:nvSpPr>
        <p:spPr>
          <a:xfrm>
            <a:off x="381000" y="4733603"/>
            <a:ext cx="6798056" cy="1355065"/>
          </a:xfrm>
          <a:prstGeom prst="roundRect">
            <a:avLst>
              <a:gd name="adj" fmla="val 7497"/>
            </a:avLst>
          </a:prstGeom>
          <a:solidFill>
            <a:srgbClr val="FDFCF8"/>
          </a:solidFill>
          <a:ln w="10160">
            <a:solidFill>
              <a:srgbClr val="D7D4C9"/>
            </a:solidFill>
          </a:ln>
          <a:effectLst/>
        </p:spPr>
        <p:txBody>
          <a:bodyPr rtlCol="0" anchor="ctr"/>
          <a:lstStyle/>
          <a:p/>
        </p:txBody>
      </p:sp>
      <p:sp>
        <p:nvSpPr>
          <p:cNvPr id="30" name="Round Same Side Corner Rectangle 29"/>
          <p:cNvSpPr/>
          <p:nvPr/>
        </p:nvSpPr>
        <p:spPr>
          <a:xfrm>
            <a:off x="381000" y="4733603"/>
            <a:ext cx="6798056" cy="266700"/>
          </a:xfrm>
          <a:prstGeom prst="round2SameRect">
            <a:avLst>
              <a:gd name="adj1" fmla="val 38095"/>
              <a:gd name="adj2" fmla="val 0"/>
            </a:avLst>
          </a:prstGeom>
          <a:solidFill>
            <a:srgbClr val="3F5C4A"/>
          </a:solidFill>
          <a:ln>
            <a:noFill/>
          </a:ln>
          <a:effectLst/>
        </p:spPr>
        <p:txBody>
          <a:bodyPr rtlCol="0" anchor="ctr"/>
          <a:lstStyle/>
          <a:p/>
        </p:txBody>
      </p:sp>
      <p:sp>
        <p:nvSpPr>
          <p:cNvPr id="25" name="Rounded Rectangle 24"/>
          <p:cNvSpPr/>
          <p:nvPr/>
        </p:nvSpPr>
        <p:spPr>
          <a:xfrm>
            <a:off x="381000" y="2992025"/>
            <a:ext cx="6798056" cy="1566388"/>
          </a:xfrm>
          <a:prstGeom prst="roundRect">
            <a:avLst>
              <a:gd name="adj" fmla="val 6486"/>
            </a:avLst>
          </a:prstGeom>
          <a:solidFill>
            <a:srgbClr val="FDFCF8"/>
          </a:solidFill>
          <a:ln w="10160">
            <a:solidFill>
              <a:srgbClr val="D7D4C9"/>
            </a:solidFill>
          </a:ln>
          <a:effectLst/>
        </p:spPr>
        <p:txBody>
          <a:bodyPr rtlCol="0" anchor="ctr"/>
          <a:lstStyle/>
          <a:p/>
        </p:txBody>
      </p:sp>
      <p:sp>
        <p:nvSpPr>
          <p:cNvPr id="26" name="Round Same Side Corner Rectangle 25"/>
          <p:cNvSpPr/>
          <p:nvPr/>
        </p:nvSpPr>
        <p:spPr>
          <a:xfrm>
            <a:off x="381000" y="2992025"/>
            <a:ext cx="6798056" cy="266700"/>
          </a:xfrm>
          <a:prstGeom prst="round2SameRect">
            <a:avLst>
              <a:gd name="adj1" fmla="val 38095"/>
              <a:gd name="adj2" fmla="val 0"/>
            </a:avLst>
          </a:prstGeom>
          <a:solidFill>
            <a:srgbClr val="3F5C4A"/>
          </a:solidFill>
          <a:ln>
            <a:noFill/>
          </a:ln>
          <a:effectLst/>
        </p:spPr>
        <p:txBody>
          <a:bodyPr rtlCol="0" anchor="ctr"/>
          <a:lstStyle/>
          <a:p/>
        </p:txBody>
      </p:sp>
      <p:sp>
        <p:nvSpPr>
          <p:cNvPr id="21" name="Rounded Rectangle 20"/>
          <p:cNvSpPr/>
          <p:nvPr/>
        </p:nvSpPr>
        <p:spPr>
          <a:xfrm>
            <a:off x="381000" y="1461770"/>
            <a:ext cx="6798056" cy="1355065"/>
          </a:xfrm>
          <a:prstGeom prst="roundRect">
            <a:avLst>
              <a:gd name="adj" fmla="val 7497"/>
            </a:avLst>
          </a:prstGeom>
          <a:solidFill>
            <a:srgbClr val="FDFCF8"/>
          </a:solidFill>
          <a:ln w="10160">
            <a:solidFill>
              <a:srgbClr val="D7D4C9"/>
            </a:solidFill>
          </a:ln>
          <a:effectLst/>
        </p:spPr>
        <p:txBody>
          <a:bodyPr rtlCol="0" anchor="ctr"/>
          <a:lstStyle/>
          <a:p/>
        </p:txBody>
      </p:sp>
      <p:sp>
        <p:nvSpPr>
          <p:cNvPr id="22" name="Round Same Side Corner Rectangle 21"/>
          <p:cNvSpPr/>
          <p:nvPr/>
        </p:nvSpPr>
        <p:spPr>
          <a:xfrm>
            <a:off x="381000" y="1461770"/>
            <a:ext cx="6798056" cy="266700"/>
          </a:xfrm>
          <a:prstGeom prst="round2SameRect">
            <a:avLst>
              <a:gd name="adj1" fmla="val 38095"/>
              <a:gd name="adj2" fmla="val 0"/>
            </a:avLst>
          </a:prstGeom>
          <a:solidFill>
            <a:srgbClr val="3F5C4A"/>
          </a:solidFill>
          <a:ln>
            <a:noFill/>
          </a:ln>
          <a:effectLst/>
        </p:spPr>
        <p:txBody>
          <a:bodyPr rtlCol="0" anchor="ctr"/>
          <a:lstStyle/>
          <a:p/>
        </p:txBody>
      </p:sp>
      <p:cxnSp>
        <p:nvCxnSpPr>
          <p:cNvPr id="2" name="Connector 1"/>
          <p:cNvCxnSpPr/>
          <p:nvPr/>
        </p:nvCxnSpPr>
        <p:spPr>
          <a:xfrm>
            <a:off x="38100" y="25400"/>
            <a:ext cx="660400" cy="660400"/>
          </a:xfrm>
          <a:prstGeom prst="line">
            <a:avLst/>
          </a:prstGeom>
          <a:ln w="13970">
            <a:solidFill>
              <a:srgbClr val="B08D4F"/>
            </a:solidFill>
          </a:ln>
        </p:spPr>
      </p:cxnSp>
      <p:sp>
        <p:nvSpPr>
          <p:cNvPr id="3" name="Oval 2"/>
          <p:cNvSpPr/>
          <p:nvPr/>
        </p:nvSpPr>
        <p:spPr>
          <a:xfrm>
            <a:off x="191770" y="77470"/>
            <a:ext cx="190500" cy="215900"/>
          </a:xfrm>
          <a:prstGeom prst="ellipse">
            <a:avLst/>
          </a:prstGeom>
          <a:solidFill>
            <a:srgbClr val="8FA388"/>
          </a:solidFill>
          <a:ln>
            <a:noFill/>
          </a:ln>
          <a:effectLst/>
        </p:spPr>
        <p:txBody>
          <a:bodyPr rtlCol="0" anchor="ctr"/>
          <a:lstStyle/>
          <a:p/>
        </p:txBody>
      </p:sp>
      <p:sp>
        <p:nvSpPr>
          <p:cNvPr id="4" name="Oval 3"/>
          <p:cNvSpPr/>
          <p:nvPr/>
        </p:nvSpPr>
        <p:spPr>
          <a:xfrm>
            <a:off x="330708" y="216408"/>
            <a:ext cx="203200" cy="228600"/>
          </a:xfrm>
          <a:prstGeom prst="ellipse">
            <a:avLst/>
          </a:prstGeom>
          <a:solidFill>
            <a:srgbClr val="8FA388"/>
          </a:solidFill>
          <a:ln>
            <a:noFill/>
          </a:ln>
          <a:effectLst/>
        </p:spPr>
        <p:txBody>
          <a:bodyPr rtlCol="0" anchor="ctr"/>
          <a:lstStyle/>
          <a:p/>
        </p:txBody>
      </p:sp>
      <p:sp>
        <p:nvSpPr>
          <p:cNvPr id="5" name="Oval 4"/>
          <p:cNvSpPr/>
          <p:nvPr/>
        </p:nvSpPr>
        <p:spPr>
          <a:xfrm>
            <a:off x="482345" y="368045"/>
            <a:ext cx="190500" cy="215900"/>
          </a:xfrm>
          <a:prstGeom prst="ellipse">
            <a:avLst/>
          </a:prstGeom>
          <a:solidFill>
            <a:srgbClr val="8FA388"/>
          </a:solidFill>
          <a:ln>
            <a:noFill/>
          </a:ln>
          <a:effectLst/>
        </p:spPr>
        <p:txBody>
          <a:bodyPr rtlCol="0" anchor="ctr"/>
          <a:lstStyle/>
          <a:p/>
        </p:txBody>
      </p:sp>
      <p:cxnSp>
        <p:nvCxnSpPr>
          <p:cNvPr id="6" name="Connector 5"/>
          <p:cNvCxnSpPr/>
          <p:nvPr/>
        </p:nvCxnSpPr>
        <p:spPr>
          <a:xfrm flipH="1">
            <a:off x="6861556" y="25400"/>
            <a:ext cx="660400" cy="660400"/>
          </a:xfrm>
          <a:prstGeom prst="line">
            <a:avLst/>
          </a:prstGeom>
          <a:ln w="13970">
            <a:solidFill>
              <a:srgbClr val="B08D4F"/>
            </a:solidFill>
          </a:ln>
        </p:spPr>
      </p:cxnSp>
      <p:sp>
        <p:nvSpPr>
          <p:cNvPr id="7" name="Oval 6"/>
          <p:cNvSpPr/>
          <p:nvPr/>
        </p:nvSpPr>
        <p:spPr>
          <a:xfrm>
            <a:off x="7177785" y="77470"/>
            <a:ext cx="190500" cy="215900"/>
          </a:xfrm>
          <a:prstGeom prst="ellipse">
            <a:avLst/>
          </a:prstGeom>
          <a:solidFill>
            <a:srgbClr val="8FA388"/>
          </a:solidFill>
          <a:ln>
            <a:noFill/>
          </a:ln>
          <a:effectLst/>
        </p:spPr>
        <p:txBody>
          <a:bodyPr rtlCol="0" anchor="ctr"/>
          <a:lstStyle/>
          <a:p/>
        </p:txBody>
      </p:sp>
      <p:sp>
        <p:nvSpPr>
          <p:cNvPr id="8" name="Oval 7"/>
          <p:cNvSpPr/>
          <p:nvPr/>
        </p:nvSpPr>
        <p:spPr>
          <a:xfrm>
            <a:off x="7026148" y="216408"/>
            <a:ext cx="203200" cy="228600"/>
          </a:xfrm>
          <a:prstGeom prst="ellipse">
            <a:avLst/>
          </a:prstGeom>
          <a:solidFill>
            <a:srgbClr val="8FA388"/>
          </a:solidFill>
          <a:ln>
            <a:noFill/>
          </a:ln>
          <a:effectLst/>
        </p:spPr>
        <p:txBody>
          <a:bodyPr rtlCol="0" anchor="ctr"/>
          <a:lstStyle/>
          <a:p/>
        </p:txBody>
      </p:sp>
      <p:sp>
        <p:nvSpPr>
          <p:cNvPr id="9" name="Oval 8"/>
          <p:cNvSpPr/>
          <p:nvPr/>
        </p:nvSpPr>
        <p:spPr>
          <a:xfrm>
            <a:off x="6887209" y="368045"/>
            <a:ext cx="190500" cy="215900"/>
          </a:xfrm>
          <a:prstGeom prst="ellipse">
            <a:avLst/>
          </a:prstGeom>
          <a:solidFill>
            <a:srgbClr val="8FA388"/>
          </a:solidFill>
          <a:ln>
            <a:noFill/>
          </a:ln>
          <a:effectLst/>
        </p:spPr>
        <p:txBody>
          <a:bodyPr rtlCol="0" anchor="ctr"/>
          <a:lstStyle/>
          <a:p/>
        </p:txBody>
      </p:sp>
      <p:sp>
        <p:nvSpPr>
          <p:cNvPr id="10" name="Oval 9"/>
          <p:cNvSpPr/>
          <p:nvPr/>
        </p:nvSpPr>
        <p:spPr>
          <a:xfrm>
            <a:off x="3500628" y="127000"/>
            <a:ext cx="114300" cy="215900"/>
          </a:xfrm>
          <a:prstGeom prst="ellipse">
            <a:avLst/>
          </a:prstGeom>
          <a:noFill/>
          <a:ln w="10160">
            <a:solidFill>
              <a:srgbClr val="B08D4F"/>
            </a:solidFill>
          </a:ln>
          <a:effectLst/>
        </p:spPr>
        <p:txBody>
          <a:bodyPr rtlCol="0" anchor="ctr"/>
          <a:lstStyle/>
          <a:p/>
        </p:txBody>
      </p:sp>
      <p:sp>
        <p:nvSpPr>
          <p:cNvPr id="11" name="Oval 10"/>
          <p:cNvSpPr/>
          <p:nvPr/>
        </p:nvSpPr>
        <p:spPr>
          <a:xfrm>
            <a:off x="3595878" y="127000"/>
            <a:ext cx="114300" cy="215900"/>
          </a:xfrm>
          <a:prstGeom prst="ellipse">
            <a:avLst/>
          </a:prstGeom>
          <a:noFill/>
          <a:ln w="10160">
            <a:solidFill>
              <a:srgbClr val="B08D4F"/>
            </a:solidFill>
          </a:ln>
          <a:effectLst/>
        </p:spPr>
        <p:txBody>
          <a:bodyPr rtlCol="0" anchor="ctr"/>
          <a:lstStyle/>
          <a:p/>
        </p:txBody>
      </p:sp>
      <p:sp>
        <p:nvSpPr>
          <p:cNvPr id="12" name="Oval 11"/>
          <p:cNvSpPr/>
          <p:nvPr/>
        </p:nvSpPr>
        <p:spPr>
          <a:xfrm>
            <a:off x="3691128" y="127000"/>
            <a:ext cx="114300" cy="215900"/>
          </a:xfrm>
          <a:prstGeom prst="ellipse">
            <a:avLst/>
          </a:prstGeom>
          <a:noFill/>
          <a:ln w="10160">
            <a:solidFill>
              <a:srgbClr val="B08D4F"/>
            </a:solidFill>
          </a:ln>
          <a:effectLst/>
        </p:spPr>
        <p:txBody>
          <a:bodyPr rtlCol="0" anchor="ctr"/>
          <a:lstStyle/>
          <a:p/>
        </p:txBody>
      </p:sp>
      <p:sp>
        <p:nvSpPr>
          <p:cNvPr id="13" name="Oval 12"/>
          <p:cNvSpPr/>
          <p:nvPr/>
        </p:nvSpPr>
        <p:spPr>
          <a:xfrm>
            <a:off x="3786378" y="127000"/>
            <a:ext cx="114300" cy="215900"/>
          </a:xfrm>
          <a:prstGeom prst="ellipse">
            <a:avLst/>
          </a:prstGeom>
          <a:noFill/>
          <a:ln w="10160">
            <a:solidFill>
              <a:srgbClr val="B08D4F"/>
            </a:solidFill>
          </a:ln>
          <a:effectLst/>
        </p:spPr>
        <p:txBody>
          <a:bodyPr rtlCol="0" anchor="ctr"/>
          <a:lstStyle/>
          <a:p/>
        </p:txBody>
      </p:sp>
      <p:sp>
        <p:nvSpPr>
          <p:cNvPr id="14" name="Oval 13"/>
          <p:cNvSpPr/>
          <p:nvPr/>
        </p:nvSpPr>
        <p:spPr>
          <a:xfrm>
            <a:off x="3881628" y="127000"/>
            <a:ext cx="114300" cy="215900"/>
          </a:xfrm>
          <a:prstGeom prst="ellipse">
            <a:avLst/>
          </a:prstGeom>
          <a:noFill/>
          <a:ln w="10160">
            <a:solidFill>
              <a:srgbClr val="B08D4F"/>
            </a:solidFill>
          </a:ln>
          <a:effectLst/>
        </p:spPr>
        <p:txBody>
          <a:bodyPr rtlCol="0" anchor="ctr"/>
          <a:lstStyle/>
          <a:p/>
        </p:txBody>
      </p:sp>
      <p:sp>
        <p:nvSpPr>
          <p:cNvPr id="15" name="Arc 14"/>
          <p:cNvSpPr/>
          <p:nvPr/>
        </p:nvSpPr>
        <p:spPr>
          <a:xfrm>
            <a:off x="3437128" y="165100"/>
            <a:ext cx="685800" cy="381000"/>
          </a:xfrm>
          <a:prstGeom prst="arc">
            <a:avLst>
              <a:gd name="adj1" fmla="val 18000000"/>
              <a:gd name="adj2" fmla="val 0"/>
            </a:avLst>
          </a:prstGeom>
          <a:noFill/>
          <a:ln w="10160">
            <a:solidFill>
              <a:srgbClr val="B08D4F"/>
            </a:solidFill>
          </a:ln>
          <a:effectLst/>
        </p:spPr>
        <p:txBody>
          <a:bodyPr rtlCol="0" anchor="ctr"/>
          <a:lstStyle/>
          <a:p>
            <a:pPr algn="ctr"/>
          </a:p>
        </p:txBody>
      </p:sp>
      <p:sp>
        <p:nvSpPr>
          <p:cNvPr id="16" name="TextBox 15"/>
          <p:cNvSpPr txBox="1"/>
          <p:nvPr/>
        </p:nvSpPr>
        <p:spPr>
          <a:xfrm>
            <a:off x="254000" y="635000"/>
            <a:ext cx="7052056" cy="462280"/>
          </a:xfrm>
          <a:prstGeom prst="rect">
            <a:avLst/>
          </a:prstGeom>
          <a:noFill/>
        </p:spPr>
        <p:txBody>
          <a:bodyPr wrap="square" lIns="0" rIns="0" tIns="0" bIns="0" anchor="t">
            <a:spAutoFit/>
          </a:bodyPr>
          <a:lstStyle/>
          <a:p>
            <a:pPr algn="ctr"/>
            <a:r>
              <a:rPr sz="2600" b="1" i="0">
                <a:solidFill>
                  <a:srgbClr val="3F5C4A"/>
                </a:solidFill>
                <a:latin typeface="Libre Baskerville"/>
              </a:rPr>
              <a:t>MENSAGENS PARA FALTAS</a:t>
            </a:r>
          </a:p>
        </p:txBody>
      </p:sp>
      <p:sp>
        <p:nvSpPr>
          <p:cNvPr id="17" name="TextBox 16"/>
          <p:cNvSpPr txBox="1"/>
          <p:nvPr/>
        </p:nvSpPr>
        <p:spPr>
          <a:xfrm>
            <a:off x="508000" y="1080770"/>
            <a:ext cx="6544056" cy="177800"/>
          </a:xfrm>
          <a:prstGeom prst="rect">
            <a:avLst/>
          </a:prstGeom>
          <a:noFill/>
        </p:spPr>
        <p:txBody>
          <a:bodyPr wrap="square" lIns="0" rIns="0" tIns="0" bIns="0" anchor="t">
            <a:spAutoFit/>
          </a:bodyPr>
          <a:lstStyle/>
          <a:p>
            <a:pPr algn="ctr"/>
            <a:r>
              <a:rPr sz="950" b="0" i="0">
                <a:solidFill>
                  <a:srgbClr val="2A2A26"/>
                </a:solidFill>
                <a:latin typeface="Montserrat"/>
              </a:rPr>
              <a:t>Modelos acolhedores e objetivos</a:t>
            </a:r>
          </a:p>
        </p:txBody>
      </p:sp>
      <p:sp>
        <p:nvSpPr>
          <p:cNvPr id="18" name="TextBox 17"/>
          <p:cNvSpPr txBox="1"/>
          <p:nvPr/>
        </p:nvSpPr>
        <p:spPr>
          <a:xfrm>
            <a:off x="762000" y="10196703"/>
            <a:ext cx="6036056" cy="127000"/>
          </a:xfrm>
          <a:prstGeom prst="rect">
            <a:avLst/>
          </a:prstGeom>
          <a:noFill/>
        </p:spPr>
        <p:txBody>
          <a:bodyPr wrap="square" lIns="0" rIns="0" tIns="0" bIns="0" anchor="t">
            <a:spAutoFit/>
          </a:bodyPr>
          <a:lstStyle/>
          <a:p>
            <a:pPr algn="ctr"/>
            <a:r>
              <a:rPr sz="650" b="0" i="0">
                <a:solidFill>
                  <a:srgbClr val="77776E"/>
                </a:solidFill>
                <a:latin typeface="Montserrat"/>
              </a:rPr>
              <a:t>MASSOTERAPIA • CUIDADO • BEM-ESTAR</a:t>
            </a:r>
          </a:p>
        </p:txBody>
      </p:sp>
      <p:cxnSp>
        <p:nvCxnSpPr>
          <p:cNvPr id="19" name="Connector 18"/>
          <p:cNvCxnSpPr/>
          <p:nvPr/>
        </p:nvCxnSpPr>
        <p:spPr>
          <a:xfrm>
            <a:off x="1968500" y="10336403"/>
            <a:ext cx="3623056" cy="0"/>
          </a:xfrm>
          <a:prstGeom prst="line">
            <a:avLst/>
          </a:prstGeom>
          <a:ln w="8890">
            <a:solidFill>
              <a:srgbClr val="B08D4F"/>
            </a:solidFill>
          </a:ln>
        </p:spPr>
      </p:cxnSp>
      <p:sp>
        <p:nvSpPr>
          <p:cNvPr id="20" name="TextBox 19"/>
          <p:cNvSpPr txBox="1"/>
          <p:nvPr/>
        </p:nvSpPr>
        <p:spPr>
          <a:xfrm>
            <a:off x="533400" y="1903659"/>
            <a:ext cx="6493256" cy="422644"/>
          </a:xfrm>
          <a:prstGeom prst="rect">
            <a:avLst/>
          </a:prstGeom>
          <a:noFill/>
        </p:spPr>
        <p:txBody>
          <a:bodyPr wrap="square" lIns="0" rIns="0" tIns="0" bIns="0" anchor="t">
            <a:spAutoFit/>
          </a:bodyPr>
          <a:lstStyle/>
          <a:p>
            <a:pPr algn="l">
              <a:lnSpc>
                <a:spcPct val="140000"/>
              </a:lnSpc>
            </a:pPr>
            <a:r>
              <a:rPr sz="974" b="0" i="0">
                <a:solidFill>
                  <a:srgbClr val="2A2A26"/>
                </a:solidFill>
                <a:latin typeface="Montserrat"/>
              </a:rPr>
              <a:t>Olá, [nome]. Notei que você não conseguiu comparecer ao horário de hoje. Espero que esteja tudo bem. Quando puder, me avise para alinharmos o ocorrido e o possível reagendamento.</a:t>
            </a:r>
          </a:p>
        </p:txBody>
      </p:sp>
      <p:sp>
        <p:nvSpPr>
          <p:cNvPr id="23" name="TextBox 22"/>
          <p:cNvSpPr txBox="1"/>
          <p:nvPr/>
        </p:nvSpPr>
        <p:spPr>
          <a:xfrm>
            <a:off x="508000" y="1461770"/>
            <a:ext cx="6544056" cy="266700"/>
          </a:xfrm>
          <a:prstGeom prst="rect">
            <a:avLst/>
          </a:prstGeom>
          <a:noFill/>
        </p:spPr>
        <p:txBody>
          <a:bodyPr wrap="square" lIns="0" rIns="0" tIns="0" bIns="0" anchor="ctr">
            <a:spAutoFit/>
          </a:bodyPr>
          <a:lstStyle/>
          <a:p>
            <a:pPr algn="l"/>
            <a:r>
              <a:rPr sz="840" b="1" i="0">
                <a:solidFill>
                  <a:srgbClr val="FFFFFF"/>
                </a:solidFill>
                <a:latin typeface="Montserrat"/>
              </a:rPr>
              <a:t>FALTA SEM AVISO</a:t>
            </a:r>
          </a:p>
        </p:txBody>
      </p:sp>
      <p:sp>
        <p:nvSpPr>
          <p:cNvPr id="24" name="TextBox 23"/>
          <p:cNvSpPr txBox="1"/>
          <p:nvPr/>
        </p:nvSpPr>
        <p:spPr>
          <a:xfrm>
            <a:off x="533400" y="3433915"/>
            <a:ext cx="6493256" cy="633967"/>
          </a:xfrm>
          <a:prstGeom prst="rect">
            <a:avLst/>
          </a:prstGeom>
          <a:noFill/>
        </p:spPr>
        <p:txBody>
          <a:bodyPr wrap="square" lIns="0" rIns="0" tIns="0" bIns="0" anchor="t">
            <a:spAutoFit/>
          </a:bodyPr>
          <a:lstStyle/>
          <a:p>
            <a:pPr algn="l">
              <a:lnSpc>
                <a:spcPct val="140000"/>
              </a:lnSpc>
            </a:pPr>
            <a:r>
              <a:rPr sz="974" b="0" i="0">
                <a:solidFill>
                  <a:srgbClr val="2A2A26"/>
                </a:solidFill>
                <a:latin typeface="Montserrat"/>
              </a:rPr>
              <a:t>Olá, [nome]. Estou disponível para nosso atendimento agendado às [horário]. Como já ultrapassamos o tempo de tolerância combinado, o atendimento de hoje não poderá ser realizado. Depois conversamos sobre o próximo horário.</a:t>
            </a:r>
          </a:p>
        </p:txBody>
      </p:sp>
      <p:sp>
        <p:nvSpPr>
          <p:cNvPr id="27" name="TextBox 26"/>
          <p:cNvSpPr txBox="1"/>
          <p:nvPr/>
        </p:nvSpPr>
        <p:spPr>
          <a:xfrm>
            <a:off x="508000" y="2992025"/>
            <a:ext cx="6544056" cy="266700"/>
          </a:xfrm>
          <a:prstGeom prst="rect">
            <a:avLst/>
          </a:prstGeom>
          <a:noFill/>
        </p:spPr>
        <p:txBody>
          <a:bodyPr wrap="square" lIns="0" rIns="0" tIns="0" bIns="0" anchor="ctr">
            <a:spAutoFit/>
          </a:bodyPr>
          <a:lstStyle/>
          <a:p>
            <a:pPr algn="l"/>
            <a:r>
              <a:rPr sz="840" b="1" i="0">
                <a:solidFill>
                  <a:srgbClr val="FFFFFF"/>
                </a:solidFill>
                <a:latin typeface="Montserrat"/>
              </a:rPr>
              <a:t>APÓS O TEMPO DE TOLERÂNCIA</a:t>
            </a:r>
          </a:p>
        </p:txBody>
      </p:sp>
      <p:sp>
        <p:nvSpPr>
          <p:cNvPr id="28" name="TextBox 27"/>
          <p:cNvSpPr txBox="1"/>
          <p:nvPr/>
        </p:nvSpPr>
        <p:spPr>
          <a:xfrm>
            <a:off x="533400" y="5175493"/>
            <a:ext cx="6493256" cy="422644"/>
          </a:xfrm>
          <a:prstGeom prst="rect">
            <a:avLst/>
          </a:prstGeom>
          <a:noFill/>
        </p:spPr>
        <p:txBody>
          <a:bodyPr wrap="square" lIns="0" rIns="0" tIns="0" bIns="0" anchor="t">
            <a:spAutoFit/>
          </a:bodyPr>
          <a:lstStyle/>
          <a:p>
            <a:pPr algn="l">
              <a:lnSpc>
                <a:spcPct val="140000"/>
              </a:lnSpc>
            </a:pPr>
            <a:r>
              <a:rPr sz="974" b="0" i="0">
                <a:solidFill>
                  <a:srgbClr val="2A2A26"/>
                </a:solidFill>
                <a:latin typeface="Montserrat"/>
              </a:rPr>
              <a:t>Olá, [nome]. Percebi que tivemos algumas ausências recentes. Gostaria de alinhar horários e condições de acompanhamento para verificarmos o que funciona melhor neste momento.</a:t>
            </a:r>
          </a:p>
        </p:txBody>
      </p:sp>
      <p:sp>
        <p:nvSpPr>
          <p:cNvPr id="31" name="TextBox 30"/>
          <p:cNvSpPr txBox="1"/>
          <p:nvPr/>
        </p:nvSpPr>
        <p:spPr>
          <a:xfrm>
            <a:off x="508000" y="4733603"/>
            <a:ext cx="6544056" cy="266700"/>
          </a:xfrm>
          <a:prstGeom prst="rect">
            <a:avLst/>
          </a:prstGeom>
          <a:noFill/>
        </p:spPr>
        <p:txBody>
          <a:bodyPr wrap="square" lIns="0" rIns="0" tIns="0" bIns="0" anchor="ctr">
            <a:spAutoFit/>
          </a:bodyPr>
          <a:lstStyle/>
          <a:p>
            <a:pPr algn="l"/>
            <a:r>
              <a:rPr sz="840" b="1" i="0">
                <a:solidFill>
                  <a:srgbClr val="FFFFFF"/>
                </a:solidFill>
                <a:latin typeface="Montserrat"/>
              </a:rPr>
              <a:t>FALTAS RECORRENTES</a:t>
            </a:r>
          </a:p>
        </p:txBody>
      </p:sp>
      <p:sp>
        <p:nvSpPr>
          <p:cNvPr id="32" name="TextBox 31"/>
          <p:cNvSpPr txBox="1"/>
          <p:nvPr/>
        </p:nvSpPr>
        <p:spPr>
          <a:xfrm>
            <a:off x="533400" y="6705748"/>
            <a:ext cx="6493256" cy="422644"/>
          </a:xfrm>
          <a:prstGeom prst="rect">
            <a:avLst/>
          </a:prstGeom>
          <a:noFill/>
        </p:spPr>
        <p:txBody>
          <a:bodyPr wrap="square" lIns="0" rIns="0" tIns="0" bIns="0" anchor="t">
            <a:spAutoFit/>
          </a:bodyPr>
          <a:lstStyle/>
          <a:p>
            <a:pPr algn="l">
              <a:lnSpc>
                <a:spcPct val="140000"/>
              </a:lnSpc>
            </a:pPr>
            <a:r>
              <a:rPr sz="974" b="0" i="0">
                <a:solidFill>
                  <a:srgbClr val="2A2A26"/>
                </a:solidFill>
                <a:latin typeface="Montserrat"/>
              </a:rPr>
              <a:t>Olá, [nome]. Como não tivemos retorno após o último agendamento, estou entrando em contato para saber se deseja continuar o acompanhamento. Fico disponível para alinharmos.</a:t>
            </a:r>
          </a:p>
        </p:txBody>
      </p:sp>
      <p:sp>
        <p:nvSpPr>
          <p:cNvPr id="35" name="TextBox 34"/>
          <p:cNvSpPr txBox="1"/>
          <p:nvPr/>
        </p:nvSpPr>
        <p:spPr>
          <a:xfrm>
            <a:off x="508000" y="6263859"/>
            <a:ext cx="6544056" cy="266700"/>
          </a:xfrm>
          <a:prstGeom prst="rect">
            <a:avLst/>
          </a:prstGeom>
          <a:noFill/>
        </p:spPr>
        <p:txBody>
          <a:bodyPr wrap="square" lIns="0" rIns="0" tIns="0" bIns="0" anchor="ctr">
            <a:spAutoFit/>
          </a:bodyPr>
          <a:lstStyle/>
          <a:p>
            <a:pPr algn="l"/>
            <a:r>
              <a:rPr sz="840" b="1" i="0">
                <a:solidFill>
                  <a:srgbClr val="FFFFFF"/>
                </a:solidFill>
                <a:latin typeface="Montserrat"/>
              </a:rPr>
              <a:t>RETOMADA DE CONTATO</a:t>
            </a:r>
          </a:p>
        </p:txBody>
      </p:sp>
      <p:cxnSp>
        <p:nvCxnSpPr>
          <p:cNvPr id="36" name="Connector 35"/>
          <p:cNvCxnSpPr/>
          <p:nvPr/>
        </p:nvCxnSpPr>
        <p:spPr>
          <a:xfrm>
            <a:off x="533400" y="8495726"/>
            <a:ext cx="6493256" cy="0"/>
          </a:xfrm>
          <a:prstGeom prst="line">
            <a:avLst/>
          </a:prstGeom>
          <a:ln w="7620">
            <a:solidFill>
              <a:srgbClr val="B4B2A8"/>
            </a:solidFill>
          </a:ln>
        </p:spPr>
      </p:cxnSp>
      <p:cxnSp>
        <p:nvCxnSpPr>
          <p:cNvPr id="37" name="Connector 36"/>
          <p:cNvCxnSpPr/>
          <p:nvPr/>
        </p:nvCxnSpPr>
        <p:spPr>
          <a:xfrm>
            <a:off x="533400" y="8793549"/>
            <a:ext cx="6493256" cy="0"/>
          </a:xfrm>
          <a:prstGeom prst="line">
            <a:avLst/>
          </a:prstGeom>
          <a:ln w="7620">
            <a:solidFill>
              <a:srgbClr val="B4B2A8"/>
            </a:solidFill>
          </a:ln>
        </p:spPr>
      </p:cxnSp>
      <p:cxnSp>
        <p:nvCxnSpPr>
          <p:cNvPr id="38" name="Connector 37"/>
          <p:cNvCxnSpPr/>
          <p:nvPr/>
        </p:nvCxnSpPr>
        <p:spPr>
          <a:xfrm>
            <a:off x="533400" y="9091371"/>
            <a:ext cx="6493256" cy="0"/>
          </a:xfrm>
          <a:prstGeom prst="line">
            <a:avLst/>
          </a:prstGeom>
          <a:ln w="7620">
            <a:solidFill>
              <a:srgbClr val="B4B2A8"/>
            </a:solidFill>
          </a:ln>
        </p:spPr>
      </p:cxnSp>
      <p:cxnSp>
        <p:nvCxnSpPr>
          <p:cNvPr id="39" name="Connector 38"/>
          <p:cNvCxnSpPr/>
          <p:nvPr/>
        </p:nvCxnSpPr>
        <p:spPr>
          <a:xfrm>
            <a:off x="533400" y="9389194"/>
            <a:ext cx="6493256" cy="0"/>
          </a:xfrm>
          <a:prstGeom prst="line">
            <a:avLst/>
          </a:prstGeom>
          <a:ln w="7620">
            <a:solidFill>
              <a:srgbClr val="B4B2A8"/>
            </a:solidFill>
          </a:ln>
        </p:spPr>
      </p:cxnSp>
      <p:cxnSp>
        <p:nvCxnSpPr>
          <p:cNvPr id="40" name="Connector 39"/>
          <p:cNvCxnSpPr/>
          <p:nvPr/>
        </p:nvCxnSpPr>
        <p:spPr>
          <a:xfrm>
            <a:off x="533400" y="9687016"/>
            <a:ext cx="6493256" cy="0"/>
          </a:xfrm>
          <a:prstGeom prst="line">
            <a:avLst/>
          </a:prstGeom>
          <a:ln w="7620">
            <a:solidFill>
              <a:srgbClr val="B4B2A8"/>
            </a:solidFill>
          </a:ln>
        </p:spPr>
      </p:cxnSp>
      <p:sp>
        <p:nvSpPr>
          <p:cNvPr id="43" name="TextBox 42"/>
          <p:cNvSpPr txBox="1"/>
          <p:nvPr/>
        </p:nvSpPr>
        <p:spPr>
          <a:xfrm>
            <a:off x="508000" y="7794114"/>
            <a:ext cx="6544056" cy="266700"/>
          </a:xfrm>
          <a:prstGeom prst="rect">
            <a:avLst/>
          </a:prstGeom>
          <a:noFill/>
        </p:spPr>
        <p:txBody>
          <a:bodyPr wrap="square" lIns="0" rIns="0" tIns="0" bIns="0" anchor="ctr">
            <a:spAutoFit/>
          </a:bodyPr>
          <a:lstStyle/>
          <a:p>
            <a:pPr algn="l"/>
            <a:r>
              <a:rPr sz="840" b="1" i="0">
                <a:solidFill>
                  <a:srgbClr val="FFFFFF"/>
                </a:solidFill>
                <a:latin typeface="Montserrat"/>
              </a:rPr>
              <a:t>MINHA VERSÃO PERSONALIZADA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5EE"/>
        </a:solidFill>
        <a:effectLst/>
      </p:bgPr>
    </p:bg>
    <p:spTree>
      <p:nvGrpSpPr>
        <p:cNvPr id="1" name=""/>
        <p:cNvGrpSpPr/>
        <p:nvPr/>
      </p:nvGrpSpPr>
      <p:grpSpPr/>
      <p:sp>
        <p:nvSpPr>
          <p:cNvPr id="41" name="Rounded Rectangle 40"/>
          <p:cNvSpPr/>
          <p:nvPr/>
        </p:nvSpPr>
        <p:spPr>
          <a:xfrm>
            <a:off x="381000" y="7728862"/>
            <a:ext cx="6798056" cy="2191286"/>
          </a:xfrm>
          <a:prstGeom prst="roundRect">
            <a:avLst>
              <a:gd name="adj" fmla="val 4636"/>
            </a:avLst>
          </a:prstGeom>
          <a:solidFill>
            <a:srgbClr val="FDFCF8"/>
          </a:solidFill>
          <a:ln w="10160">
            <a:solidFill>
              <a:srgbClr val="D7D4C9"/>
            </a:solidFill>
          </a:ln>
          <a:effectLst/>
        </p:spPr>
        <p:txBody>
          <a:bodyPr rtlCol="0" anchor="ctr"/>
          <a:lstStyle/>
          <a:p/>
        </p:txBody>
      </p:sp>
      <p:sp>
        <p:nvSpPr>
          <p:cNvPr id="42" name="Round Same Side Corner Rectangle 41"/>
          <p:cNvSpPr/>
          <p:nvPr/>
        </p:nvSpPr>
        <p:spPr>
          <a:xfrm>
            <a:off x="381000" y="7728862"/>
            <a:ext cx="6798056" cy="266700"/>
          </a:xfrm>
          <a:prstGeom prst="round2SameRect">
            <a:avLst>
              <a:gd name="adj1" fmla="val 38095"/>
              <a:gd name="adj2" fmla="val 0"/>
            </a:avLst>
          </a:prstGeom>
          <a:solidFill>
            <a:srgbClr val="3F5C4A"/>
          </a:solidFill>
          <a:ln>
            <a:noFill/>
          </a:ln>
          <a:effectLst/>
        </p:spPr>
        <p:txBody>
          <a:bodyPr rtlCol="0" anchor="ctr"/>
          <a:lstStyle/>
          <a:p/>
        </p:txBody>
      </p:sp>
      <p:sp>
        <p:nvSpPr>
          <p:cNvPr id="33" name="Rounded Rectangle 32"/>
          <p:cNvSpPr/>
          <p:nvPr/>
        </p:nvSpPr>
        <p:spPr>
          <a:xfrm>
            <a:off x="381000" y="6151373"/>
            <a:ext cx="6798056" cy="1394194"/>
          </a:xfrm>
          <a:prstGeom prst="roundRect">
            <a:avLst>
              <a:gd name="adj" fmla="val 7287"/>
            </a:avLst>
          </a:prstGeom>
          <a:solidFill>
            <a:srgbClr val="FDFCF8"/>
          </a:solidFill>
          <a:ln w="10160">
            <a:solidFill>
              <a:srgbClr val="D7D4C9"/>
            </a:solidFill>
          </a:ln>
          <a:effectLst/>
        </p:spPr>
        <p:txBody>
          <a:bodyPr rtlCol="0" anchor="ctr"/>
          <a:lstStyle/>
          <a:p/>
        </p:txBody>
      </p:sp>
      <p:sp>
        <p:nvSpPr>
          <p:cNvPr id="34" name="Round Same Side Corner Rectangle 33"/>
          <p:cNvSpPr/>
          <p:nvPr/>
        </p:nvSpPr>
        <p:spPr>
          <a:xfrm>
            <a:off x="381000" y="6151373"/>
            <a:ext cx="6798056" cy="266700"/>
          </a:xfrm>
          <a:prstGeom prst="round2SameRect">
            <a:avLst>
              <a:gd name="adj1" fmla="val 38095"/>
              <a:gd name="adj2" fmla="val 0"/>
            </a:avLst>
          </a:prstGeom>
          <a:solidFill>
            <a:srgbClr val="3F5C4A"/>
          </a:solidFill>
          <a:ln>
            <a:noFill/>
          </a:ln>
          <a:effectLst/>
        </p:spPr>
        <p:txBody>
          <a:bodyPr rtlCol="0" anchor="ctr"/>
          <a:lstStyle/>
          <a:p/>
        </p:txBody>
      </p:sp>
      <p:sp>
        <p:nvSpPr>
          <p:cNvPr id="29" name="Rounded Rectangle 28"/>
          <p:cNvSpPr/>
          <p:nvPr/>
        </p:nvSpPr>
        <p:spPr>
          <a:xfrm>
            <a:off x="381000" y="4573885"/>
            <a:ext cx="6798056" cy="1394194"/>
          </a:xfrm>
          <a:prstGeom prst="roundRect">
            <a:avLst>
              <a:gd name="adj" fmla="val 7287"/>
            </a:avLst>
          </a:prstGeom>
          <a:solidFill>
            <a:srgbClr val="FDFCF8"/>
          </a:solidFill>
          <a:ln w="10160">
            <a:solidFill>
              <a:srgbClr val="D7D4C9"/>
            </a:solidFill>
          </a:ln>
          <a:effectLst/>
        </p:spPr>
        <p:txBody>
          <a:bodyPr rtlCol="0" anchor="ctr"/>
          <a:lstStyle/>
          <a:p/>
        </p:txBody>
      </p:sp>
      <p:sp>
        <p:nvSpPr>
          <p:cNvPr id="30" name="Round Same Side Corner Rectangle 29"/>
          <p:cNvSpPr/>
          <p:nvPr/>
        </p:nvSpPr>
        <p:spPr>
          <a:xfrm>
            <a:off x="381000" y="4573885"/>
            <a:ext cx="6798056" cy="266700"/>
          </a:xfrm>
          <a:prstGeom prst="round2SameRect">
            <a:avLst>
              <a:gd name="adj1" fmla="val 38095"/>
              <a:gd name="adj2" fmla="val 0"/>
            </a:avLst>
          </a:prstGeom>
          <a:solidFill>
            <a:srgbClr val="3F5C4A"/>
          </a:solidFill>
          <a:ln>
            <a:noFill/>
          </a:ln>
          <a:effectLst/>
        </p:spPr>
        <p:txBody>
          <a:bodyPr rtlCol="0" anchor="ctr"/>
          <a:lstStyle/>
          <a:p/>
        </p:txBody>
      </p:sp>
      <p:sp>
        <p:nvSpPr>
          <p:cNvPr id="25" name="Rounded Rectangle 24"/>
          <p:cNvSpPr/>
          <p:nvPr/>
        </p:nvSpPr>
        <p:spPr>
          <a:xfrm>
            <a:off x="381000" y="2996396"/>
            <a:ext cx="6798056" cy="1394194"/>
          </a:xfrm>
          <a:prstGeom prst="roundRect">
            <a:avLst>
              <a:gd name="adj" fmla="val 7287"/>
            </a:avLst>
          </a:prstGeom>
          <a:solidFill>
            <a:srgbClr val="FDFCF8"/>
          </a:solidFill>
          <a:ln w="10160">
            <a:solidFill>
              <a:srgbClr val="D7D4C9"/>
            </a:solidFill>
          </a:ln>
          <a:effectLst/>
        </p:spPr>
        <p:txBody>
          <a:bodyPr rtlCol="0" anchor="ctr"/>
          <a:lstStyle/>
          <a:p/>
        </p:txBody>
      </p:sp>
      <p:sp>
        <p:nvSpPr>
          <p:cNvPr id="26" name="Round Same Side Corner Rectangle 25"/>
          <p:cNvSpPr/>
          <p:nvPr/>
        </p:nvSpPr>
        <p:spPr>
          <a:xfrm>
            <a:off x="381000" y="2996396"/>
            <a:ext cx="6798056" cy="266700"/>
          </a:xfrm>
          <a:prstGeom prst="round2SameRect">
            <a:avLst>
              <a:gd name="adj1" fmla="val 38095"/>
              <a:gd name="adj2" fmla="val 0"/>
            </a:avLst>
          </a:prstGeom>
          <a:solidFill>
            <a:srgbClr val="3F5C4A"/>
          </a:solidFill>
          <a:ln>
            <a:noFill/>
          </a:ln>
          <a:effectLst/>
        </p:spPr>
        <p:txBody>
          <a:bodyPr rtlCol="0" anchor="ctr"/>
          <a:lstStyle/>
          <a:p/>
        </p:txBody>
      </p:sp>
      <p:sp>
        <p:nvSpPr>
          <p:cNvPr id="21" name="Rounded Rectangle 20"/>
          <p:cNvSpPr/>
          <p:nvPr/>
        </p:nvSpPr>
        <p:spPr>
          <a:xfrm>
            <a:off x="381000" y="1418907"/>
            <a:ext cx="6798056" cy="1394194"/>
          </a:xfrm>
          <a:prstGeom prst="roundRect">
            <a:avLst>
              <a:gd name="adj" fmla="val 7287"/>
            </a:avLst>
          </a:prstGeom>
          <a:solidFill>
            <a:srgbClr val="FDFCF8"/>
          </a:solidFill>
          <a:ln w="10160">
            <a:solidFill>
              <a:srgbClr val="D7D4C9"/>
            </a:solidFill>
          </a:ln>
          <a:effectLst/>
        </p:spPr>
        <p:txBody>
          <a:bodyPr rtlCol="0" anchor="ctr"/>
          <a:lstStyle/>
          <a:p/>
        </p:txBody>
      </p:sp>
      <p:sp>
        <p:nvSpPr>
          <p:cNvPr id="22" name="Round Same Side Corner Rectangle 21"/>
          <p:cNvSpPr/>
          <p:nvPr/>
        </p:nvSpPr>
        <p:spPr>
          <a:xfrm>
            <a:off x="381000" y="1418907"/>
            <a:ext cx="6798056" cy="266700"/>
          </a:xfrm>
          <a:prstGeom prst="round2SameRect">
            <a:avLst>
              <a:gd name="adj1" fmla="val 38095"/>
              <a:gd name="adj2" fmla="val 0"/>
            </a:avLst>
          </a:prstGeom>
          <a:solidFill>
            <a:srgbClr val="3F5C4A"/>
          </a:solidFill>
          <a:ln>
            <a:noFill/>
          </a:ln>
          <a:effectLst/>
        </p:spPr>
        <p:txBody>
          <a:bodyPr rtlCol="0" anchor="ctr"/>
          <a:lstStyle/>
          <a:p/>
        </p:txBody>
      </p:sp>
      <p:cxnSp>
        <p:nvCxnSpPr>
          <p:cNvPr id="2" name="Connector 1"/>
          <p:cNvCxnSpPr/>
          <p:nvPr/>
        </p:nvCxnSpPr>
        <p:spPr>
          <a:xfrm>
            <a:off x="38100" y="25400"/>
            <a:ext cx="660400" cy="660400"/>
          </a:xfrm>
          <a:prstGeom prst="line">
            <a:avLst/>
          </a:prstGeom>
          <a:ln w="13970">
            <a:solidFill>
              <a:srgbClr val="B08D4F"/>
            </a:solidFill>
          </a:ln>
        </p:spPr>
      </p:cxnSp>
      <p:sp>
        <p:nvSpPr>
          <p:cNvPr id="3" name="Oval 2"/>
          <p:cNvSpPr/>
          <p:nvPr/>
        </p:nvSpPr>
        <p:spPr>
          <a:xfrm>
            <a:off x="191770" y="77470"/>
            <a:ext cx="190500" cy="215900"/>
          </a:xfrm>
          <a:prstGeom prst="ellipse">
            <a:avLst/>
          </a:prstGeom>
          <a:solidFill>
            <a:srgbClr val="8FA388"/>
          </a:solidFill>
          <a:ln>
            <a:noFill/>
          </a:ln>
          <a:effectLst/>
        </p:spPr>
        <p:txBody>
          <a:bodyPr rtlCol="0" anchor="ctr"/>
          <a:lstStyle/>
          <a:p/>
        </p:txBody>
      </p:sp>
      <p:sp>
        <p:nvSpPr>
          <p:cNvPr id="4" name="Oval 3"/>
          <p:cNvSpPr/>
          <p:nvPr/>
        </p:nvSpPr>
        <p:spPr>
          <a:xfrm>
            <a:off x="330708" y="216408"/>
            <a:ext cx="203200" cy="228600"/>
          </a:xfrm>
          <a:prstGeom prst="ellipse">
            <a:avLst/>
          </a:prstGeom>
          <a:solidFill>
            <a:srgbClr val="8FA388"/>
          </a:solidFill>
          <a:ln>
            <a:noFill/>
          </a:ln>
          <a:effectLst/>
        </p:spPr>
        <p:txBody>
          <a:bodyPr rtlCol="0" anchor="ctr"/>
          <a:lstStyle/>
          <a:p/>
        </p:txBody>
      </p:sp>
      <p:sp>
        <p:nvSpPr>
          <p:cNvPr id="5" name="Oval 4"/>
          <p:cNvSpPr/>
          <p:nvPr/>
        </p:nvSpPr>
        <p:spPr>
          <a:xfrm>
            <a:off x="482345" y="368045"/>
            <a:ext cx="190500" cy="215900"/>
          </a:xfrm>
          <a:prstGeom prst="ellipse">
            <a:avLst/>
          </a:prstGeom>
          <a:solidFill>
            <a:srgbClr val="8FA388"/>
          </a:solidFill>
          <a:ln>
            <a:noFill/>
          </a:ln>
          <a:effectLst/>
        </p:spPr>
        <p:txBody>
          <a:bodyPr rtlCol="0" anchor="ctr"/>
          <a:lstStyle/>
          <a:p/>
        </p:txBody>
      </p:sp>
      <p:cxnSp>
        <p:nvCxnSpPr>
          <p:cNvPr id="6" name="Connector 5"/>
          <p:cNvCxnSpPr/>
          <p:nvPr/>
        </p:nvCxnSpPr>
        <p:spPr>
          <a:xfrm flipH="1">
            <a:off x="6861556" y="25400"/>
            <a:ext cx="660400" cy="660400"/>
          </a:xfrm>
          <a:prstGeom prst="line">
            <a:avLst/>
          </a:prstGeom>
          <a:ln w="13970">
            <a:solidFill>
              <a:srgbClr val="B08D4F"/>
            </a:solidFill>
          </a:ln>
        </p:spPr>
      </p:cxnSp>
      <p:sp>
        <p:nvSpPr>
          <p:cNvPr id="7" name="Oval 6"/>
          <p:cNvSpPr/>
          <p:nvPr/>
        </p:nvSpPr>
        <p:spPr>
          <a:xfrm>
            <a:off x="7177785" y="77470"/>
            <a:ext cx="190500" cy="215900"/>
          </a:xfrm>
          <a:prstGeom prst="ellipse">
            <a:avLst/>
          </a:prstGeom>
          <a:solidFill>
            <a:srgbClr val="8FA388"/>
          </a:solidFill>
          <a:ln>
            <a:noFill/>
          </a:ln>
          <a:effectLst/>
        </p:spPr>
        <p:txBody>
          <a:bodyPr rtlCol="0" anchor="ctr"/>
          <a:lstStyle/>
          <a:p/>
        </p:txBody>
      </p:sp>
      <p:sp>
        <p:nvSpPr>
          <p:cNvPr id="8" name="Oval 7"/>
          <p:cNvSpPr/>
          <p:nvPr/>
        </p:nvSpPr>
        <p:spPr>
          <a:xfrm>
            <a:off x="7026148" y="216408"/>
            <a:ext cx="203200" cy="228600"/>
          </a:xfrm>
          <a:prstGeom prst="ellipse">
            <a:avLst/>
          </a:prstGeom>
          <a:solidFill>
            <a:srgbClr val="8FA388"/>
          </a:solidFill>
          <a:ln>
            <a:noFill/>
          </a:ln>
          <a:effectLst/>
        </p:spPr>
        <p:txBody>
          <a:bodyPr rtlCol="0" anchor="ctr"/>
          <a:lstStyle/>
          <a:p/>
        </p:txBody>
      </p:sp>
      <p:sp>
        <p:nvSpPr>
          <p:cNvPr id="9" name="Oval 8"/>
          <p:cNvSpPr/>
          <p:nvPr/>
        </p:nvSpPr>
        <p:spPr>
          <a:xfrm>
            <a:off x="6887209" y="368045"/>
            <a:ext cx="190500" cy="215900"/>
          </a:xfrm>
          <a:prstGeom prst="ellipse">
            <a:avLst/>
          </a:prstGeom>
          <a:solidFill>
            <a:srgbClr val="8FA388"/>
          </a:solidFill>
          <a:ln>
            <a:noFill/>
          </a:ln>
          <a:effectLst/>
        </p:spPr>
        <p:txBody>
          <a:bodyPr rtlCol="0" anchor="ctr"/>
          <a:lstStyle/>
          <a:p/>
        </p:txBody>
      </p:sp>
      <p:sp>
        <p:nvSpPr>
          <p:cNvPr id="10" name="Oval 9"/>
          <p:cNvSpPr/>
          <p:nvPr/>
        </p:nvSpPr>
        <p:spPr>
          <a:xfrm>
            <a:off x="3500628" y="127000"/>
            <a:ext cx="114300" cy="215900"/>
          </a:xfrm>
          <a:prstGeom prst="ellipse">
            <a:avLst/>
          </a:prstGeom>
          <a:noFill/>
          <a:ln w="10160">
            <a:solidFill>
              <a:srgbClr val="B08D4F"/>
            </a:solidFill>
          </a:ln>
          <a:effectLst/>
        </p:spPr>
        <p:txBody>
          <a:bodyPr rtlCol="0" anchor="ctr"/>
          <a:lstStyle/>
          <a:p/>
        </p:txBody>
      </p:sp>
      <p:sp>
        <p:nvSpPr>
          <p:cNvPr id="11" name="Oval 10"/>
          <p:cNvSpPr/>
          <p:nvPr/>
        </p:nvSpPr>
        <p:spPr>
          <a:xfrm>
            <a:off x="3595878" y="127000"/>
            <a:ext cx="114300" cy="215900"/>
          </a:xfrm>
          <a:prstGeom prst="ellipse">
            <a:avLst/>
          </a:prstGeom>
          <a:noFill/>
          <a:ln w="10160">
            <a:solidFill>
              <a:srgbClr val="B08D4F"/>
            </a:solidFill>
          </a:ln>
          <a:effectLst/>
        </p:spPr>
        <p:txBody>
          <a:bodyPr rtlCol="0" anchor="ctr"/>
          <a:lstStyle/>
          <a:p/>
        </p:txBody>
      </p:sp>
      <p:sp>
        <p:nvSpPr>
          <p:cNvPr id="12" name="Oval 11"/>
          <p:cNvSpPr/>
          <p:nvPr/>
        </p:nvSpPr>
        <p:spPr>
          <a:xfrm>
            <a:off x="3691128" y="127000"/>
            <a:ext cx="114300" cy="215900"/>
          </a:xfrm>
          <a:prstGeom prst="ellipse">
            <a:avLst/>
          </a:prstGeom>
          <a:noFill/>
          <a:ln w="10160">
            <a:solidFill>
              <a:srgbClr val="B08D4F"/>
            </a:solidFill>
          </a:ln>
          <a:effectLst/>
        </p:spPr>
        <p:txBody>
          <a:bodyPr rtlCol="0" anchor="ctr"/>
          <a:lstStyle/>
          <a:p/>
        </p:txBody>
      </p:sp>
      <p:sp>
        <p:nvSpPr>
          <p:cNvPr id="13" name="Oval 12"/>
          <p:cNvSpPr/>
          <p:nvPr/>
        </p:nvSpPr>
        <p:spPr>
          <a:xfrm>
            <a:off x="3786378" y="127000"/>
            <a:ext cx="114300" cy="215900"/>
          </a:xfrm>
          <a:prstGeom prst="ellipse">
            <a:avLst/>
          </a:prstGeom>
          <a:noFill/>
          <a:ln w="10160">
            <a:solidFill>
              <a:srgbClr val="B08D4F"/>
            </a:solidFill>
          </a:ln>
          <a:effectLst/>
        </p:spPr>
        <p:txBody>
          <a:bodyPr rtlCol="0" anchor="ctr"/>
          <a:lstStyle/>
          <a:p/>
        </p:txBody>
      </p:sp>
      <p:sp>
        <p:nvSpPr>
          <p:cNvPr id="14" name="Oval 13"/>
          <p:cNvSpPr/>
          <p:nvPr/>
        </p:nvSpPr>
        <p:spPr>
          <a:xfrm>
            <a:off x="3881628" y="127000"/>
            <a:ext cx="114300" cy="215900"/>
          </a:xfrm>
          <a:prstGeom prst="ellipse">
            <a:avLst/>
          </a:prstGeom>
          <a:noFill/>
          <a:ln w="10160">
            <a:solidFill>
              <a:srgbClr val="B08D4F"/>
            </a:solidFill>
          </a:ln>
          <a:effectLst/>
        </p:spPr>
        <p:txBody>
          <a:bodyPr rtlCol="0" anchor="ctr"/>
          <a:lstStyle/>
          <a:p/>
        </p:txBody>
      </p:sp>
      <p:sp>
        <p:nvSpPr>
          <p:cNvPr id="15" name="Arc 14"/>
          <p:cNvSpPr/>
          <p:nvPr/>
        </p:nvSpPr>
        <p:spPr>
          <a:xfrm>
            <a:off x="3437128" y="165100"/>
            <a:ext cx="685800" cy="381000"/>
          </a:xfrm>
          <a:prstGeom prst="arc">
            <a:avLst>
              <a:gd name="adj1" fmla="val 18000000"/>
              <a:gd name="adj2" fmla="val 0"/>
            </a:avLst>
          </a:prstGeom>
          <a:noFill/>
          <a:ln w="10160">
            <a:solidFill>
              <a:srgbClr val="B08D4F"/>
            </a:solidFill>
          </a:ln>
          <a:effectLst/>
        </p:spPr>
        <p:txBody>
          <a:bodyPr rtlCol="0" anchor="ctr"/>
          <a:lstStyle/>
          <a:p>
            <a:pPr algn="ctr"/>
          </a:p>
        </p:txBody>
      </p:sp>
      <p:sp>
        <p:nvSpPr>
          <p:cNvPr id="16" name="TextBox 15"/>
          <p:cNvSpPr txBox="1"/>
          <p:nvPr/>
        </p:nvSpPr>
        <p:spPr>
          <a:xfrm>
            <a:off x="254000" y="635000"/>
            <a:ext cx="7052056" cy="417830"/>
          </a:xfrm>
          <a:prstGeom prst="rect">
            <a:avLst/>
          </a:prstGeom>
          <a:noFill/>
        </p:spPr>
        <p:txBody>
          <a:bodyPr wrap="square" lIns="0" rIns="0" tIns="0" bIns="0" anchor="t">
            <a:spAutoFit/>
          </a:bodyPr>
          <a:lstStyle/>
          <a:p>
            <a:pPr algn="ctr"/>
            <a:r>
              <a:rPr sz="2350" b="1" i="0">
                <a:solidFill>
                  <a:srgbClr val="3F5C4A"/>
                </a:solidFill>
                <a:latin typeface="Libre Baskerville"/>
              </a:rPr>
              <a:t>MENSAGENS PARA REAGENDAMENTO</a:t>
            </a:r>
          </a:p>
        </p:txBody>
      </p:sp>
      <p:sp>
        <p:nvSpPr>
          <p:cNvPr id="17" name="TextBox 16"/>
          <p:cNvSpPr txBox="1"/>
          <p:nvPr/>
        </p:nvSpPr>
        <p:spPr>
          <a:xfrm>
            <a:off x="508000" y="1037907"/>
            <a:ext cx="6544056" cy="177800"/>
          </a:xfrm>
          <a:prstGeom prst="rect">
            <a:avLst/>
          </a:prstGeom>
          <a:noFill/>
        </p:spPr>
        <p:txBody>
          <a:bodyPr wrap="square" lIns="0" rIns="0" tIns="0" bIns="0" anchor="t">
            <a:spAutoFit/>
          </a:bodyPr>
          <a:lstStyle/>
          <a:p>
            <a:pPr algn="ctr"/>
            <a:r>
              <a:rPr sz="950" b="0" i="0">
                <a:solidFill>
                  <a:srgbClr val="2A2A26"/>
                </a:solidFill>
                <a:latin typeface="Montserrat"/>
              </a:rPr>
              <a:t>Modelos para diferentes situações</a:t>
            </a:r>
          </a:p>
        </p:txBody>
      </p:sp>
      <p:sp>
        <p:nvSpPr>
          <p:cNvPr id="18" name="TextBox 17"/>
          <p:cNvSpPr txBox="1"/>
          <p:nvPr/>
        </p:nvSpPr>
        <p:spPr>
          <a:xfrm>
            <a:off x="762000" y="10196703"/>
            <a:ext cx="6036056" cy="127000"/>
          </a:xfrm>
          <a:prstGeom prst="rect">
            <a:avLst/>
          </a:prstGeom>
          <a:noFill/>
        </p:spPr>
        <p:txBody>
          <a:bodyPr wrap="square" lIns="0" rIns="0" tIns="0" bIns="0" anchor="t">
            <a:spAutoFit/>
          </a:bodyPr>
          <a:lstStyle/>
          <a:p>
            <a:pPr algn="ctr"/>
            <a:r>
              <a:rPr sz="650" b="0" i="0">
                <a:solidFill>
                  <a:srgbClr val="77776E"/>
                </a:solidFill>
                <a:latin typeface="Montserrat"/>
              </a:rPr>
              <a:t>MASSOTERAPIA • CUIDADO • BEM-ESTAR</a:t>
            </a:r>
          </a:p>
        </p:txBody>
      </p:sp>
      <p:cxnSp>
        <p:nvCxnSpPr>
          <p:cNvPr id="19" name="Connector 18"/>
          <p:cNvCxnSpPr/>
          <p:nvPr/>
        </p:nvCxnSpPr>
        <p:spPr>
          <a:xfrm>
            <a:off x="1968500" y="10336403"/>
            <a:ext cx="3623056" cy="0"/>
          </a:xfrm>
          <a:prstGeom prst="line">
            <a:avLst/>
          </a:prstGeom>
          <a:ln w="8890">
            <a:solidFill>
              <a:srgbClr val="B08D4F"/>
            </a:solidFill>
          </a:ln>
        </p:spPr>
      </p:cxnSp>
      <p:sp>
        <p:nvSpPr>
          <p:cNvPr id="20" name="TextBox 19"/>
          <p:cNvSpPr txBox="1"/>
          <p:nvPr/>
        </p:nvSpPr>
        <p:spPr>
          <a:xfrm>
            <a:off x="533400" y="1868901"/>
            <a:ext cx="6493256" cy="430977"/>
          </a:xfrm>
          <a:prstGeom prst="rect">
            <a:avLst/>
          </a:prstGeom>
          <a:noFill/>
        </p:spPr>
        <p:txBody>
          <a:bodyPr wrap="square" lIns="0" rIns="0" tIns="0" bIns="0" anchor="t">
            <a:spAutoFit/>
          </a:bodyPr>
          <a:lstStyle/>
          <a:p>
            <a:pPr algn="l">
              <a:lnSpc>
                <a:spcPct val="140000"/>
              </a:lnSpc>
            </a:pPr>
            <a:r>
              <a:rPr sz="993" b="0" i="0">
                <a:solidFill>
                  <a:srgbClr val="2A2A26"/>
                </a:solidFill>
                <a:latin typeface="Montserrat"/>
              </a:rPr>
              <a:t>Olá, [nome]! Recebi seu pedido de reagendamento. Tenho disponibilidade em [opção 1] ou [opção 2]. Algum desses horários funciona para você?</a:t>
            </a:r>
          </a:p>
        </p:txBody>
      </p:sp>
      <p:sp>
        <p:nvSpPr>
          <p:cNvPr id="23" name="TextBox 22"/>
          <p:cNvSpPr txBox="1"/>
          <p:nvPr/>
        </p:nvSpPr>
        <p:spPr>
          <a:xfrm>
            <a:off x="508000" y="1418907"/>
            <a:ext cx="6544056" cy="266700"/>
          </a:xfrm>
          <a:prstGeom prst="rect">
            <a:avLst/>
          </a:prstGeom>
          <a:noFill/>
        </p:spPr>
        <p:txBody>
          <a:bodyPr wrap="square" lIns="0" rIns="0" tIns="0" bIns="0" anchor="ctr">
            <a:spAutoFit/>
          </a:bodyPr>
          <a:lstStyle/>
          <a:p>
            <a:pPr algn="l"/>
            <a:r>
              <a:rPr sz="840" b="1" i="0">
                <a:solidFill>
                  <a:srgbClr val="FFFFFF"/>
                </a:solidFill>
                <a:latin typeface="Montserrat"/>
              </a:rPr>
              <a:t>PEDIDO RECEBIDO</a:t>
            </a:r>
          </a:p>
        </p:txBody>
      </p:sp>
      <p:sp>
        <p:nvSpPr>
          <p:cNvPr id="24" name="TextBox 23"/>
          <p:cNvSpPr txBox="1"/>
          <p:nvPr/>
        </p:nvSpPr>
        <p:spPr>
          <a:xfrm>
            <a:off x="533400" y="3446390"/>
            <a:ext cx="6493256" cy="430977"/>
          </a:xfrm>
          <a:prstGeom prst="rect">
            <a:avLst/>
          </a:prstGeom>
          <a:noFill/>
        </p:spPr>
        <p:txBody>
          <a:bodyPr wrap="square" lIns="0" rIns="0" tIns="0" bIns="0" anchor="t">
            <a:spAutoFit/>
          </a:bodyPr>
          <a:lstStyle/>
          <a:p>
            <a:pPr algn="l">
              <a:lnSpc>
                <a:spcPct val="140000"/>
              </a:lnSpc>
            </a:pPr>
            <a:r>
              <a:rPr sz="993" b="0" i="0">
                <a:solidFill>
                  <a:srgbClr val="2A2A26"/>
                </a:solidFill>
                <a:latin typeface="Montserrat"/>
              </a:rPr>
              <a:t>Olá, [nome]. Nesta semana não tenho outro horário disponível. Podemos manter nossa próxima sessão em [data] ou, se preferir, te aviso em caso de encaixe.</a:t>
            </a:r>
          </a:p>
        </p:txBody>
      </p:sp>
      <p:sp>
        <p:nvSpPr>
          <p:cNvPr id="27" name="TextBox 26"/>
          <p:cNvSpPr txBox="1"/>
          <p:nvPr/>
        </p:nvSpPr>
        <p:spPr>
          <a:xfrm>
            <a:off x="508000" y="2996396"/>
            <a:ext cx="6544056" cy="266700"/>
          </a:xfrm>
          <a:prstGeom prst="rect">
            <a:avLst/>
          </a:prstGeom>
          <a:noFill/>
        </p:spPr>
        <p:txBody>
          <a:bodyPr wrap="square" lIns="0" rIns="0" tIns="0" bIns="0" anchor="ctr">
            <a:spAutoFit/>
          </a:bodyPr>
          <a:lstStyle/>
          <a:p>
            <a:pPr algn="l"/>
            <a:r>
              <a:rPr sz="840" b="1" i="0">
                <a:solidFill>
                  <a:srgbClr val="FFFFFF"/>
                </a:solidFill>
                <a:latin typeface="Montserrat"/>
              </a:rPr>
              <a:t>SEM HORÁRIO NA SEMANA</a:t>
            </a:r>
          </a:p>
        </p:txBody>
      </p:sp>
      <p:sp>
        <p:nvSpPr>
          <p:cNvPr id="28" name="TextBox 27"/>
          <p:cNvSpPr txBox="1"/>
          <p:nvPr/>
        </p:nvSpPr>
        <p:spPr>
          <a:xfrm>
            <a:off x="533400" y="5023879"/>
            <a:ext cx="6493256" cy="430977"/>
          </a:xfrm>
          <a:prstGeom prst="rect">
            <a:avLst/>
          </a:prstGeom>
          <a:noFill/>
        </p:spPr>
        <p:txBody>
          <a:bodyPr wrap="square" lIns="0" rIns="0" tIns="0" bIns="0" anchor="t">
            <a:spAutoFit/>
          </a:bodyPr>
          <a:lstStyle/>
          <a:p>
            <a:pPr algn="l">
              <a:lnSpc>
                <a:spcPct val="140000"/>
              </a:lnSpc>
            </a:pPr>
            <a:r>
              <a:rPr sz="993" b="0" i="0">
                <a:solidFill>
                  <a:srgbClr val="2A2A26"/>
                </a:solidFill>
                <a:latin typeface="Montserrat"/>
              </a:rPr>
              <a:t>Olá, [nome]. Preciso solicitar a alteração excepcional da nossa sessão de [data/horário]. Posso oferecer [opções]. Peço desculpas pelo transtorno e agradeço sua compreensão.</a:t>
            </a:r>
          </a:p>
        </p:txBody>
      </p:sp>
      <p:sp>
        <p:nvSpPr>
          <p:cNvPr id="31" name="TextBox 30"/>
          <p:cNvSpPr txBox="1"/>
          <p:nvPr/>
        </p:nvSpPr>
        <p:spPr>
          <a:xfrm>
            <a:off x="508000" y="4573885"/>
            <a:ext cx="6544056" cy="266700"/>
          </a:xfrm>
          <a:prstGeom prst="rect">
            <a:avLst/>
          </a:prstGeom>
          <a:noFill/>
        </p:spPr>
        <p:txBody>
          <a:bodyPr wrap="square" lIns="0" rIns="0" tIns="0" bIns="0" anchor="ctr">
            <a:spAutoFit/>
          </a:bodyPr>
          <a:lstStyle/>
          <a:p>
            <a:pPr algn="l"/>
            <a:r>
              <a:rPr sz="840" b="1" i="0">
                <a:solidFill>
                  <a:srgbClr val="FFFFFF"/>
                </a:solidFill>
                <a:latin typeface="Montserrat"/>
              </a:rPr>
              <a:t>ALTERAÇÃO PELO PROFISSIONAL</a:t>
            </a:r>
          </a:p>
        </p:txBody>
      </p:sp>
      <p:sp>
        <p:nvSpPr>
          <p:cNvPr id="32" name="TextBox 31"/>
          <p:cNvSpPr txBox="1"/>
          <p:nvPr/>
        </p:nvSpPr>
        <p:spPr>
          <a:xfrm>
            <a:off x="533400" y="6601367"/>
            <a:ext cx="6493256" cy="430977"/>
          </a:xfrm>
          <a:prstGeom prst="rect">
            <a:avLst/>
          </a:prstGeom>
          <a:noFill/>
        </p:spPr>
        <p:txBody>
          <a:bodyPr wrap="square" lIns="0" rIns="0" tIns="0" bIns="0" anchor="t">
            <a:spAutoFit/>
          </a:bodyPr>
          <a:lstStyle/>
          <a:p>
            <a:pPr algn="l">
              <a:lnSpc>
                <a:spcPct val="140000"/>
              </a:lnSpc>
            </a:pPr>
            <a:r>
              <a:rPr sz="993" b="0" i="0">
                <a:solidFill>
                  <a:srgbClr val="2A2A26"/>
                </a:solidFill>
                <a:latin typeface="Montserrat"/>
              </a:rPr>
              <a:t>Reagendamento confirmado: [data], às [horário]. Obrigado(a) pelo retorno. Caso precise de novo ajuste, avise com antecedência.</a:t>
            </a:r>
          </a:p>
        </p:txBody>
      </p:sp>
      <p:sp>
        <p:nvSpPr>
          <p:cNvPr id="35" name="TextBox 34"/>
          <p:cNvSpPr txBox="1"/>
          <p:nvPr/>
        </p:nvSpPr>
        <p:spPr>
          <a:xfrm>
            <a:off x="508000" y="6151373"/>
            <a:ext cx="6544056" cy="266700"/>
          </a:xfrm>
          <a:prstGeom prst="rect">
            <a:avLst/>
          </a:prstGeom>
          <a:noFill/>
        </p:spPr>
        <p:txBody>
          <a:bodyPr wrap="square" lIns="0" rIns="0" tIns="0" bIns="0" anchor="ctr">
            <a:spAutoFit/>
          </a:bodyPr>
          <a:lstStyle/>
          <a:p>
            <a:pPr algn="l"/>
            <a:r>
              <a:rPr sz="840" b="1" i="0">
                <a:solidFill>
                  <a:srgbClr val="FFFFFF"/>
                </a:solidFill>
                <a:latin typeface="Montserrat"/>
              </a:rPr>
              <a:t>CONFIRMAÇÃO DO NOVO HORÁRIO</a:t>
            </a:r>
          </a:p>
        </p:txBody>
      </p:sp>
      <p:cxnSp>
        <p:nvCxnSpPr>
          <p:cNvPr id="36" name="Connector 35"/>
          <p:cNvCxnSpPr/>
          <p:nvPr/>
        </p:nvCxnSpPr>
        <p:spPr>
          <a:xfrm>
            <a:off x="533400" y="8452356"/>
            <a:ext cx="6493256" cy="0"/>
          </a:xfrm>
          <a:prstGeom prst="line">
            <a:avLst/>
          </a:prstGeom>
          <a:ln w="7620">
            <a:solidFill>
              <a:srgbClr val="B4B2A8"/>
            </a:solidFill>
          </a:ln>
        </p:spPr>
      </p:cxnSp>
      <p:cxnSp>
        <p:nvCxnSpPr>
          <p:cNvPr id="37" name="Connector 36"/>
          <p:cNvCxnSpPr/>
          <p:nvPr/>
        </p:nvCxnSpPr>
        <p:spPr>
          <a:xfrm>
            <a:off x="533400" y="8763955"/>
            <a:ext cx="6493256" cy="0"/>
          </a:xfrm>
          <a:prstGeom prst="line">
            <a:avLst/>
          </a:prstGeom>
          <a:ln w="7620">
            <a:solidFill>
              <a:srgbClr val="B4B2A8"/>
            </a:solidFill>
          </a:ln>
        </p:spPr>
      </p:cxnSp>
      <p:cxnSp>
        <p:nvCxnSpPr>
          <p:cNvPr id="38" name="Connector 37"/>
          <p:cNvCxnSpPr/>
          <p:nvPr/>
        </p:nvCxnSpPr>
        <p:spPr>
          <a:xfrm>
            <a:off x="533400" y="9075555"/>
            <a:ext cx="6493256" cy="0"/>
          </a:xfrm>
          <a:prstGeom prst="line">
            <a:avLst/>
          </a:prstGeom>
          <a:ln w="7620">
            <a:solidFill>
              <a:srgbClr val="B4B2A8"/>
            </a:solidFill>
          </a:ln>
        </p:spPr>
      </p:cxnSp>
      <p:cxnSp>
        <p:nvCxnSpPr>
          <p:cNvPr id="39" name="Connector 38"/>
          <p:cNvCxnSpPr/>
          <p:nvPr/>
        </p:nvCxnSpPr>
        <p:spPr>
          <a:xfrm>
            <a:off x="533400" y="9387155"/>
            <a:ext cx="6493256" cy="0"/>
          </a:xfrm>
          <a:prstGeom prst="line">
            <a:avLst/>
          </a:prstGeom>
          <a:ln w="7620">
            <a:solidFill>
              <a:srgbClr val="B4B2A8"/>
            </a:solidFill>
          </a:ln>
        </p:spPr>
      </p:cxnSp>
      <p:cxnSp>
        <p:nvCxnSpPr>
          <p:cNvPr id="40" name="Connector 39"/>
          <p:cNvCxnSpPr/>
          <p:nvPr/>
        </p:nvCxnSpPr>
        <p:spPr>
          <a:xfrm>
            <a:off x="533400" y="9698755"/>
            <a:ext cx="6493256" cy="0"/>
          </a:xfrm>
          <a:prstGeom prst="line">
            <a:avLst/>
          </a:prstGeom>
          <a:ln w="7620">
            <a:solidFill>
              <a:srgbClr val="B4B2A8"/>
            </a:solidFill>
          </a:ln>
        </p:spPr>
      </p:cxnSp>
      <p:sp>
        <p:nvSpPr>
          <p:cNvPr id="43" name="TextBox 42"/>
          <p:cNvSpPr txBox="1"/>
          <p:nvPr/>
        </p:nvSpPr>
        <p:spPr>
          <a:xfrm>
            <a:off x="508000" y="7728862"/>
            <a:ext cx="6544056" cy="266700"/>
          </a:xfrm>
          <a:prstGeom prst="rect">
            <a:avLst/>
          </a:prstGeom>
          <a:noFill/>
        </p:spPr>
        <p:txBody>
          <a:bodyPr wrap="square" lIns="0" rIns="0" tIns="0" bIns="0" anchor="ctr">
            <a:spAutoFit/>
          </a:bodyPr>
          <a:lstStyle/>
          <a:p>
            <a:pPr algn="l"/>
            <a:r>
              <a:rPr sz="840" b="1" i="0">
                <a:solidFill>
                  <a:srgbClr val="FFFFFF"/>
                </a:solidFill>
                <a:latin typeface="Montserrat"/>
              </a:rPr>
              <a:t>OUTRAS OPÇÕES DE HORÁRIO / OBSERVAÇÕES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5EE"/>
        </a:solidFill>
        <a:effectLst/>
      </p:bgPr>
    </p:bg>
    <p:spTree>
      <p:nvGrpSpPr>
        <p:cNvPr id="1" name=""/>
        <p:cNvGrpSpPr/>
        <p:nvPr/>
      </p:nvGrpSpPr>
      <p:grpSpPr/>
      <p:sp>
        <p:nvSpPr>
          <p:cNvPr id="45" name="Rounded Rectangle 44"/>
          <p:cNvSpPr/>
          <p:nvPr/>
        </p:nvSpPr>
        <p:spPr>
          <a:xfrm>
            <a:off x="381000" y="8331960"/>
            <a:ext cx="6798056" cy="1676347"/>
          </a:xfrm>
          <a:prstGeom prst="roundRect">
            <a:avLst>
              <a:gd name="adj" fmla="val 6060"/>
            </a:avLst>
          </a:prstGeom>
          <a:solidFill>
            <a:srgbClr val="FDFCF8"/>
          </a:solidFill>
          <a:ln w="10160">
            <a:solidFill>
              <a:srgbClr val="D7D4C9"/>
            </a:solidFill>
          </a:ln>
          <a:effectLst/>
        </p:spPr>
        <p:txBody>
          <a:bodyPr rtlCol="0" anchor="ctr"/>
          <a:lstStyle/>
          <a:p/>
        </p:txBody>
      </p:sp>
      <p:sp>
        <p:nvSpPr>
          <p:cNvPr id="46" name="Round Same Side Corner Rectangle 45"/>
          <p:cNvSpPr/>
          <p:nvPr/>
        </p:nvSpPr>
        <p:spPr>
          <a:xfrm>
            <a:off x="381000" y="8331960"/>
            <a:ext cx="6798056" cy="266700"/>
          </a:xfrm>
          <a:prstGeom prst="round2SameRect">
            <a:avLst>
              <a:gd name="adj1" fmla="val 38095"/>
              <a:gd name="adj2" fmla="val 0"/>
            </a:avLst>
          </a:prstGeom>
          <a:solidFill>
            <a:srgbClr val="3F5C4A"/>
          </a:solidFill>
          <a:ln>
            <a:noFill/>
          </a:ln>
          <a:effectLst/>
        </p:spPr>
        <p:txBody>
          <a:bodyPr rtlCol="0" anchor="ctr"/>
          <a:lstStyle/>
          <a:p/>
        </p:txBody>
      </p:sp>
      <p:sp>
        <p:nvSpPr>
          <p:cNvPr id="38" name="Rounded Rectangle 37"/>
          <p:cNvSpPr/>
          <p:nvPr/>
        </p:nvSpPr>
        <p:spPr>
          <a:xfrm>
            <a:off x="381000" y="4593587"/>
            <a:ext cx="6798056" cy="3585150"/>
          </a:xfrm>
          <a:prstGeom prst="roundRect">
            <a:avLst>
              <a:gd name="adj" fmla="val 2833"/>
            </a:avLst>
          </a:prstGeom>
          <a:solidFill>
            <a:srgbClr val="FDFCF8"/>
          </a:solidFill>
          <a:ln w="10160">
            <a:solidFill>
              <a:srgbClr val="D7D4C9"/>
            </a:solidFill>
          </a:ln>
          <a:effectLst/>
        </p:spPr>
        <p:txBody>
          <a:bodyPr rtlCol="0" anchor="ctr"/>
          <a:lstStyle/>
          <a:p/>
        </p:txBody>
      </p:sp>
      <p:sp>
        <p:nvSpPr>
          <p:cNvPr id="39" name="Round Same Side Corner Rectangle 38"/>
          <p:cNvSpPr/>
          <p:nvPr/>
        </p:nvSpPr>
        <p:spPr>
          <a:xfrm>
            <a:off x="381000" y="4593587"/>
            <a:ext cx="6798056" cy="266700"/>
          </a:xfrm>
          <a:prstGeom prst="round2SameRect">
            <a:avLst>
              <a:gd name="adj1" fmla="val 38095"/>
              <a:gd name="adj2" fmla="val 0"/>
            </a:avLst>
          </a:prstGeom>
          <a:solidFill>
            <a:srgbClr val="3F5C4A"/>
          </a:solidFill>
          <a:ln>
            <a:noFill/>
          </a:ln>
          <a:effectLst/>
        </p:spPr>
        <p:txBody>
          <a:bodyPr rtlCol="0" anchor="ctr"/>
          <a:lstStyle/>
          <a:p/>
        </p:txBody>
      </p:sp>
      <p:sp>
        <p:nvSpPr>
          <p:cNvPr id="34" name="Rounded Rectangle 33"/>
          <p:cNvSpPr/>
          <p:nvPr/>
        </p:nvSpPr>
        <p:spPr>
          <a:xfrm>
            <a:off x="381000" y="2488217"/>
            <a:ext cx="6798056" cy="1952147"/>
          </a:xfrm>
          <a:prstGeom prst="roundRect">
            <a:avLst>
              <a:gd name="adj" fmla="val 5204"/>
            </a:avLst>
          </a:prstGeom>
          <a:solidFill>
            <a:srgbClr val="FDFCF8"/>
          </a:solidFill>
          <a:ln w="10160">
            <a:solidFill>
              <a:srgbClr val="D7D4C9"/>
            </a:solidFill>
          </a:ln>
          <a:effectLst/>
        </p:spPr>
        <p:txBody>
          <a:bodyPr rtlCol="0" anchor="ctr"/>
          <a:lstStyle/>
          <a:p/>
        </p:txBody>
      </p:sp>
      <p:sp>
        <p:nvSpPr>
          <p:cNvPr id="35" name="Round Same Side Corner Rectangle 34"/>
          <p:cNvSpPr/>
          <p:nvPr/>
        </p:nvSpPr>
        <p:spPr>
          <a:xfrm>
            <a:off x="381000" y="2488217"/>
            <a:ext cx="6798056" cy="266700"/>
          </a:xfrm>
          <a:prstGeom prst="round2SameRect">
            <a:avLst>
              <a:gd name="adj1" fmla="val 38095"/>
              <a:gd name="adj2" fmla="val 0"/>
            </a:avLst>
          </a:prstGeom>
          <a:solidFill>
            <a:srgbClr val="3F5C4A"/>
          </a:solidFill>
          <a:ln>
            <a:noFill/>
          </a:ln>
          <a:effectLst/>
        </p:spPr>
        <p:txBody>
          <a:bodyPr rtlCol="0" anchor="ctr"/>
          <a:lstStyle/>
          <a:p/>
        </p:txBody>
      </p:sp>
      <p:sp>
        <p:nvSpPr>
          <p:cNvPr id="21" name="Rounded Rectangle 20"/>
          <p:cNvSpPr/>
          <p:nvPr/>
        </p:nvSpPr>
        <p:spPr>
          <a:xfrm>
            <a:off x="381000" y="1444625"/>
            <a:ext cx="6798056" cy="890370"/>
          </a:xfrm>
          <a:prstGeom prst="roundRect">
            <a:avLst>
              <a:gd name="adj" fmla="val 11410"/>
            </a:avLst>
          </a:prstGeom>
          <a:solidFill>
            <a:srgbClr val="FDFCF8"/>
          </a:solidFill>
          <a:ln w="10160">
            <a:solidFill>
              <a:srgbClr val="D7D4C9"/>
            </a:solidFill>
          </a:ln>
          <a:effectLst/>
        </p:spPr>
        <p:txBody>
          <a:bodyPr rtlCol="0" anchor="ctr"/>
          <a:lstStyle/>
          <a:p/>
        </p:txBody>
      </p:sp>
      <p:cxnSp>
        <p:nvCxnSpPr>
          <p:cNvPr id="2" name="Connector 1"/>
          <p:cNvCxnSpPr/>
          <p:nvPr/>
        </p:nvCxnSpPr>
        <p:spPr>
          <a:xfrm>
            <a:off x="38100" y="25400"/>
            <a:ext cx="660400" cy="660400"/>
          </a:xfrm>
          <a:prstGeom prst="line">
            <a:avLst/>
          </a:prstGeom>
          <a:ln w="13970">
            <a:solidFill>
              <a:srgbClr val="B08D4F"/>
            </a:solidFill>
          </a:ln>
        </p:spPr>
      </p:cxnSp>
      <p:sp>
        <p:nvSpPr>
          <p:cNvPr id="3" name="Oval 2"/>
          <p:cNvSpPr/>
          <p:nvPr/>
        </p:nvSpPr>
        <p:spPr>
          <a:xfrm>
            <a:off x="191770" y="77470"/>
            <a:ext cx="190500" cy="215900"/>
          </a:xfrm>
          <a:prstGeom prst="ellipse">
            <a:avLst/>
          </a:prstGeom>
          <a:solidFill>
            <a:srgbClr val="8FA388"/>
          </a:solidFill>
          <a:ln>
            <a:noFill/>
          </a:ln>
          <a:effectLst/>
        </p:spPr>
        <p:txBody>
          <a:bodyPr rtlCol="0" anchor="ctr"/>
          <a:lstStyle/>
          <a:p/>
        </p:txBody>
      </p:sp>
      <p:sp>
        <p:nvSpPr>
          <p:cNvPr id="4" name="Oval 3"/>
          <p:cNvSpPr/>
          <p:nvPr/>
        </p:nvSpPr>
        <p:spPr>
          <a:xfrm>
            <a:off x="330708" y="216408"/>
            <a:ext cx="203200" cy="228600"/>
          </a:xfrm>
          <a:prstGeom prst="ellipse">
            <a:avLst/>
          </a:prstGeom>
          <a:solidFill>
            <a:srgbClr val="8FA388"/>
          </a:solidFill>
          <a:ln>
            <a:noFill/>
          </a:ln>
          <a:effectLst/>
        </p:spPr>
        <p:txBody>
          <a:bodyPr rtlCol="0" anchor="ctr"/>
          <a:lstStyle/>
          <a:p/>
        </p:txBody>
      </p:sp>
      <p:sp>
        <p:nvSpPr>
          <p:cNvPr id="5" name="Oval 4"/>
          <p:cNvSpPr/>
          <p:nvPr/>
        </p:nvSpPr>
        <p:spPr>
          <a:xfrm>
            <a:off x="482345" y="368045"/>
            <a:ext cx="190500" cy="215900"/>
          </a:xfrm>
          <a:prstGeom prst="ellipse">
            <a:avLst/>
          </a:prstGeom>
          <a:solidFill>
            <a:srgbClr val="8FA388"/>
          </a:solidFill>
          <a:ln>
            <a:noFill/>
          </a:ln>
          <a:effectLst/>
        </p:spPr>
        <p:txBody>
          <a:bodyPr rtlCol="0" anchor="ctr"/>
          <a:lstStyle/>
          <a:p/>
        </p:txBody>
      </p:sp>
      <p:cxnSp>
        <p:nvCxnSpPr>
          <p:cNvPr id="6" name="Connector 5"/>
          <p:cNvCxnSpPr/>
          <p:nvPr/>
        </p:nvCxnSpPr>
        <p:spPr>
          <a:xfrm flipH="1">
            <a:off x="6861556" y="25400"/>
            <a:ext cx="660400" cy="660400"/>
          </a:xfrm>
          <a:prstGeom prst="line">
            <a:avLst/>
          </a:prstGeom>
          <a:ln w="13970">
            <a:solidFill>
              <a:srgbClr val="B08D4F"/>
            </a:solidFill>
          </a:ln>
        </p:spPr>
      </p:cxnSp>
      <p:sp>
        <p:nvSpPr>
          <p:cNvPr id="7" name="Oval 6"/>
          <p:cNvSpPr/>
          <p:nvPr/>
        </p:nvSpPr>
        <p:spPr>
          <a:xfrm>
            <a:off x="7177785" y="77470"/>
            <a:ext cx="190500" cy="215900"/>
          </a:xfrm>
          <a:prstGeom prst="ellipse">
            <a:avLst/>
          </a:prstGeom>
          <a:solidFill>
            <a:srgbClr val="8FA388"/>
          </a:solidFill>
          <a:ln>
            <a:noFill/>
          </a:ln>
          <a:effectLst/>
        </p:spPr>
        <p:txBody>
          <a:bodyPr rtlCol="0" anchor="ctr"/>
          <a:lstStyle/>
          <a:p/>
        </p:txBody>
      </p:sp>
      <p:sp>
        <p:nvSpPr>
          <p:cNvPr id="8" name="Oval 7"/>
          <p:cNvSpPr/>
          <p:nvPr/>
        </p:nvSpPr>
        <p:spPr>
          <a:xfrm>
            <a:off x="7026148" y="216408"/>
            <a:ext cx="203200" cy="228600"/>
          </a:xfrm>
          <a:prstGeom prst="ellipse">
            <a:avLst/>
          </a:prstGeom>
          <a:solidFill>
            <a:srgbClr val="8FA388"/>
          </a:solidFill>
          <a:ln>
            <a:noFill/>
          </a:ln>
          <a:effectLst/>
        </p:spPr>
        <p:txBody>
          <a:bodyPr rtlCol="0" anchor="ctr"/>
          <a:lstStyle/>
          <a:p/>
        </p:txBody>
      </p:sp>
      <p:sp>
        <p:nvSpPr>
          <p:cNvPr id="9" name="Oval 8"/>
          <p:cNvSpPr/>
          <p:nvPr/>
        </p:nvSpPr>
        <p:spPr>
          <a:xfrm>
            <a:off x="6887209" y="368045"/>
            <a:ext cx="190500" cy="215900"/>
          </a:xfrm>
          <a:prstGeom prst="ellipse">
            <a:avLst/>
          </a:prstGeom>
          <a:solidFill>
            <a:srgbClr val="8FA388"/>
          </a:solidFill>
          <a:ln>
            <a:noFill/>
          </a:ln>
          <a:effectLst/>
        </p:spPr>
        <p:txBody>
          <a:bodyPr rtlCol="0" anchor="ctr"/>
          <a:lstStyle/>
          <a:p/>
        </p:txBody>
      </p:sp>
      <p:sp>
        <p:nvSpPr>
          <p:cNvPr id="10" name="Oval 9"/>
          <p:cNvSpPr/>
          <p:nvPr/>
        </p:nvSpPr>
        <p:spPr>
          <a:xfrm>
            <a:off x="3500628" y="127000"/>
            <a:ext cx="114300" cy="215900"/>
          </a:xfrm>
          <a:prstGeom prst="ellipse">
            <a:avLst/>
          </a:prstGeom>
          <a:noFill/>
          <a:ln w="10160">
            <a:solidFill>
              <a:srgbClr val="B08D4F"/>
            </a:solidFill>
          </a:ln>
          <a:effectLst/>
        </p:spPr>
        <p:txBody>
          <a:bodyPr rtlCol="0" anchor="ctr"/>
          <a:lstStyle/>
          <a:p/>
        </p:txBody>
      </p:sp>
      <p:sp>
        <p:nvSpPr>
          <p:cNvPr id="11" name="Oval 10"/>
          <p:cNvSpPr/>
          <p:nvPr/>
        </p:nvSpPr>
        <p:spPr>
          <a:xfrm>
            <a:off x="3595878" y="127000"/>
            <a:ext cx="114300" cy="215900"/>
          </a:xfrm>
          <a:prstGeom prst="ellipse">
            <a:avLst/>
          </a:prstGeom>
          <a:noFill/>
          <a:ln w="10160">
            <a:solidFill>
              <a:srgbClr val="B08D4F"/>
            </a:solidFill>
          </a:ln>
          <a:effectLst/>
        </p:spPr>
        <p:txBody>
          <a:bodyPr rtlCol="0" anchor="ctr"/>
          <a:lstStyle/>
          <a:p/>
        </p:txBody>
      </p:sp>
      <p:sp>
        <p:nvSpPr>
          <p:cNvPr id="12" name="Oval 11"/>
          <p:cNvSpPr/>
          <p:nvPr/>
        </p:nvSpPr>
        <p:spPr>
          <a:xfrm>
            <a:off x="3691128" y="127000"/>
            <a:ext cx="114300" cy="215900"/>
          </a:xfrm>
          <a:prstGeom prst="ellipse">
            <a:avLst/>
          </a:prstGeom>
          <a:noFill/>
          <a:ln w="10160">
            <a:solidFill>
              <a:srgbClr val="B08D4F"/>
            </a:solidFill>
          </a:ln>
          <a:effectLst/>
        </p:spPr>
        <p:txBody>
          <a:bodyPr rtlCol="0" anchor="ctr"/>
          <a:lstStyle/>
          <a:p/>
        </p:txBody>
      </p:sp>
      <p:sp>
        <p:nvSpPr>
          <p:cNvPr id="13" name="Oval 12"/>
          <p:cNvSpPr/>
          <p:nvPr/>
        </p:nvSpPr>
        <p:spPr>
          <a:xfrm>
            <a:off x="3786378" y="127000"/>
            <a:ext cx="114300" cy="215900"/>
          </a:xfrm>
          <a:prstGeom prst="ellipse">
            <a:avLst/>
          </a:prstGeom>
          <a:noFill/>
          <a:ln w="10160">
            <a:solidFill>
              <a:srgbClr val="B08D4F"/>
            </a:solidFill>
          </a:ln>
          <a:effectLst/>
        </p:spPr>
        <p:txBody>
          <a:bodyPr rtlCol="0" anchor="ctr"/>
          <a:lstStyle/>
          <a:p/>
        </p:txBody>
      </p:sp>
      <p:sp>
        <p:nvSpPr>
          <p:cNvPr id="14" name="Oval 13"/>
          <p:cNvSpPr/>
          <p:nvPr/>
        </p:nvSpPr>
        <p:spPr>
          <a:xfrm>
            <a:off x="3881628" y="127000"/>
            <a:ext cx="114300" cy="215900"/>
          </a:xfrm>
          <a:prstGeom prst="ellipse">
            <a:avLst/>
          </a:prstGeom>
          <a:noFill/>
          <a:ln w="10160">
            <a:solidFill>
              <a:srgbClr val="B08D4F"/>
            </a:solidFill>
          </a:ln>
          <a:effectLst/>
        </p:spPr>
        <p:txBody>
          <a:bodyPr rtlCol="0" anchor="ctr"/>
          <a:lstStyle/>
          <a:p/>
        </p:txBody>
      </p:sp>
      <p:sp>
        <p:nvSpPr>
          <p:cNvPr id="15" name="Arc 14"/>
          <p:cNvSpPr/>
          <p:nvPr/>
        </p:nvSpPr>
        <p:spPr>
          <a:xfrm>
            <a:off x="3437128" y="165100"/>
            <a:ext cx="685800" cy="381000"/>
          </a:xfrm>
          <a:prstGeom prst="arc">
            <a:avLst>
              <a:gd name="adj1" fmla="val 18000000"/>
              <a:gd name="adj2" fmla="val 0"/>
            </a:avLst>
          </a:prstGeom>
          <a:noFill/>
          <a:ln w="10160">
            <a:solidFill>
              <a:srgbClr val="B08D4F"/>
            </a:solidFill>
          </a:ln>
          <a:effectLst/>
        </p:spPr>
        <p:txBody>
          <a:bodyPr rtlCol="0" anchor="ctr"/>
          <a:lstStyle/>
          <a:p>
            <a:pPr algn="ctr"/>
          </a:p>
        </p:txBody>
      </p:sp>
      <p:sp>
        <p:nvSpPr>
          <p:cNvPr id="16" name="TextBox 15"/>
          <p:cNvSpPr txBox="1"/>
          <p:nvPr/>
        </p:nvSpPr>
        <p:spPr>
          <a:xfrm>
            <a:off x="254000" y="635000"/>
            <a:ext cx="7052056" cy="444500"/>
          </a:xfrm>
          <a:prstGeom prst="rect">
            <a:avLst/>
          </a:prstGeom>
          <a:noFill/>
        </p:spPr>
        <p:txBody>
          <a:bodyPr wrap="square" lIns="0" rIns="0" tIns="0" bIns="0" anchor="t">
            <a:spAutoFit/>
          </a:bodyPr>
          <a:lstStyle/>
          <a:p>
            <a:pPr algn="ctr"/>
            <a:r>
              <a:rPr sz="2500" b="1" i="0">
                <a:solidFill>
                  <a:srgbClr val="3F5C4A"/>
                </a:solidFill>
                <a:latin typeface="Libre Baskerville"/>
              </a:rPr>
              <a:t>GUIA DE ORGANIZAÇÃO DO ESPAÇO</a:t>
            </a:r>
          </a:p>
        </p:txBody>
      </p:sp>
      <p:sp>
        <p:nvSpPr>
          <p:cNvPr id="17" name="TextBox 16"/>
          <p:cNvSpPr txBox="1"/>
          <p:nvPr/>
        </p:nvSpPr>
        <p:spPr>
          <a:xfrm>
            <a:off x="508000" y="1063625"/>
            <a:ext cx="6544056" cy="177800"/>
          </a:xfrm>
          <a:prstGeom prst="rect">
            <a:avLst/>
          </a:prstGeom>
          <a:noFill/>
        </p:spPr>
        <p:txBody>
          <a:bodyPr wrap="square" lIns="0" rIns="0" tIns="0" bIns="0" anchor="t">
            <a:spAutoFit/>
          </a:bodyPr>
          <a:lstStyle/>
          <a:p>
            <a:pPr algn="ctr"/>
            <a:r>
              <a:rPr sz="950" b="0" i="0">
                <a:solidFill>
                  <a:srgbClr val="2A2A26"/>
                </a:solidFill>
                <a:latin typeface="Montserrat"/>
              </a:rPr>
              <a:t>Uma rotina simples, segura e sustentável</a:t>
            </a:r>
          </a:p>
        </p:txBody>
      </p:sp>
      <p:sp>
        <p:nvSpPr>
          <p:cNvPr id="18" name="TextBox 17"/>
          <p:cNvSpPr txBox="1"/>
          <p:nvPr/>
        </p:nvSpPr>
        <p:spPr>
          <a:xfrm>
            <a:off x="762000" y="10196703"/>
            <a:ext cx="6036056" cy="127000"/>
          </a:xfrm>
          <a:prstGeom prst="rect">
            <a:avLst/>
          </a:prstGeom>
          <a:noFill/>
        </p:spPr>
        <p:txBody>
          <a:bodyPr wrap="square" lIns="0" rIns="0" tIns="0" bIns="0" anchor="t">
            <a:spAutoFit/>
          </a:bodyPr>
          <a:lstStyle/>
          <a:p>
            <a:pPr algn="ctr"/>
            <a:r>
              <a:rPr sz="650" b="0" i="0">
                <a:solidFill>
                  <a:srgbClr val="77776E"/>
                </a:solidFill>
                <a:latin typeface="Montserrat"/>
              </a:rPr>
              <a:t>MASSOTERAPIA • CUIDADO • BEM-ESTAR</a:t>
            </a:r>
          </a:p>
        </p:txBody>
      </p:sp>
      <p:cxnSp>
        <p:nvCxnSpPr>
          <p:cNvPr id="19" name="Connector 18"/>
          <p:cNvCxnSpPr/>
          <p:nvPr/>
        </p:nvCxnSpPr>
        <p:spPr>
          <a:xfrm>
            <a:off x="1968500" y="10336403"/>
            <a:ext cx="3623056" cy="0"/>
          </a:xfrm>
          <a:prstGeom prst="line">
            <a:avLst/>
          </a:prstGeom>
          <a:ln w="8890">
            <a:solidFill>
              <a:srgbClr val="B08D4F"/>
            </a:solidFill>
          </a:ln>
        </p:spPr>
      </p:cxnSp>
      <p:sp>
        <p:nvSpPr>
          <p:cNvPr id="20" name="TextBox 19"/>
          <p:cNvSpPr txBox="1"/>
          <p:nvPr/>
        </p:nvSpPr>
        <p:spPr>
          <a:xfrm>
            <a:off x="533400" y="1659136"/>
            <a:ext cx="6493256" cy="400057"/>
          </a:xfrm>
          <a:prstGeom prst="rect">
            <a:avLst/>
          </a:prstGeom>
          <a:noFill/>
        </p:spPr>
        <p:txBody>
          <a:bodyPr wrap="square" lIns="0" rIns="0" tIns="0" bIns="0" anchor="t">
            <a:spAutoFit/>
          </a:bodyPr>
          <a:lstStyle/>
          <a:p>
            <a:pPr algn="l">
              <a:lnSpc>
                <a:spcPct val="140000"/>
              </a:lnSpc>
            </a:pPr>
            <a:r>
              <a:rPr sz="922" b="0" i="0">
                <a:solidFill>
                  <a:srgbClr val="2A2A26"/>
                </a:solidFill>
                <a:latin typeface="Montserrat"/>
              </a:rPr>
              <a:t>Organizar não é guardar tudo. É saber o que precisa ser registrado, onde encontrar cada informação e quando revisar a rotina.</a:t>
            </a:r>
          </a:p>
        </p:txBody>
      </p:sp>
      <p:sp>
        <p:nvSpPr>
          <p:cNvPr id="22" name="Rounded Rectangle 21"/>
          <p:cNvSpPr/>
          <p:nvPr/>
        </p:nvSpPr>
        <p:spPr>
          <a:xfrm>
            <a:off x="533400" y="2908140"/>
            <a:ext cx="3119628" cy="612890"/>
          </a:xfrm>
          <a:prstGeom prst="roundRect">
            <a:avLst>
              <a:gd name="adj" fmla="val 12432"/>
            </a:avLst>
          </a:prstGeom>
          <a:solidFill>
            <a:srgbClr val="EDEAE0"/>
          </a:solidFill>
          <a:ln w="7620">
            <a:solidFill>
              <a:srgbClr val="D7D4C9"/>
            </a:solidFill>
          </a:ln>
          <a:effectLst/>
        </p:spPr>
        <p:txBody>
          <a:bodyPr rtlCol="0" anchor="ctr"/>
          <a:lstStyle/>
          <a:p/>
        </p:txBody>
      </p:sp>
      <p:sp>
        <p:nvSpPr>
          <p:cNvPr id="23" name="TextBox 22"/>
          <p:cNvSpPr txBox="1"/>
          <p:nvPr/>
        </p:nvSpPr>
        <p:spPr>
          <a:xfrm>
            <a:off x="660400" y="3049485"/>
            <a:ext cx="2865628" cy="152400"/>
          </a:xfrm>
          <a:prstGeom prst="rect">
            <a:avLst/>
          </a:prstGeom>
          <a:noFill/>
        </p:spPr>
        <p:txBody>
          <a:bodyPr wrap="square" lIns="0" rIns="0" tIns="0" bIns="0" anchor="t">
            <a:spAutoFit/>
          </a:bodyPr>
          <a:lstStyle/>
          <a:p>
            <a:pPr algn="l"/>
            <a:r>
              <a:rPr sz="922" b="1" i="0">
                <a:solidFill>
                  <a:srgbClr val="3F5C4A"/>
                </a:solidFill>
                <a:latin typeface="Montserrat"/>
              </a:rPr>
              <a:t>AGENDA</a:t>
            </a:r>
          </a:p>
        </p:txBody>
      </p:sp>
      <p:sp>
        <p:nvSpPr>
          <p:cNvPr id="24" name="TextBox 23"/>
          <p:cNvSpPr txBox="1"/>
          <p:nvPr/>
        </p:nvSpPr>
        <p:spPr>
          <a:xfrm>
            <a:off x="660400" y="3227285"/>
            <a:ext cx="2865628" cy="152400"/>
          </a:xfrm>
          <a:prstGeom prst="rect">
            <a:avLst/>
          </a:prstGeom>
          <a:noFill/>
        </p:spPr>
        <p:txBody>
          <a:bodyPr wrap="square" lIns="0" rIns="0" tIns="0" bIns="0" anchor="t">
            <a:spAutoFit/>
          </a:bodyPr>
          <a:lstStyle/>
          <a:p>
            <a:pPr algn="l"/>
            <a:r>
              <a:rPr sz="772" b="0" i="0">
                <a:solidFill>
                  <a:srgbClr val="2A2A26"/>
                </a:solidFill>
                <a:latin typeface="Montserrat"/>
              </a:rPr>
              <a:t>Sessões, confirmações, cancelamentos e pausas.</a:t>
            </a:r>
          </a:p>
        </p:txBody>
      </p:sp>
      <p:sp>
        <p:nvSpPr>
          <p:cNvPr id="25" name="Rounded Rectangle 24"/>
          <p:cNvSpPr/>
          <p:nvPr/>
        </p:nvSpPr>
        <p:spPr>
          <a:xfrm>
            <a:off x="3907028" y="2908140"/>
            <a:ext cx="3119628" cy="612890"/>
          </a:xfrm>
          <a:prstGeom prst="roundRect">
            <a:avLst>
              <a:gd name="adj" fmla="val 12432"/>
            </a:avLst>
          </a:prstGeom>
          <a:solidFill>
            <a:srgbClr val="EDEAE0"/>
          </a:solidFill>
          <a:ln w="7620">
            <a:solidFill>
              <a:srgbClr val="D7D4C9"/>
            </a:solidFill>
          </a:ln>
          <a:effectLst/>
        </p:spPr>
        <p:txBody>
          <a:bodyPr rtlCol="0" anchor="ctr"/>
          <a:lstStyle/>
          <a:p/>
        </p:txBody>
      </p:sp>
      <p:sp>
        <p:nvSpPr>
          <p:cNvPr id="26" name="TextBox 25"/>
          <p:cNvSpPr txBox="1"/>
          <p:nvPr/>
        </p:nvSpPr>
        <p:spPr>
          <a:xfrm>
            <a:off x="4034028" y="3049485"/>
            <a:ext cx="2865628" cy="152400"/>
          </a:xfrm>
          <a:prstGeom prst="rect">
            <a:avLst/>
          </a:prstGeom>
          <a:noFill/>
        </p:spPr>
        <p:txBody>
          <a:bodyPr wrap="square" lIns="0" rIns="0" tIns="0" bIns="0" anchor="t">
            <a:spAutoFit/>
          </a:bodyPr>
          <a:lstStyle/>
          <a:p>
            <a:pPr algn="l"/>
            <a:r>
              <a:rPr sz="922" b="1" i="0">
                <a:solidFill>
                  <a:srgbClr val="3F5C4A"/>
                </a:solidFill>
                <a:latin typeface="Montserrat"/>
              </a:rPr>
              <a:t>ATENDIMENTO</a:t>
            </a:r>
          </a:p>
        </p:txBody>
      </p:sp>
      <p:sp>
        <p:nvSpPr>
          <p:cNvPr id="27" name="TextBox 26"/>
          <p:cNvSpPr txBox="1"/>
          <p:nvPr/>
        </p:nvSpPr>
        <p:spPr>
          <a:xfrm>
            <a:off x="4034028" y="3227285"/>
            <a:ext cx="2865628" cy="152400"/>
          </a:xfrm>
          <a:prstGeom prst="rect">
            <a:avLst/>
          </a:prstGeom>
          <a:noFill/>
        </p:spPr>
        <p:txBody>
          <a:bodyPr wrap="square" lIns="0" rIns="0" tIns="0" bIns="0" anchor="t">
            <a:spAutoFit/>
          </a:bodyPr>
          <a:lstStyle/>
          <a:p>
            <a:pPr algn="l"/>
            <a:r>
              <a:rPr sz="772" b="0" i="0">
                <a:solidFill>
                  <a:srgbClr val="2A2A26"/>
                </a:solidFill>
                <a:latin typeface="Montserrat"/>
              </a:rPr>
              <a:t>Anamnese, evolução, fichas e observações.</a:t>
            </a:r>
          </a:p>
        </p:txBody>
      </p:sp>
      <p:sp>
        <p:nvSpPr>
          <p:cNvPr id="28" name="Rounded Rectangle 27"/>
          <p:cNvSpPr/>
          <p:nvPr/>
        </p:nvSpPr>
        <p:spPr>
          <a:xfrm>
            <a:off x="533400" y="3674252"/>
            <a:ext cx="3119628" cy="612890"/>
          </a:xfrm>
          <a:prstGeom prst="roundRect">
            <a:avLst>
              <a:gd name="adj" fmla="val 12432"/>
            </a:avLst>
          </a:prstGeom>
          <a:solidFill>
            <a:srgbClr val="EDEAE0"/>
          </a:solidFill>
          <a:ln w="7620">
            <a:solidFill>
              <a:srgbClr val="D7D4C9"/>
            </a:solidFill>
          </a:ln>
          <a:effectLst/>
        </p:spPr>
        <p:txBody>
          <a:bodyPr rtlCol="0" anchor="ctr"/>
          <a:lstStyle/>
          <a:p/>
        </p:txBody>
      </p:sp>
      <p:sp>
        <p:nvSpPr>
          <p:cNvPr id="29" name="TextBox 28"/>
          <p:cNvSpPr txBox="1"/>
          <p:nvPr/>
        </p:nvSpPr>
        <p:spPr>
          <a:xfrm>
            <a:off x="660400" y="3815597"/>
            <a:ext cx="2865628" cy="152400"/>
          </a:xfrm>
          <a:prstGeom prst="rect">
            <a:avLst/>
          </a:prstGeom>
          <a:noFill/>
        </p:spPr>
        <p:txBody>
          <a:bodyPr wrap="square" lIns="0" rIns="0" tIns="0" bIns="0" anchor="t">
            <a:spAutoFit/>
          </a:bodyPr>
          <a:lstStyle/>
          <a:p>
            <a:pPr algn="l"/>
            <a:r>
              <a:rPr sz="922" b="1" i="0">
                <a:solidFill>
                  <a:srgbClr val="3F5C4A"/>
                </a:solidFill>
                <a:latin typeface="Montserrat"/>
              </a:rPr>
              <a:t>FINANCEIRO</a:t>
            </a:r>
          </a:p>
        </p:txBody>
      </p:sp>
      <p:sp>
        <p:nvSpPr>
          <p:cNvPr id="30" name="TextBox 29"/>
          <p:cNvSpPr txBox="1"/>
          <p:nvPr/>
        </p:nvSpPr>
        <p:spPr>
          <a:xfrm>
            <a:off x="660400" y="3993397"/>
            <a:ext cx="2865628" cy="152400"/>
          </a:xfrm>
          <a:prstGeom prst="rect">
            <a:avLst/>
          </a:prstGeom>
          <a:noFill/>
        </p:spPr>
        <p:txBody>
          <a:bodyPr wrap="square" lIns="0" rIns="0" tIns="0" bIns="0" anchor="t">
            <a:spAutoFit/>
          </a:bodyPr>
          <a:lstStyle/>
          <a:p>
            <a:pPr algn="l"/>
            <a:r>
              <a:rPr sz="772" b="0" i="0">
                <a:solidFill>
                  <a:srgbClr val="2A2A26"/>
                </a:solidFill>
                <a:latin typeface="Montserrat"/>
              </a:rPr>
              <a:t>Pagamentos, pacotes, vencimentos e pendências.</a:t>
            </a:r>
          </a:p>
        </p:txBody>
      </p:sp>
      <p:sp>
        <p:nvSpPr>
          <p:cNvPr id="31" name="Rounded Rectangle 30"/>
          <p:cNvSpPr/>
          <p:nvPr/>
        </p:nvSpPr>
        <p:spPr>
          <a:xfrm>
            <a:off x="3907028" y="3674252"/>
            <a:ext cx="3119628" cy="612890"/>
          </a:xfrm>
          <a:prstGeom prst="roundRect">
            <a:avLst>
              <a:gd name="adj" fmla="val 12432"/>
            </a:avLst>
          </a:prstGeom>
          <a:solidFill>
            <a:srgbClr val="EDEAE0"/>
          </a:solidFill>
          <a:ln w="7620">
            <a:solidFill>
              <a:srgbClr val="D7D4C9"/>
            </a:solidFill>
          </a:ln>
          <a:effectLst/>
        </p:spPr>
        <p:txBody>
          <a:bodyPr rtlCol="0" anchor="ctr"/>
          <a:lstStyle/>
          <a:p/>
        </p:txBody>
      </p:sp>
      <p:sp>
        <p:nvSpPr>
          <p:cNvPr id="32" name="TextBox 31"/>
          <p:cNvSpPr txBox="1"/>
          <p:nvPr/>
        </p:nvSpPr>
        <p:spPr>
          <a:xfrm>
            <a:off x="4034028" y="3815597"/>
            <a:ext cx="2865628" cy="152400"/>
          </a:xfrm>
          <a:prstGeom prst="rect">
            <a:avLst/>
          </a:prstGeom>
          <a:noFill/>
        </p:spPr>
        <p:txBody>
          <a:bodyPr wrap="square" lIns="0" rIns="0" tIns="0" bIns="0" anchor="t">
            <a:spAutoFit/>
          </a:bodyPr>
          <a:lstStyle/>
          <a:p>
            <a:pPr algn="l"/>
            <a:r>
              <a:rPr sz="922" b="1" i="0">
                <a:solidFill>
                  <a:srgbClr val="3F5C4A"/>
                </a:solidFill>
                <a:latin typeface="Montserrat"/>
              </a:rPr>
              <a:t>COMUNICAÇÃO</a:t>
            </a:r>
          </a:p>
        </p:txBody>
      </p:sp>
      <p:sp>
        <p:nvSpPr>
          <p:cNvPr id="33" name="TextBox 32"/>
          <p:cNvSpPr txBox="1"/>
          <p:nvPr/>
        </p:nvSpPr>
        <p:spPr>
          <a:xfrm>
            <a:off x="4034028" y="3993397"/>
            <a:ext cx="2865628" cy="152400"/>
          </a:xfrm>
          <a:prstGeom prst="rect">
            <a:avLst/>
          </a:prstGeom>
          <a:noFill/>
        </p:spPr>
        <p:txBody>
          <a:bodyPr wrap="square" lIns="0" rIns="0" tIns="0" bIns="0" anchor="t">
            <a:spAutoFit/>
          </a:bodyPr>
          <a:lstStyle/>
          <a:p>
            <a:pPr algn="l"/>
            <a:r>
              <a:rPr sz="772" b="0" i="0">
                <a:solidFill>
                  <a:srgbClr val="2A2A26"/>
                </a:solidFill>
                <a:latin typeface="Montserrat"/>
              </a:rPr>
              <a:t>Lembretes, retornos, orientações e canais profissionais.</a:t>
            </a:r>
          </a:p>
        </p:txBody>
      </p:sp>
      <p:sp>
        <p:nvSpPr>
          <p:cNvPr id="36" name="TextBox 35"/>
          <p:cNvSpPr txBox="1"/>
          <p:nvPr/>
        </p:nvSpPr>
        <p:spPr>
          <a:xfrm>
            <a:off x="508000" y="2488217"/>
            <a:ext cx="6544056" cy="266700"/>
          </a:xfrm>
          <a:prstGeom prst="rect">
            <a:avLst/>
          </a:prstGeom>
          <a:noFill/>
        </p:spPr>
        <p:txBody>
          <a:bodyPr wrap="square" lIns="0" rIns="0" tIns="0" bIns="0" anchor="ctr">
            <a:spAutoFit/>
          </a:bodyPr>
          <a:lstStyle/>
          <a:p>
            <a:pPr algn="l"/>
            <a:r>
              <a:rPr sz="840" b="1" i="0">
                <a:solidFill>
                  <a:srgbClr val="FFFFFF"/>
                </a:solidFill>
                <a:latin typeface="Montserrat"/>
              </a:rPr>
              <a:t>OS 4 PILARES</a:t>
            </a:r>
          </a:p>
        </p:txBody>
      </p:sp>
      <p:graphicFrame>
        <p:nvGraphicFramePr>
          <p:cNvPr id="37" name="Table 36"/>
          <p:cNvGraphicFramePr>
            <a:graphicFrameLocks noGrp="1"/>
          </p:cNvGraphicFramePr>
          <p:nvPr/>
        </p:nvGraphicFramePr>
        <p:xfrm>
          <a:off x="533400" y="5013510"/>
          <a:ext cx="6493255" cy="3012002"/>
        </p:xfrm>
        <a:graphic>
          <a:graphicData uri="http://schemas.openxmlformats.org/drawingml/2006/table">
            <a:tbl>
              <a:tblPr firstRow="0" bandRow="0">
                <a:tableStyleId>{5C22544A-7EE6-4342-B048-85BDC9FD1C3A}</a:tableStyleId>
              </a:tblPr>
              <a:tblGrid>
                <a:gridCol w="1298651"/>
                <a:gridCol w="2337572"/>
                <a:gridCol w="2857032"/>
              </a:tblGrid>
              <a:tr h="254000">
                <a:tc>
                  <a:txBody>
                    <a:bodyPr/>
                    <a:lstStyle/>
                    <a:p>
                      <a:pPr algn="ctr"/>
                      <a:r>
                        <a:rPr sz="740" b="0">
                          <a:solidFill>
                            <a:srgbClr val="FFFFFF"/>
                          </a:solidFill>
                          <a:latin typeface="Montserrat"/>
                        </a:rPr>
                        <a:t>ÁREA</a:t>
                      </a:r>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3F5C4A"/>
                    </a:solidFill>
                  </a:tcPr>
                </a:tc>
                <a:tc>
                  <a:txBody>
                    <a:bodyPr/>
                    <a:lstStyle/>
                    <a:p>
                      <a:pPr algn="ctr"/>
                      <a:r>
                        <a:rPr sz="740" b="0">
                          <a:solidFill>
                            <a:srgbClr val="FFFFFF"/>
                          </a:solidFill>
                          <a:latin typeface="Montserrat"/>
                        </a:rPr>
                        <a:t>FERRAMENTA / CANAL</a:t>
                      </a:r>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3F5C4A"/>
                    </a:solidFill>
                  </a:tcPr>
                </a:tc>
                <a:tc>
                  <a:txBody>
                    <a:bodyPr/>
                    <a:lstStyle/>
                    <a:p>
                      <a:pPr algn="ctr"/>
                      <a:r>
                        <a:rPr sz="740" b="0">
                          <a:solidFill>
                            <a:srgbClr val="FFFFFF"/>
                          </a:solidFill>
                          <a:latin typeface="Montserrat"/>
                        </a:rPr>
                        <a:t>COMO ORGANIZO HOJE</a:t>
                      </a:r>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3F5C4A"/>
                    </a:solidFill>
                  </a:tcPr>
                </a:tc>
              </a:tr>
              <a:tr h="459667">
                <a:tc>
                  <a:txBody>
                    <a:bodyPr/>
                    <a:lstStyle/>
                    <a:p>
                      <a:pPr algn="l"/>
                      <a:r>
                        <a:rPr sz="740">
                          <a:solidFill>
                            <a:srgbClr val="2A2A26"/>
                          </a:solidFill>
                          <a:latin typeface="Montserrat"/>
                        </a:rPr>
                        <a:t>Agenda</a:t>
                      </a:r>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r>
              <a:tr h="459667">
                <a:tc>
                  <a:txBody>
                    <a:bodyPr/>
                    <a:lstStyle/>
                    <a:p>
                      <a:pPr algn="l"/>
                      <a:r>
                        <a:rPr sz="740">
                          <a:solidFill>
                            <a:srgbClr val="2A2A26"/>
                          </a:solidFill>
                          <a:latin typeface="Montserrat"/>
                        </a:rPr>
                        <a:t>Prontuário / fichas</a:t>
                      </a:r>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r>
              <a:tr h="459667">
                <a:tc>
                  <a:txBody>
                    <a:bodyPr/>
                    <a:lstStyle/>
                    <a:p>
                      <a:pPr algn="l"/>
                      <a:r>
                        <a:rPr sz="740">
                          <a:solidFill>
                            <a:srgbClr val="2A2A26"/>
                          </a:solidFill>
                          <a:latin typeface="Montserrat"/>
                        </a:rPr>
                        <a:t>Financeiro</a:t>
                      </a:r>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r>
              <a:tr h="459667">
                <a:tc>
                  <a:txBody>
                    <a:bodyPr/>
                    <a:lstStyle/>
                    <a:p>
                      <a:pPr algn="l"/>
                      <a:r>
                        <a:rPr sz="740">
                          <a:solidFill>
                            <a:srgbClr val="2A2A26"/>
                          </a:solidFill>
                          <a:latin typeface="Montserrat"/>
                        </a:rPr>
                        <a:t>Materiais</a:t>
                      </a:r>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r>
              <a:tr h="459667">
                <a:tc>
                  <a:txBody>
                    <a:bodyPr/>
                    <a:lstStyle/>
                    <a:p>
                      <a:pPr algn="l"/>
                      <a:r>
                        <a:rPr sz="740">
                          <a:solidFill>
                            <a:srgbClr val="2A2A26"/>
                          </a:solidFill>
                          <a:latin typeface="Montserrat"/>
                        </a:rPr>
                        <a:t>Mensagens / retorno</a:t>
                      </a:r>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r>
              <a:tr h="459667">
                <a:tc>
                  <a:txBody>
                    <a:bodyPr/>
                    <a:lstStyle/>
                    <a:p>
                      <a:pPr algn="l"/>
                      <a:r>
                        <a:rPr sz="740">
                          <a:solidFill>
                            <a:srgbClr val="2A2A26"/>
                          </a:solidFill>
                          <a:latin typeface="Montserrat"/>
                        </a:rPr>
                        <a:t>Backup e segurança</a:t>
                      </a:r>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r>
            </a:tbl>
          </a:graphicData>
        </a:graphic>
      </p:graphicFrame>
      <p:sp>
        <p:nvSpPr>
          <p:cNvPr id="40" name="TextBox 39"/>
          <p:cNvSpPr txBox="1"/>
          <p:nvPr/>
        </p:nvSpPr>
        <p:spPr>
          <a:xfrm>
            <a:off x="508000" y="4593587"/>
            <a:ext cx="6544056" cy="266700"/>
          </a:xfrm>
          <a:prstGeom prst="rect">
            <a:avLst/>
          </a:prstGeom>
          <a:noFill/>
        </p:spPr>
        <p:txBody>
          <a:bodyPr wrap="square" lIns="0" rIns="0" tIns="0" bIns="0" anchor="ctr">
            <a:spAutoFit/>
          </a:bodyPr>
          <a:lstStyle/>
          <a:p>
            <a:pPr algn="l"/>
            <a:r>
              <a:rPr sz="840" b="1" i="0">
                <a:solidFill>
                  <a:srgbClr val="FFFFFF"/>
                </a:solidFill>
                <a:latin typeface="Montserrat"/>
              </a:rPr>
              <a:t>MAPA DA MINHA ROTINA</a:t>
            </a:r>
          </a:p>
        </p:txBody>
      </p:sp>
      <p:cxnSp>
        <p:nvCxnSpPr>
          <p:cNvPr id="41" name="Connector 40"/>
          <p:cNvCxnSpPr/>
          <p:nvPr/>
        </p:nvCxnSpPr>
        <p:spPr>
          <a:xfrm>
            <a:off x="533400" y="8989583"/>
            <a:ext cx="6493256" cy="0"/>
          </a:xfrm>
          <a:prstGeom prst="line">
            <a:avLst/>
          </a:prstGeom>
          <a:ln w="7620">
            <a:solidFill>
              <a:srgbClr val="B4B2A8"/>
            </a:solidFill>
          </a:ln>
        </p:spPr>
      </p:cxnSp>
      <p:cxnSp>
        <p:nvCxnSpPr>
          <p:cNvPr id="42" name="Connector 41"/>
          <p:cNvCxnSpPr/>
          <p:nvPr/>
        </p:nvCxnSpPr>
        <p:spPr>
          <a:xfrm>
            <a:off x="533400" y="9265384"/>
            <a:ext cx="6493256" cy="0"/>
          </a:xfrm>
          <a:prstGeom prst="line">
            <a:avLst/>
          </a:prstGeom>
          <a:ln w="7620">
            <a:solidFill>
              <a:srgbClr val="B4B2A8"/>
            </a:solidFill>
          </a:ln>
        </p:spPr>
      </p:cxnSp>
      <p:cxnSp>
        <p:nvCxnSpPr>
          <p:cNvPr id="43" name="Connector 42"/>
          <p:cNvCxnSpPr/>
          <p:nvPr/>
        </p:nvCxnSpPr>
        <p:spPr>
          <a:xfrm>
            <a:off x="533400" y="9541184"/>
            <a:ext cx="6493256" cy="0"/>
          </a:xfrm>
          <a:prstGeom prst="line">
            <a:avLst/>
          </a:prstGeom>
          <a:ln w="7620">
            <a:solidFill>
              <a:srgbClr val="B4B2A8"/>
            </a:solidFill>
          </a:ln>
        </p:spPr>
      </p:cxnSp>
      <p:cxnSp>
        <p:nvCxnSpPr>
          <p:cNvPr id="44" name="Connector 43"/>
          <p:cNvCxnSpPr/>
          <p:nvPr/>
        </p:nvCxnSpPr>
        <p:spPr>
          <a:xfrm>
            <a:off x="533400" y="9816985"/>
            <a:ext cx="6493256" cy="0"/>
          </a:xfrm>
          <a:prstGeom prst="line">
            <a:avLst/>
          </a:prstGeom>
          <a:ln w="7620">
            <a:solidFill>
              <a:srgbClr val="B4B2A8"/>
            </a:solidFill>
          </a:ln>
        </p:spPr>
      </p:cxnSp>
      <p:sp>
        <p:nvSpPr>
          <p:cNvPr id="47" name="TextBox 46"/>
          <p:cNvSpPr txBox="1"/>
          <p:nvPr/>
        </p:nvSpPr>
        <p:spPr>
          <a:xfrm>
            <a:off x="508000" y="8331960"/>
            <a:ext cx="6544056" cy="266700"/>
          </a:xfrm>
          <a:prstGeom prst="rect">
            <a:avLst/>
          </a:prstGeom>
          <a:noFill/>
        </p:spPr>
        <p:txBody>
          <a:bodyPr wrap="square" lIns="0" rIns="0" tIns="0" bIns="0" anchor="ctr">
            <a:spAutoFit/>
          </a:bodyPr>
          <a:lstStyle/>
          <a:p>
            <a:pPr algn="l"/>
            <a:r>
              <a:rPr sz="840" b="1" i="0">
                <a:solidFill>
                  <a:srgbClr val="FFFFFF"/>
                </a:solidFill>
                <a:latin typeface="Montserrat"/>
              </a:rPr>
              <a:t>O QUE MAIS CONSOME TEMPO HOJE?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5EE"/>
        </a:solidFill>
        <a:effectLst/>
      </p:bgPr>
    </p:bg>
    <p:spTree>
      <p:nvGrpSpPr>
        <p:cNvPr id="1" name=""/>
        <p:cNvGrpSpPr/>
        <p:nvPr/>
      </p:nvGrpSpPr>
      <p:grpSpPr/>
      <p:sp>
        <p:nvSpPr>
          <p:cNvPr id="74" name="Rounded Rectangle 73"/>
          <p:cNvSpPr/>
          <p:nvPr/>
        </p:nvSpPr>
        <p:spPr>
          <a:xfrm>
            <a:off x="381000" y="7781883"/>
            <a:ext cx="6798056" cy="2235744"/>
          </a:xfrm>
          <a:prstGeom prst="roundRect">
            <a:avLst>
              <a:gd name="adj" fmla="val 4544"/>
            </a:avLst>
          </a:prstGeom>
          <a:solidFill>
            <a:srgbClr val="FDFCF8"/>
          </a:solidFill>
          <a:ln w="10160">
            <a:solidFill>
              <a:srgbClr val="D7D4C9"/>
            </a:solidFill>
          </a:ln>
          <a:effectLst/>
        </p:spPr>
        <p:txBody>
          <a:bodyPr rtlCol="0" anchor="ctr"/>
          <a:lstStyle/>
          <a:p/>
        </p:txBody>
      </p:sp>
      <p:sp>
        <p:nvSpPr>
          <p:cNvPr id="75" name="Round Same Side Corner Rectangle 74"/>
          <p:cNvSpPr/>
          <p:nvPr/>
        </p:nvSpPr>
        <p:spPr>
          <a:xfrm>
            <a:off x="381000" y="7781883"/>
            <a:ext cx="6798056" cy="266700"/>
          </a:xfrm>
          <a:prstGeom prst="round2SameRect">
            <a:avLst>
              <a:gd name="adj1" fmla="val 38095"/>
              <a:gd name="adj2" fmla="val 0"/>
            </a:avLst>
          </a:prstGeom>
          <a:solidFill>
            <a:srgbClr val="3F5C4A"/>
          </a:solidFill>
          <a:ln>
            <a:noFill/>
          </a:ln>
          <a:effectLst/>
        </p:spPr>
        <p:txBody>
          <a:bodyPr rtlCol="0" anchor="ctr"/>
          <a:lstStyle/>
          <a:p/>
        </p:txBody>
      </p:sp>
      <p:sp>
        <p:nvSpPr>
          <p:cNvPr id="68" name="Rounded Rectangle 67"/>
          <p:cNvSpPr/>
          <p:nvPr/>
        </p:nvSpPr>
        <p:spPr>
          <a:xfrm>
            <a:off x="381000" y="6771677"/>
            <a:ext cx="6798056" cy="838984"/>
          </a:xfrm>
          <a:prstGeom prst="roundRect">
            <a:avLst>
              <a:gd name="adj" fmla="val 12109"/>
            </a:avLst>
          </a:prstGeom>
          <a:solidFill>
            <a:srgbClr val="FDFCF8"/>
          </a:solidFill>
          <a:ln w="10160">
            <a:solidFill>
              <a:srgbClr val="D7D4C9"/>
            </a:solidFill>
          </a:ln>
          <a:effectLst/>
        </p:spPr>
        <p:txBody>
          <a:bodyPr rtlCol="0" anchor="ctr"/>
          <a:lstStyle/>
          <a:p/>
        </p:txBody>
      </p:sp>
      <p:sp>
        <p:nvSpPr>
          <p:cNvPr id="61" name="Rounded Rectangle 60"/>
          <p:cNvSpPr/>
          <p:nvPr/>
        </p:nvSpPr>
        <p:spPr>
          <a:xfrm>
            <a:off x="3907028" y="4116723"/>
            <a:ext cx="3272028" cy="2483732"/>
          </a:xfrm>
          <a:prstGeom prst="roundRect">
            <a:avLst>
              <a:gd name="adj" fmla="val 4090"/>
            </a:avLst>
          </a:prstGeom>
          <a:solidFill>
            <a:srgbClr val="FDFCF8"/>
          </a:solidFill>
          <a:ln w="10160">
            <a:solidFill>
              <a:srgbClr val="D7D4C9"/>
            </a:solidFill>
          </a:ln>
          <a:effectLst/>
        </p:spPr>
        <p:txBody>
          <a:bodyPr rtlCol="0" anchor="ctr"/>
          <a:lstStyle/>
          <a:p/>
        </p:txBody>
      </p:sp>
      <p:sp>
        <p:nvSpPr>
          <p:cNvPr id="62" name="Round Same Side Corner Rectangle 61"/>
          <p:cNvSpPr/>
          <p:nvPr/>
        </p:nvSpPr>
        <p:spPr>
          <a:xfrm>
            <a:off x="3907028" y="4116723"/>
            <a:ext cx="3272028" cy="266700"/>
          </a:xfrm>
          <a:prstGeom prst="round2SameRect">
            <a:avLst>
              <a:gd name="adj1" fmla="val 38095"/>
              <a:gd name="adj2" fmla="val 0"/>
            </a:avLst>
          </a:prstGeom>
          <a:solidFill>
            <a:srgbClr val="3F5C4A"/>
          </a:solidFill>
          <a:ln>
            <a:noFill/>
          </a:ln>
          <a:effectLst/>
        </p:spPr>
        <p:txBody>
          <a:bodyPr rtlCol="0" anchor="ctr"/>
          <a:lstStyle/>
          <a:p/>
        </p:txBody>
      </p:sp>
      <p:sp>
        <p:nvSpPr>
          <p:cNvPr id="50" name="Rounded Rectangle 49"/>
          <p:cNvSpPr/>
          <p:nvPr/>
        </p:nvSpPr>
        <p:spPr>
          <a:xfrm>
            <a:off x="381000" y="4116723"/>
            <a:ext cx="3272028" cy="2483732"/>
          </a:xfrm>
          <a:prstGeom prst="roundRect">
            <a:avLst>
              <a:gd name="adj" fmla="val 4090"/>
            </a:avLst>
          </a:prstGeom>
          <a:solidFill>
            <a:srgbClr val="FDFCF8"/>
          </a:solidFill>
          <a:ln w="10160">
            <a:solidFill>
              <a:srgbClr val="D7D4C9"/>
            </a:solidFill>
          </a:ln>
          <a:effectLst/>
        </p:spPr>
        <p:txBody>
          <a:bodyPr rtlCol="0" anchor="ctr"/>
          <a:lstStyle/>
          <a:p/>
        </p:txBody>
      </p:sp>
      <p:sp>
        <p:nvSpPr>
          <p:cNvPr id="51" name="Round Same Side Corner Rectangle 50"/>
          <p:cNvSpPr/>
          <p:nvPr/>
        </p:nvSpPr>
        <p:spPr>
          <a:xfrm>
            <a:off x="381000" y="4116723"/>
            <a:ext cx="3272028" cy="266700"/>
          </a:xfrm>
          <a:prstGeom prst="round2SameRect">
            <a:avLst>
              <a:gd name="adj1" fmla="val 38095"/>
              <a:gd name="adj2" fmla="val 0"/>
            </a:avLst>
          </a:prstGeom>
          <a:solidFill>
            <a:srgbClr val="3F5C4A"/>
          </a:solidFill>
          <a:ln>
            <a:noFill/>
          </a:ln>
          <a:effectLst/>
        </p:spPr>
        <p:txBody>
          <a:bodyPr rtlCol="0" anchor="ctr"/>
          <a:lstStyle/>
          <a:p/>
        </p:txBody>
      </p:sp>
      <p:sp>
        <p:nvSpPr>
          <p:cNvPr id="39" name="Rounded Rectangle 38"/>
          <p:cNvSpPr/>
          <p:nvPr/>
        </p:nvSpPr>
        <p:spPr>
          <a:xfrm>
            <a:off x="3907028" y="1461770"/>
            <a:ext cx="3272028" cy="2483732"/>
          </a:xfrm>
          <a:prstGeom prst="roundRect">
            <a:avLst>
              <a:gd name="adj" fmla="val 4090"/>
            </a:avLst>
          </a:prstGeom>
          <a:solidFill>
            <a:srgbClr val="FDFCF8"/>
          </a:solidFill>
          <a:ln w="10160">
            <a:solidFill>
              <a:srgbClr val="D7D4C9"/>
            </a:solidFill>
          </a:ln>
          <a:effectLst/>
        </p:spPr>
        <p:txBody>
          <a:bodyPr rtlCol="0" anchor="ctr"/>
          <a:lstStyle/>
          <a:p/>
        </p:txBody>
      </p:sp>
      <p:sp>
        <p:nvSpPr>
          <p:cNvPr id="40" name="Round Same Side Corner Rectangle 39"/>
          <p:cNvSpPr/>
          <p:nvPr/>
        </p:nvSpPr>
        <p:spPr>
          <a:xfrm>
            <a:off x="3907028" y="1461770"/>
            <a:ext cx="3272028" cy="266700"/>
          </a:xfrm>
          <a:prstGeom prst="round2SameRect">
            <a:avLst>
              <a:gd name="adj1" fmla="val 38095"/>
              <a:gd name="adj2" fmla="val 0"/>
            </a:avLst>
          </a:prstGeom>
          <a:solidFill>
            <a:srgbClr val="3F5C4A"/>
          </a:solidFill>
          <a:ln>
            <a:noFill/>
          </a:ln>
          <a:effectLst/>
        </p:spPr>
        <p:txBody>
          <a:bodyPr rtlCol="0" anchor="ctr"/>
          <a:lstStyle/>
          <a:p/>
        </p:txBody>
      </p:sp>
      <p:sp>
        <p:nvSpPr>
          <p:cNvPr id="28" name="Rounded Rectangle 27"/>
          <p:cNvSpPr/>
          <p:nvPr/>
        </p:nvSpPr>
        <p:spPr>
          <a:xfrm>
            <a:off x="381000" y="1461770"/>
            <a:ext cx="3272028" cy="2483732"/>
          </a:xfrm>
          <a:prstGeom prst="roundRect">
            <a:avLst>
              <a:gd name="adj" fmla="val 4090"/>
            </a:avLst>
          </a:prstGeom>
          <a:solidFill>
            <a:srgbClr val="FDFCF8"/>
          </a:solidFill>
          <a:ln w="10160">
            <a:solidFill>
              <a:srgbClr val="D7D4C9"/>
            </a:solidFill>
          </a:ln>
          <a:effectLst/>
        </p:spPr>
        <p:txBody>
          <a:bodyPr rtlCol="0" anchor="ctr"/>
          <a:lstStyle/>
          <a:p/>
        </p:txBody>
      </p:sp>
      <p:sp>
        <p:nvSpPr>
          <p:cNvPr id="29" name="Round Same Side Corner Rectangle 28"/>
          <p:cNvSpPr/>
          <p:nvPr/>
        </p:nvSpPr>
        <p:spPr>
          <a:xfrm>
            <a:off x="381000" y="1461770"/>
            <a:ext cx="3272028" cy="266700"/>
          </a:xfrm>
          <a:prstGeom prst="round2SameRect">
            <a:avLst>
              <a:gd name="adj1" fmla="val 38095"/>
              <a:gd name="adj2" fmla="val 0"/>
            </a:avLst>
          </a:prstGeom>
          <a:solidFill>
            <a:srgbClr val="3F5C4A"/>
          </a:solidFill>
          <a:ln>
            <a:noFill/>
          </a:ln>
          <a:effectLst/>
        </p:spPr>
        <p:txBody>
          <a:bodyPr rtlCol="0" anchor="ctr"/>
          <a:lstStyle/>
          <a:p/>
        </p:txBody>
      </p:sp>
      <p:cxnSp>
        <p:nvCxnSpPr>
          <p:cNvPr id="2" name="Connector 1"/>
          <p:cNvCxnSpPr/>
          <p:nvPr/>
        </p:nvCxnSpPr>
        <p:spPr>
          <a:xfrm>
            <a:off x="38100" y="25400"/>
            <a:ext cx="660400" cy="660400"/>
          </a:xfrm>
          <a:prstGeom prst="line">
            <a:avLst/>
          </a:prstGeom>
          <a:ln w="13970">
            <a:solidFill>
              <a:srgbClr val="B08D4F"/>
            </a:solidFill>
          </a:ln>
        </p:spPr>
      </p:cxnSp>
      <p:sp>
        <p:nvSpPr>
          <p:cNvPr id="3" name="Oval 2"/>
          <p:cNvSpPr/>
          <p:nvPr/>
        </p:nvSpPr>
        <p:spPr>
          <a:xfrm>
            <a:off x="191770" y="77470"/>
            <a:ext cx="190500" cy="215900"/>
          </a:xfrm>
          <a:prstGeom prst="ellipse">
            <a:avLst/>
          </a:prstGeom>
          <a:solidFill>
            <a:srgbClr val="8FA388"/>
          </a:solidFill>
          <a:ln>
            <a:noFill/>
          </a:ln>
          <a:effectLst/>
        </p:spPr>
        <p:txBody>
          <a:bodyPr rtlCol="0" anchor="ctr"/>
          <a:lstStyle/>
          <a:p/>
        </p:txBody>
      </p:sp>
      <p:sp>
        <p:nvSpPr>
          <p:cNvPr id="4" name="Oval 3"/>
          <p:cNvSpPr/>
          <p:nvPr/>
        </p:nvSpPr>
        <p:spPr>
          <a:xfrm>
            <a:off x="330708" y="216408"/>
            <a:ext cx="203200" cy="228600"/>
          </a:xfrm>
          <a:prstGeom prst="ellipse">
            <a:avLst/>
          </a:prstGeom>
          <a:solidFill>
            <a:srgbClr val="8FA388"/>
          </a:solidFill>
          <a:ln>
            <a:noFill/>
          </a:ln>
          <a:effectLst/>
        </p:spPr>
        <p:txBody>
          <a:bodyPr rtlCol="0" anchor="ctr"/>
          <a:lstStyle/>
          <a:p/>
        </p:txBody>
      </p:sp>
      <p:sp>
        <p:nvSpPr>
          <p:cNvPr id="5" name="Oval 4"/>
          <p:cNvSpPr/>
          <p:nvPr/>
        </p:nvSpPr>
        <p:spPr>
          <a:xfrm>
            <a:off x="482345" y="368045"/>
            <a:ext cx="190500" cy="215900"/>
          </a:xfrm>
          <a:prstGeom prst="ellipse">
            <a:avLst/>
          </a:prstGeom>
          <a:solidFill>
            <a:srgbClr val="8FA388"/>
          </a:solidFill>
          <a:ln>
            <a:noFill/>
          </a:ln>
          <a:effectLst/>
        </p:spPr>
        <p:txBody>
          <a:bodyPr rtlCol="0" anchor="ctr"/>
          <a:lstStyle/>
          <a:p/>
        </p:txBody>
      </p:sp>
      <p:cxnSp>
        <p:nvCxnSpPr>
          <p:cNvPr id="6" name="Connector 5"/>
          <p:cNvCxnSpPr/>
          <p:nvPr/>
        </p:nvCxnSpPr>
        <p:spPr>
          <a:xfrm flipH="1">
            <a:off x="6861556" y="25400"/>
            <a:ext cx="660400" cy="660400"/>
          </a:xfrm>
          <a:prstGeom prst="line">
            <a:avLst/>
          </a:prstGeom>
          <a:ln w="13970">
            <a:solidFill>
              <a:srgbClr val="B08D4F"/>
            </a:solidFill>
          </a:ln>
        </p:spPr>
      </p:cxnSp>
      <p:sp>
        <p:nvSpPr>
          <p:cNvPr id="7" name="Oval 6"/>
          <p:cNvSpPr/>
          <p:nvPr/>
        </p:nvSpPr>
        <p:spPr>
          <a:xfrm>
            <a:off x="7177785" y="77470"/>
            <a:ext cx="190500" cy="215900"/>
          </a:xfrm>
          <a:prstGeom prst="ellipse">
            <a:avLst/>
          </a:prstGeom>
          <a:solidFill>
            <a:srgbClr val="8FA388"/>
          </a:solidFill>
          <a:ln>
            <a:noFill/>
          </a:ln>
          <a:effectLst/>
        </p:spPr>
        <p:txBody>
          <a:bodyPr rtlCol="0" anchor="ctr"/>
          <a:lstStyle/>
          <a:p/>
        </p:txBody>
      </p:sp>
      <p:sp>
        <p:nvSpPr>
          <p:cNvPr id="8" name="Oval 7"/>
          <p:cNvSpPr/>
          <p:nvPr/>
        </p:nvSpPr>
        <p:spPr>
          <a:xfrm>
            <a:off x="7026148" y="216408"/>
            <a:ext cx="203200" cy="228600"/>
          </a:xfrm>
          <a:prstGeom prst="ellipse">
            <a:avLst/>
          </a:prstGeom>
          <a:solidFill>
            <a:srgbClr val="8FA388"/>
          </a:solidFill>
          <a:ln>
            <a:noFill/>
          </a:ln>
          <a:effectLst/>
        </p:spPr>
        <p:txBody>
          <a:bodyPr rtlCol="0" anchor="ctr"/>
          <a:lstStyle/>
          <a:p/>
        </p:txBody>
      </p:sp>
      <p:sp>
        <p:nvSpPr>
          <p:cNvPr id="9" name="Oval 8"/>
          <p:cNvSpPr/>
          <p:nvPr/>
        </p:nvSpPr>
        <p:spPr>
          <a:xfrm>
            <a:off x="6887209" y="368045"/>
            <a:ext cx="190500" cy="215900"/>
          </a:xfrm>
          <a:prstGeom prst="ellipse">
            <a:avLst/>
          </a:prstGeom>
          <a:solidFill>
            <a:srgbClr val="8FA388"/>
          </a:solidFill>
          <a:ln>
            <a:noFill/>
          </a:ln>
          <a:effectLst/>
        </p:spPr>
        <p:txBody>
          <a:bodyPr rtlCol="0" anchor="ctr"/>
          <a:lstStyle/>
          <a:p/>
        </p:txBody>
      </p:sp>
      <p:sp>
        <p:nvSpPr>
          <p:cNvPr id="10" name="Oval 9"/>
          <p:cNvSpPr/>
          <p:nvPr/>
        </p:nvSpPr>
        <p:spPr>
          <a:xfrm>
            <a:off x="3500628" y="127000"/>
            <a:ext cx="114300" cy="215900"/>
          </a:xfrm>
          <a:prstGeom prst="ellipse">
            <a:avLst/>
          </a:prstGeom>
          <a:noFill/>
          <a:ln w="10160">
            <a:solidFill>
              <a:srgbClr val="B08D4F"/>
            </a:solidFill>
          </a:ln>
          <a:effectLst/>
        </p:spPr>
        <p:txBody>
          <a:bodyPr rtlCol="0" anchor="ctr"/>
          <a:lstStyle/>
          <a:p/>
        </p:txBody>
      </p:sp>
      <p:sp>
        <p:nvSpPr>
          <p:cNvPr id="11" name="Oval 10"/>
          <p:cNvSpPr/>
          <p:nvPr/>
        </p:nvSpPr>
        <p:spPr>
          <a:xfrm>
            <a:off x="3595878" y="127000"/>
            <a:ext cx="114300" cy="215900"/>
          </a:xfrm>
          <a:prstGeom prst="ellipse">
            <a:avLst/>
          </a:prstGeom>
          <a:noFill/>
          <a:ln w="10160">
            <a:solidFill>
              <a:srgbClr val="B08D4F"/>
            </a:solidFill>
          </a:ln>
          <a:effectLst/>
        </p:spPr>
        <p:txBody>
          <a:bodyPr rtlCol="0" anchor="ctr"/>
          <a:lstStyle/>
          <a:p/>
        </p:txBody>
      </p:sp>
      <p:sp>
        <p:nvSpPr>
          <p:cNvPr id="12" name="Oval 11"/>
          <p:cNvSpPr/>
          <p:nvPr/>
        </p:nvSpPr>
        <p:spPr>
          <a:xfrm>
            <a:off x="3691128" y="127000"/>
            <a:ext cx="114300" cy="215900"/>
          </a:xfrm>
          <a:prstGeom prst="ellipse">
            <a:avLst/>
          </a:prstGeom>
          <a:noFill/>
          <a:ln w="10160">
            <a:solidFill>
              <a:srgbClr val="B08D4F"/>
            </a:solidFill>
          </a:ln>
          <a:effectLst/>
        </p:spPr>
        <p:txBody>
          <a:bodyPr rtlCol="0" anchor="ctr"/>
          <a:lstStyle/>
          <a:p/>
        </p:txBody>
      </p:sp>
      <p:sp>
        <p:nvSpPr>
          <p:cNvPr id="13" name="Oval 12"/>
          <p:cNvSpPr/>
          <p:nvPr/>
        </p:nvSpPr>
        <p:spPr>
          <a:xfrm>
            <a:off x="3786378" y="127000"/>
            <a:ext cx="114300" cy="215900"/>
          </a:xfrm>
          <a:prstGeom prst="ellipse">
            <a:avLst/>
          </a:prstGeom>
          <a:noFill/>
          <a:ln w="10160">
            <a:solidFill>
              <a:srgbClr val="B08D4F"/>
            </a:solidFill>
          </a:ln>
          <a:effectLst/>
        </p:spPr>
        <p:txBody>
          <a:bodyPr rtlCol="0" anchor="ctr"/>
          <a:lstStyle/>
          <a:p/>
        </p:txBody>
      </p:sp>
      <p:sp>
        <p:nvSpPr>
          <p:cNvPr id="14" name="Oval 13"/>
          <p:cNvSpPr/>
          <p:nvPr/>
        </p:nvSpPr>
        <p:spPr>
          <a:xfrm>
            <a:off x="3881628" y="127000"/>
            <a:ext cx="114300" cy="215900"/>
          </a:xfrm>
          <a:prstGeom prst="ellipse">
            <a:avLst/>
          </a:prstGeom>
          <a:noFill/>
          <a:ln w="10160">
            <a:solidFill>
              <a:srgbClr val="B08D4F"/>
            </a:solidFill>
          </a:ln>
          <a:effectLst/>
        </p:spPr>
        <p:txBody>
          <a:bodyPr rtlCol="0" anchor="ctr"/>
          <a:lstStyle/>
          <a:p/>
        </p:txBody>
      </p:sp>
      <p:sp>
        <p:nvSpPr>
          <p:cNvPr id="15" name="Arc 14"/>
          <p:cNvSpPr/>
          <p:nvPr/>
        </p:nvSpPr>
        <p:spPr>
          <a:xfrm>
            <a:off x="3437128" y="165100"/>
            <a:ext cx="685800" cy="381000"/>
          </a:xfrm>
          <a:prstGeom prst="arc">
            <a:avLst>
              <a:gd name="adj1" fmla="val 18000000"/>
              <a:gd name="adj2" fmla="val 0"/>
            </a:avLst>
          </a:prstGeom>
          <a:noFill/>
          <a:ln w="10160">
            <a:solidFill>
              <a:srgbClr val="B08D4F"/>
            </a:solidFill>
          </a:ln>
          <a:effectLst/>
        </p:spPr>
        <p:txBody>
          <a:bodyPr rtlCol="0" anchor="ctr"/>
          <a:lstStyle/>
          <a:p>
            <a:pPr algn="ctr"/>
          </a:p>
        </p:txBody>
      </p:sp>
      <p:sp>
        <p:nvSpPr>
          <p:cNvPr id="16" name="TextBox 15"/>
          <p:cNvSpPr txBox="1"/>
          <p:nvPr/>
        </p:nvSpPr>
        <p:spPr>
          <a:xfrm>
            <a:off x="254000" y="635000"/>
            <a:ext cx="7052056" cy="462280"/>
          </a:xfrm>
          <a:prstGeom prst="rect">
            <a:avLst/>
          </a:prstGeom>
          <a:noFill/>
        </p:spPr>
        <p:txBody>
          <a:bodyPr wrap="square" lIns="0" rIns="0" tIns="0" bIns="0" anchor="t">
            <a:spAutoFit/>
          </a:bodyPr>
          <a:lstStyle/>
          <a:p>
            <a:pPr algn="ctr"/>
            <a:r>
              <a:rPr sz="2600" b="1" i="0">
                <a:solidFill>
                  <a:srgbClr val="3F5C4A"/>
                </a:solidFill>
                <a:latin typeface="Libre Baskerville"/>
              </a:rPr>
              <a:t>ROTINA SEMANAL DO ESPAÇO</a:t>
            </a:r>
          </a:p>
        </p:txBody>
      </p:sp>
      <p:sp>
        <p:nvSpPr>
          <p:cNvPr id="17" name="TextBox 16"/>
          <p:cNvSpPr txBox="1"/>
          <p:nvPr/>
        </p:nvSpPr>
        <p:spPr>
          <a:xfrm>
            <a:off x="508000" y="1080770"/>
            <a:ext cx="6544056" cy="177800"/>
          </a:xfrm>
          <a:prstGeom prst="rect">
            <a:avLst/>
          </a:prstGeom>
          <a:noFill/>
        </p:spPr>
        <p:txBody>
          <a:bodyPr wrap="square" lIns="0" rIns="0" tIns="0" bIns="0" anchor="t">
            <a:spAutoFit/>
          </a:bodyPr>
          <a:lstStyle/>
          <a:p>
            <a:pPr algn="ctr"/>
            <a:r>
              <a:rPr sz="950" b="0" i="0">
                <a:solidFill>
                  <a:srgbClr val="2A2A26"/>
                </a:solidFill>
                <a:latin typeface="Montserrat"/>
              </a:rPr>
              <a:t>Checklist de 15 a 30 minutos</a:t>
            </a:r>
          </a:p>
        </p:txBody>
      </p:sp>
      <p:sp>
        <p:nvSpPr>
          <p:cNvPr id="18" name="TextBox 17"/>
          <p:cNvSpPr txBox="1"/>
          <p:nvPr/>
        </p:nvSpPr>
        <p:spPr>
          <a:xfrm>
            <a:off x="762000" y="10196703"/>
            <a:ext cx="6036056" cy="127000"/>
          </a:xfrm>
          <a:prstGeom prst="rect">
            <a:avLst/>
          </a:prstGeom>
          <a:noFill/>
        </p:spPr>
        <p:txBody>
          <a:bodyPr wrap="square" lIns="0" rIns="0" tIns="0" bIns="0" anchor="t">
            <a:spAutoFit/>
          </a:bodyPr>
          <a:lstStyle/>
          <a:p>
            <a:pPr algn="ctr"/>
            <a:r>
              <a:rPr sz="650" b="0" i="0">
                <a:solidFill>
                  <a:srgbClr val="77776E"/>
                </a:solidFill>
                <a:latin typeface="Montserrat"/>
              </a:rPr>
              <a:t>MASSOTERAPIA • CUIDADO • BEM-ESTAR</a:t>
            </a:r>
          </a:p>
        </p:txBody>
      </p:sp>
      <p:cxnSp>
        <p:nvCxnSpPr>
          <p:cNvPr id="19" name="Connector 18"/>
          <p:cNvCxnSpPr/>
          <p:nvPr/>
        </p:nvCxnSpPr>
        <p:spPr>
          <a:xfrm>
            <a:off x="1968500" y="10336403"/>
            <a:ext cx="3623056" cy="0"/>
          </a:xfrm>
          <a:prstGeom prst="line">
            <a:avLst/>
          </a:prstGeom>
          <a:ln w="8890">
            <a:solidFill>
              <a:srgbClr val="B08D4F"/>
            </a:solidFill>
          </a:ln>
        </p:spPr>
      </p:cxnSp>
      <p:sp>
        <p:nvSpPr>
          <p:cNvPr id="20" name="Rectangle 19"/>
          <p:cNvSpPr/>
          <p:nvPr/>
        </p:nvSpPr>
        <p:spPr>
          <a:xfrm>
            <a:off x="533400" y="1931441"/>
            <a:ext cx="107950" cy="107950"/>
          </a:xfrm>
          <a:prstGeom prst="rect">
            <a:avLst/>
          </a:prstGeom>
          <a:solidFill>
            <a:srgbClr val="FDFCF8"/>
          </a:solidFill>
          <a:ln w="7620">
            <a:solidFill>
              <a:srgbClr val="2A2A26"/>
            </a:solidFill>
          </a:ln>
          <a:effectLst/>
        </p:spPr>
        <p:txBody>
          <a:bodyPr rtlCol="0" anchor="ctr"/>
          <a:lstStyle/>
          <a:p/>
        </p:txBody>
      </p:sp>
      <p:sp>
        <p:nvSpPr>
          <p:cNvPr id="21" name="TextBox 20"/>
          <p:cNvSpPr txBox="1"/>
          <p:nvPr/>
        </p:nvSpPr>
        <p:spPr>
          <a:xfrm>
            <a:off x="711200" y="1925091"/>
            <a:ext cx="2764028" cy="155585"/>
          </a:xfrm>
          <a:prstGeom prst="rect">
            <a:avLst/>
          </a:prstGeom>
          <a:noFill/>
        </p:spPr>
        <p:txBody>
          <a:bodyPr wrap="square" lIns="0" rIns="0" tIns="0" bIns="0" anchor="t">
            <a:spAutoFit/>
          </a:bodyPr>
          <a:lstStyle/>
          <a:p>
            <a:pPr algn="l"/>
            <a:r>
              <a:rPr sz="875" b="0" i="0">
                <a:solidFill>
                  <a:srgbClr val="2A2A26"/>
                </a:solidFill>
                <a:latin typeface="Montserrat"/>
              </a:rPr>
              <a:t>Rever agenda e horários</a:t>
            </a:r>
          </a:p>
        </p:txBody>
      </p:sp>
      <p:sp>
        <p:nvSpPr>
          <p:cNvPr id="22" name="Rectangle 21"/>
          <p:cNvSpPr/>
          <p:nvPr/>
        </p:nvSpPr>
        <p:spPr>
          <a:xfrm>
            <a:off x="533400" y="2376616"/>
            <a:ext cx="107950" cy="107950"/>
          </a:xfrm>
          <a:prstGeom prst="rect">
            <a:avLst/>
          </a:prstGeom>
          <a:solidFill>
            <a:srgbClr val="FDFCF8"/>
          </a:solidFill>
          <a:ln w="7620">
            <a:solidFill>
              <a:srgbClr val="2A2A26"/>
            </a:solidFill>
          </a:ln>
          <a:effectLst/>
        </p:spPr>
        <p:txBody>
          <a:bodyPr rtlCol="0" anchor="ctr"/>
          <a:lstStyle/>
          <a:p/>
        </p:txBody>
      </p:sp>
      <p:sp>
        <p:nvSpPr>
          <p:cNvPr id="23" name="TextBox 22"/>
          <p:cNvSpPr txBox="1"/>
          <p:nvPr/>
        </p:nvSpPr>
        <p:spPr>
          <a:xfrm>
            <a:off x="711200" y="2370266"/>
            <a:ext cx="2764028" cy="155585"/>
          </a:xfrm>
          <a:prstGeom prst="rect">
            <a:avLst/>
          </a:prstGeom>
          <a:noFill/>
        </p:spPr>
        <p:txBody>
          <a:bodyPr wrap="square" lIns="0" rIns="0" tIns="0" bIns="0" anchor="t">
            <a:spAutoFit/>
          </a:bodyPr>
          <a:lstStyle/>
          <a:p>
            <a:pPr algn="l"/>
            <a:r>
              <a:rPr sz="875" b="0" i="0">
                <a:solidFill>
                  <a:srgbClr val="2A2A26"/>
                </a:solidFill>
                <a:latin typeface="Montserrat"/>
              </a:rPr>
              <a:t>Confirmar pagamentos previstos</a:t>
            </a:r>
          </a:p>
        </p:txBody>
      </p:sp>
      <p:sp>
        <p:nvSpPr>
          <p:cNvPr id="24" name="Rectangle 23"/>
          <p:cNvSpPr/>
          <p:nvPr/>
        </p:nvSpPr>
        <p:spPr>
          <a:xfrm>
            <a:off x="533400" y="2821792"/>
            <a:ext cx="107950" cy="107950"/>
          </a:xfrm>
          <a:prstGeom prst="rect">
            <a:avLst/>
          </a:prstGeom>
          <a:solidFill>
            <a:srgbClr val="FDFCF8"/>
          </a:solidFill>
          <a:ln w="7620">
            <a:solidFill>
              <a:srgbClr val="2A2A26"/>
            </a:solidFill>
          </a:ln>
          <a:effectLst/>
        </p:spPr>
        <p:txBody>
          <a:bodyPr rtlCol="0" anchor="ctr"/>
          <a:lstStyle/>
          <a:p/>
        </p:txBody>
      </p:sp>
      <p:sp>
        <p:nvSpPr>
          <p:cNvPr id="25" name="TextBox 24"/>
          <p:cNvSpPr txBox="1"/>
          <p:nvPr/>
        </p:nvSpPr>
        <p:spPr>
          <a:xfrm>
            <a:off x="711200" y="2815442"/>
            <a:ext cx="2764028" cy="155585"/>
          </a:xfrm>
          <a:prstGeom prst="rect">
            <a:avLst/>
          </a:prstGeom>
          <a:noFill/>
        </p:spPr>
        <p:txBody>
          <a:bodyPr wrap="square" lIns="0" rIns="0" tIns="0" bIns="0" anchor="t">
            <a:spAutoFit/>
          </a:bodyPr>
          <a:lstStyle/>
          <a:p>
            <a:pPr algn="l"/>
            <a:r>
              <a:rPr sz="875" b="0" i="0">
                <a:solidFill>
                  <a:srgbClr val="2A2A26"/>
                </a:solidFill>
                <a:latin typeface="Montserrat"/>
              </a:rPr>
              <a:t>Separar retornos pendentes</a:t>
            </a:r>
          </a:p>
        </p:txBody>
      </p:sp>
      <p:sp>
        <p:nvSpPr>
          <p:cNvPr id="26" name="Rectangle 25"/>
          <p:cNvSpPr/>
          <p:nvPr/>
        </p:nvSpPr>
        <p:spPr>
          <a:xfrm>
            <a:off x="533400" y="3266967"/>
            <a:ext cx="107950" cy="107950"/>
          </a:xfrm>
          <a:prstGeom prst="rect">
            <a:avLst/>
          </a:prstGeom>
          <a:solidFill>
            <a:srgbClr val="FDFCF8"/>
          </a:solidFill>
          <a:ln w="7620">
            <a:solidFill>
              <a:srgbClr val="2A2A26"/>
            </a:solidFill>
          </a:ln>
          <a:effectLst/>
        </p:spPr>
        <p:txBody>
          <a:bodyPr rtlCol="0" anchor="ctr"/>
          <a:lstStyle/>
          <a:p/>
        </p:txBody>
      </p:sp>
      <p:sp>
        <p:nvSpPr>
          <p:cNvPr id="27" name="TextBox 26"/>
          <p:cNvSpPr txBox="1"/>
          <p:nvPr/>
        </p:nvSpPr>
        <p:spPr>
          <a:xfrm>
            <a:off x="711200" y="3260617"/>
            <a:ext cx="2764028" cy="155585"/>
          </a:xfrm>
          <a:prstGeom prst="rect">
            <a:avLst/>
          </a:prstGeom>
          <a:noFill/>
        </p:spPr>
        <p:txBody>
          <a:bodyPr wrap="square" lIns="0" rIns="0" tIns="0" bIns="0" anchor="t">
            <a:spAutoFit/>
          </a:bodyPr>
          <a:lstStyle/>
          <a:p>
            <a:pPr algn="l"/>
            <a:r>
              <a:rPr sz="875" b="0" i="0">
                <a:solidFill>
                  <a:srgbClr val="2A2A26"/>
                </a:solidFill>
                <a:latin typeface="Montserrat"/>
              </a:rPr>
              <a:t>Preparar fichas ou materiais</a:t>
            </a:r>
          </a:p>
        </p:txBody>
      </p:sp>
      <p:sp>
        <p:nvSpPr>
          <p:cNvPr id="30" name="TextBox 29"/>
          <p:cNvSpPr txBox="1"/>
          <p:nvPr/>
        </p:nvSpPr>
        <p:spPr>
          <a:xfrm>
            <a:off x="508000" y="1461770"/>
            <a:ext cx="3018028" cy="266700"/>
          </a:xfrm>
          <a:prstGeom prst="rect">
            <a:avLst/>
          </a:prstGeom>
          <a:noFill/>
        </p:spPr>
        <p:txBody>
          <a:bodyPr wrap="square" lIns="0" rIns="0" tIns="0" bIns="0" anchor="ctr">
            <a:spAutoFit/>
          </a:bodyPr>
          <a:lstStyle/>
          <a:p>
            <a:pPr algn="l"/>
            <a:r>
              <a:rPr sz="840" b="1" i="0">
                <a:solidFill>
                  <a:srgbClr val="FFFFFF"/>
                </a:solidFill>
                <a:latin typeface="Montserrat"/>
              </a:rPr>
              <a:t>ANTES DA SEMANA COMEÇAR</a:t>
            </a:r>
          </a:p>
        </p:txBody>
      </p:sp>
      <p:sp>
        <p:nvSpPr>
          <p:cNvPr id="31" name="Rectangle 30"/>
          <p:cNvSpPr/>
          <p:nvPr/>
        </p:nvSpPr>
        <p:spPr>
          <a:xfrm>
            <a:off x="4059428" y="1931441"/>
            <a:ext cx="107950" cy="107950"/>
          </a:xfrm>
          <a:prstGeom prst="rect">
            <a:avLst/>
          </a:prstGeom>
          <a:solidFill>
            <a:srgbClr val="FDFCF8"/>
          </a:solidFill>
          <a:ln w="7620">
            <a:solidFill>
              <a:srgbClr val="2A2A26"/>
            </a:solidFill>
          </a:ln>
          <a:effectLst/>
        </p:spPr>
        <p:txBody>
          <a:bodyPr rtlCol="0" anchor="ctr"/>
          <a:lstStyle/>
          <a:p/>
        </p:txBody>
      </p:sp>
      <p:sp>
        <p:nvSpPr>
          <p:cNvPr id="32" name="TextBox 31"/>
          <p:cNvSpPr txBox="1"/>
          <p:nvPr/>
        </p:nvSpPr>
        <p:spPr>
          <a:xfrm>
            <a:off x="4237228" y="1925091"/>
            <a:ext cx="2764028" cy="155585"/>
          </a:xfrm>
          <a:prstGeom prst="rect">
            <a:avLst/>
          </a:prstGeom>
          <a:noFill/>
        </p:spPr>
        <p:txBody>
          <a:bodyPr wrap="square" lIns="0" rIns="0" tIns="0" bIns="0" anchor="t">
            <a:spAutoFit/>
          </a:bodyPr>
          <a:lstStyle/>
          <a:p>
            <a:pPr algn="l"/>
            <a:r>
              <a:rPr sz="875" b="0" i="0">
                <a:solidFill>
                  <a:srgbClr val="2A2A26"/>
                </a:solidFill>
                <a:latin typeface="Montserrat"/>
              </a:rPr>
              <a:t>Atualizar registro da evolução</a:t>
            </a:r>
          </a:p>
        </p:txBody>
      </p:sp>
      <p:sp>
        <p:nvSpPr>
          <p:cNvPr id="33" name="Rectangle 32"/>
          <p:cNvSpPr/>
          <p:nvPr/>
        </p:nvSpPr>
        <p:spPr>
          <a:xfrm>
            <a:off x="4059428" y="2376616"/>
            <a:ext cx="107950" cy="107950"/>
          </a:xfrm>
          <a:prstGeom prst="rect">
            <a:avLst/>
          </a:prstGeom>
          <a:solidFill>
            <a:srgbClr val="FDFCF8"/>
          </a:solidFill>
          <a:ln w="7620">
            <a:solidFill>
              <a:srgbClr val="2A2A26"/>
            </a:solidFill>
          </a:ln>
          <a:effectLst/>
        </p:spPr>
        <p:txBody>
          <a:bodyPr rtlCol="0" anchor="ctr"/>
          <a:lstStyle/>
          <a:p/>
        </p:txBody>
      </p:sp>
      <p:sp>
        <p:nvSpPr>
          <p:cNvPr id="34" name="TextBox 33"/>
          <p:cNvSpPr txBox="1"/>
          <p:nvPr/>
        </p:nvSpPr>
        <p:spPr>
          <a:xfrm>
            <a:off x="4237228" y="2370266"/>
            <a:ext cx="2764028" cy="155585"/>
          </a:xfrm>
          <a:prstGeom prst="rect">
            <a:avLst/>
          </a:prstGeom>
          <a:noFill/>
        </p:spPr>
        <p:txBody>
          <a:bodyPr wrap="square" lIns="0" rIns="0" tIns="0" bIns="0" anchor="t">
            <a:spAutoFit/>
          </a:bodyPr>
          <a:lstStyle/>
          <a:p>
            <a:pPr algn="l"/>
            <a:r>
              <a:rPr sz="875" b="0" i="0">
                <a:solidFill>
                  <a:srgbClr val="2A2A26"/>
                </a:solidFill>
                <a:latin typeface="Montserrat"/>
              </a:rPr>
              <a:t>Anotar retorno necessário</a:t>
            </a:r>
          </a:p>
        </p:txBody>
      </p:sp>
      <p:sp>
        <p:nvSpPr>
          <p:cNvPr id="35" name="Rectangle 34"/>
          <p:cNvSpPr/>
          <p:nvPr/>
        </p:nvSpPr>
        <p:spPr>
          <a:xfrm>
            <a:off x="4059428" y="2821792"/>
            <a:ext cx="107950" cy="107950"/>
          </a:xfrm>
          <a:prstGeom prst="rect">
            <a:avLst/>
          </a:prstGeom>
          <a:solidFill>
            <a:srgbClr val="FDFCF8"/>
          </a:solidFill>
          <a:ln w="7620">
            <a:solidFill>
              <a:srgbClr val="2A2A26"/>
            </a:solidFill>
          </a:ln>
          <a:effectLst/>
        </p:spPr>
        <p:txBody>
          <a:bodyPr rtlCol="0" anchor="ctr"/>
          <a:lstStyle/>
          <a:p/>
        </p:txBody>
      </p:sp>
      <p:sp>
        <p:nvSpPr>
          <p:cNvPr id="36" name="TextBox 35"/>
          <p:cNvSpPr txBox="1"/>
          <p:nvPr/>
        </p:nvSpPr>
        <p:spPr>
          <a:xfrm>
            <a:off x="4237228" y="2815442"/>
            <a:ext cx="2764028" cy="155585"/>
          </a:xfrm>
          <a:prstGeom prst="rect">
            <a:avLst/>
          </a:prstGeom>
          <a:noFill/>
        </p:spPr>
        <p:txBody>
          <a:bodyPr wrap="square" lIns="0" rIns="0" tIns="0" bIns="0" anchor="t">
            <a:spAutoFit/>
          </a:bodyPr>
          <a:lstStyle/>
          <a:p>
            <a:pPr algn="l"/>
            <a:r>
              <a:rPr sz="875" b="0" i="0">
                <a:solidFill>
                  <a:srgbClr val="2A2A26"/>
                </a:solidFill>
                <a:latin typeface="Montserrat"/>
              </a:rPr>
              <a:t>Registrar observações importantes</a:t>
            </a:r>
          </a:p>
        </p:txBody>
      </p:sp>
      <p:sp>
        <p:nvSpPr>
          <p:cNvPr id="37" name="Rectangle 36"/>
          <p:cNvSpPr/>
          <p:nvPr/>
        </p:nvSpPr>
        <p:spPr>
          <a:xfrm>
            <a:off x="4059428" y="3266967"/>
            <a:ext cx="107950" cy="107950"/>
          </a:xfrm>
          <a:prstGeom prst="rect">
            <a:avLst/>
          </a:prstGeom>
          <a:solidFill>
            <a:srgbClr val="FDFCF8"/>
          </a:solidFill>
          <a:ln w="7620">
            <a:solidFill>
              <a:srgbClr val="2A2A26"/>
            </a:solidFill>
          </a:ln>
          <a:effectLst/>
        </p:spPr>
        <p:txBody>
          <a:bodyPr rtlCol="0" anchor="ctr"/>
          <a:lstStyle/>
          <a:p/>
        </p:txBody>
      </p:sp>
      <p:sp>
        <p:nvSpPr>
          <p:cNvPr id="38" name="TextBox 37"/>
          <p:cNvSpPr txBox="1"/>
          <p:nvPr/>
        </p:nvSpPr>
        <p:spPr>
          <a:xfrm>
            <a:off x="4237228" y="3260617"/>
            <a:ext cx="2764028" cy="155585"/>
          </a:xfrm>
          <a:prstGeom prst="rect">
            <a:avLst/>
          </a:prstGeom>
          <a:noFill/>
        </p:spPr>
        <p:txBody>
          <a:bodyPr wrap="square" lIns="0" rIns="0" tIns="0" bIns="0" anchor="t">
            <a:spAutoFit/>
          </a:bodyPr>
          <a:lstStyle/>
          <a:p>
            <a:pPr algn="l"/>
            <a:r>
              <a:rPr sz="875" b="0" i="0">
                <a:solidFill>
                  <a:srgbClr val="2A2A26"/>
                </a:solidFill>
                <a:latin typeface="Montserrat"/>
              </a:rPr>
              <a:t>Higienizar materiais e organizar o espaço</a:t>
            </a:r>
          </a:p>
        </p:txBody>
      </p:sp>
      <p:sp>
        <p:nvSpPr>
          <p:cNvPr id="41" name="TextBox 40"/>
          <p:cNvSpPr txBox="1"/>
          <p:nvPr/>
        </p:nvSpPr>
        <p:spPr>
          <a:xfrm>
            <a:off x="4034028" y="1461770"/>
            <a:ext cx="3018028" cy="266700"/>
          </a:xfrm>
          <a:prstGeom prst="rect">
            <a:avLst/>
          </a:prstGeom>
          <a:noFill/>
        </p:spPr>
        <p:txBody>
          <a:bodyPr wrap="square" lIns="0" rIns="0" tIns="0" bIns="0" anchor="ctr">
            <a:spAutoFit/>
          </a:bodyPr>
          <a:lstStyle/>
          <a:p>
            <a:pPr algn="l"/>
            <a:r>
              <a:rPr sz="840" b="1" i="0">
                <a:solidFill>
                  <a:srgbClr val="FFFFFF"/>
                </a:solidFill>
                <a:latin typeface="Montserrat"/>
              </a:rPr>
              <a:t>APÓS CADA ATENDIMENTO</a:t>
            </a:r>
          </a:p>
        </p:txBody>
      </p:sp>
      <p:sp>
        <p:nvSpPr>
          <p:cNvPr id="42" name="Rectangle 41"/>
          <p:cNvSpPr/>
          <p:nvPr/>
        </p:nvSpPr>
        <p:spPr>
          <a:xfrm>
            <a:off x="533400" y="4586395"/>
            <a:ext cx="107950" cy="107950"/>
          </a:xfrm>
          <a:prstGeom prst="rect">
            <a:avLst/>
          </a:prstGeom>
          <a:solidFill>
            <a:srgbClr val="FDFCF8"/>
          </a:solidFill>
          <a:ln w="7620">
            <a:solidFill>
              <a:srgbClr val="2A2A26"/>
            </a:solidFill>
          </a:ln>
          <a:effectLst/>
        </p:spPr>
        <p:txBody>
          <a:bodyPr rtlCol="0" anchor="ctr"/>
          <a:lstStyle/>
          <a:p/>
        </p:txBody>
      </p:sp>
      <p:sp>
        <p:nvSpPr>
          <p:cNvPr id="43" name="TextBox 42"/>
          <p:cNvSpPr txBox="1"/>
          <p:nvPr/>
        </p:nvSpPr>
        <p:spPr>
          <a:xfrm>
            <a:off x="711200" y="4580045"/>
            <a:ext cx="2764028" cy="155585"/>
          </a:xfrm>
          <a:prstGeom prst="rect">
            <a:avLst/>
          </a:prstGeom>
          <a:noFill/>
        </p:spPr>
        <p:txBody>
          <a:bodyPr wrap="square" lIns="0" rIns="0" tIns="0" bIns="0" anchor="t">
            <a:spAutoFit/>
          </a:bodyPr>
          <a:lstStyle/>
          <a:p>
            <a:pPr algn="l"/>
            <a:r>
              <a:rPr sz="875" b="0" i="0">
                <a:solidFill>
                  <a:srgbClr val="2A2A26"/>
                </a:solidFill>
                <a:latin typeface="Montserrat"/>
              </a:rPr>
              <a:t>Conferir mensagens administrativas</a:t>
            </a:r>
          </a:p>
        </p:txBody>
      </p:sp>
      <p:sp>
        <p:nvSpPr>
          <p:cNvPr id="44" name="Rectangle 43"/>
          <p:cNvSpPr/>
          <p:nvPr/>
        </p:nvSpPr>
        <p:spPr>
          <a:xfrm>
            <a:off x="533400" y="5031570"/>
            <a:ext cx="107950" cy="107950"/>
          </a:xfrm>
          <a:prstGeom prst="rect">
            <a:avLst/>
          </a:prstGeom>
          <a:solidFill>
            <a:srgbClr val="FDFCF8"/>
          </a:solidFill>
          <a:ln w="7620">
            <a:solidFill>
              <a:srgbClr val="2A2A26"/>
            </a:solidFill>
          </a:ln>
          <a:effectLst/>
        </p:spPr>
        <p:txBody>
          <a:bodyPr rtlCol="0" anchor="ctr"/>
          <a:lstStyle/>
          <a:p/>
        </p:txBody>
      </p:sp>
      <p:sp>
        <p:nvSpPr>
          <p:cNvPr id="45" name="TextBox 44"/>
          <p:cNvSpPr txBox="1"/>
          <p:nvPr/>
        </p:nvSpPr>
        <p:spPr>
          <a:xfrm>
            <a:off x="711200" y="5025220"/>
            <a:ext cx="2764028" cy="155585"/>
          </a:xfrm>
          <a:prstGeom prst="rect">
            <a:avLst/>
          </a:prstGeom>
          <a:noFill/>
        </p:spPr>
        <p:txBody>
          <a:bodyPr wrap="square" lIns="0" rIns="0" tIns="0" bIns="0" anchor="t">
            <a:spAutoFit/>
          </a:bodyPr>
          <a:lstStyle/>
          <a:p>
            <a:pPr algn="l"/>
            <a:r>
              <a:rPr sz="875" b="0" i="0">
                <a:solidFill>
                  <a:srgbClr val="2A2A26"/>
                </a:solidFill>
                <a:latin typeface="Montserrat"/>
              </a:rPr>
              <a:t>Fechar caixa ou anotar recebimentos</a:t>
            </a:r>
          </a:p>
        </p:txBody>
      </p:sp>
      <p:sp>
        <p:nvSpPr>
          <p:cNvPr id="46" name="Rectangle 45"/>
          <p:cNvSpPr/>
          <p:nvPr/>
        </p:nvSpPr>
        <p:spPr>
          <a:xfrm>
            <a:off x="533400" y="5476745"/>
            <a:ext cx="107950" cy="107950"/>
          </a:xfrm>
          <a:prstGeom prst="rect">
            <a:avLst/>
          </a:prstGeom>
          <a:solidFill>
            <a:srgbClr val="FDFCF8"/>
          </a:solidFill>
          <a:ln w="7620">
            <a:solidFill>
              <a:srgbClr val="2A2A26"/>
            </a:solidFill>
          </a:ln>
          <a:effectLst/>
        </p:spPr>
        <p:txBody>
          <a:bodyPr rtlCol="0" anchor="ctr"/>
          <a:lstStyle/>
          <a:p/>
        </p:txBody>
      </p:sp>
      <p:sp>
        <p:nvSpPr>
          <p:cNvPr id="47" name="TextBox 46"/>
          <p:cNvSpPr txBox="1"/>
          <p:nvPr/>
        </p:nvSpPr>
        <p:spPr>
          <a:xfrm>
            <a:off x="711200" y="5470395"/>
            <a:ext cx="2764028" cy="155585"/>
          </a:xfrm>
          <a:prstGeom prst="rect">
            <a:avLst/>
          </a:prstGeom>
          <a:noFill/>
        </p:spPr>
        <p:txBody>
          <a:bodyPr wrap="square" lIns="0" rIns="0" tIns="0" bIns="0" anchor="t">
            <a:spAutoFit/>
          </a:bodyPr>
          <a:lstStyle/>
          <a:p>
            <a:pPr algn="l"/>
            <a:r>
              <a:rPr sz="875" b="0" i="0">
                <a:solidFill>
                  <a:srgbClr val="2A2A26"/>
                </a:solidFill>
                <a:latin typeface="Montserrat"/>
              </a:rPr>
              <a:t>Confirmar agenda seguinte</a:t>
            </a:r>
          </a:p>
        </p:txBody>
      </p:sp>
      <p:sp>
        <p:nvSpPr>
          <p:cNvPr id="48" name="Rectangle 47"/>
          <p:cNvSpPr/>
          <p:nvPr/>
        </p:nvSpPr>
        <p:spPr>
          <a:xfrm>
            <a:off x="533400" y="5921921"/>
            <a:ext cx="107950" cy="107950"/>
          </a:xfrm>
          <a:prstGeom prst="rect">
            <a:avLst/>
          </a:prstGeom>
          <a:solidFill>
            <a:srgbClr val="FDFCF8"/>
          </a:solidFill>
          <a:ln w="7620">
            <a:solidFill>
              <a:srgbClr val="2A2A26"/>
            </a:solidFill>
          </a:ln>
          <a:effectLst/>
        </p:spPr>
        <p:txBody>
          <a:bodyPr rtlCol="0" anchor="ctr"/>
          <a:lstStyle/>
          <a:p/>
        </p:txBody>
      </p:sp>
      <p:sp>
        <p:nvSpPr>
          <p:cNvPr id="49" name="TextBox 48"/>
          <p:cNvSpPr txBox="1"/>
          <p:nvPr/>
        </p:nvSpPr>
        <p:spPr>
          <a:xfrm>
            <a:off x="711200" y="5915571"/>
            <a:ext cx="2764028" cy="155585"/>
          </a:xfrm>
          <a:prstGeom prst="rect">
            <a:avLst/>
          </a:prstGeom>
          <a:noFill/>
        </p:spPr>
        <p:txBody>
          <a:bodyPr wrap="square" lIns="0" rIns="0" tIns="0" bIns="0" anchor="t">
            <a:spAutoFit/>
          </a:bodyPr>
          <a:lstStyle/>
          <a:p>
            <a:pPr algn="l"/>
            <a:r>
              <a:rPr sz="875" b="0" i="0">
                <a:solidFill>
                  <a:srgbClr val="2A2A26"/>
                </a:solidFill>
                <a:latin typeface="Montserrat"/>
              </a:rPr>
              <a:t>Registrar pendências breves</a:t>
            </a:r>
          </a:p>
        </p:txBody>
      </p:sp>
      <p:sp>
        <p:nvSpPr>
          <p:cNvPr id="52" name="TextBox 51"/>
          <p:cNvSpPr txBox="1"/>
          <p:nvPr/>
        </p:nvSpPr>
        <p:spPr>
          <a:xfrm>
            <a:off x="508000" y="4116723"/>
            <a:ext cx="3018028" cy="266700"/>
          </a:xfrm>
          <a:prstGeom prst="rect">
            <a:avLst/>
          </a:prstGeom>
          <a:noFill/>
        </p:spPr>
        <p:txBody>
          <a:bodyPr wrap="square" lIns="0" rIns="0" tIns="0" bIns="0" anchor="ctr">
            <a:spAutoFit/>
          </a:bodyPr>
          <a:lstStyle/>
          <a:p>
            <a:pPr algn="l"/>
            <a:r>
              <a:rPr sz="840" b="1" i="0">
                <a:solidFill>
                  <a:srgbClr val="FFFFFF"/>
                </a:solidFill>
                <a:latin typeface="Montserrat"/>
              </a:rPr>
              <a:t>NO FIM DO DIA</a:t>
            </a:r>
          </a:p>
        </p:txBody>
      </p:sp>
      <p:sp>
        <p:nvSpPr>
          <p:cNvPr id="53" name="Rectangle 52"/>
          <p:cNvSpPr/>
          <p:nvPr/>
        </p:nvSpPr>
        <p:spPr>
          <a:xfrm>
            <a:off x="4059428" y="4586395"/>
            <a:ext cx="107950" cy="107950"/>
          </a:xfrm>
          <a:prstGeom prst="rect">
            <a:avLst/>
          </a:prstGeom>
          <a:solidFill>
            <a:srgbClr val="FDFCF8"/>
          </a:solidFill>
          <a:ln w="7620">
            <a:solidFill>
              <a:srgbClr val="2A2A26"/>
            </a:solidFill>
          </a:ln>
          <a:effectLst/>
        </p:spPr>
        <p:txBody>
          <a:bodyPr rtlCol="0" anchor="ctr"/>
          <a:lstStyle/>
          <a:p/>
        </p:txBody>
      </p:sp>
      <p:sp>
        <p:nvSpPr>
          <p:cNvPr id="54" name="TextBox 53"/>
          <p:cNvSpPr txBox="1"/>
          <p:nvPr/>
        </p:nvSpPr>
        <p:spPr>
          <a:xfrm>
            <a:off x="4237228" y="4580045"/>
            <a:ext cx="2764028" cy="155585"/>
          </a:xfrm>
          <a:prstGeom prst="rect">
            <a:avLst/>
          </a:prstGeom>
          <a:noFill/>
        </p:spPr>
        <p:txBody>
          <a:bodyPr wrap="square" lIns="0" rIns="0" tIns="0" bIns="0" anchor="t">
            <a:spAutoFit/>
          </a:bodyPr>
          <a:lstStyle/>
          <a:p>
            <a:pPr algn="l"/>
            <a:r>
              <a:rPr sz="875" b="0" i="0">
                <a:solidFill>
                  <a:srgbClr val="2A2A26"/>
                </a:solidFill>
                <a:latin typeface="Montserrat"/>
              </a:rPr>
              <a:t>Revisar faltas e reagendamentos</a:t>
            </a:r>
          </a:p>
        </p:txBody>
      </p:sp>
      <p:sp>
        <p:nvSpPr>
          <p:cNvPr id="55" name="Rectangle 54"/>
          <p:cNvSpPr/>
          <p:nvPr/>
        </p:nvSpPr>
        <p:spPr>
          <a:xfrm>
            <a:off x="4059428" y="5031570"/>
            <a:ext cx="107950" cy="107950"/>
          </a:xfrm>
          <a:prstGeom prst="rect">
            <a:avLst/>
          </a:prstGeom>
          <a:solidFill>
            <a:srgbClr val="FDFCF8"/>
          </a:solidFill>
          <a:ln w="7620">
            <a:solidFill>
              <a:srgbClr val="2A2A26"/>
            </a:solidFill>
          </a:ln>
          <a:effectLst/>
        </p:spPr>
        <p:txBody>
          <a:bodyPr rtlCol="0" anchor="ctr"/>
          <a:lstStyle/>
          <a:p/>
        </p:txBody>
      </p:sp>
      <p:sp>
        <p:nvSpPr>
          <p:cNvPr id="56" name="TextBox 55"/>
          <p:cNvSpPr txBox="1"/>
          <p:nvPr/>
        </p:nvSpPr>
        <p:spPr>
          <a:xfrm>
            <a:off x="4237228" y="5025220"/>
            <a:ext cx="2764028" cy="155585"/>
          </a:xfrm>
          <a:prstGeom prst="rect">
            <a:avLst/>
          </a:prstGeom>
          <a:noFill/>
        </p:spPr>
        <p:txBody>
          <a:bodyPr wrap="square" lIns="0" rIns="0" tIns="0" bIns="0" anchor="t">
            <a:spAutoFit/>
          </a:bodyPr>
          <a:lstStyle/>
          <a:p>
            <a:pPr algn="l"/>
            <a:r>
              <a:rPr sz="875" b="0" i="0">
                <a:solidFill>
                  <a:srgbClr val="2A2A26"/>
                </a:solidFill>
                <a:latin typeface="Montserrat"/>
              </a:rPr>
              <a:t>Verificar clientes sem retorno</a:t>
            </a:r>
          </a:p>
        </p:txBody>
      </p:sp>
      <p:sp>
        <p:nvSpPr>
          <p:cNvPr id="57" name="Rectangle 56"/>
          <p:cNvSpPr/>
          <p:nvPr/>
        </p:nvSpPr>
        <p:spPr>
          <a:xfrm>
            <a:off x="4059428" y="5476745"/>
            <a:ext cx="107950" cy="107950"/>
          </a:xfrm>
          <a:prstGeom prst="rect">
            <a:avLst/>
          </a:prstGeom>
          <a:solidFill>
            <a:srgbClr val="FDFCF8"/>
          </a:solidFill>
          <a:ln w="7620">
            <a:solidFill>
              <a:srgbClr val="2A2A26"/>
            </a:solidFill>
          </a:ln>
          <a:effectLst/>
        </p:spPr>
        <p:txBody>
          <a:bodyPr rtlCol="0" anchor="ctr"/>
          <a:lstStyle/>
          <a:p/>
        </p:txBody>
      </p:sp>
      <p:sp>
        <p:nvSpPr>
          <p:cNvPr id="58" name="TextBox 57"/>
          <p:cNvSpPr txBox="1"/>
          <p:nvPr/>
        </p:nvSpPr>
        <p:spPr>
          <a:xfrm>
            <a:off x="4237228" y="5470395"/>
            <a:ext cx="2764028" cy="155585"/>
          </a:xfrm>
          <a:prstGeom prst="rect">
            <a:avLst/>
          </a:prstGeom>
          <a:noFill/>
        </p:spPr>
        <p:txBody>
          <a:bodyPr wrap="square" lIns="0" rIns="0" tIns="0" bIns="0" anchor="t">
            <a:spAutoFit/>
          </a:bodyPr>
          <a:lstStyle/>
          <a:p>
            <a:pPr algn="l"/>
            <a:r>
              <a:rPr sz="875" b="0" i="0">
                <a:solidFill>
                  <a:srgbClr val="2A2A26"/>
                </a:solidFill>
                <a:latin typeface="Montserrat"/>
              </a:rPr>
              <a:t>Planejar prioridades da próxima semana</a:t>
            </a:r>
          </a:p>
        </p:txBody>
      </p:sp>
      <p:sp>
        <p:nvSpPr>
          <p:cNvPr id="59" name="Rectangle 58"/>
          <p:cNvSpPr/>
          <p:nvPr/>
        </p:nvSpPr>
        <p:spPr>
          <a:xfrm>
            <a:off x="4059428" y="5921921"/>
            <a:ext cx="107950" cy="107950"/>
          </a:xfrm>
          <a:prstGeom prst="rect">
            <a:avLst/>
          </a:prstGeom>
          <a:solidFill>
            <a:srgbClr val="FDFCF8"/>
          </a:solidFill>
          <a:ln w="7620">
            <a:solidFill>
              <a:srgbClr val="2A2A26"/>
            </a:solidFill>
          </a:ln>
          <a:effectLst/>
        </p:spPr>
        <p:txBody>
          <a:bodyPr rtlCol="0" anchor="ctr"/>
          <a:lstStyle/>
          <a:p/>
        </p:txBody>
      </p:sp>
      <p:sp>
        <p:nvSpPr>
          <p:cNvPr id="60" name="TextBox 59"/>
          <p:cNvSpPr txBox="1"/>
          <p:nvPr/>
        </p:nvSpPr>
        <p:spPr>
          <a:xfrm>
            <a:off x="4237228" y="5915571"/>
            <a:ext cx="2764028" cy="155585"/>
          </a:xfrm>
          <a:prstGeom prst="rect">
            <a:avLst/>
          </a:prstGeom>
          <a:noFill/>
        </p:spPr>
        <p:txBody>
          <a:bodyPr wrap="square" lIns="0" rIns="0" tIns="0" bIns="0" anchor="t">
            <a:spAutoFit/>
          </a:bodyPr>
          <a:lstStyle/>
          <a:p>
            <a:pPr algn="l"/>
            <a:r>
              <a:rPr sz="875" b="0" i="0">
                <a:solidFill>
                  <a:srgbClr val="2A2A26"/>
                </a:solidFill>
                <a:latin typeface="Montserrat"/>
              </a:rPr>
              <a:t>Realizar backup seguro</a:t>
            </a:r>
          </a:p>
        </p:txBody>
      </p:sp>
      <p:sp>
        <p:nvSpPr>
          <p:cNvPr id="63" name="TextBox 62"/>
          <p:cNvSpPr txBox="1"/>
          <p:nvPr/>
        </p:nvSpPr>
        <p:spPr>
          <a:xfrm>
            <a:off x="4034028" y="4116723"/>
            <a:ext cx="3018028" cy="266700"/>
          </a:xfrm>
          <a:prstGeom prst="rect">
            <a:avLst/>
          </a:prstGeom>
          <a:noFill/>
        </p:spPr>
        <p:txBody>
          <a:bodyPr wrap="square" lIns="0" rIns="0" tIns="0" bIns="0" anchor="ctr">
            <a:spAutoFit/>
          </a:bodyPr>
          <a:lstStyle/>
          <a:p>
            <a:pPr algn="l"/>
            <a:r>
              <a:rPr sz="840" b="1" i="0">
                <a:solidFill>
                  <a:srgbClr val="FFFFFF"/>
                </a:solidFill>
                <a:latin typeface="Montserrat"/>
              </a:rPr>
              <a:t>NO FIM DA SEMANA</a:t>
            </a:r>
          </a:p>
        </p:txBody>
      </p:sp>
      <p:sp>
        <p:nvSpPr>
          <p:cNvPr id="64" name="TextBox 63"/>
          <p:cNvSpPr txBox="1"/>
          <p:nvPr/>
        </p:nvSpPr>
        <p:spPr>
          <a:xfrm>
            <a:off x="533400" y="7045631"/>
            <a:ext cx="3056128" cy="179521"/>
          </a:xfrm>
          <a:prstGeom prst="rect">
            <a:avLst/>
          </a:prstGeom>
          <a:noFill/>
        </p:spPr>
        <p:txBody>
          <a:bodyPr wrap="square" lIns="0" rIns="0" tIns="0" bIns="0" anchor="t">
            <a:spAutoFit/>
          </a:bodyPr>
          <a:lstStyle/>
          <a:p>
            <a:pPr algn="l"/>
            <a:r>
              <a:rPr sz="1009" b="0" i="0">
                <a:solidFill>
                  <a:srgbClr val="2A2A26"/>
                </a:solidFill>
                <a:latin typeface="Montserrat"/>
              </a:rPr>
              <a:t>Dia da revisão semanal:</a:t>
            </a:r>
          </a:p>
        </p:txBody>
      </p:sp>
      <p:cxnSp>
        <p:nvCxnSpPr>
          <p:cNvPr id="65" name="Connector 64"/>
          <p:cNvCxnSpPr/>
          <p:nvPr/>
        </p:nvCxnSpPr>
        <p:spPr>
          <a:xfrm>
            <a:off x="2113373" y="7199507"/>
            <a:ext cx="1476155" cy="0"/>
          </a:xfrm>
          <a:prstGeom prst="line">
            <a:avLst/>
          </a:prstGeom>
          <a:ln w="7620">
            <a:solidFill>
              <a:srgbClr val="B4B2A8"/>
            </a:solidFill>
          </a:ln>
        </p:spPr>
      </p:cxnSp>
      <p:sp>
        <p:nvSpPr>
          <p:cNvPr id="66" name="TextBox 65"/>
          <p:cNvSpPr txBox="1"/>
          <p:nvPr/>
        </p:nvSpPr>
        <p:spPr>
          <a:xfrm>
            <a:off x="3970528" y="7045631"/>
            <a:ext cx="3056128" cy="179521"/>
          </a:xfrm>
          <a:prstGeom prst="rect">
            <a:avLst/>
          </a:prstGeom>
          <a:noFill/>
        </p:spPr>
        <p:txBody>
          <a:bodyPr wrap="square" lIns="0" rIns="0" tIns="0" bIns="0" anchor="t">
            <a:spAutoFit/>
          </a:bodyPr>
          <a:lstStyle/>
          <a:p>
            <a:pPr algn="l"/>
            <a:r>
              <a:rPr sz="1009" b="0" i="0">
                <a:solidFill>
                  <a:srgbClr val="2A2A26"/>
                </a:solidFill>
                <a:latin typeface="Montserrat"/>
              </a:rPr>
              <a:t>Horário reservado:</a:t>
            </a:r>
          </a:p>
        </p:txBody>
      </p:sp>
      <p:cxnSp>
        <p:nvCxnSpPr>
          <p:cNvPr id="67" name="Connector 66"/>
          <p:cNvCxnSpPr/>
          <p:nvPr/>
        </p:nvCxnSpPr>
        <p:spPr>
          <a:xfrm>
            <a:off x="5209791" y="7199507"/>
            <a:ext cx="1816865" cy="0"/>
          </a:xfrm>
          <a:prstGeom prst="line">
            <a:avLst/>
          </a:prstGeom>
          <a:ln w="7620">
            <a:solidFill>
              <a:srgbClr val="B4B2A8"/>
            </a:solidFill>
          </a:ln>
        </p:spPr>
      </p:cxnSp>
      <p:cxnSp>
        <p:nvCxnSpPr>
          <p:cNvPr id="69" name="Connector 68"/>
          <p:cNvCxnSpPr/>
          <p:nvPr/>
        </p:nvCxnSpPr>
        <p:spPr>
          <a:xfrm>
            <a:off x="533400" y="8507025"/>
            <a:ext cx="6493256" cy="0"/>
          </a:xfrm>
          <a:prstGeom prst="line">
            <a:avLst/>
          </a:prstGeom>
          <a:ln w="7620">
            <a:solidFill>
              <a:srgbClr val="B4B2A8"/>
            </a:solidFill>
          </a:ln>
        </p:spPr>
      </p:cxnSp>
      <p:cxnSp>
        <p:nvCxnSpPr>
          <p:cNvPr id="70" name="Connector 69"/>
          <p:cNvCxnSpPr/>
          <p:nvPr/>
        </p:nvCxnSpPr>
        <p:spPr>
          <a:xfrm>
            <a:off x="533400" y="8832345"/>
            <a:ext cx="6493256" cy="0"/>
          </a:xfrm>
          <a:prstGeom prst="line">
            <a:avLst/>
          </a:prstGeom>
          <a:ln w="7620">
            <a:solidFill>
              <a:srgbClr val="B4B2A8"/>
            </a:solidFill>
          </a:ln>
        </p:spPr>
      </p:cxnSp>
      <p:cxnSp>
        <p:nvCxnSpPr>
          <p:cNvPr id="71" name="Connector 70"/>
          <p:cNvCxnSpPr/>
          <p:nvPr/>
        </p:nvCxnSpPr>
        <p:spPr>
          <a:xfrm>
            <a:off x="533400" y="9157666"/>
            <a:ext cx="6493256" cy="0"/>
          </a:xfrm>
          <a:prstGeom prst="line">
            <a:avLst/>
          </a:prstGeom>
          <a:ln w="7620">
            <a:solidFill>
              <a:srgbClr val="B4B2A8"/>
            </a:solidFill>
          </a:ln>
        </p:spPr>
      </p:cxnSp>
      <p:cxnSp>
        <p:nvCxnSpPr>
          <p:cNvPr id="72" name="Connector 71"/>
          <p:cNvCxnSpPr/>
          <p:nvPr/>
        </p:nvCxnSpPr>
        <p:spPr>
          <a:xfrm>
            <a:off x="533400" y="9482986"/>
            <a:ext cx="6493256" cy="0"/>
          </a:xfrm>
          <a:prstGeom prst="line">
            <a:avLst/>
          </a:prstGeom>
          <a:ln w="7620">
            <a:solidFill>
              <a:srgbClr val="B4B2A8"/>
            </a:solidFill>
          </a:ln>
        </p:spPr>
      </p:cxnSp>
      <p:cxnSp>
        <p:nvCxnSpPr>
          <p:cNvPr id="73" name="Connector 72"/>
          <p:cNvCxnSpPr/>
          <p:nvPr/>
        </p:nvCxnSpPr>
        <p:spPr>
          <a:xfrm>
            <a:off x="533400" y="9808307"/>
            <a:ext cx="6493256" cy="0"/>
          </a:xfrm>
          <a:prstGeom prst="line">
            <a:avLst/>
          </a:prstGeom>
          <a:ln w="7620">
            <a:solidFill>
              <a:srgbClr val="B4B2A8"/>
            </a:solidFill>
          </a:ln>
        </p:spPr>
      </p:cxnSp>
      <p:sp>
        <p:nvSpPr>
          <p:cNvPr id="76" name="TextBox 75"/>
          <p:cNvSpPr txBox="1"/>
          <p:nvPr/>
        </p:nvSpPr>
        <p:spPr>
          <a:xfrm>
            <a:off x="508000" y="7781883"/>
            <a:ext cx="6544056" cy="266700"/>
          </a:xfrm>
          <a:prstGeom prst="rect">
            <a:avLst/>
          </a:prstGeom>
          <a:noFill/>
        </p:spPr>
        <p:txBody>
          <a:bodyPr wrap="square" lIns="0" rIns="0" tIns="0" bIns="0" anchor="ctr">
            <a:spAutoFit/>
          </a:bodyPr>
          <a:lstStyle/>
          <a:p>
            <a:pPr algn="l"/>
            <a:r>
              <a:rPr sz="840" b="1" i="0">
                <a:solidFill>
                  <a:srgbClr val="FFFFFF"/>
                </a:solidFill>
                <a:latin typeface="Montserrat"/>
              </a:rPr>
              <a:t>TRÊS PRIORIDADES DA PRÓXIMA SEMANA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5EE"/>
        </a:solidFill>
        <a:effectLst/>
      </p:bgPr>
    </p:bg>
    <p:spTree>
      <p:nvGrpSpPr>
        <p:cNvPr id="1" name=""/>
        <p:cNvGrpSpPr/>
        <p:nvPr/>
      </p:nvGrpSpPr>
      <p:grpSpPr/>
      <p:sp>
        <p:nvSpPr>
          <p:cNvPr id="68" name="Rounded Rectangle 67"/>
          <p:cNvSpPr/>
          <p:nvPr/>
        </p:nvSpPr>
        <p:spPr>
          <a:xfrm>
            <a:off x="381000" y="7291717"/>
            <a:ext cx="6798056" cy="2725389"/>
          </a:xfrm>
          <a:prstGeom prst="roundRect">
            <a:avLst>
              <a:gd name="adj" fmla="val 3727"/>
            </a:avLst>
          </a:prstGeom>
          <a:solidFill>
            <a:srgbClr val="FDFCF8"/>
          </a:solidFill>
          <a:ln w="10160">
            <a:solidFill>
              <a:srgbClr val="D7D4C9"/>
            </a:solidFill>
          </a:ln>
          <a:effectLst/>
        </p:spPr>
        <p:txBody>
          <a:bodyPr rtlCol="0" anchor="ctr"/>
          <a:lstStyle/>
          <a:p/>
        </p:txBody>
      </p:sp>
      <p:sp>
        <p:nvSpPr>
          <p:cNvPr id="69" name="Round Same Side Corner Rectangle 68"/>
          <p:cNvSpPr/>
          <p:nvPr/>
        </p:nvSpPr>
        <p:spPr>
          <a:xfrm>
            <a:off x="381000" y="7291717"/>
            <a:ext cx="6798056" cy="266700"/>
          </a:xfrm>
          <a:prstGeom prst="round2SameRect">
            <a:avLst>
              <a:gd name="adj1" fmla="val 38095"/>
              <a:gd name="adj2" fmla="val 0"/>
            </a:avLst>
          </a:prstGeom>
          <a:solidFill>
            <a:srgbClr val="3F5C4A"/>
          </a:solidFill>
          <a:ln>
            <a:noFill/>
          </a:ln>
          <a:effectLst/>
        </p:spPr>
        <p:txBody>
          <a:bodyPr rtlCol="0" anchor="ctr"/>
          <a:lstStyle/>
          <a:p/>
        </p:txBody>
      </p:sp>
      <p:sp>
        <p:nvSpPr>
          <p:cNvPr id="58" name="Rounded Rectangle 57"/>
          <p:cNvSpPr/>
          <p:nvPr/>
        </p:nvSpPr>
        <p:spPr>
          <a:xfrm>
            <a:off x="381000" y="4912384"/>
            <a:ext cx="6798056" cy="2202448"/>
          </a:xfrm>
          <a:prstGeom prst="roundRect">
            <a:avLst>
              <a:gd name="adj" fmla="val 4613"/>
            </a:avLst>
          </a:prstGeom>
          <a:solidFill>
            <a:srgbClr val="FDFCF8"/>
          </a:solidFill>
          <a:ln w="10160">
            <a:solidFill>
              <a:srgbClr val="D7D4C9"/>
            </a:solidFill>
          </a:ln>
          <a:effectLst/>
        </p:spPr>
        <p:txBody>
          <a:bodyPr rtlCol="0" anchor="ctr"/>
          <a:lstStyle/>
          <a:p/>
        </p:txBody>
      </p:sp>
      <p:sp>
        <p:nvSpPr>
          <p:cNvPr id="59" name="Round Same Side Corner Rectangle 58"/>
          <p:cNvSpPr/>
          <p:nvPr/>
        </p:nvSpPr>
        <p:spPr>
          <a:xfrm>
            <a:off x="381000" y="4912384"/>
            <a:ext cx="6798056" cy="266700"/>
          </a:xfrm>
          <a:prstGeom prst="round2SameRect">
            <a:avLst>
              <a:gd name="adj1" fmla="val 38095"/>
              <a:gd name="adj2" fmla="val 0"/>
            </a:avLst>
          </a:prstGeom>
          <a:solidFill>
            <a:srgbClr val="3F5C4A"/>
          </a:solidFill>
          <a:ln>
            <a:noFill/>
          </a:ln>
          <a:effectLst/>
        </p:spPr>
        <p:txBody>
          <a:bodyPr rtlCol="0" anchor="ctr"/>
          <a:lstStyle/>
          <a:p/>
        </p:txBody>
      </p:sp>
      <p:sp>
        <p:nvSpPr>
          <p:cNvPr id="39" name="Rounded Rectangle 38"/>
          <p:cNvSpPr/>
          <p:nvPr/>
        </p:nvSpPr>
        <p:spPr>
          <a:xfrm>
            <a:off x="381000" y="1461770"/>
            <a:ext cx="6798056" cy="3273730"/>
          </a:xfrm>
          <a:prstGeom prst="roundRect">
            <a:avLst>
              <a:gd name="adj" fmla="val 3103"/>
            </a:avLst>
          </a:prstGeom>
          <a:solidFill>
            <a:srgbClr val="FDFCF8"/>
          </a:solidFill>
          <a:ln w="10160">
            <a:solidFill>
              <a:srgbClr val="D7D4C9"/>
            </a:solidFill>
          </a:ln>
          <a:effectLst/>
        </p:spPr>
        <p:txBody>
          <a:bodyPr rtlCol="0" anchor="ctr"/>
          <a:lstStyle/>
          <a:p/>
        </p:txBody>
      </p:sp>
      <p:sp>
        <p:nvSpPr>
          <p:cNvPr id="40" name="Round Same Side Corner Rectangle 39"/>
          <p:cNvSpPr/>
          <p:nvPr/>
        </p:nvSpPr>
        <p:spPr>
          <a:xfrm>
            <a:off x="381000" y="1461770"/>
            <a:ext cx="6798056" cy="266700"/>
          </a:xfrm>
          <a:prstGeom prst="round2SameRect">
            <a:avLst>
              <a:gd name="adj1" fmla="val 38095"/>
              <a:gd name="adj2" fmla="val 0"/>
            </a:avLst>
          </a:prstGeom>
          <a:solidFill>
            <a:srgbClr val="3F5C4A"/>
          </a:solidFill>
          <a:ln>
            <a:noFill/>
          </a:ln>
          <a:effectLst/>
        </p:spPr>
        <p:txBody>
          <a:bodyPr rtlCol="0" anchor="ctr"/>
          <a:lstStyle/>
          <a:p/>
        </p:txBody>
      </p:sp>
      <p:cxnSp>
        <p:nvCxnSpPr>
          <p:cNvPr id="2" name="Connector 1"/>
          <p:cNvCxnSpPr/>
          <p:nvPr/>
        </p:nvCxnSpPr>
        <p:spPr>
          <a:xfrm>
            <a:off x="38100" y="25400"/>
            <a:ext cx="660400" cy="660400"/>
          </a:xfrm>
          <a:prstGeom prst="line">
            <a:avLst/>
          </a:prstGeom>
          <a:ln w="13970">
            <a:solidFill>
              <a:srgbClr val="B08D4F"/>
            </a:solidFill>
          </a:ln>
        </p:spPr>
      </p:cxnSp>
      <p:sp>
        <p:nvSpPr>
          <p:cNvPr id="3" name="Oval 2"/>
          <p:cNvSpPr/>
          <p:nvPr/>
        </p:nvSpPr>
        <p:spPr>
          <a:xfrm>
            <a:off x="191770" y="77470"/>
            <a:ext cx="190500" cy="215900"/>
          </a:xfrm>
          <a:prstGeom prst="ellipse">
            <a:avLst/>
          </a:prstGeom>
          <a:solidFill>
            <a:srgbClr val="8FA388"/>
          </a:solidFill>
          <a:ln>
            <a:noFill/>
          </a:ln>
          <a:effectLst/>
        </p:spPr>
        <p:txBody>
          <a:bodyPr rtlCol="0" anchor="ctr"/>
          <a:lstStyle/>
          <a:p/>
        </p:txBody>
      </p:sp>
      <p:sp>
        <p:nvSpPr>
          <p:cNvPr id="4" name="Oval 3"/>
          <p:cNvSpPr/>
          <p:nvPr/>
        </p:nvSpPr>
        <p:spPr>
          <a:xfrm>
            <a:off x="330708" y="216408"/>
            <a:ext cx="203200" cy="228600"/>
          </a:xfrm>
          <a:prstGeom prst="ellipse">
            <a:avLst/>
          </a:prstGeom>
          <a:solidFill>
            <a:srgbClr val="8FA388"/>
          </a:solidFill>
          <a:ln>
            <a:noFill/>
          </a:ln>
          <a:effectLst/>
        </p:spPr>
        <p:txBody>
          <a:bodyPr rtlCol="0" anchor="ctr"/>
          <a:lstStyle/>
          <a:p/>
        </p:txBody>
      </p:sp>
      <p:sp>
        <p:nvSpPr>
          <p:cNvPr id="5" name="Oval 4"/>
          <p:cNvSpPr/>
          <p:nvPr/>
        </p:nvSpPr>
        <p:spPr>
          <a:xfrm>
            <a:off x="482345" y="368045"/>
            <a:ext cx="190500" cy="215900"/>
          </a:xfrm>
          <a:prstGeom prst="ellipse">
            <a:avLst/>
          </a:prstGeom>
          <a:solidFill>
            <a:srgbClr val="8FA388"/>
          </a:solidFill>
          <a:ln>
            <a:noFill/>
          </a:ln>
          <a:effectLst/>
        </p:spPr>
        <p:txBody>
          <a:bodyPr rtlCol="0" anchor="ctr"/>
          <a:lstStyle/>
          <a:p/>
        </p:txBody>
      </p:sp>
      <p:cxnSp>
        <p:nvCxnSpPr>
          <p:cNvPr id="6" name="Connector 5"/>
          <p:cNvCxnSpPr/>
          <p:nvPr/>
        </p:nvCxnSpPr>
        <p:spPr>
          <a:xfrm flipH="1">
            <a:off x="6861556" y="25400"/>
            <a:ext cx="660400" cy="660400"/>
          </a:xfrm>
          <a:prstGeom prst="line">
            <a:avLst/>
          </a:prstGeom>
          <a:ln w="13970">
            <a:solidFill>
              <a:srgbClr val="B08D4F"/>
            </a:solidFill>
          </a:ln>
        </p:spPr>
      </p:cxnSp>
      <p:sp>
        <p:nvSpPr>
          <p:cNvPr id="7" name="Oval 6"/>
          <p:cNvSpPr/>
          <p:nvPr/>
        </p:nvSpPr>
        <p:spPr>
          <a:xfrm>
            <a:off x="7177785" y="77470"/>
            <a:ext cx="190500" cy="215900"/>
          </a:xfrm>
          <a:prstGeom prst="ellipse">
            <a:avLst/>
          </a:prstGeom>
          <a:solidFill>
            <a:srgbClr val="8FA388"/>
          </a:solidFill>
          <a:ln>
            <a:noFill/>
          </a:ln>
          <a:effectLst/>
        </p:spPr>
        <p:txBody>
          <a:bodyPr rtlCol="0" anchor="ctr"/>
          <a:lstStyle/>
          <a:p/>
        </p:txBody>
      </p:sp>
      <p:sp>
        <p:nvSpPr>
          <p:cNvPr id="8" name="Oval 7"/>
          <p:cNvSpPr/>
          <p:nvPr/>
        </p:nvSpPr>
        <p:spPr>
          <a:xfrm>
            <a:off x="7026148" y="216408"/>
            <a:ext cx="203200" cy="228600"/>
          </a:xfrm>
          <a:prstGeom prst="ellipse">
            <a:avLst/>
          </a:prstGeom>
          <a:solidFill>
            <a:srgbClr val="8FA388"/>
          </a:solidFill>
          <a:ln>
            <a:noFill/>
          </a:ln>
          <a:effectLst/>
        </p:spPr>
        <p:txBody>
          <a:bodyPr rtlCol="0" anchor="ctr"/>
          <a:lstStyle/>
          <a:p/>
        </p:txBody>
      </p:sp>
      <p:sp>
        <p:nvSpPr>
          <p:cNvPr id="9" name="Oval 8"/>
          <p:cNvSpPr/>
          <p:nvPr/>
        </p:nvSpPr>
        <p:spPr>
          <a:xfrm>
            <a:off x="6887209" y="368045"/>
            <a:ext cx="190500" cy="215900"/>
          </a:xfrm>
          <a:prstGeom prst="ellipse">
            <a:avLst/>
          </a:prstGeom>
          <a:solidFill>
            <a:srgbClr val="8FA388"/>
          </a:solidFill>
          <a:ln>
            <a:noFill/>
          </a:ln>
          <a:effectLst/>
        </p:spPr>
        <p:txBody>
          <a:bodyPr rtlCol="0" anchor="ctr"/>
          <a:lstStyle/>
          <a:p/>
        </p:txBody>
      </p:sp>
      <p:sp>
        <p:nvSpPr>
          <p:cNvPr id="10" name="Oval 9"/>
          <p:cNvSpPr/>
          <p:nvPr/>
        </p:nvSpPr>
        <p:spPr>
          <a:xfrm>
            <a:off x="3500628" y="127000"/>
            <a:ext cx="114300" cy="215900"/>
          </a:xfrm>
          <a:prstGeom prst="ellipse">
            <a:avLst/>
          </a:prstGeom>
          <a:noFill/>
          <a:ln w="10160">
            <a:solidFill>
              <a:srgbClr val="B08D4F"/>
            </a:solidFill>
          </a:ln>
          <a:effectLst/>
        </p:spPr>
        <p:txBody>
          <a:bodyPr rtlCol="0" anchor="ctr"/>
          <a:lstStyle/>
          <a:p/>
        </p:txBody>
      </p:sp>
      <p:sp>
        <p:nvSpPr>
          <p:cNvPr id="11" name="Oval 10"/>
          <p:cNvSpPr/>
          <p:nvPr/>
        </p:nvSpPr>
        <p:spPr>
          <a:xfrm>
            <a:off x="3595878" y="127000"/>
            <a:ext cx="114300" cy="215900"/>
          </a:xfrm>
          <a:prstGeom prst="ellipse">
            <a:avLst/>
          </a:prstGeom>
          <a:noFill/>
          <a:ln w="10160">
            <a:solidFill>
              <a:srgbClr val="B08D4F"/>
            </a:solidFill>
          </a:ln>
          <a:effectLst/>
        </p:spPr>
        <p:txBody>
          <a:bodyPr rtlCol="0" anchor="ctr"/>
          <a:lstStyle/>
          <a:p/>
        </p:txBody>
      </p:sp>
      <p:sp>
        <p:nvSpPr>
          <p:cNvPr id="12" name="Oval 11"/>
          <p:cNvSpPr/>
          <p:nvPr/>
        </p:nvSpPr>
        <p:spPr>
          <a:xfrm>
            <a:off x="3691128" y="127000"/>
            <a:ext cx="114300" cy="215900"/>
          </a:xfrm>
          <a:prstGeom prst="ellipse">
            <a:avLst/>
          </a:prstGeom>
          <a:noFill/>
          <a:ln w="10160">
            <a:solidFill>
              <a:srgbClr val="B08D4F"/>
            </a:solidFill>
          </a:ln>
          <a:effectLst/>
        </p:spPr>
        <p:txBody>
          <a:bodyPr rtlCol="0" anchor="ctr"/>
          <a:lstStyle/>
          <a:p/>
        </p:txBody>
      </p:sp>
      <p:sp>
        <p:nvSpPr>
          <p:cNvPr id="13" name="Oval 12"/>
          <p:cNvSpPr/>
          <p:nvPr/>
        </p:nvSpPr>
        <p:spPr>
          <a:xfrm>
            <a:off x="3786378" y="127000"/>
            <a:ext cx="114300" cy="215900"/>
          </a:xfrm>
          <a:prstGeom prst="ellipse">
            <a:avLst/>
          </a:prstGeom>
          <a:noFill/>
          <a:ln w="10160">
            <a:solidFill>
              <a:srgbClr val="B08D4F"/>
            </a:solidFill>
          </a:ln>
          <a:effectLst/>
        </p:spPr>
        <p:txBody>
          <a:bodyPr rtlCol="0" anchor="ctr"/>
          <a:lstStyle/>
          <a:p/>
        </p:txBody>
      </p:sp>
      <p:sp>
        <p:nvSpPr>
          <p:cNvPr id="14" name="Oval 13"/>
          <p:cNvSpPr/>
          <p:nvPr/>
        </p:nvSpPr>
        <p:spPr>
          <a:xfrm>
            <a:off x="3881628" y="127000"/>
            <a:ext cx="114300" cy="215900"/>
          </a:xfrm>
          <a:prstGeom prst="ellipse">
            <a:avLst/>
          </a:prstGeom>
          <a:noFill/>
          <a:ln w="10160">
            <a:solidFill>
              <a:srgbClr val="B08D4F"/>
            </a:solidFill>
          </a:ln>
          <a:effectLst/>
        </p:spPr>
        <p:txBody>
          <a:bodyPr rtlCol="0" anchor="ctr"/>
          <a:lstStyle/>
          <a:p/>
        </p:txBody>
      </p:sp>
      <p:sp>
        <p:nvSpPr>
          <p:cNvPr id="15" name="Arc 14"/>
          <p:cNvSpPr/>
          <p:nvPr/>
        </p:nvSpPr>
        <p:spPr>
          <a:xfrm>
            <a:off x="3437128" y="165100"/>
            <a:ext cx="685800" cy="381000"/>
          </a:xfrm>
          <a:prstGeom prst="arc">
            <a:avLst>
              <a:gd name="adj1" fmla="val 18000000"/>
              <a:gd name="adj2" fmla="val 0"/>
            </a:avLst>
          </a:prstGeom>
          <a:noFill/>
          <a:ln w="10160">
            <a:solidFill>
              <a:srgbClr val="B08D4F"/>
            </a:solidFill>
          </a:ln>
          <a:effectLst/>
        </p:spPr>
        <p:txBody>
          <a:bodyPr rtlCol="0" anchor="ctr"/>
          <a:lstStyle/>
          <a:p>
            <a:pPr algn="ctr"/>
          </a:p>
        </p:txBody>
      </p:sp>
      <p:sp>
        <p:nvSpPr>
          <p:cNvPr id="16" name="TextBox 15"/>
          <p:cNvSpPr txBox="1"/>
          <p:nvPr/>
        </p:nvSpPr>
        <p:spPr>
          <a:xfrm>
            <a:off x="254000" y="635000"/>
            <a:ext cx="7052056" cy="462280"/>
          </a:xfrm>
          <a:prstGeom prst="rect">
            <a:avLst/>
          </a:prstGeom>
          <a:noFill/>
        </p:spPr>
        <p:txBody>
          <a:bodyPr wrap="square" lIns="0" rIns="0" tIns="0" bIns="0" anchor="t">
            <a:spAutoFit/>
          </a:bodyPr>
          <a:lstStyle/>
          <a:p>
            <a:pPr algn="ctr"/>
            <a:r>
              <a:rPr sz="2600" b="1" i="0">
                <a:solidFill>
                  <a:srgbClr val="3F5C4A"/>
                </a:solidFill>
                <a:latin typeface="Libre Baskerville"/>
              </a:rPr>
              <a:t>ARQUIVAMENTO E PROTEÇÃO</a:t>
            </a:r>
          </a:p>
        </p:txBody>
      </p:sp>
      <p:sp>
        <p:nvSpPr>
          <p:cNvPr id="17" name="TextBox 16"/>
          <p:cNvSpPr txBox="1"/>
          <p:nvPr/>
        </p:nvSpPr>
        <p:spPr>
          <a:xfrm>
            <a:off x="508000" y="1080770"/>
            <a:ext cx="6544056" cy="177800"/>
          </a:xfrm>
          <a:prstGeom prst="rect">
            <a:avLst/>
          </a:prstGeom>
          <a:noFill/>
        </p:spPr>
        <p:txBody>
          <a:bodyPr wrap="square" lIns="0" rIns="0" tIns="0" bIns="0" anchor="t">
            <a:spAutoFit/>
          </a:bodyPr>
          <a:lstStyle/>
          <a:p>
            <a:pPr algn="ctr"/>
            <a:r>
              <a:rPr sz="950" b="0" i="0">
                <a:solidFill>
                  <a:srgbClr val="2A2A26"/>
                </a:solidFill>
                <a:latin typeface="Montserrat"/>
              </a:rPr>
              <a:t>Organize por acesso, finalidade e segurança</a:t>
            </a:r>
          </a:p>
        </p:txBody>
      </p:sp>
      <p:sp>
        <p:nvSpPr>
          <p:cNvPr id="18" name="TextBox 17"/>
          <p:cNvSpPr txBox="1"/>
          <p:nvPr/>
        </p:nvSpPr>
        <p:spPr>
          <a:xfrm>
            <a:off x="762000" y="10196703"/>
            <a:ext cx="6036056" cy="127000"/>
          </a:xfrm>
          <a:prstGeom prst="rect">
            <a:avLst/>
          </a:prstGeom>
          <a:noFill/>
        </p:spPr>
        <p:txBody>
          <a:bodyPr wrap="square" lIns="0" rIns="0" tIns="0" bIns="0" anchor="t">
            <a:spAutoFit/>
          </a:bodyPr>
          <a:lstStyle/>
          <a:p>
            <a:pPr algn="ctr"/>
            <a:r>
              <a:rPr sz="650" b="0" i="0">
                <a:solidFill>
                  <a:srgbClr val="77776E"/>
                </a:solidFill>
                <a:latin typeface="Montserrat"/>
              </a:rPr>
              <a:t>MASSOTERAPIA • CUIDADO • BEM-ESTAR</a:t>
            </a:r>
          </a:p>
        </p:txBody>
      </p:sp>
      <p:cxnSp>
        <p:nvCxnSpPr>
          <p:cNvPr id="19" name="Connector 18"/>
          <p:cNvCxnSpPr/>
          <p:nvPr/>
        </p:nvCxnSpPr>
        <p:spPr>
          <a:xfrm>
            <a:off x="1968500" y="10336403"/>
            <a:ext cx="3623056" cy="0"/>
          </a:xfrm>
          <a:prstGeom prst="line">
            <a:avLst/>
          </a:prstGeom>
          <a:ln w="8890">
            <a:solidFill>
              <a:srgbClr val="B08D4F"/>
            </a:solidFill>
          </a:ln>
        </p:spPr>
      </p:cxnSp>
      <p:sp>
        <p:nvSpPr>
          <p:cNvPr id="20" name="TextBox 19"/>
          <p:cNvSpPr txBox="1"/>
          <p:nvPr/>
        </p:nvSpPr>
        <p:spPr>
          <a:xfrm>
            <a:off x="533400" y="1905354"/>
            <a:ext cx="6493256" cy="228600"/>
          </a:xfrm>
          <a:prstGeom prst="rect">
            <a:avLst/>
          </a:prstGeom>
          <a:noFill/>
        </p:spPr>
        <p:txBody>
          <a:bodyPr wrap="square" lIns="0" rIns="0" tIns="0" bIns="0" anchor="t">
            <a:spAutoFit/>
          </a:bodyPr>
          <a:lstStyle/>
          <a:p>
            <a:pPr algn="l"/>
            <a:r>
              <a:rPr sz="1421" b="1" i="0">
                <a:solidFill>
                  <a:srgbClr val="3F5C4A"/>
                </a:solidFill>
                <a:latin typeface="Libre Baskerville"/>
              </a:rPr>
              <a:t>ATENDIMENTO</a:t>
            </a:r>
          </a:p>
        </p:txBody>
      </p:sp>
      <p:sp>
        <p:nvSpPr>
          <p:cNvPr id="21" name="TextBox 20"/>
          <p:cNvSpPr txBox="1"/>
          <p:nvPr/>
        </p:nvSpPr>
        <p:spPr>
          <a:xfrm>
            <a:off x="533400" y="2329876"/>
            <a:ext cx="304800" cy="152400"/>
          </a:xfrm>
          <a:prstGeom prst="rect">
            <a:avLst/>
          </a:prstGeom>
          <a:noFill/>
        </p:spPr>
        <p:txBody>
          <a:bodyPr wrap="square" lIns="0" rIns="0" tIns="0" bIns="0" anchor="t">
            <a:spAutoFit/>
          </a:bodyPr>
          <a:lstStyle/>
          <a:p>
            <a:pPr algn="l"/>
            <a:r>
              <a:rPr sz="978" b="1" i="0">
                <a:solidFill>
                  <a:srgbClr val="B08D4F"/>
                </a:solidFill>
                <a:latin typeface="Montserrat"/>
              </a:rPr>
              <a:t>01</a:t>
            </a:r>
          </a:p>
        </p:txBody>
      </p:sp>
      <p:sp>
        <p:nvSpPr>
          <p:cNvPr id="22" name="TextBox 21"/>
          <p:cNvSpPr txBox="1"/>
          <p:nvPr/>
        </p:nvSpPr>
        <p:spPr>
          <a:xfrm>
            <a:off x="914400" y="2329876"/>
            <a:ext cx="6112256" cy="152400"/>
          </a:xfrm>
          <a:prstGeom prst="rect">
            <a:avLst/>
          </a:prstGeom>
          <a:noFill/>
        </p:spPr>
        <p:txBody>
          <a:bodyPr wrap="square" lIns="0" rIns="0" tIns="0" bIns="0" anchor="t">
            <a:spAutoFit/>
          </a:bodyPr>
          <a:lstStyle/>
          <a:p>
            <a:pPr algn="l"/>
            <a:r>
              <a:rPr sz="978" b="0" i="0">
                <a:solidFill>
                  <a:srgbClr val="2A2A26"/>
                </a:solidFill>
                <a:latin typeface="Montserrat"/>
              </a:rPr>
              <a:t>Agenda e calendário de atendimentos</a:t>
            </a:r>
          </a:p>
        </p:txBody>
      </p:sp>
      <p:cxnSp>
        <p:nvCxnSpPr>
          <p:cNvPr id="23" name="Connector 22"/>
          <p:cNvCxnSpPr/>
          <p:nvPr/>
        </p:nvCxnSpPr>
        <p:spPr>
          <a:xfrm>
            <a:off x="889000" y="2625132"/>
            <a:ext cx="6137656" cy="0"/>
          </a:xfrm>
          <a:prstGeom prst="line">
            <a:avLst/>
          </a:prstGeom>
          <a:ln w="10160">
            <a:solidFill>
              <a:srgbClr val="CFCCC1"/>
            </a:solidFill>
          </a:ln>
        </p:spPr>
      </p:cxnSp>
      <p:sp>
        <p:nvSpPr>
          <p:cNvPr id="24" name="TextBox 23"/>
          <p:cNvSpPr txBox="1"/>
          <p:nvPr/>
        </p:nvSpPr>
        <p:spPr>
          <a:xfrm>
            <a:off x="533400" y="2701332"/>
            <a:ext cx="304800" cy="152400"/>
          </a:xfrm>
          <a:prstGeom prst="rect">
            <a:avLst/>
          </a:prstGeom>
          <a:noFill/>
        </p:spPr>
        <p:txBody>
          <a:bodyPr wrap="square" lIns="0" rIns="0" tIns="0" bIns="0" anchor="t">
            <a:spAutoFit/>
          </a:bodyPr>
          <a:lstStyle/>
          <a:p>
            <a:pPr algn="l"/>
            <a:r>
              <a:rPr sz="978" b="1" i="0">
                <a:solidFill>
                  <a:srgbClr val="B08D4F"/>
                </a:solidFill>
                <a:latin typeface="Montserrat"/>
              </a:rPr>
              <a:t>02</a:t>
            </a:r>
          </a:p>
        </p:txBody>
      </p:sp>
      <p:sp>
        <p:nvSpPr>
          <p:cNvPr id="25" name="TextBox 24"/>
          <p:cNvSpPr txBox="1"/>
          <p:nvPr/>
        </p:nvSpPr>
        <p:spPr>
          <a:xfrm>
            <a:off x="914400" y="2701332"/>
            <a:ext cx="6112256" cy="152400"/>
          </a:xfrm>
          <a:prstGeom prst="rect">
            <a:avLst/>
          </a:prstGeom>
          <a:noFill/>
        </p:spPr>
        <p:txBody>
          <a:bodyPr wrap="square" lIns="0" rIns="0" tIns="0" bIns="0" anchor="t">
            <a:spAutoFit/>
          </a:bodyPr>
          <a:lstStyle/>
          <a:p>
            <a:pPr algn="l"/>
            <a:r>
              <a:rPr sz="978" b="0" i="0">
                <a:solidFill>
                  <a:srgbClr val="2A2A26"/>
                </a:solidFill>
                <a:latin typeface="Montserrat"/>
              </a:rPr>
              <a:t>Fichas de anamnese e evolução</a:t>
            </a:r>
          </a:p>
        </p:txBody>
      </p:sp>
      <p:cxnSp>
        <p:nvCxnSpPr>
          <p:cNvPr id="26" name="Connector 25"/>
          <p:cNvCxnSpPr/>
          <p:nvPr/>
        </p:nvCxnSpPr>
        <p:spPr>
          <a:xfrm>
            <a:off x="889000" y="2996589"/>
            <a:ext cx="6137656" cy="0"/>
          </a:xfrm>
          <a:prstGeom prst="line">
            <a:avLst/>
          </a:prstGeom>
          <a:ln w="10160">
            <a:solidFill>
              <a:srgbClr val="CFCCC1"/>
            </a:solidFill>
          </a:ln>
        </p:spPr>
      </p:cxnSp>
      <p:sp>
        <p:nvSpPr>
          <p:cNvPr id="27" name="TextBox 26"/>
          <p:cNvSpPr txBox="1"/>
          <p:nvPr/>
        </p:nvSpPr>
        <p:spPr>
          <a:xfrm>
            <a:off x="533400" y="3072789"/>
            <a:ext cx="304800" cy="152400"/>
          </a:xfrm>
          <a:prstGeom prst="rect">
            <a:avLst/>
          </a:prstGeom>
          <a:noFill/>
        </p:spPr>
        <p:txBody>
          <a:bodyPr wrap="square" lIns="0" rIns="0" tIns="0" bIns="0" anchor="t">
            <a:spAutoFit/>
          </a:bodyPr>
          <a:lstStyle/>
          <a:p>
            <a:pPr algn="l"/>
            <a:r>
              <a:rPr sz="978" b="1" i="0">
                <a:solidFill>
                  <a:srgbClr val="B08D4F"/>
                </a:solidFill>
                <a:latin typeface="Montserrat"/>
              </a:rPr>
              <a:t>03</a:t>
            </a:r>
          </a:p>
        </p:txBody>
      </p:sp>
      <p:sp>
        <p:nvSpPr>
          <p:cNvPr id="28" name="TextBox 27"/>
          <p:cNvSpPr txBox="1"/>
          <p:nvPr/>
        </p:nvSpPr>
        <p:spPr>
          <a:xfrm>
            <a:off x="914400" y="3072789"/>
            <a:ext cx="6112256" cy="152400"/>
          </a:xfrm>
          <a:prstGeom prst="rect">
            <a:avLst/>
          </a:prstGeom>
          <a:noFill/>
        </p:spPr>
        <p:txBody>
          <a:bodyPr wrap="square" lIns="0" rIns="0" tIns="0" bIns="0" anchor="t">
            <a:spAutoFit/>
          </a:bodyPr>
          <a:lstStyle/>
          <a:p>
            <a:pPr algn="l"/>
            <a:r>
              <a:rPr sz="978" b="0" i="0">
                <a:solidFill>
                  <a:srgbClr val="2A2A26"/>
                </a:solidFill>
                <a:latin typeface="Montserrat"/>
              </a:rPr>
              <a:t>Termos, autorizações e documentos</a:t>
            </a:r>
          </a:p>
        </p:txBody>
      </p:sp>
      <p:cxnSp>
        <p:nvCxnSpPr>
          <p:cNvPr id="29" name="Connector 28"/>
          <p:cNvCxnSpPr/>
          <p:nvPr/>
        </p:nvCxnSpPr>
        <p:spPr>
          <a:xfrm>
            <a:off x="889000" y="3368046"/>
            <a:ext cx="6137656" cy="0"/>
          </a:xfrm>
          <a:prstGeom prst="line">
            <a:avLst/>
          </a:prstGeom>
          <a:ln w="10160">
            <a:solidFill>
              <a:srgbClr val="CFCCC1"/>
            </a:solidFill>
          </a:ln>
        </p:spPr>
      </p:cxnSp>
      <p:sp>
        <p:nvSpPr>
          <p:cNvPr id="30" name="TextBox 29"/>
          <p:cNvSpPr txBox="1"/>
          <p:nvPr/>
        </p:nvSpPr>
        <p:spPr>
          <a:xfrm>
            <a:off x="533400" y="3444246"/>
            <a:ext cx="304800" cy="152400"/>
          </a:xfrm>
          <a:prstGeom prst="rect">
            <a:avLst/>
          </a:prstGeom>
          <a:noFill/>
        </p:spPr>
        <p:txBody>
          <a:bodyPr wrap="square" lIns="0" rIns="0" tIns="0" bIns="0" anchor="t">
            <a:spAutoFit/>
          </a:bodyPr>
          <a:lstStyle/>
          <a:p>
            <a:pPr algn="l"/>
            <a:r>
              <a:rPr sz="978" b="1" i="0">
                <a:solidFill>
                  <a:srgbClr val="B08D4F"/>
                </a:solidFill>
                <a:latin typeface="Montserrat"/>
              </a:rPr>
              <a:t>04</a:t>
            </a:r>
          </a:p>
        </p:txBody>
      </p:sp>
      <p:sp>
        <p:nvSpPr>
          <p:cNvPr id="31" name="TextBox 30"/>
          <p:cNvSpPr txBox="1"/>
          <p:nvPr/>
        </p:nvSpPr>
        <p:spPr>
          <a:xfrm>
            <a:off x="914400" y="3444246"/>
            <a:ext cx="6112256" cy="152400"/>
          </a:xfrm>
          <a:prstGeom prst="rect">
            <a:avLst/>
          </a:prstGeom>
          <a:noFill/>
        </p:spPr>
        <p:txBody>
          <a:bodyPr wrap="square" lIns="0" rIns="0" tIns="0" bIns="0" anchor="t">
            <a:spAutoFit/>
          </a:bodyPr>
          <a:lstStyle/>
          <a:p>
            <a:pPr algn="l"/>
            <a:r>
              <a:rPr sz="978" b="0" i="0">
                <a:solidFill>
                  <a:srgbClr val="2A2A26"/>
                </a:solidFill>
                <a:latin typeface="Montserrat"/>
              </a:rPr>
              <a:t>Financeiro e recibos</a:t>
            </a:r>
          </a:p>
        </p:txBody>
      </p:sp>
      <p:cxnSp>
        <p:nvCxnSpPr>
          <p:cNvPr id="32" name="Connector 31"/>
          <p:cNvCxnSpPr/>
          <p:nvPr/>
        </p:nvCxnSpPr>
        <p:spPr>
          <a:xfrm>
            <a:off x="889000" y="3739503"/>
            <a:ext cx="6137656" cy="0"/>
          </a:xfrm>
          <a:prstGeom prst="line">
            <a:avLst/>
          </a:prstGeom>
          <a:ln w="10160">
            <a:solidFill>
              <a:srgbClr val="CFCCC1"/>
            </a:solidFill>
          </a:ln>
        </p:spPr>
      </p:cxnSp>
      <p:sp>
        <p:nvSpPr>
          <p:cNvPr id="33" name="TextBox 32"/>
          <p:cNvSpPr txBox="1"/>
          <p:nvPr/>
        </p:nvSpPr>
        <p:spPr>
          <a:xfrm>
            <a:off x="533400" y="3815703"/>
            <a:ext cx="304800" cy="152400"/>
          </a:xfrm>
          <a:prstGeom prst="rect">
            <a:avLst/>
          </a:prstGeom>
          <a:noFill/>
        </p:spPr>
        <p:txBody>
          <a:bodyPr wrap="square" lIns="0" rIns="0" tIns="0" bIns="0" anchor="t">
            <a:spAutoFit/>
          </a:bodyPr>
          <a:lstStyle/>
          <a:p>
            <a:pPr algn="l"/>
            <a:r>
              <a:rPr sz="978" b="1" i="0">
                <a:solidFill>
                  <a:srgbClr val="B08D4F"/>
                </a:solidFill>
                <a:latin typeface="Montserrat"/>
              </a:rPr>
              <a:t>05</a:t>
            </a:r>
          </a:p>
        </p:txBody>
      </p:sp>
      <p:sp>
        <p:nvSpPr>
          <p:cNvPr id="34" name="TextBox 33"/>
          <p:cNvSpPr txBox="1"/>
          <p:nvPr/>
        </p:nvSpPr>
        <p:spPr>
          <a:xfrm>
            <a:off x="914400" y="3815703"/>
            <a:ext cx="6112256" cy="152400"/>
          </a:xfrm>
          <a:prstGeom prst="rect">
            <a:avLst/>
          </a:prstGeom>
          <a:noFill/>
        </p:spPr>
        <p:txBody>
          <a:bodyPr wrap="square" lIns="0" rIns="0" tIns="0" bIns="0" anchor="t">
            <a:spAutoFit/>
          </a:bodyPr>
          <a:lstStyle/>
          <a:p>
            <a:pPr algn="l"/>
            <a:r>
              <a:rPr sz="978" b="0" i="0">
                <a:solidFill>
                  <a:srgbClr val="2A2A26"/>
                </a:solidFill>
                <a:latin typeface="Montserrat"/>
              </a:rPr>
              <a:t>Contatos e comunicação profissional</a:t>
            </a:r>
          </a:p>
        </p:txBody>
      </p:sp>
      <p:cxnSp>
        <p:nvCxnSpPr>
          <p:cNvPr id="35" name="Connector 34"/>
          <p:cNvCxnSpPr/>
          <p:nvPr/>
        </p:nvCxnSpPr>
        <p:spPr>
          <a:xfrm>
            <a:off x="889000" y="4110959"/>
            <a:ext cx="6137656" cy="0"/>
          </a:xfrm>
          <a:prstGeom prst="line">
            <a:avLst/>
          </a:prstGeom>
          <a:ln w="10160">
            <a:solidFill>
              <a:srgbClr val="CFCCC1"/>
            </a:solidFill>
          </a:ln>
        </p:spPr>
      </p:cxnSp>
      <p:sp>
        <p:nvSpPr>
          <p:cNvPr id="36" name="TextBox 35"/>
          <p:cNvSpPr txBox="1"/>
          <p:nvPr/>
        </p:nvSpPr>
        <p:spPr>
          <a:xfrm>
            <a:off x="533400" y="4187159"/>
            <a:ext cx="304800" cy="152400"/>
          </a:xfrm>
          <a:prstGeom prst="rect">
            <a:avLst/>
          </a:prstGeom>
          <a:noFill/>
        </p:spPr>
        <p:txBody>
          <a:bodyPr wrap="square" lIns="0" rIns="0" tIns="0" bIns="0" anchor="t">
            <a:spAutoFit/>
          </a:bodyPr>
          <a:lstStyle/>
          <a:p>
            <a:pPr algn="l"/>
            <a:r>
              <a:rPr sz="978" b="1" i="0">
                <a:solidFill>
                  <a:srgbClr val="B08D4F"/>
                </a:solidFill>
                <a:latin typeface="Montserrat"/>
              </a:rPr>
              <a:t>06</a:t>
            </a:r>
          </a:p>
        </p:txBody>
      </p:sp>
      <p:sp>
        <p:nvSpPr>
          <p:cNvPr id="37" name="TextBox 36"/>
          <p:cNvSpPr txBox="1"/>
          <p:nvPr/>
        </p:nvSpPr>
        <p:spPr>
          <a:xfrm>
            <a:off x="914400" y="4187159"/>
            <a:ext cx="6112256" cy="152400"/>
          </a:xfrm>
          <a:prstGeom prst="rect">
            <a:avLst/>
          </a:prstGeom>
          <a:noFill/>
        </p:spPr>
        <p:txBody>
          <a:bodyPr wrap="square" lIns="0" rIns="0" tIns="0" bIns="0" anchor="t">
            <a:spAutoFit/>
          </a:bodyPr>
          <a:lstStyle/>
          <a:p>
            <a:pPr algn="l"/>
            <a:r>
              <a:rPr sz="978" b="0" i="0">
                <a:solidFill>
                  <a:srgbClr val="2A2A26"/>
                </a:solidFill>
                <a:latin typeface="Montserrat"/>
              </a:rPr>
              <a:t>Backups</a:t>
            </a:r>
          </a:p>
        </p:txBody>
      </p:sp>
      <p:cxnSp>
        <p:nvCxnSpPr>
          <p:cNvPr id="38" name="Connector 37"/>
          <p:cNvCxnSpPr/>
          <p:nvPr/>
        </p:nvCxnSpPr>
        <p:spPr>
          <a:xfrm>
            <a:off x="889000" y="4482416"/>
            <a:ext cx="6137656" cy="0"/>
          </a:xfrm>
          <a:prstGeom prst="line">
            <a:avLst/>
          </a:prstGeom>
          <a:ln w="10160">
            <a:solidFill>
              <a:srgbClr val="CFCCC1"/>
            </a:solidFill>
          </a:ln>
        </p:spPr>
      </p:cxnSp>
      <p:sp>
        <p:nvSpPr>
          <p:cNvPr id="41" name="TextBox 40"/>
          <p:cNvSpPr txBox="1"/>
          <p:nvPr/>
        </p:nvSpPr>
        <p:spPr>
          <a:xfrm>
            <a:off x="508000" y="1461770"/>
            <a:ext cx="6544056" cy="266700"/>
          </a:xfrm>
          <a:prstGeom prst="rect">
            <a:avLst/>
          </a:prstGeom>
          <a:noFill/>
        </p:spPr>
        <p:txBody>
          <a:bodyPr wrap="square" lIns="0" rIns="0" tIns="0" bIns="0" anchor="ctr">
            <a:spAutoFit/>
          </a:bodyPr>
          <a:lstStyle/>
          <a:p>
            <a:pPr algn="l"/>
            <a:r>
              <a:rPr sz="840" b="1" i="0">
                <a:solidFill>
                  <a:srgbClr val="FFFFFF"/>
                </a:solidFill>
                <a:latin typeface="Montserrat"/>
              </a:rPr>
              <a:t>ESTRUTURA SUGERIDA</a:t>
            </a:r>
          </a:p>
        </p:txBody>
      </p:sp>
      <p:sp>
        <p:nvSpPr>
          <p:cNvPr id="42" name="Rectangle 41"/>
          <p:cNvSpPr/>
          <p:nvPr/>
        </p:nvSpPr>
        <p:spPr>
          <a:xfrm>
            <a:off x="533400" y="5387719"/>
            <a:ext cx="107950" cy="107950"/>
          </a:xfrm>
          <a:prstGeom prst="rect">
            <a:avLst/>
          </a:prstGeom>
          <a:solidFill>
            <a:srgbClr val="FDFCF8"/>
          </a:solidFill>
          <a:ln w="7620">
            <a:solidFill>
              <a:srgbClr val="2A2A26"/>
            </a:solidFill>
          </a:ln>
          <a:effectLst/>
        </p:spPr>
        <p:txBody>
          <a:bodyPr rtlCol="0" anchor="ctr"/>
          <a:lstStyle/>
          <a:p/>
        </p:txBody>
      </p:sp>
      <p:sp>
        <p:nvSpPr>
          <p:cNvPr id="43" name="TextBox 42"/>
          <p:cNvSpPr txBox="1"/>
          <p:nvPr/>
        </p:nvSpPr>
        <p:spPr>
          <a:xfrm>
            <a:off x="711200" y="5381369"/>
            <a:ext cx="3043428" cy="157749"/>
          </a:xfrm>
          <a:prstGeom prst="rect">
            <a:avLst/>
          </a:prstGeom>
          <a:noFill/>
        </p:spPr>
        <p:txBody>
          <a:bodyPr wrap="square" lIns="0" rIns="0" tIns="0" bIns="0" anchor="t">
            <a:spAutoFit/>
          </a:bodyPr>
          <a:lstStyle/>
          <a:p>
            <a:pPr algn="l"/>
            <a:r>
              <a:rPr sz="887" b="0" i="0">
                <a:solidFill>
                  <a:srgbClr val="2A2A26"/>
                </a:solidFill>
                <a:latin typeface="Montserrat"/>
              </a:rPr>
              <a:t>Acesso protegido por senha</a:t>
            </a:r>
          </a:p>
        </p:txBody>
      </p:sp>
      <p:sp>
        <p:nvSpPr>
          <p:cNvPr id="44" name="Rectangle 43"/>
          <p:cNvSpPr/>
          <p:nvPr/>
        </p:nvSpPr>
        <p:spPr>
          <a:xfrm>
            <a:off x="3780028" y="5387719"/>
            <a:ext cx="107950" cy="107950"/>
          </a:xfrm>
          <a:prstGeom prst="rect">
            <a:avLst/>
          </a:prstGeom>
          <a:solidFill>
            <a:srgbClr val="FDFCF8"/>
          </a:solidFill>
          <a:ln w="7620">
            <a:solidFill>
              <a:srgbClr val="2A2A26"/>
            </a:solidFill>
          </a:ln>
          <a:effectLst/>
        </p:spPr>
        <p:txBody>
          <a:bodyPr rtlCol="0" anchor="ctr"/>
          <a:lstStyle/>
          <a:p/>
        </p:txBody>
      </p:sp>
      <p:sp>
        <p:nvSpPr>
          <p:cNvPr id="45" name="TextBox 44"/>
          <p:cNvSpPr txBox="1"/>
          <p:nvPr/>
        </p:nvSpPr>
        <p:spPr>
          <a:xfrm>
            <a:off x="3957828" y="5381369"/>
            <a:ext cx="3043428" cy="157749"/>
          </a:xfrm>
          <a:prstGeom prst="rect">
            <a:avLst/>
          </a:prstGeom>
          <a:noFill/>
        </p:spPr>
        <p:txBody>
          <a:bodyPr wrap="square" lIns="0" rIns="0" tIns="0" bIns="0" anchor="t">
            <a:spAutoFit/>
          </a:bodyPr>
          <a:lstStyle/>
          <a:p>
            <a:pPr algn="l"/>
            <a:r>
              <a:rPr sz="887" b="0" i="0">
                <a:solidFill>
                  <a:srgbClr val="2A2A26"/>
                </a:solidFill>
                <a:latin typeface="Montserrat"/>
              </a:rPr>
              <a:t>Tela com bloqueio automático</a:t>
            </a:r>
          </a:p>
        </p:txBody>
      </p:sp>
      <p:sp>
        <p:nvSpPr>
          <p:cNvPr id="46" name="Rectangle 45"/>
          <p:cNvSpPr/>
          <p:nvPr/>
        </p:nvSpPr>
        <p:spPr>
          <a:xfrm>
            <a:off x="533400" y="5776864"/>
            <a:ext cx="107950" cy="107950"/>
          </a:xfrm>
          <a:prstGeom prst="rect">
            <a:avLst/>
          </a:prstGeom>
          <a:solidFill>
            <a:srgbClr val="FDFCF8"/>
          </a:solidFill>
          <a:ln w="7620">
            <a:solidFill>
              <a:srgbClr val="2A2A26"/>
            </a:solidFill>
          </a:ln>
          <a:effectLst/>
        </p:spPr>
        <p:txBody>
          <a:bodyPr rtlCol="0" anchor="ctr"/>
          <a:lstStyle/>
          <a:p/>
        </p:txBody>
      </p:sp>
      <p:sp>
        <p:nvSpPr>
          <p:cNvPr id="47" name="TextBox 46"/>
          <p:cNvSpPr txBox="1"/>
          <p:nvPr/>
        </p:nvSpPr>
        <p:spPr>
          <a:xfrm>
            <a:off x="711200" y="5770514"/>
            <a:ext cx="3043428" cy="157749"/>
          </a:xfrm>
          <a:prstGeom prst="rect">
            <a:avLst/>
          </a:prstGeom>
          <a:noFill/>
        </p:spPr>
        <p:txBody>
          <a:bodyPr wrap="square" lIns="0" rIns="0" tIns="0" bIns="0" anchor="t">
            <a:spAutoFit/>
          </a:bodyPr>
          <a:lstStyle/>
          <a:p>
            <a:pPr algn="l"/>
            <a:r>
              <a:rPr sz="887" b="0" i="0">
                <a:solidFill>
                  <a:srgbClr val="2A2A26"/>
                </a:solidFill>
                <a:latin typeface="Montserrat"/>
              </a:rPr>
              <a:t>Arquivos físicos em local seguro</a:t>
            </a:r>
          </a:p>
        </p:txBody>
      </p:sp>
      <p:sp>
        <p:nvSpPr>
          <p:cNvPr id="48" name="Rectangle 47"/>
          <p:cNvSpPr/>
          <p:nvPr/>
        </p:nvSpPr>
        <p:spPr>
          <a:xfrm>
            <a:off x="3780028" y="5776864"/>
            <a:ext cx="107950" cy="107950"/>
          </a:xfrm>
          <a:prstGeom prst="rect">
            <a:avLst/>
          </a:prstGeom>
          <a:solidFill>
            <a:srgbClr val="FDFCF8"/>
          </a:solidFill>
          <a:ln w="7620">
            <a:solidFill>
              <a:srgbClr val="2A2A26"/>
            </a:solidFill>
          </a:ln>
          <a:effectLst/>
        </p:spPr>
        <p:txBody>
          <a:bodyPr rtlCol="0" anchor="ctr"/>
          <a:lstStyle/>
          <a:p/>
        </p:txBody>
      </p:sp>
      <p:sp>
        <p:nvSpPr>
          <p:cNvPr id="49" name="TextBox 48"/>
          <p:cNvSpPr txBox="1"/>
          <p:nvPr/>
        </p:nvSpPr>
        <p:spPr>
          <a:xfrm>
            <a:off x="3957828" y="5770514"/>
            <a:ext cx="3043428" cy="157749"/>
          </a:xfrm>
          <a:prstGeom prst="rect">
            <a:avLst/>
          </a:prstGeom>
          <a:noFill/>
        </p:spPr>
        <p:txBody>
          <a:bodyPr wrap="square" lIns="0" rIns="0" tIns="0" bIns="0" anchor="t">
            <a:spAutoFit/>
          </a:bodyPr>
          <a:lstStyle/>
          <a:p>
            <a:pPr algn="l"/>
            <a:r>
              <a:rPr sz="887" b="0" i="0">
                <a:solidFill>
                  <a:srgbClr val="2A2A26"/>
                </a:solidFill>
                <a:latin typeface="Montserrat"/>
              </a:rPr>
              <a:t>Backup periódico de conteúdo</a:t>
            </a:r>
          </a:p>
        </p:txBody>
      </p:sp>
      <p:sp>
        <p:nvSpPr>
          <p:cNvPr id="50" name="Rectangle 49"/>
          <p:cNvSpPr/>
          <p:nvPr/>
        </p:nvSpPr>
        <p:spPr>
          <a:xfrm>
            <a:off x="533400" y="6166009"/>
            <a:ext cx="107950" cy="107950"/>
          </a:xfrm>
          <a:prstGeom prst="rect">
            <a:avLst/>
          </a:prstGeom>
          <a:solidFill>
            <a:srgbClr val="FDFCF8"/>
          </a:solidFill>
          <a:ln w="7620">
            <a:solidFill>
              <a:srgbClr val="2A2A26"/>
            </a:solidFill>
          </a:ln>
          <a:effectLst/>
        </p:spPr>
        <p:txBody>
          <a:bodyPr rtlCol="0" anchor="ctr"/>
          <a:lstStyle/>
          <a:p/>
        </p:txBody>
      </p:sp>
      <p:sp>
        <p:nvSpPr>
          <p:cNvPr id="51" name="TextBox 50"/>
          <p:cNvSpPr txBox="1"/>
          <p:nvPr/>
        </p:nvSpPr>
        <p:spPr>
          <a:xfrm>
            <a:off x="711200" y="6159659"/>
            <a:ext cx="3043428" cy="157749"/>
          </a:xfrm>
          <a:prstGeom prst="rect">
            <a:avLst/>
          </a:prstGeom>
          <a:noFill/>
        </p:spPr>
        <p:txBody>
          <a:bodyPr wrap="square" lIns="0" rIns="0" tIns="0" bIns="0" anchor="t">
            <a:spAutoFit/>
          </a:bodyPr>
          <a:lstStyle/>
          <a:p>
            <a:pPr algn="l"/>
            <a:r>
              <a:rPr sz="887" b="0" i="0">
                <a:solidFill>
                  <a:srgbClr val="2A2A26"/>
                </a:solidFill>
                <a:latin typeface="Montserrat"/>
              </a:rPr>
              <a:t>Compartilhamento restrito</a:t>
            </a:r>
          </a:p>
        </p:txBody>
      </p:sp>
      <p:sp>
        <p:nvSpPr>
          <p:cNvPr id="52" name="Rectangle 51"/>
          <p:cNvSpPr/>
          <p:nvPr/>
        </p:nvSpPr>
        <p:spPr>
          <a:xfrm>
            <a:off x="3780028" y="6166009"/>
            <a:ext cx="107950" cy="107950"/>
          </a:xfrm>
          <a:prstGeom prst="rect">
            <a:avLst/>
          </a:prstGeom>
          <a:solidFill>
            <a:srgbClr val="FDFCF8"/>
          </a:solidFill>
          <a:ln w="7620">
            <a:solidFill>
              <a:srgbClr val="2A2A26"/>
            </a:solidFill>
          </a:ln>
          <a:effectLst/>
        </p:spPr>
        <p:txBody>
          <a:bodyPr rtlCol="0" anchor="ctr"/>
          <a:lstStyle/>
          <a:p/>
        </p:txBody>
      </p:sp>
      <p:sp>
        <p:nvSpPr>
          <p:cNvPr id="53" name="TextBox 52"/>
          <p:cNvSpPr txBox="1"/>
          <p:nvPr/>
        </p:nvSpPr>
        <p:spPr>
          <a:xfrm>
            <a:off x="3957828" y="6159659"/>
            <a:ext cx="3043428" cy="157749"/>
          </a:xfrm>
          <a:prstGeom prst="rect">
            <a:avLst/>
          </a:prstGeom>
          <a:noFill/>
        </p:spPr>
        <p:txBody>
          <a:bodyPr wrap="square" lIns="0" rIns="0" tIns="0" bIns="0" anchor="t">
            <a:spAutoFit/>
          </a:bodyPr>
          <a:lstStyle/>
          <a:p>
            <a:pPr algn="l"/>
            <a:r>
              <a:rPr sz="887" b="0" i="0">
                <a:solidFill>
                  <a:srgbClr val="2A2A26"/>
                </a:solidFill>
                <a:latin typeface="Montserrat"/>
              </a:rPr>
              <a:t>Descarte seguro de cópias</a:t>
            </a:r>
          </a:p>
        </p:txBody>
      </p:sp>
      <p:sp>
        <p:nvSpPr>
          <p:cNvPr id="54" name="Rectangle 53"/>
          <p:cNvSpPr/>
          <p:nvPr/>
        </p:nvSpPr>
        <p:spPr>
          <a:xfrm>
            <a:off x="533400" y="6555154"/>
            <a:ext cx="107950" cy="107950"/>
          </a:xfrm>
          <a:prstGeom prst="rect">
            <a:avLst/>
          </a:prstGeom>
          <a:solidFill>
            <a:srgbClr val="FDFCF8"/>
          </a:solidFill>
          <a:ln w="7620">
            <a:solidFill>
              <a:srgbClr val="2A2A26"/>
            </a:solidFill>
          </a:ln>
          <a:effectLst/>
        </p:spPr>
        <p:txBody>
          <a:bodyPr rtlCol="0" anchor="ctr"/>
          <a:lstStyle/>
          <a:p/>
        </p:txBody>
      </p:sp>
      <p:sp>
        <p:nvSpPr>
          <p:cNvPr id="55" name="TextBox 54"/>
          <p:cNvSpPr txBox="1"/>
          <p:nvPr/>
        </p:nvSpPr>
        <p:spPr>
          <a:xfrm>
            <a:off x="711200" y="6548804"/>
            <a:ext cx="3043428" cy="157749"/>
          </a:xfrm>
          <a:prstGeom prst="rect">
            <a:avLst/>
          </a:prstGeom>
          <a:noFill/>
        </p:spPr>
        <p:txBody>
          <a:bodyPr wrap="square" lIns="0" rIns="0" tIns="0" bIns="0" anchor="t">
            <a:spAutoFit/>
          </a:bodyPr>
          <a:lstStyle/>
          <a:p>
            <a:pPr algn="l"/>
            <a:r>
              <a:rPr sz="887" b="0" i="0">
                <a:solidFill>
                  <a:srgbClr val="2A2A26"/>
                </a:solidFill>
                <a:latin typeface="Montserrat"/>
              </a:rPr>
              <a:t>Dados mínimos necessários</a:t>
            </a:r>
          </a:p>
        </p:txBody>
      </p:sp>
      <p:sp>
        <p:nvSpPr>
          <p:cNvPr id="56" name="Rectangle 55"/>
          <p:cNvSpPr/>
          <p:nvPr/>
        </p:nvSpPr>
        <p:spPr>
          <a:xfrm>
            <a:off x="3780028" y="6555154"/>
            <a:ext cx="107950" cy="107950"/>
          </a:xfrm>
          <a:prstGeom prst="rect">
            <a:avLst/>
          </a:prstGeom>
          <a:solidFill>
            <a:srgbClr val="FDFCF8"/>
          </a:solidFill>
          <a:ln w="7620">
            <a:solidFill>
              <a:srgbClr val="2A2A26"/>
            </a:solidFill>
          </a:ln>
          <a:effectLst/>
        </p:spPr>
        <p:txBody>
          <a:bodyPr rtlCol="0" anchor="ctr"/>
          <a:lstStyle/>
          <a:p/>
        </p:txBody>
      </p:sp>
      <p:sp>
        <p:nvSpPr>
          <p:cNvPr id="57" name="TextBox 56"/>
          <p:cNvSpPr txBox="1"/>
          <p:nvPr/>
        </p:nvSpPr>
        <p:spPr>
          <a:xfrm>
            <a:off x="3957828" y="6548804"/>
            <a:ext cx="3043428" cy="157749"/>
          </a:xfrm>
          <a:prstGeom prst="rect">
            <a:avLst/>
          </a:prstGeom>
          <a:noFill/>
        </p:spPr>
        <p:txBody>
          <a:bodyPr wrap="square" lIns="0" rIns="0" tIns="0" bIns="0" anchor="t">
            <a:spAutoFit/>
          </a:bodyPr>
          <a:lstStyle/>
          <a:p>
            <a:pPr algn="l"/>
            <a:r>
              <a:rPr sz="887" b="0" i="0">
                <a:solidFill>
                  <a:srgbClr val="2A2A26"/>
                </a:solidFill>
                <a:latin typeface="Montserrat"/>
              </a:rPr>
              <a:t>Separação entre uso pessoal e profissional</a:t>
            </a:r>
          </a:p>
        </p:txBody>
      </p:sp>
      <p:sp>
        <p:nvSpPr>
          <p:cNvPr id="60" name="TextBox 59"/>
          <p:cNvSpPr txBox="1"/>
          <p:nvPr/>
        </p:nvSpPr>
        <p:spPr>
          <a:xfrm>
            <a:off x="508000" y="4912384"/>
            <a:ext cx="6544056" cy="266700"/>
          </a:xfrm>
          <a:prstGeom prst="rect">
            <a:avLst/>
          </a:prstGeom>
          <a:noFill/>
        </p:spPr>
        <p:txBody>
          <a:bodyPr wrap="square" lIns="0" rIns="0" tIns="0" bIns="0" anchor="ctr">
            <a:spAutoFit/>
          </a:bodyPr>
          <a:lstStyle/>
          <a:p>
            <a:pPr algn="l"/>
            <a:r>
              <a:rPr sz="840" b="1" i="0">
                <a:solidFill>
                  <a:srgbClr val="FFFFFF"/>
                </a:solidFill>
                <a:latin typeface="Montserrat"/>
              </a:rPr>
              <a:t>CHECKLIST DE SEGURANÇA</a:t>
            </a:r>
          </a:p>
        </p:txBody>
      </p:sp>
      <p:cxnSp>
        <p:nvCxnSpPr>
          <p:cNvPr id="61" name="Connector 60"/>
          <p:cNvCxnSpPr/>
          <p:nvPr/>
        </p:nvCxnSpPr>
        <p:spPr>
          <a:xfrm>
            <a:off x="533400" y="7997905"/>
            <a:ext cx="6493256" cy="0"/>
          </a:xfrm>
          <a:prstGeom prst="line">
            <a:avLst/>
          </a:prstGeom>
          <a:ln w="7620">
            <a:solidFill>
              <a:srgbClr val="B4B2A8"/>
            </a:solidFill>
          </a:ln>
        </p:spPr>
      </p:cxnSp>
      <p:cxnSp>
        <p:nvCxnSpPr>
          <p:cNvPr id="62" name="Connector 61"/>
          <p:cNvCxnSpPr/>
          <p:nvPr/>
        </p:nvCxnSpPr>
        <p:spPr>
          <a:xfrm>
            <a:off x="533400" y="8298608"/>
            <a:ext cx="6493256" cy="0"/>
          </a:xfrm>
          <a:prstGeom prst="line">
            <a:avLst/>
          </a:prstGeom>
          <a:ln w="7620">
            <a:solidFill>
              <a:srgbClr val="B4B2A8"/>
            </a:solidFill>
          </a:ln>
        </p:spPr>
      </p:cxnSp>
      <p:cxnSp>
        <p:nvCxnSpPr>
          <p:cNvPr id="63" name="Connector 62"/>
          <p:cNvCxnSpPr/>
          <p:nvPr/>
        </p:nvCxnSpPr>
        <p:spPr>
          <a:xfrm>
            <a:off x="533400" y="8599311"/>
            <a:ext cx="6493256" cy="0"/>
          </a:xfrm>
          <a:prstGeom prst="line">
            <a:avLst/>
          </a:prstGeom>
          <a:ln w="7620">
            <a:solidFill>
              <a:srgbClr val="B4B2A8"/>
            </a:solidFill>
          </a:ln>
        </p:spPr>
      </p:cxnSp>
      <p:cxnSp>
        <p:nvCxnSpPr>
          <p:cNvPr id="64" name="Connector 63"/>
          <p:cNvCxnSpPr/>
          <p:nvPr/>
        </p:nvCxnSpPr>
        <p:spPr>
          <a:xfrm>
            <a:off x="533400" y="8900014"/>
            <a:ext cx="6493256" cy="0"/>
          </a:xfrm>
          <a:prstGeom prst="line">
            <a:avLst/>
          </a:prstGeom>
          <a:ln w="7620">
            <a:solidFill>
              <a:srgbClr val="B4B2A8"/>
            </a:solidFill>
          </a:ln>
        </p:spPr>
      </p:cxnSp>
      <p:cxnSp>
        <p:nvCxnSpPr>
          <p:cNvPr id="65" name="Connector 64"/>
          <p:cNvCxnSpPr/>
          <p:nvPr/>
        </p:nvCxnSpPr>
        <p:spPr>
          <a:xfrm>
            <a:off x="533400" y="9200717"/>
            <a:ext cx="6493256" cy="0"/>
          </a:xfrm>
          <a:prstGeom prst="line">
            <a:avLst/>
          </a:prstGeom>
          <a:ln w="7620">
            <a:solidFill>
              <a:srgbClr val="B4B2A8"/>
            </a:solidFill>
          </a:ln>
        </p:spPr>
      </p:cxnSp>
      <p:cxnSp>
        <p:nvCxnSpPr>
          <p:cNvPr id="66" name="Connector 65"/>
          <p:cNvCxnSpPr/>
          <p:nvPr/>
        </p:nvCxnSpPr>
        <p:spPr>
          <a:xfrm>
            <a:off x="533400" y="9501420"/>
            <a:ext cx="6493256" cy="0"/>
          </a:xfrm>
          <a:prstGeom prst="line">
            <a:avLst/>
          </a:prstGeom>
          <a:ln w="7620">
            <a:solidFill>
              <a:srgbClr val="B4B2A8"/>
            </a:solidFill>
          </a:ln>
        </p:spPr>
      </p:cxnSp>
      <p:cxnSp>
        <p:nvCxnSpPr>
          <p:cNvPr id="67" name="Connector 66"/>
          <p:cNvCxnSpPr/>
          <p:nvPr/>
        </p:nvCxnSpPr>
        <p:spPr>
          <a:xfrm>
            <a:off x="533400" y="9802123"/>
            <a:ext cx="6493256" cy="0"/>
          </a:xfrm>
          <a:prstGeom prst="line">
            <a:avLst/>
          </a:prstGeom>
          <a:ln w="7620">
            <a:solidFill>
              <a:srgbClr val="B4B2A8"/>
            </a:solidFill>
          </a:ln>
        </p:spPr>
      </p:cxnSp>
      <p:sp>
        <p:nvSpPr>
          <p:cNvPr id="70" name="TextBox 69"/>
          <p:cNvSpPr txBox="1"/>
          <p:nvPr/>
        </p:nvSpPr>
        <p:spPr>
          <a:xfrm>
            <a:off x="508000" y="7291717"/>
            <a:ext cx="6544056" cy="266700"/>
          </a:xfrm>
          <a:prstGeom prst="rect">
            <a:avLst/>
          </a:prstGeom>
          <a:noFill/>
        </p:spPr>
        <p:txBody>
          <a:bodyPr wrap="square" lIns="0" rIns="0" tIns="0" bIns="0" anchor="ctr">
            <a:spAutoFit/>
          </a:bodyPr>
          <a:lstStyle/>
          <a:p>
            <a:pPr algn="l"/>
            <a:r>
              <a:rPr sz="840" b="1" i="0">
                <a:solidFill>
                  <a:srgbClr val="FFFFFF"/>
                </a:solidFill>
                <a:latin typeface="Montserrat"/>
              </a:rPr>
              <a:t>ONDE CADA CATEGORIA SERÁ ARMAZENADA?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8F5EE"/>
        </a:solidFill>
        <a:effectLst/>
      </p:bgPr>
    </p:bg>
    <p:spTree>
      <p:nvGrpSpPr>
        <p:cNvPr id="1" name=""/>
        <p:cNvGrpSpPr/>
        <p:nvPr/>
      </p:nvGrpSpPr>
      <p:grpSpPr/>
      <p:sp>
        <p:nvSpPr>
          <p:cNvPr id="73" name="Rounded Rectangle 72"/>
          <p:cNvSpPr/>
          <p:nvPr/>
        </p:nvSpPr>
        <p:spPr>
          <a:xfrm>
            <a:off x="381000" y="9340809"/>
            <a:ext cx="6798056" cy="702602"/>
          </a:xfrm>
          <a:prstGeom prst="roundRect">
            <a:avLst>
              <a:gd name="adj" fmla="val 14460"/>
            </a:avLst>
          </a:prstGeom>
          <a:solidFill>
            <a:srgbClr val="FDFCF8"/>
          </a:solidFill>
          <a:ln w="10160">
            <a:solidFill>
              <a:srgbClr val="D7D4C9"/>
            </a:solidFill>
          </a:ln>
          <a:effectLst/>
        </p:spPr>
        <p:txBody>
          <a:bodyPr rtlCol="0" anchor="ctr"/>
          <a:lstStyle/>
          <a:p/>
        </p:txBody>
      </p:sp>
      <p:sp>
        <p:nvSpPr>
          <p:cNvPr id="66" name="Rounded Rectangle 65"/>
          <p:cNvSpPr/>
          <p:nvPr/>
        </p:nvSpPr>
        <p:spPr>
          <a:xfrm>
            <a:off x="381000" y="7609108"/>
            <a:ext cx="6798056" cy="1582210"/>
          </a:xfrm>
          <a:prstGeom prst="roundRect">
            <a:avLst>
              <a:gd name="adj" fmla="val 6421"/>
            </a:avLst>
          </a:prstGeom>
          <a:solidFill>
            <a:srgbClr val="FDFCF8"/>
          </a:solidFill>
          <a:ln w="10160">
            <a:solidFill>
              <a:srgbClr val="D7D4C9"/>
            </a:solidFill>
          </a:ln>
          <a:effectLst/>
        </p:spPr>
        <p:txBody>
          <a:bodyPr rtlCol="0" anchor="ctr"/>
          <a:lstStyle/>
          <a:p/>
        </p:txBody>
      </p:sp>
      <p:sp>
        <p:nvSpPr>
          <p:cNvPr id="67" name="Round Same Side Corner Rectangle 66"/>
          <p:cNvSpPr/>
          <p:nvPr/>
        </p:nvSpPr>
        <p:spPr>
          <a:xfrm>
            <a:off x="381000" y="7609108"/>
            <a:ext cx="6798056" cy="266700"/>
          </a:xfrm>
          <a:prstGeom prst="round2SameRect">
            <a:avLst>
              <a:gd name="adj1" fmla="val 38095"/>
              <a:gd name="adj2" fmla="val 0"/>
            </a:avLst>
          </a:prstGeom>
          <a:solidFill>
            <a:srgbClr val="3F5C4A"/>
          </a:solidFill>
          <a:ln>
            <a:noFill/>
          </a:ln>
          <a:effectLst/>
        </p:spPr>
        <p:txBody>
          <a:bodyPr rtlCol="0" anchor="ctr"/>
          <a:lstStyle/>
          <a:p/>
        </p:txBody>
      </p:sp>
      <p:sp>
        <p:nvSpPr>
          <p:cNvPr id="59" name="Rounded Rectangle 58"/>
          <p:cNvSpPr/>
          <p:nvPr/>
        </p:nvSpPr>
        <p:spPr>
          <a:xfrm>
            <a:off x="381000" y="5877408"/>
            <a:ext cx="6798056" cy="1582210"/>
          </a:xfrm>
          <a:prstGeom prst="roundRect">
            <a:avLst>
              <a:gd name="adj" fmla="val 6421"/>
            </a:avLst>
          </a:prstGeom>
          <a:solidFill>
            <a:srgbClr val="FDFCF8"/>
          </a:solidFill>
          <a:ln w="10160">
            <a:solidFill>
              <a:srgbClr val="D7D4C9"/>
            </a:solidFill>
          </a:ln>
          <a:effectLst/>
        </p:spPr>
        <p:txBody>
          <a:bodyPr rtlCol="0" anchor="ctr"/>
          <a:lstStyle/>
          <a:p/>
        </p:txBody>
      </p:sp>
      <p:sp>
        <p:nvSpPr>
          <p:cNvPr id="60" name="Round Same Side Corner Rectangle 59"/>
          <p:cNvSpPr/>
          <p:nvPr/>
        </p:nvSpPr>
        <p:spPr>
          <a:xfrm>
            <a:off x="381000" y="5877408"/>
            <a:ext cx="6798056" cy="266700"/>
          </a:xfrm>
          <a:prstGeom prst="round2SameRect">
            <a:avLst>
              <a:gd name="adj1" fmla="val 38095"/>
              <a:gd name="adj2" fmla="val 0"/>
            </a:avLst>
          </a:prstGeom>
          <a:solidFill>
            <a:srgbClr val="3F5C4A"/>
          </a:solidFill>
          <a:ln>
            <a:noFill/>
          </a:ln>
          <a:effectLst/>
        </p:spPr>
        <p:txBody>
          <a:bodyPr rtlCol="0" anchor="ctr"/>
          <a:lstStyle/>
          <a:p/>
        </p:txBody>
      </p:sp>
      <p:sp>
        <p:nvSpPr>
          <p:cNvPr id="52" name="Rounded Rectangle 51"/>
          <p:cNvSpPr/>
          <p:nvPr/>
        </p:nvSpPr>
        <p:spPr>
          <a:xfrm>
            <a:off x="381000" y="4284746"/>
            <a:ext cx="6798056" cy="1443171"/>
          </a:xfrm>
          <a:prstGeom prst="roundRect">
            <a:avLst>
              <a:gd name="adj" fmla="val 7040"/>
            </a:avLst>
          </a:prstGeom>
          <a:solidFill>
            <a:srgbClr val="FDFCF8"/>
          </a:solidFill>
          <a:ln w="10160">
            <a:solidFill>
              <a:srgbClr val="D7D4C9"/>
            </a:solidFill>
          </a:ln>
          <a:effectLst/>
        </p:spPr>
        <p:txBody>
          <a:bodyPr rtlCol="0" anchor="ctr"/>
          <a:lstStyle/>
          <a:p/>
        </p:txBody>
      </p:sp>
      <p:sp>
        <p:nvSpPr>
          <p:cNvPr id="53" name="Round Same Side Corner Rectangle 52"/>
          <p:cNvSpPr/>
          <p:nvPr/>
        </p:nvSpPr>
        <p:spPr>
          <a:xfrm>
            <a:off x="381000" y="4284746"/>
            <a:ext cx="6798056" cy="266700"/>
          </a:xfrm>
          <a:prstGeom prst="round2SameRect">
            <a:avLst>
              <a:gd name="adj1" fmla="val 38095"/>
              <a:gd name="adj2" fmla="val 0"/>
            </a:avLst>
          </a:prstGeom>
          <a:solidFill>
            <a:srgbClr val="3F5C4A"/>
          </a:solidFill>
          <a:ln>
            <a:noFill/>
          </a:ln>
          <a:effectLst/>
        </p:spPr>
        <p:txBody>
          <a:bodyPr rtlCol="0" anchor="ctr"/>
          <a:lstStyle/>
          <a:p/>
        </p:txBody>
      </p:sp>
      <p:sp>
        <p:nvSpPr>
          <p:cNvPr id="37" name="Rounded Rectangle 36"/>
          <p:cNvSpPr/>
          <p:nvPr/>
        </p:nvSpPr>
        <p:spPr>
          <a:xfrm>
            <a:off x="381000" y="2343760"/>
            <a:ext cx="6798056" cy="1791496"/>
          </a:xfrm>
          <a:prstGeom prst="roundRect">
            <a:avLst>
              <a:gd name="adj" fmla="val 5671"/>
            </a:avLst>
          </a:prstGeom>
          <a:solidFill>
            <a:srgbClr val="FDFCF8"/>
          </a:solidFill>
          <a:ln w="10160">
            <a:solidFill>
              <a:srgbClr val="D7D4C9"/>
            </a:solidFill>
          </a:ln>
          <a:effectLst/>
        </p:spPr>
        <p:txBody>
          <a:bodyPr rtlCol="0" anchor="ctr"/>
          <a:lstStyle/>
          <a:p/>
        </p:txBody>
      </p:sp>
      <p:sp>
        <p:nvSpPr>
          <p:cNvPr id="38" name="Round Same Side Corner Rectangle 37"/>
          <p:cNvSpPr/>
          <p:nvPr/>
        </p:nvSpPr>
        <p:spPr>
          <a:xfrm>
            <a:off x="381000" y="2343760"/>
            <a:ext cx="6798056" cy="266700"/>
          </a:xfrm>
          <a:prstGeom prst="round2SameRect">
            <a:avLst>
              <a:gd name="adj1" fmla="val 38095"/>
              <a:gd name="adj2" fmla="val 0"/>
            </a:avLst>
          </a:prstGeom>
          <a:solidFill>
            <a:srgbClr val="3F5C4A"/>
          </a:solidFill>
          <a:ln>
            <a:noFill/>
          </a:ln>
          <a:effectLst/>
        </p:spPr>
        <p:txBody>
          <a:bodyPr rtlCol="0" anchor="ctr"/>
          <a:lstStyle/>
          <a:p/>
        </p:txBody>
      </p:sp>
      <p:sp>
        <p:nvSpPr>
          <p:cNvPr id="24" name="Rounded Rectangle 23"/>
          <p:cNvSpPr/>
          <p:nvPr/>
        </p:nvSpPr>
        <p:spPr>
          <a:xfrm>
            <a:off x="381000" y="1461770"/>
            <a:ext cx="6798056" cy="732500"/>
          </a:xfrm>
          <a:prstGeom prst="roundRect">
            <a:avLst>
              <a:gd name="adj" fmla="val 13870"/>
            </a:avLst>
          </a:prstGeom>
          <a:solidFill>
            <a:srgbClr val="FDFCF8"/>
          </a:solidFill>
          <a:ln w="10160">
            <a:solidFill>
              <a:srgbClr val="D7D4C9"/>
            </a:solidFill>
          </a:ln>
          <a:effectLst/>
        </p:spPr>
        <p:txBody>
          <a:bodyPr rtlCol="0" anchor="ctr"/>
          <a:lstStyle/>
          <a:p/>
        </p:txBody>
      </p:sp>
      <p:cxnSp>
        <p:nvCxnSpPr>
          <p:cNvPr id="2" name="Connector 1"/>
          <p:cNvCxnSpPr/>
          <p:nvPr/>
        </p:nvCxnSpPr>
        <p:spPr>
          <a:xfrm>
            <a:off x="38100" y="25400"/>
            <a:ext cx="660400" cy="660400"/>
          </a:xfrm>
          <a:prstGeom prst="line">
            <a:avLst/>
          </a:prstGeom>
          <a:ln w="13970">
            <a:solidFill>
              <a:srgbClr val="B08D4F"/>
            </a:solidFill>
          </a:ln>
        </p:spPr>
      </p:cxnSp>
      <p:sp>
        <p:nvSpPr>
          <p:cNvPr id="3" name="Oval 2"/>
          <p:cNvSpPr/>
          <p:nvPr/>
        </p:nvSpPr>
        <p:spPr>
          <a:xfrm>
            <a:off x="191770" y="77470"/>
            <a:ext cx="190500" cy="215900"/>
          </a:xfrm>
          <a:prstGeom prst="ellipse">
            <a:avLst/>
          </a:prstGeom>
          <a:solidFill>
            <a:srgbClr val="8FA388"/>
          </a:solidFill>
          <a:ln>
            <a:noFill/>
          </a:ln>
          <a:effectLst/>
        </p:spPr>
        <p:txBody>
          <a:bodyPr rtlCol="0" anchor="ctr"/>
          <a:lstStyle/>
          <a:p/>
        </p:txBody>
      </p:sp>
      <p:sp>
        <p:nvSpPr>
          <p:cNvPr id="4" name="Oval 3"/>
          <p:cNvSpPr/>
          <p:nvPr/>
        </p:nvSpPr>
        <p:spPr>
          <a:xfrm>
            <a:off x="330708" y="216408"/>
            <a:ext cx="203200" cy="228600"/>
          </a:xfrm>
          <a:prstGeom prst="ellipse">
            <a:avLst/>
          </a:prstGeom>
          <a:solidFill>
            <a:srgbClr val="8FA388"/>
          </a:solidFill>
          <a:ln>
            <a:noFill/>
          </a:ln>
          <a:effectLst/>
        </p:spPr>
        <p:txBody>
          <a:bodyPr rtlCol="0" anchor="ctr"/>
          <a:lstStyle/>
          <a:p/>
        </p:txBody>
      </p:sp>
      <p:sp>
        <p:nvSpPr>
          <p:cNvPr id="5" name="Oval 4"/>
          <p:cNvSpPr/>
          <p:nvPr/>
        </p:nvSpPr>
        <p:spPr>
          <a:xfrm>
            <a:off x="482345" y="368045"/>
            <a:ext cx="190500" cy="215900"/>
          </a:xfrm>
          <a:prstGeom prst="ellipse">
            <a:avLst/>
          </a:prstGeom>
          <a:solidFill>
            <a:srgbClr val="8FA388"/>
          </a:solidFill>
          <a:ln>
            <a:noFill/>
          </a:ln>
          <a:effectLst/>
        </p:spPr>
        <p:txBody>
          <a:bodyPr rtlCol="0" anchor="ctr"/>
          <a:lstStyle/>
          <a:p/>
        </p:txBody>
      </p:sp>
      <p:cxnSp>
        <p:nvCxnSpPr>
          <p:cNvPr id="6" name="Connector 5"/>
          <p:cNvCxnSpPr/>
          <p:nvPr/>
        </p:nvCxnSpPr>
        <p:spPr>
          <a:xfrm flipH="1">
            <a:off x="6861556" y="25400"/>
            <a:ext cx="660400" cy="660400"/>
          </a:xfrm>
          <a:prstGeom prst="line">
            <a:avLst/>
          </a:prstGeom>
          <a:ln w="13970">
            <a:solidFill>
              <a:srgbClr val="B08D4F"/>
            </a:solidFill>
          </a:ln>
        </p:spPr>
      </p:cxnSp>
      <p:sp>
        <p:nvSpPr>
          <p:cNvPr id="7" name="Oval 6"/>
          <p:cNvSpPr/>
          <p:nvPr/>
        </p:nvSpPr>
        <p:spPr>
          <a:xfrm>
            <a:off x="7177785" y="77470"/>
            <a:ext cx="190500" cy="215900"/>
          </a:xfrm>
          <a:prstGeom prst="ellipse">
            <a:avLst/>
          </a:prstGeom>
          <a:solidFill>
            <a:srgbClr val="8FA388"/>
          </a:solidFill>
          <a:ln>
            <a:noFill/>
          </a:ln>
          <a:effectLst/>
        </p:spPr>
        <p:txBody>
          <a:bodyPr rtlCol="0" anchor="ctr"/>
          <a:lstStyle/>
          <a:p/>
        </p:txBody>
      </p:sp>
      <p:sp>
        <p:nvSpPr>
          <p:cNvPr id="8" name="Oval 7"/>
          <p:cNvSpPr/>
          <p:nvPr/>
        </p:nvSpPr>
        <p:spPr>
          <a:xfrm>
            <a:off x="7026148" y="216408"/>
            <a:ext cx="203200" cy="228600"/>
          </a:xfrm>
          <a:prstGeom prst="ellipse">
            <a:avLst/>
          </a:prstGeom>
          <a:solidFill>
            <a:srgbClr val="8FA388"/>
          </a:solidFill>
          <a:ln>
            <a:noFill/>
          </a:ln>
          <a:effectLst/>
        </p:spPr>
        <p:txBody>
          <a:bodyPr rtlCol="0" anchor="ctr"/>
          <a:lstStyle/>
          <a:p/>
        </p:txBody>
      </p:sp>
      <p:sp>
        <p:nvSpPr>
          <p:cNvPr id="9" name="Oval 8"/>
          <p:cNvSpPr/>
          <p:nvPr/>
        </p:nvSpPr>
        <p:spPr>
          <a:xfrm>
            <a:off x="6887209" y="368045"/>
            <a:ext cx="190500" cy="215900"/>
          </a:xfrm>
          <a:prstGeom prst="ellipse">
            <a:avLst/>
          </a:prstGeom>
          <a:solidFill>
            <a:srgbClr val="8FA388"/>
          </a:solidFill>
          <a:ln>
            <a:noFill/>
          </a:ln>
          <a:effectLst/>
        </p:spPr>
        <p:txBody>
          <a:bodyPr rtlCol="0" anchor="ctr"/>
          <a:lstStyle/>
          <a:p/>
        </p:txBody>
      </p:sp>
      <p:sp>
        <p:nvSpPr>
          <p:cNvPr id="10" name="Oval 9"/>
          <p:cNvSpPr/>
          <p:nvPr/>
        </p:nvSpPr>
        <p:spPr>
          <a:xfrm>
            <a:off x="3500628" y="127000"/>
            <a:ext cx="114300" cy="215900"/>
          </a:xfrm>
          <a:prstGeom prst="ellipse">
            <a:avLst/>
          </a:prstGeom>
          <a:noFill/>
          <a:ln w="10160">
            <a:solidFill>
              <a:srgbClr val="B08D4F"/>
            </a:solidFill>
          </a:ln>
          <a:effectLst/>
        </p:spPr>
        <p:txBody>
          <a:bodyPr rtlCol="0" anchor="ctr"/>
          <a:lstStyle/>
          <a:p/>
        </p:txBody>
      </p:sp>
      <p:sp>
        <p:nvSpPr>
          <p:cNvPr id="11" name="Oval 10"/>
          <p:cNvSpPr/>
          <p:nvPr/>
        </p:nvSpPr>
        <p:spPr>
          <a:xfrm>
            <a:off x="3595878" y="127000"/>
            <a:ext cx="114300" cy="215900"/>
          </a:xfrm>
          <a:prstGeom prst="ellipse">
            <a:avLst/>
          </a:prstGeom>
          <a:noFill/>
          <a:ln w="10160">
            <a:solidFill>
              <a:srgbClr val="B08D4F"/>
            </a:solidFill>
          </a:ln>
          <a:effectLst/>
        </p:spPr>
        <p:txBody>
          <a:bodyPr rtlCol="0" anchor="ctr"/>
          <a:lstStyle/>
          <a:p/>
        </p:txBody>
      </p:sp>
      <p:sp>
        <p:nvSpPr>
          <p:cNvPr id="12" name="Oval 11"/>
          <p:cNvSpPr/>
          <p:nvPr/>
        </p:nvSpPr>
        <p:spPr>
          <a:xfrm>
            <a:off x="3691128" y="127000"/>
            <a:ext cx="114300" cy="215900"/>
          </a:xfrm>
          <a:prstGeom prst="ellipse">
            <a:avLst/>
          </a:prstGeom>
          <a:noFill/>
          <a:ln w="10160">
            <a:solidFill>
              <a:srgbClr val="B08D4F"/>
            </a:solidFill>
          </a:ln>
          <a:effectLst/>
        </p:spPr>
        <p:txBody>
          <a:bodyPr rtlCol="0" anchor="ctr"/>
          <a:lstStyle/>
          <a:p/>
        </p:txBody>
      </p:sp>
      <p:sp>
        <p:nvSpPr>
          <p:cNvPr id="13" name="Oval 12"/>
          <p:cNvSpPr/>
          <p:nvPr/>
        </p:nvSpPr>
        <p:spPr>
          <a:xfrm>
            <a:off x="3786378" y="127000"/>
            <a:ext cx="114300" cy="215900"/>
          </a:xfrm>
          <a:prstGeom prst="ellipse">
            <a:avLst/>
          </a:prstGeom>
          <a:noFill/>
          <a:ln w="10160">
            <a:solidFill>
              <a:srgbClr val="B08D4F"/>
            </a:solidFill>
          </a:ln>
          <a:effectLst/>
        </p:spPr>
        <p:txBody>
          <a:bodyPr rtlCol="0" anchor="ctr"/>
          <a:lstStyle/>
          <a:p/>
        </p:txBody>
      </p:sp>
      <p:sp>
        <p:nvSpPr>
          <p:cNvPr id="14" name="Oval 13"/>
          <p:cNvSpPr/>
          <p:nvPr/>
        </p:nvSpPr>
        <p:spPr>
          <a:xfrm>
            <a:off x="3881628" y="127000"/>
            <a:ext cx="114300" cy="215900"/>
          </a:xfrm>
          <a:prstGeom prst="ellipse">
            <a:avLst/>
          </a:prstGeom>
          <a:noFill/>
          <a:ln w="10160">
            <a:solidFill>
              <a:srgbClr val="B08D4F"/>
            </a:solidFill>
          </a:ln>
          <a:effectLst/>
        </p:spPr>
        <p:txBody>
          <a:bodyPr rtlCol="0" anchor="ctr"/>
          <a:lstStyle/>
          <a:p/>
        </p:txBody>
      </p:sp>
      <p:sp>
        <p:nvSpPr>
          <p:cNvPr id="15" name="Arc 14"/>
          <p:cNvSpPr/>
          <p:nvPr/>
        </p:nvSpPr>
        <p:spPr>
          <a:xfrm>
            <a:off x="3437128" y="165100"/>
            <a:ext cx="685800" cy="381000"/>
          </a:xfrm>
          <a:prstGeom prst="arc">
            <a:avLst>
              <a:gd name="adj1" fmla="val 18000000"/>
              <a:gd name="adj2" fmla="val 0"/>
            </a:avLst>
          </a:prstGeom>
          <a:noFill/>
          <a:ln w="10160">
            <a:solidFill>
              <a:srgbClr val="B08D4F"/>
            </a:solidFill>
          </a:ln>
          <a:effectLst/>
        </p:spPr>
        <p:txBody>
          <a:bodyPr rtlCol="0" anchor="ctr"/>
          <a:lstStyle/>
          <a:p>
            <a:pPr algn="ctr"/>
          </a:p>
        </p:txBody>
      </p:sp>
      <p:sp>
        <p:nvSpPr>
          <p:cNvPr id="16" name="TextBox 15"/>
          <p:cNvSpPr txBox="1"/>
          <p:nvPr/>
        </p:nvSpPr>
        <p:spPr>
          <a:xfrm>
            <a:off x="254000" y="635000"/>
            <a:ext cx="7052056" cy="462280"/>
          </a:xfrm>
          <a:prstGeom prst="rect">
            <a:avLst/>
          </a:prstGeom>
          <a:noFill/>
        </p:spPr>
        <p:txBody>
          <a:bodyPr wrap="square" lIns="0" rIns="0" tIns="0" bIns="0" anchor="t">
            <a:spAutoFit/>
          </a:bodyPr>
          <a:lstStyle/>
          <a:p>
            <a:pPr algn="ctr"/>
            <a:r>
              <a:rPr sz="2600" b="1" i="0">
                <a:solidFill>
                  <a:srgbClr val="3F5C4A"/>
                </a:solidFill>
                <a:latin typeface="Libre Baskerville"/>
              </a:rPr>
              <a:t>REVISÃO MENSAL</a:t>
            </a:r>
          </a:p>
        </p:txBody>
      </p:sp>
      <p:sp>
        <p:nvSpPr>
          <p:cNvPr id="17" name="TextBox 16"/>
          <p:cNvSpPr txBox="1"/>
          <p:nvPr/>
        </p:nvSpPr>
        <p:spPr>
          <a:xfrm>
            <a:off x="508000" y="1080770"/>
            <a:ext cx="6544056" cy="177800"/>
          </a:xfrm>
          <a:prstGeom prst="rect">
            <a:avLst/>
          </a:prstGeom>
          <a:noFill/>
        </p:spPr>
        <p:txBody>
          <a:bodyPr wrap="square" lIns="0" rIns="0" tIns="0" bIns="0" anchor="t">
            <a:spAutoFit/>
          </a:bodyPr>
          <a:lstStyle/>
          <a:p>
            <a:pPr algn="ctr"/>
            <a:r>
              <a:rPr sz="950" b="0" i="0">
                <a:solidFill>
                  <a:srgbClr val="2A2A26"/>
                </a:solidFill>
                <a:latin typeface="Montserrat"/>
              </a:rPr>
              <a:t>Fechamento e melhorias contínuas</a:t>
            </a:r>
          </a:p>
        </p:txBody>
      </p:sp>
      <p:sp>
        <p:nvSpPr>
          <p:cNvPr id="18" name="TextBox 17"/>
          <p:cNvSpPr txBox="1"/>
          <p:nvPr/>
        </p:nvSpPr>
        <p:spPr>
          <a:xfrm>
            <a:off x="762000" y="10196703"/>
            <a:ext cx="6036056" cy="127000"/>
          </a:xfrm>
          <a:prstGeom prst="rect">
            <a:avLst/>
          </a:prstGeom>
          <a:noFill/>
        </p:spPr>
        <p:txBody>
          <a:bodyPr wrap="square" lIns="0" rIns="0" tIns="0" bIns="0" anchor="t">
            <a:spAutoFit/>
          </a:bodyPr>
          <a:lstStyle/>
          <a:p>
            <a:pPr algn="ctr"/>
            <a:r>
              <a:rPr sz="650" b="0" i="0">
                <a:solidFill>
                  <a:srgbClr val="77776E"/>
                </a:solidFill>
                <a:latin typeface="Montserrat"/>
              </a:rPr>
              <a:t>MASSOTERAPIA • CUIDADO • BEM-ESTAR</a:t>
            </a:r>
          </a:p>
        </p:txBody>
      </p:sp>
      <p:cxnSp>
        <p:nvCxnSpPr>
          <p:cNvPr id="19" name="Connector 18"/>
          <p:cNvCxnSpPr/>
          <p:nvPr/>
        </p:nvCxnSpPr>
        <p:spPr>
          <a:xfrm>
            <a:off x="1968500" y="10336403"/>
            <a:ext cx="3623056" cy="0"/>
          </a:xfrm>
          <a:prstGeom prst="line">
            <a:avLst/>
          </a:prstGeom>
          <a:ln w="8890">
            <a:solidFill>
              <a:srgbClr val="B08D4F"/>
            </a:solidFill>
          </a:ln>
        </p:spPr>
      </p:cxnSp>
      <p:sp>
        <p:nvSpPr>
          <p:cNvPr id="20" name="TextBox 19"/>
          <p:cNvSpPr txBox="1"/>
          <p:nvPr/>
        </p:nvSpPr>
        <p:spPr>
          <a:xfrm>
            <a:off x="533400" y="1700953"/>
            <a:ext cx="3056128" cy="169938"/>
          </a:xfrm>
          <a:prstGeom prst="rect">
            <a:avLst/>
          </a:prstGeom>
          <a:noFill/>
        </p:spPr>
        <p:txBody>
          <a:bodyPr wrap="square" lIns="0" rIns="0" tIns="0" bIns="0" anchor="t">
            <a:spAutoFit/>
          </a:bodyPr>
          <a:lstStyle/>
          <a:p>
            <a:pPr algn="l"/>
            <a:r>
              <a:rPr sz="955" b="0" i="0">
                <a:solidFill>
                  <a:srgbClr val="2A2A26"/>
                </a:solidFill>
                <a:latin typeface="Montserrat"/>
              </a:rPr>
              <a:t>Mês / ano:</a:t>
            </a:r>
          </a:p>
        </p:txBody>
      </p:sp>
      <p:cxnSp>
        <p:nvCxnSpPr>
          <p:cNvPr id="21" name="Connector 20"/>
          <p:cNvCxnSpPr/>
          <p:nvPr/>
        </p:nvCxnSpPr>
        <p:spPr>
          <a:xfrm>
            <a:off x="1217868" y="1846614"/>
            <a:ext cx="2371660" cy="0"/>
          </a:xfrm>
          <a:prstGeom prst="line">
            <a:avLst/>
          </a:prstGeom>
          <a:ln w="7620">
            <a:solidFill>
              <a:srgbClr val="B4B2A8"/>
            </a:solidFill>
          </a:ln>
        </p:spPr>
      </p:cxnSp>
      <p:sp>
        <p:nvSpPr>
          <p:cNvPr id="22" name="TextBox 21"/>
          <p:cNvSpPr txBox="1"/>
          <p:nvPr/>
        </p:nvSpPr>
        <p:spPr>
          <a:xfrm>
            <a:off x="3970528" y="1700953"/>
            <a:ext cx="3056128" cy="169938"/>
          </a:xfrm>
          <a:prstGeom prst="rect">
            <a:avLst/>
          </a:prstGeom>
          <a:noFill/>
        </p:spPr>
        <p:txBody>
          <a:bodyPr wrap="square" lIns="0" rIns="0" tIns="0" bIns="0" anchor="t">
            <a:spAutoFit/>
          </a:bodyPr>
          <a:lstStyle/>
          <a:p>
            <a:pPr algn="l"/>
            <a:r>
              <a:rPr sz="955" b="0" i="0">
                <a:solidFill>
                  <a:srgbClr val="2A2A26"/>
                </a:solidFill>
                <a:latin typeface="Montserrat"/>
              </a:rPr>
              <a:t>Data da revisão:</a:t>
            </a:r>
          </a:p>
        </p:txBody>
      </p:sp>
      <p:cxnSp>
        <p:nvCxnSpPr>
          <p:cNvPr id="23" name="Connector 22"/>
          <p:cNvCxnSpPr/>
          <p:nvPr/>
        </p:nvCxnSpPr>
        <p:spPr>
          <a:xfrm>
            <a:off x="5004943" y="1846614"/>
            <a:ext cx="2021713" cy="0"/>
          </a:xfrm>
          <a:prstGeom prst="line">
            <a:avLst/>
          </a:prstGeom>
          <a:ln w="7620">
            <a:solidFill>
              <a:srgbClr val="B4B2A8"/>
            </a:solidFill>
          </a:ln>
        </p:spPr>
      </p:cxnSp>
      <p:sp>
        <p:nvSpPr>
          <p:cNvPr id="25" name="TextBox 24"/>
          <p:cNvSpPr txBox="1"/>
          <p:nvPr/>
        </p:nvSpPr>
        <p:spPr>
          <a:xfrm>
            <a:off x="533400" y="2819745"/>
            <a:ext cx="3056128" cy="166161"/>
          </a:xfrm>
          <a:prstGeom prst="rect">
            <a:avLst/>
          </a:prstGeom>
          <a:noFill/>
        </p:spPr>
        <p:txBody>
          <a:bodyPr wrap="square" lIns="0" rIns="0" tIns="0" bIns="0" anchor="t">
            <a:spAutoFit/>
          </a:bodyPr>
          <a:lstStyle/>
          <a:p>
            <a:pPr algn="l"/>
            <a:r>
              <a:rPr sz="934" b="0" i="0">
                <a:solidFill>
                  <a:srgbClr val="2A2A26"/>
                </a:solidFill>
                <a:latin typeface="Montserrat"/>
              </a:rPr>
              <a:t>Atendimentos realizados:</a:t>
            </a:r>
          </a:p>
        </p:txBody>
      </p:sp>
      <p:cxnSp>
        <p:nvCxnSpPr>
          <p:cNvPr id="26" name="Connector 25"/>
          <p:cNvCxnSpPr/>
          <p:nvPr/>
        </p:nvCxnSpPr>
        <p:spPr>
          <a:xfrm>
            <a:off x="2110024" y="2962170"/>
            <a:ext cx="1479504" cy="0"/>
          </a:xfrm>
          <a:prstGeom prst="line">
            <a:avLst/>
          </a:prstGeom>
          <a:ln w="7620">
            <a:solidFill>
              <a:srgbClr val="B4B2A8"/>
            </a:solidFill>
          </a:ln>
        </p:spPr>
      </p:cxnSp>
      <p:sp>
        <p:nvSpPr>
          <p:cNvPr id="27" name="TextBox 26"/>
          <p:cNvSpPr txBox="1"/>
          <p:nvPr/>
        </p:nvSpPr>
        <p:spPr>
          <a:xfrm>
            <a:off x="533400" y="3178521"/>
            <a:ext cx="3056128" cy="166161"/>
          </a:xfrm>
          <a:prstGeom prst="rect">
            <a:avLst/>
          </a:prstGeom>
          <a:noFill/>
        </p:spPr>
        <p:txBody>
          <a:bodyPr wrap="square" lIns="0" rIns="0" tIns="0" bIns="0" anchor="t">
            <a:spAutoFit/>
          </a:bodyPr>
          <a:lstStyle/>
          <a:p>
            <a:pPr algn="l"/>
            <a:r>
              <a:rPr sz="934" b="0" i="0">
                <a:solidFill>
                  <a:srgbClr val="2A2A26"/>
                </a:solidFill>
                <a:latin typeface="Montserrat"/>
              </a:rPr>
              <a:t>Clientes ativos:</a:t>
            </a:r>
          </a:p>
        </p:txBody>
      </p:sp>
      <p:cxnSp>
        <p:nvCxnSpPr>
          <p:cNvPr id="28" name="Connector 27"/>
          <p:cNvCxnSpPr/>
          <p:nvPr/>
        </p:nvCxnSpPr>
        <p:spPr>
          <a:xfrm>
            <a:off x="1486362" y="3320945"/>
            <a:ext cx="2103166" cy="0"/>
          </a:xfrm>
          <a:prstGeom prst="line">
            <a:avLst/>
          </a:prstGeom>
          <a:ln w="7620">
            <a:solidFill>
              <a:srgbClr val="B4B2A8"/>
            </a:solidFill>
          </a:ln>
        </p:spPr>
      </p:cxnSp>
      <p:sp>
        <p:nvSpPr>
          <p:cNvPr id="29" name="TextBox 28"/>
          <p:cNvSpPr txBox="1"/>
          <p:nvPr/>
        </p:nvSpPr>
        <p:spPr>
          <a:xfrm>
            <a:off x="533400" y="3537297"/>
            <a:ext cx="3056128" cy="166161"/>
          </a:xfrm>
          <a:prstGeom prst="rect">
            <a:avLst/>
          </a:prstGeom>
          <a:noFill/>
        </p:spPr>
        <p:txBody>
          <a:bodyPr wrap="square" lIns="0" rIns="0" tIns="0" bIns="0" anchor="t">
            <a:spAutoFit/>
          </a:bodyPr>
          <a:lstStyle/>
          <a:p>
            <a:pPr algn="l"/>
            <a:r>
              <a:rPr sz="934" b="0" i="0">
                <a:solidFill>
                  <a:srgbClr val="2A2A26"/>
                </a:solidFill>
                <a:latin typeface="Montserrat"/>
              </a:rPr>
              <a:t>Valor recebido:</a:t>
            </a:r>
          </a:p>
        </p:txBody>
      </p:sp>
      <p:cxnSp>
        <p:nvCxnSpPr>
          <p:cNvPr id="30" name="Connector 29"/>
          <p:cNvCxnSpPr/>
          <p:nvPr/>
        </p:nvCxnSpPr>
        <p:spPr>
          <a:xfrm>
            <a:off x="1488606" y="3679721"/>
            <a:ext cx="2100922" cy="0"/>
          </a:xfrm>
          <a:prstGeom prst="line">
            <a:avLst/>
          </a:prstGeom>
          <a:ln w="7620">
            <a:solidFill>
              <a:srgbClr val="B4B2A8"/>
            </a:solidFill>
          </a:ln>
        </p:spPr>
      </p:cxnSp>
      <p:sp>
        <p:nvSpPr>
          <p:cNvPr id="31" name="TextBox 30"/>
          <p:cNvSpPr txBox="1"/>
          <p:nvPr/>
        </p:nvSpPr>
        <p:spPr>
          <a:xfrm>
            <a:off x="3970528" y="2819745"/>
            <a:ext cx="3056128" cy="166161"/>
          </a:xfrm>
          <a:prstGeom prst="rect">
            <a:avLst/>
          </a:prstGeom>
          <a:noFill/>
        </p:spPr>
        <p:txBody>
          <a:bodyPr wrap="square" lIns="0" rIns="0" tIns="0" bIns="0" anchor="t">
            <a:spAutoFit/>
          </a:bodyPr>
          <a:lstStyle/>
          <a:p>
            <a:pPr algn="l"/>
            <a:r>
              <a:rPr sz="934" b="0" i="0">
                <a:solidFill>
                  <a:srgbClr val="2A2A26"/>
                </a:solidFill>
                <a:latin typeface="Montserrat"/>
              </a:rPr>
              <a:t>Faltas / cancelamentos:</a:t>
            </a:r>
          </a:p>
        </p:txBody>
      </p:sp>
      <p:cxnSp>
        <p:nvCxnSpPr>
          <p:cNvPr id="32" name="Connector 31"/>
          <p:cNvCxnSpPr/>
          <p:nvPr/>
        </p:nvCxnSpPr>
        <p:spPr>
          <a:xfrm>
            <a:off x="5433676" y="2962170"/>
            <a:ext cx="1592980" cy="0"/>
          </a:xfrm>
          <a:prstGeom prst="line">
            <a:avLst/>
          </a:prstGeom>
          <a:ln w="7620">
            <a:solidFill>
              <a:srgbClr val="B4B2A8"/>
            </a:solidFill>
          </a:ln>
        </p:spPr>
      </p:cxnSp>
      <p:sp>
        <p:nvSpPr>
          <p:cNvPr id="33" name="TextBox 32"/>
          <p:cNvSpPr txBox="1"/>
          <p:nvPr/>
        </p:nvSpPr>
        <p:spPr>
          <a:xfrm>
            <a:off x="3970528" y="3178521"/>
            <a:ext cx="3056128" cy="166161"/>
          </a:xfrm>
          <a:prstGeom prst="rect">
            <a:avLst/>
          </a:prstGeom>
          <a:noFill/>
        </p:spPr>
        <p:txBody>
          <a:bodyPr wrap="square" lIns="0" rIns="0" tIns="0" bIns="0" anchor="t">
            <a:spAutoFit/>
          </a:bodyPr>
          <a:lstStyle/>
          <a:p>
            <a:pPr algn="l"/>
            <a:r>
              <a:rPr sz="934" b="0" i="0">
                <a:solidFill>
                  <a:srgbClr val="2A2A26"/>
                </a:solidFill>
                <a:latin typeface="Montserrat"/>
              </a:rPr>
              <a:t>Novos clientes:</a:t>
            </a:r>
          </a:p>
        </p:txBody>
      </p:sp>
      <p:cxnSp>
        <p:nvCxnSpPr>
          <p:cNvPr id="34" name="Connector 33"/>
          <p:cNvCxnSpPr/>
          <p:nvPr/>
        </p:nvCxnSpPr>
        <p:spPr>
          <a:xfrm>
            <a:off x="4924194" y="3320945"/>
            <a:ext cx="2102462" cy="0"/>
          </a:xfrm>
          <a:prstGeom prst="line">
            <a:avLst/>
          </a:prstGeom>
          <a:ln w="7620">
            <a:solidFill>
              <a:srgbClr val="B4B2A8"/>
            </a:solidFill>
          </a:ln>
        </p:spPr>
      </p:cxnSp>
      <p:sp>
        <p:nvSpPr>
          <p:cNvPr id="35" name="TextBox 34"/>
          <p:cNvSpPr txBox="1"/>
          <p:nvPr/>
        </p:nvSpPr>
        <p:spPr>
          <a:xfrm>
            <a:off x="3970528" y="3537297"/>
            <a:ext cx="3056128" cy="166161"/>
          </a:xfrm>
          <a:prstGeom prst="rect">
            <a:avLst/>
          </a:prstGeom>
          <a:noFill/>
        </p:spPr>
        <p:txBody>
          <a:bodyPr wrap="square" lIns="0" rIns="0" tIns="0" bIns="0" anchor="t">
            <a:spAutoFit/>
          </a:bodyPr>
          <a:lstStyle/>
          <a:p>
            <a:pPr algn="l"/>
            <a:r>
              <a:rPr sz="934" b="0" i="0">
                <a:solidFill>
                  <a:srgbClr val="2A2A26"/>
                </a:solidFill>
                <a:latin typeface="Montserrat"/>
              </a:rPr>
              <a:t>Pendências financeiras:</a:t>
            </a:r>
          </a:p>
        </p:txBody>
      </p:sp>
      <p:cxnSp>
        <p:nvCxnSpPr>
          <p:cNvPr id="36" name="Connector 35"/>
          <p:cNvCxnSpPr/>
          <p:nvPr/>
        </p:nvCxnSpPr>
        <p:spPr>
          <a:xfrm>
            <a:off x="5439518" y="3679721"/>
            <a:ext cx="1587138" cy="0"/>
          </a:xfrm>
          <a:prstGeom prst="line">
            <a:avLst/>
          </a:prstGeom>
          <a:ln w="7620">
            <a:solidFill>
              <a:srgbClr val="B4B2A8"/>
            </a:solidFill>
          </a:ln>
        </p:spPr>
      </p:cxnSp>
      <p:sp>
        <p:nvSpPr>
          <p:cNvPr id="39" name="TextBox 38"/>
          <p:cNvSpPr txBox="1"/>
          <p:nvPr/>
        </p:nvSpPr>
        <p:spPr>
          <a:xfrm>
            <a:off x="508000" y="2343760"/>
            <a:ext cx="6544056" cy="266700"/>
          </a:xfrm>
          <a:prstGeom prst="rect">
            <a:avLst/>
          </a:prstGeom>
          <a:noFill/>
        </p:spPr>
        <p:txBody>
          <a:bodyPr wrap="square" lIns="0" rIns="0" tIns="0" bIns="0" anchor="ctr">
            <a:spAutoFit/>
          </a:bodyPr>
          <a:lstStyle/>
          <a:p>
            <a:pPr algn="l"/>
            <a:r>
              <a:rPr sz="840" b="1" i="0">
                <a:solidFill>
                  <a:srgbClr val="FFFFFF"/>
                </a:solidFill>
                <a:latin typeface="Montserrat"/>
              </a:rPr>
              <a:t>INDICADORES ADMINISTRATIVOS</a:t>
            </a:r>
          </a:p>
        </p:txBody>
      </p:sp>
      <p:sp>
        <p:nvSpPr>
          <p:cNvPr id="40" name="Rectangle 39"/>
          <p:cNvSpPr/>
          <p:nvPr/>
        </p:nvSpPr>
        <p:spPr>
          <a:xfrm>
            <a:off x="533400" y="4732686"/>
            <a:ext cx="107950" cy="107950"/>
          </a:xfrm>
          <a:prstGeom prst="rect">
            <a:avLst/>
          </a:prstGeom>
          <a:solidFill>
            <a:srgbClr val="FDFCF8"/>
          </a:solidFill>
          <a:ln w="7620">
            <a:solidFill>
              <a:srgbClr val="2A2A26"/>
            </a:solidFill>
          </a:ln>
          <a:effectLst/>
        </p:spPr>
        <p:txBody>
          <a:bodyPr rtlCol="0" anchor="ctr"/>
          <a:lstStyle/>
          <a:p/>
        </p:txBody>
      </p:sp>
      <p:sp>
        <p:nvSpPr>
          <p:cNvPr id="41" name="TextBox 40"/>
          <p:cNvSpPr txBox="1"/>
          <p:nvPr/>
        </p:nvSpPr>
        <p:spPr>
          <a:xfrm>
            <a:off x="711200" y="4726336"/>
            <a:ext cx="3043428" cy="147279"/>
          </a:xfrm>
          <a:prstGeom prst="rect">
            <a:avLst/>
          </a:prstGeom>
          <a:noFill/>
        </p:spPr>
        <p:txBody>
          <a:bodyPr wrap="square" lIns="0" rIns="0" tIns="0" bIns="0" anchor="t">
            <a:spAutoFit/>
          </a:bodyPr>
          <a:lstStyle/>
          <a:p>
            <a:pPr algn="l"/>
            <a:r>
              <a:rPr sz="828" b="0" i="0">
                <a:solidFill>
                  <a:srgbClr val="2A2A26"/>
                </a:solidFill>
                <a:latin typeface="Montserrat"/>
              </a:rPr>
              <a:t>Agenda atualizada</a:t>
            </a:r>
          </a:p>
        </p:txBody>
      </p:sp>
      <p:sp>
        <p:nvSpPr>
          <p:cNvPr id="42" name="Rectangle 41"/>
          <p:cNvSpPr/>
          <p:nvPr/>
        </p:nvSpPr>
        <p:spPr>
          <a:xfrm>
            <a:off x="3780028" y="4732686"/>
            <a:ext cx="107950" cy="107950"/>
          </a:xfrm>
          <a:prstGeom prst="rect">
            <a:avLst/>
          </a:prstGeom>
          <a:solidFill>
            <a:srgbClr val="FDFCF8"/>
          </a:solidFill>
          <a:ln w="7620">
            <a:solidFill>
              <a:srgbClr val="2A2A26"/>
            </a:solidFill>
          </a:ln>
          <a:effectLst/>
        </p:spPr>
        <p:txBody>
          <a:bodyPr rtlCol="0" anchor="ctr"/>
          <a:lstStyle/>
          <a:p/>
        </p:txBody>
      </p:sp>
      <p:sp>
        <p:nvSpPr>
          <p:cNvPr id="43" name="TextBox 42"/>
          <p:cNvSpPr txBox="1"/>
          <p:nvPr/>
        </p:nvSpPr>
        <p:spPr>
          <a:xfrm>
            <a:off x="3957828" y="4726336"/>
            <a:ext cx="3043428" cy="147279"/>
          </a:xfrm>
          <a:prstGeom prst="rect">
            <a:avLst/>
          </a:prstGeom>
          <a:noFill/>
        </p:spPr>
        <p:txBody>
          <a:bodyPr wrap="square" lIns="0" rIns="0" tIns="0" bIns="0" anchor="t">
            <a:spAutoFit/>
          </a:bodyPr>
          <a:lstStyle/>
          <a:p>
            <a:pPr algn="l"/>
            <a:r>
              <a:rPr sz="828" b="0" i="0">
                <a:solidFill>
                  <a:srgbClr val="2A2A26"/>
                </a:solidFill>
                <a:latin typeface="Montserrat"/>
              </a:rPr>
              <a:t>Registros em dia</a:t>
            </a:r>
          </a:p>
        </p:txBody>
      </p:sp>
      <p:sp>
        <p:nvSpPr>
          <p:cNvPr id="44" name="Rectangle 43"/>
          <p:cNvSpPr/>
          <p:nvPr/>
        </p:nvSpPr>
        <p:spPr>
          <a:xfrm>
            <a:off x="533400" y="5016717"/>
            <a:ext cx="107950" cy="107950"/>
          </a:xfrm>
          <a:prstGeom prst="rect">
            <a:avLst/>
          </a:prstGeom>
          <a:solidFill>
            <a:srgbClr val="FDFCF8"/>
          </a:solidFill>
          <a:ln w="7620">
            <a:solidFill>
              <a:srgbClr val="2A2A26"/>
            </a:solidFill>
          </a:ln>
          <a:effectLst/>
        </p:spPr>
        <p:txBody>
          <a:bodyPr rtlCol="0" anchor="ctr"/>
          <a:lstStyle/>
          <a:p/>
        </p:txBody>
      </p:sp>
      <p:sp>
        <p:nvSpPr>
          <p:cNvPr id="45" name="TextBox 44"/>
          <p:cNvSpPr txBox="1"/>
          <p:nvPr/>
        </p:nvSpPr>
        <p:spPr>
          <a:xfrm>
            <a:off x="711200" y="5010367"/>
            <a:ext cx="3043428" cy="147279"/>
          </a:xfrm>
          <a:prstGeom prst="rect">
            <a:avLst/>
          </a:prstGeom>
          <a:noFill/>
        </p:spPr>
        <p:txBody>
          <a:bodyPr wrap="square" lIns="0" rIns="0" tIns="0" bIns="0" anchor="t">
            <a:spAutoFit/>
          </a:bodyPr>
          <a:lstStyle/>
          <a:p>
            <a:pPr algn="l"/>
            <a:r>
              <a:rPr sz="828" b="0" i="0">
                <a:solidFill>
                  <a:srgbClr val="2A2A26"/>
                </a:solidFill>
                <a:latin typeface="Montserrat"/>
              </a:rPr>
              <a:t>Recibos emitidos</a:t>
            </a:r>
          </a:p>
        </p:txBody>
      </p:sp>
      <p:sp>
        <p:nvSpPr>
          <p:cNvPr id="46" name="Rectangle 45"/>
          <p:cNvSpPr/>
          <p:nvPr/>
        </p:nvSpPr>
        <p:spPr>
          <a:xfrm>
            <a:off x="3780028" y="5016717"/>
            <a:ext cx="107950" cy="107950"/>
          </a:xfrm>
          <a:prstGeom prst="rect">
            <a:avLst/>
          </a:prstGeom>
          <a:solidFill>
            <a:srgbClr val="FDFCF8"/>
          </a:solidFill>
          <a:ln w="7620">
            <a:solidFill>
              <a:srgbClr val="2A2A26"/>
            </a:solidFill>
          </a:ln>
          <a:effectLst/>
        </p:spPr>
        <p:txBody>
          <a:bodyPr rtlCol="0" anchor="ctr"/>
          <a:lstStyle/>
          <a:p/>
        </p:txBody>
      </p:sp>
      <p:sp>
        <p:nvSpPr>
          <p:cNvPr id="47" name="TextBox 46"/>
          <p:cNvSpPr txBox="1"/>
          <p:nvPr/>
        </p:nvSpPr>
        <p:spPr>
          <a:xfrm>
            <a:off x="3957828" y="5010367"/>
            <a:ext cx="3043428" cy="147279"/>
          </a:xfrm>
          <a:prstGeom prst="rect">
            <a:avLst/>
          </a:prstGeom>
          <a:noFill/>
        </p:spPr>
        <p:txBody>
          <a:bodyPr wrap="square" lIns="0" rIns="0" tIns="0" bIns="0" anchor="t">
            <a:spAutoFit/>
          </a:bodyPr>
          <a:lstStyle/>
          <a:p>
            <a:pPr algn="l"/>
            <a:r>
              <a:rPr sz="828" b="0" i="0">
                <a:solidFill>
                  <a:srgbClr val="2A2A26"/>
                </a:solidFill>
                <a:latin typeface="Montserrat"/>
              </a:rPr>
              <a:t>Mensagens respondidas</a:t>
            </a:r>
          </a:p>
        </p:txBody>
      </p:sp>
      <p:sp>
        <p:nvSpPr>
          <p:cNvPr id="48" name="Rectangle 47"/>
          <p:cNvSpPr/>
          <p:nvPr/>
        </p:nvSpPr>
        <p:spPr>
          <a:xfrm>
            <a:off x="533400" y="5300747"/>
            <a:ext cx="107950" cy="107950"/>
          </a:xfrm>
          <a:prstGeom prst="rect">
            <a:avLst/>
          </a:prstGeom>
          <a:solidFill>
            <a:srgbClr val="FDFCF8"/>
          </a:solidFill>
          <a:ln w="7620">
            <a:solidFill>
              <a:srgbClr val="2A2A26"/>
            </a:solidFill>
          </a:ln>
          <a:effectLst/>
        </p:spPr>
        <p:txBody>
          <a:bodyPr rtlCol="0" anchor="ctr"/>
          <a:lstStyle/>
          <a:p/>
        </p:txBody>
      </p:sp>
      <p:sp>
        <p:nvSpPr>
          <p:cNvPr id="49" name="TextBox 48"/>
          <p:cNvSpPr txBox="1"/>
          <p:nvPr/>
        </p:nvSpPr>
        <p:spPr>
          <a:xfrm>
            <a:off x="711200" y="5294397"/>
            <a:ext cx="3043428" cy="147279"/>
          </a:xfrm>
          <a:prstGeom prst="rect">
            <a:avLst/>
          </a:prstGeom>
          <a:noFill/>
        </p:spPr>
        <p:txBody>
          <a:bodyPr wrap="square" lIns="0" rIns="0" tIns="0" bIns="0" anchor="t">
            <a:spAutoFit/>
          </a:bodyPr>
          <a:lstStyle/>
          <a:p>
            <a:pPr algn="l"/>
            <a:r>
              <a:rPr sz="828" b="0" i="0">
                <a:solidFill>
                  <a:srgbClr val="2A2A26"/>
                </a:solidFill>
                <a:latin typeface="Montserrat"/>
              </a:rPr>
              <a:t>Estoque / materiais conferidos</a:t>
            </a:r>
          </a:p>
        </p:txBody>
      </p:sp>
      <p:sp>
        <p:nvSpPr>
          <p:cNvPr id="50" name="Rectangle 49"/>
          <p:cNvSpPr/>
          <p:nvPr/>
        </p:nvSpPr>
        <p:spPr>
          <a:xfrm>
            <a:off x="3780028" y="5300747"/>
            <a:ext cx="107950" cy="107950"/>
          </a:xfrm>
          <a:prstGeom prst="rect">
            <a:avLst/>
          </a:prstGeom>
          <a:solidFill>
            <a:srgbClr val="FDFCF8"/>
          </a:solidFill>
          <a:ln w="7620">
            <a:solidFill>
              <a:srgbClr val="2A2A26"/>
            </a:solidFill>
          </a:ln>
          <a:effectLst/>
        </p:spPr>
        <p:txBody>
          <a:bodyPr rtlCol="0" anchor="ctr"/>
          <a:lstStyle/>
          <a:p/>
        </p:txBody>
      </p:sp>
      <p:sp>
        <p:nvSpPr>
          <p:cNvPr id="51" name="TextBox 50"/>
          <p:cNvSpPr txBox="1"/>
          <p:nvPr/>
        </p:nvSpPr>
        <p:spPr>
          <a:xfrm>
            <a:off x="3957828" y="5294397"/>
            <a:ext cx="3043428" cy="147279"/>
          </a:xfrm>
          <a:prstGeom prst="rect">
            <a:avLst/>
          </a:prstGeom>
          <a:noFill/>
        </p:spPr>
        <p:txBody>
          <a:bodyPr wrap="square" lIns="0" rIns="0" tIns="0" bIns="0" anchor="t">
            <a:spAutoFit/>
          </a:bodyPr>
          <a:lstStyle/>
          <a:p>
            <a:pPr algn="l"/>
            <a:r>
              <a:rPr sz="828" b="0" i="0">
                <a:solidFill>
                  <a:srgbClr val="2A2A26"/>
                </a:solidFill>
                <a:latin typeface="Montserrat"/>
              </a:rPr>
              <a:t>Metas acompanhadas</a:t>
            </a:r>
          </a:p>
        </p:txBody>
      </p:sp>
      <p:sp>
        <p:nvSpPr>
          <p:cNvPr id="54" name="TextBox 53"/>
          <p:cNvSpPr txBox="1"/>
          <p:nvPr/>
        </p:nvSpPr>
        <p:spPr>
          <a:xfrm>
            <a:off x="508000" y="4284746"/>
            <a:ext cx="6544056" cy="266700"/>
          </a:xfrm>
          <a:prstGeom prst="rect">
            <a:avLst/>
          </a:prstGeom>
          <a:noFill/>
        </p:spPr>
        <p:txBody>
          <a:bodyPr wrap="square" lIns="0" rIns="0" tIns="0" bIns="0" anchor="ctr">
            <a:spAutoFit/>
          </a:bodyPr>
          <a:lstStyle/>
          <a:p>
            <a:pPr algn="l"/>
            <a:r>
              <a:rPr sz="840" b="1" i="0">
                <a:solidFill>
                  <a:srgbClr val="FFFFFF"/>
                </a:solidFill>
                <a:latin typeface="Montserrat"/>
              </a:rPr>
              <a:t>REVISÃO DA ROTINA</a:t>
            </a:r>
          </a:p>
        </p:txBody>
      </p:sp>
      <p:cxnSp>
        <p:nvCxnSpPr>
          <p:cNvPr id="55" name="Connector 54"/>
          <p:cNvCxnSpPr/>
          <p:nvPr/>
        </p:nvCxnSpPr>
        <p:spPr>
          <a:xfrm>
            <a:off x="533400" y="6509630"/>
            <a:ext cx="6493256" cy="0"/>
          </a:xfrm>
          <a:prstGeom prst="line">
            <a:avLst/>
          </a:prstGeom>
          <a:ln w="7620">
            <a:solidFill>
              <a:srgbClr val="B4B2A8"/>
            </a:solidFill>
          </a:ln>
        </p:spPr>
      </p:cxnSp>
      <p:cxnSp>
        <p:nvCxnSpPr>
          <p:cNvPr id="56" name="Connector 55"/>
          <p:cNvCxnSpPr/>
          <p:nvPr/>
        </p:nvCxnSpPr>
        <p:spPr>
          <a:xfrm>
            <a:off x="533400" y="6763763"/>
            <a:ext cx="6493256" cy="0"/>
          </a:xfrm>
          <a:prstGeom prst="line">
            <a:avLst/>
          </a:prstGeom>
          <a:ln w="7620">
            <a:solidFill>
              <a:srgbClr val="B4B2A8"/>
            </a:solidFill>
          </a:ln>
        </p:spPr>
      </p:cxnSp>
      <p:cxnSp>
        <p:nvCxnSpPr>
          <p:cNvPr id="57" name="Connector 56"/>
          <p:cNvCxnSpPr/>
          <p:nvPr/>
        </p:nvCxnSpPr>
        <p:spPr>
          <a:xfrm>
            <a:off x="533400" y="7017896"/>
            <a:ext cx="6493256" cy="0"/>
          </a:xfrm>
          <a:prstGeom prst="line">
            <a:avLst/>
          </a:prstGeom>
          <a:ln w="7620">
            <a:solidFill>
              <a:srgbClr val="B4B2A8"/>
            </a:solidFill>
          </a:ln>
        </p:spPr>
      </p:cxnSp>
      <p:cxnSp>
        <p:nvCxnSpPr>
          <p:cNvPr id="58" name="Connector 57"/>
          <p:cNvCxnSpPr/>
          <p:nvPr/>
        </p:nvCxnSpPr>
        <p:spPr>
          <a:xfrm>
            <a:off x="533400" y="7272029"/>
            <a:ext cx="6493256" cy="0"/>
          </a:xfrm>
          <a:prstGeom prst="line">
            <a:avLst/>
          </a:prstGeom>
          <a:ln w="7620">
            <a:solidFill>
              <a:srgbClr val="B4B2A8"/>
            </a:solidFill>
          </a:ln>
        </p:spPr>
      </p:cxnSp>
      <p:sp>
        <p:nvSpPr>
          <p:cNvPr id="61" name="TextBox 60"/>
          <p:cNvSpPr txBox="1"/>
          <p:nvPr/>
        </p:nvSpPr>
        <p:spPr>
          <a:xfrm>
            <a:off x="508000" y="5877408"/>
            <a:ext cx="6544056" cy="266700"/>
          </a:xfrm>
          <a:prstGeom prst="rect">
            <a:avLst/>
          </a:prstGeom>
          <a:noFill/>
        </p:spPr>
        <p:txBody>
          <a:bodyPr wrap="square" lIns="0" rIns="0" tIns="0" bIns="0" anchor="ctr">
            <a:spAutoFit/>
          </a:bodyPr>
          <a:lstStyle/>
          <a:p>
            <a:pPr algn="l"/>
            <a:r>
              <a:rPr sz="840" b="1" i="0">
                <a:solidFill>
                  <a:srgbClr val="FFFFFF"/>
                </a:solidFill>
                <a:latin typeface="Montserrat"/>
              </a:rPr>
              <a:t>O QUE FUNCIONOU BEM NESTE MÊS?</a:t>
            </a:r>
          </a:p>
        </p:txBody>
      </p:sp>
      <p:cxnSp>
        <p:nvCxnSpPr>
          <p:cNvPr id="62" name="Connector 61"/>
          <p:cNvCxnSpPr/>
          <p:nvPr/>
        </p:nvCxnSpPr>
        <p:spPr>
          <a:xfrm>
            <a:off x="533400" y="8241331"/>
            <a:ext cx="6493256" cy="0"/>
          </a:xfrm>
          <a:prstGeom prst="line">
            <a:avLst/>
          </a:prstGeom>
          <a:ln w="7620">
            <a:solidFill>
              <a:srgbClr val="B4B2A8"/>
            </a:solidFill>
          </a:ln>
        </p:spPr>
      </p:cxnSp>
      <p:cxnSp>
        <p:nvCxnSpPr>
          <p:cNvPr id="63" name="Connector 62"/>
          <p:cNvCxnSpPr/>
          <p:nvPr/>
        </p:nvCxnSpPr>
        <p:spPr>
          <a:xfrm>
            <a:off x="533400" y="8495464"/>
            <a:ext cx="6493256" cy="0"/>
          </a:xfrm>
          <a:prstGeom prst="line">
            <a:avLst/>
          </a:prstGeom>
          <a:ln w="7620">
            <a:solidFill>
              <a:srgbClr val="B4B2A8"/>
            </a:solidFill>
          </a:ln>
        </p:spPr>
      </p:cxnSp>
      <p:cxnSp>
        <p:nvCxnSpPr>
          <p:cNvPr id="64" name="Connector 63"/>
          <p:cNvCxnSpPr/>
          <p:nvPr/>
        </p:nvCxnSpPr>
        <p:spPr>
          <a:xfrm>
            <a:off x="533400" y="8749597"/>
            <a:ext cx="6493256" cy="0"/>
          </a:xfrm>
          <a:prstGeom prst="line">
            <a:avLst/>
          </a:prstGeom>
          <a:ln w="7620">
            <a:solidFill>
              <a:srgbClr val="B4B2A8"/>
            </a:solidFill>
          </a:ln>
        </p:spPr>
      </p:cxnSp>
      <p:cxnSp>
        <p:nvCxnSpPr>
          <p:cNvPr id="65" name="Connector 64"/>
          <p:cNvCxnSpPr/>
          <p:nvPr/>
        </p:nvCxnSpPr>
        <p:spPr>
          <a:xfrm>
            <a:off x="533400" y="9003729"/>
            <a:ext cx="6493256" cy="0"/>
          </a:xfrm>
          <a:prstGeom prst="line">
            <a:avLst/>
          </a:prstGeom>
          <a:ln w="7620">
            <a:solidFill>
              <a:srgbClr val="B4B2A8"/>
            </a:solidFill>
          </a:ln>
        </p:spPr>
      </p:cxnSp>
      <p:sp>
        <p:nvSpPr>
          <p:cNvPr id="68" name="TextBox 67"/>
          <p:cNvSpPr txBox="1"/>
          <p:nvPr/>
        </p:nvSpPr>
        <p:spPr>
          <a:xfrm>
            <a:off x="508000" y="7609108"/>
            <a:ext cx="6544056" cy="266700"/>
          </a:xfrm>
          <a:prstGeom prst="rect">
            <a:avLst/>
          </a:prstGeom>
          <a:noFill/>
        </p:spPr>
        <p:txBody>
          <a:bodyPr wrap="square" lIns="0" rIns="0" tIns="0" bIns="0" anchor="ctr">
            <a:spAutoFit/>
          </a:bodyPr>
          <a:lstStyle/>
          <a:p>
            <a:pPr algn="l"/>
            <a:r>
              <a:rPr sz="840" b="1" i="0">
                <a:solidFill>
                  <a:srgbClr val="FFFFFF"/>
                </a:solidFill>
                <a:latin typeface="Montserrat"/>
              </a:rPr>
              <a:t>O QUE PRECISA SER AJUSTADO?</a:t>
            </a:r>
          </a:p>
        </p:txBody>
      </p:sp>
      <p:sp>
        <p:nvSpPr>
          <p:cNvPr id="69" name="TextBox 68"/>
          <p:cNvSpPr txBox="1"/>
          <p:nvPr/>
        </p:nvSpPr>
        <p:spPr>
          <a:xfrm>
            <a:off x="533400" y="9579993"/>
            <a:ext cx="3056128" cy="166161"/>
          </a:xfrm>
          <a:prstGeom prst="rect">
            <a:avLst/>
          </a:prstGeom>
          <a:noFill/>
        </p:spPr>
        <p:txBody>
          <a:bodyPr wrap="square" lIns="0" rIns="0" tIns="0" bIns="0" anchor="t">
            <a:spAutoFit/>
          </a:bodyPr>
          <a:lstStyle/>
          <a:p>
            <a:pPr algn="l"/>
            <a:r>
              <a:rPr sz="934" b="0" i="0">
                <a:solidFill>
                  <a:srgbClr val="2A2A26"/>
                </a:solidFill>
                <a:latin typeface="Montserrat"/>
              </a:rPr>
              <a:t>Uma melhoria para o próximo mês:</a:t>
            </a:r>
          </a:p>
        </p:txBody>
      </p:sp>
      <p:cxnSp>
        <p:nvCxnSpPr>
          <p:cNvPr id="70" name="Connector 69"/>
          <p:cNvCxnSpPr/>
          <p:nvPr/>
        </p:nvCxnSpPr>
        <p:spPr>
          <a:xfrm>
            <a:off x="2700417" y="9722417"/>
            <a:ext cx="889111" cy="0"/>
          </a:xfrm>
          <a:prstGeom prst="line">
            <a:avLst/>
          </a:prstGeom>
          <a:ln w="7620">
            <a:solidFill>
              <a:srgbClr val="B4B2A8"/>
            </a:solidFill>
          </a:ln>
        </p:spPr>
      </p:cxnSp>
      <p:sp>
        <p:nvSpPr>
          <p:cNvPr id="71" name="TextBox 70"/>
          <p:cNvSpPr txBox="1"/>
          <p:nvPr/>
        </p:nvSpPr>
        <p:spPr>
          <a:xfrm>
            <a:off x="3970528" y="9579993"/>
            <a:ext cx="3056128" cy="166161"/>
          </a:xfrm>
          <a:prstGeom prst="rect">
            <a:avLst/>
          </a:prstGeom>
          <a:noFill/>
        </p:spPr>
        <p:txBody>
          <a:bodyPr wrap="square" lIns="0" rIns="0" tIns="0" bIns="0" anchor="t">
            <a:spAutoFit/>
          </a:bodyPr>
          <a:lstStyle/>
          <a:p>
            <a:pPr algn="l"/>
            <a:r>
              <a:rPr sz="934" b="0" i="0">
                <a:solidFill>
                  <a:srgbClr val="2A2A26"/>
                </a:solidFill>
                <a:latin typeface="Montserrat"/>
              </a:rPr>
              <a:t>Data para revisar:</a:t>
            </a:r>
          </a:p>
        </p:txBody>
      </p:sp>
      <p:cxnSp>
        <p:nvCxnSpPr>
          <p:cNvPr id="72" name="Connector 71"/>
          <p:cNvCxnSpPr/>
          <p:nvPr/>
        </p:nvCxnSpPr>
        <p:spPr>
          <a:xfrm>
            <a:off x="5069215" y="9722417"/>
            <a:ext cx="1957441" cy="0"/>
          </a:xfrm>
          <a:prstGeom prst="line">
            <a:avLst/>
          </a:prstGeom>
          <a:ln w="7620">
            <a:solidFill>
              <a:srgbClr val="B4B2A8"/>
            </a:solidFill>
          </a:ln>
        </p:spPr>
      </p:cxn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8F5EE"/>
        </a:solidFill>
        <a:effectLst/>
      </p:bgPr>
    </p:bg>
    <p:spTree>
      <p:nvGrpSpPr>
        <p:cNvPr id="1" name=""/>
        <p:cNvGrpSpPr/>
        <p:nvPr/>
      </p:nvGrpSpPr>
      <p:grpSpPr/>
      <p:sp>
        <p:nvSpPr>
          <p:cNvPr id="74" name="Rounded Rectangle 73"/>
          <p:cNvSpPr/>
          <p:nvPr/>
        </p:nvSpPr>
        <p:spPr>
          <a:xfrm>
            <a:off x="381000" y="8628358"/>
            <a:ext cx="6798056" cy="1392585"/>
          </a:xfrm>
          <a:prstGeom prst="roundRect">
            <a:avLst>
              <a:gd name="adj" fmla="val 7295"/>
            </a:avLst>
          </a:prstGeom>
          <a:solidFill>
            <a:srgbClr val="FDFCF8"/>
          </a:solidFill>
          <a:ln w="10160">
            <a:solidFill>
              <a:srgbClr val="D7D4C9"/>
            </a:solidFill>
          </a:ln>
          <a:effectLst/>
        </p:spPr>
        <p:txBody>
          <a:bodyPr rtlCol="0" anchor="ctr"/>
          <a:lstStyle/>
          <a:p/>
        </p:txBody>
      </p:sp>
      <p:sp>
        <p:nvSpPr>
          <p:cNvPr id="75" name="Round Same Side Corner Rectangle 74"/>
          <p:cNvSpPr/>
          <p:nvPr/>
        </p:nvSpPr>
        <p:spPr>
          <a:xfrm>
            <a:off x="381000" y="8628358"/>
            <a:ext cx="6798056" cy="266700"/>
          </a:xfrm>
          <a:prstGeom prst="round2SameRect">
            <a:avLst>
              <a:gd name="adj1" fmla="val 38095"/>
              <a:gd name="adj2" fmla="val 0"/>
            </a:avLst>
          </a:prstGeom>
          <a:solidFill>
            <a:srgbClr val="3F5C4A"/>
          </a:solidFill>
          <a:ln>
            <a:noFill/>
          </a:ln>
          <a:effectLst/>
        </p:spPr>
        <p:txBody>
          <a:bodyPr rtlCol="0" anchor="ctr"/>
          <a:lstStyle/>
          <a:p/>
        </p:txBody>
      </p:sp>
      <p:sp>
        <p:nvSpPr>
          <p:cNvPr id="68" name="Rounded Rectangle 67"/>
          <p:cNvSpPr/>
          <p:nvPr/>
        </p:nvSpPr>
        <p:spPr>
          <a:xfrm>
            <a:off x="381000" y="7367370"/>
            <a:ext cx="6798056" cy="1114769"/>
          </a:xfrm>
          <a:prstGeom prst="roundRect">
            <a:avLst>
              <a:gd name="adj" fmla="val 9113"/>
            </a:avLst>
          </a:prstGeom>
          <a:solidFill>
            <a:srgbClr val="FDFCF8"/>
          </a:solidFill>
          <a:ln w="10160">
            <a:solidFill>
              <a:srgbClr val="D7D4C9"/>
            </a:solidFill>
          </a:ln>
          <a:effectLst/>
        </p:spPr>
        <p:txBody>
          <a:bodyPr rtlCol="0" anchor="ctr"/>
          <a:lstStyle/>
          <a:p/>
        </p:txBody>
      </p:sp>
      <p:sp>
        <p:nvSpPr>
          <p:cNvPr id="69" name="Round Same Side Corner Rectangle 68"/>
          <p:cNvSpPr/>
          <p:nvPr/>
        </p:nvSpPr>
        <p:spPr>
          <a:xfrm>
            <a:off x="381000" y="7367370"/>
            <a:ext cx="6798056" cy="266700"/>
          </a:xfrm>
          <a:prstGeom prst="round2SameRect">
            <a:avLst>
              <a:gd name="adj1" fmla="val 38095"/>
              <a:gd name="adj2" fmla="val 0"/>
            </a:avLst>
          </a:prstGeom>
          <a:solidFill>
            <a:srgbClr val="3F5C4A"/>
          </a:solidFill>
          <a:ln>
            <a:noFill/>
          </a:ln>
          <a:effectLst/>
        </p:spPr>
        <p:txBody>
          <a:bodyPr rtlCol="0" anchor="ctr"/>
          <a:lstStyle/>
          <a:p/>
        </p:txBody>
      </p:sp>
      <p:sp>
        <p:nvSpPr>
          <p:cNvPr id="63" name="Rounded Rectangle 62"/>
          <p:cNvSpPr/>
          <p:nvPr/>
        </p:nvSpPr>
        <p:spPr>
          <a:xfrm>
            <a:off x="381000" y="6106382"/>
            <a:ext cx="6798056" cy="1114769"/>
          </a:xfrm>
          <a:prstGeom prst="roundRect">
            <a:avLst>
              <a:gd name="adj" fmla="val 9113"/>
            </a:avLst>
          </a:prstGeom>
          <a:solidFill>
            <a:srgbClr val="FDFCF8"/>
          </a:solidFill>
          <a:ln w="10160">
            <a:solidFill>
              <a:srgbClr val="D7D4C9"/>
            </a:solidFill>
          </a:ln>
          <a:effectLst/>
        </p:spPr>
        <p:txBody>
          <a:bodyPr rtlCol="0" anchor="ctr"/>
          <a:lstStyle/>
          <a:p/>
        </p:txBody>
      </p:sp>
      <p:sp>
        <p:nvSpPr>
          <p:cNvPr id="64" name="Round Same Side Corner Rectangle 63"/>
          <p:cNvSpPr/>
          <p:nvPr/>
        </p:nvSpPr>
        <p:spPr>
          <a:xfrm>
            <a:off x="381000" y="6106382"/>
            <a:ext cx="6798056" cy="266700"/>
          </a:xfrm>
          <a:prstGeom prst="round2SameRect">
            <a:avLst>
              <a:gd name="adj1" fmla="val 38095"/>
              <a:gd name="adj2" fmla="val 0"/>
            </a:avLst>
          </a:prstGeom>
          <a:solidFill>
            <a:srgbClr val="3F5C4A"/>
          </a:solidFill>
          <a:ln>
            <a:noFill/>
          </a:ln>
          <a:effectLst/>
        </p:spPr>
        <p:txBody>
          <a:bodyPr rtlCol="0" anchor="ctr"/>
          <a:lstStyle/>
          <a:p/>
        </p:txBody>
      </p:sp>
      <p:sp>
        <p:nvSpPr>
          <p:cNvPr id="58" name="Rounded Rectangle 57"/>
          <p:cNvSpPr/>
          <p:nvPr/>
        </p:nvSpPr>
        <p:spPr>
          <a:xfrm>
            <a:off x="381000" y="5045425"/>
            <a:ext cx="6798056" cy="914737"/>
          </a:xfrm>
          <a:prstGeom prst="roundRect">
            <a:avLst>
              <a:gd name="adj" fmla="val 11107"/>
            </a:avLst>
          </a:prstGeom>
          <a:solidFill>
            <a:srgbClr val="FDFCF8"/>
          </a:solidFill>
          <a:ln w="10160">
            <a:solidFill>
              <a:srgbClr val="D7D4C9"/>
            </a:solidFill>
          </a:ln>
          <a:effectLst/>
        </p:spPr>
        <p:txBody>
          <a:bodyPr rtlCol="0" anchor="ctr"/>
          <a:lstStyle/>
          <a:p/>
        </p:txBody>
      </p:sp>
      <p:sp>
        <p:nvSpPr>
          <p:cNvPr id="59" name="Round Same Side Corner Rectangle 58"/>
          <p:cNvSpPr/>
          <p:nvPr/>
        </p:nvSpPr>
        <p:spPr>
          <a:xfrm>
            <a:off x="381000" y="5045425"/>
            <a:ext cx="6798056" cy="266700"/>
          </a:xfrm>
          <a:prstGeom prst="round2SameRect">
            <a:avLst>
              <a:gd name="adj1" fmla="val 38095"/>
              <a:gd name="adj2" fmla="val 0"/>
            </a:avLst>
          </a:prstGeom>
          <a:solidFill>
            <a:srgbClr val="3F5C4A"/>
          </a:solidFill>
          <a:ln>
            <a:noFill/>
          </a:ln>
          <a:effectLst/>
        </p:spPr>
        <p:txBody>
          <a:bodyPr rtlCol="0" anchor="ctr"/>
          <a:lstStyle/>
          <a:p/>
        </p:txBody>
      </p:sp>
      <p:sp>
        <p:nvSpPr>
          <p:cNvPr id="33" name="Rounded Rectangle 32"/>
          <p:cNvSpPr/>
          <p:nvPr/>
        </p:nvSpPr>
        <p:spPr>
          <a:xfrm>
            <a:off x="381000" y="3784437"/>
            <a:ext cx="6798056" cy="1114769"/>
          </a:xfrm>
          <a:prstGeom prst="roundRect">
            <a:avLst>
              <a:gd name="adj" fmla="val 9113"/>
            </a:avLst>
          </a:prstGeom>
          <a:solidFill>
            <a:srgbClr val="FDFCF8"/>
          </a:solidFill>
          <a:ln w="10160">
            <a:solidFill>
              <a:srgbClr val="D7D4C9"/>
            </a:solidFill>
          </a:ln>
          <a:effectLst/>
        </p:spPr>
        <p:txBody>
          <a:bodyPr rtlCol="0" anchor="ctr"/>
          <a:lstStyle/>
          <a:p/>
        </p:txBody>
      </p:sp>
      <p:sp>
        <p:nvSpPr>
          <p:cNvPr id="34" name="Round Same Side Corner Rectangle 33"/>
          <p:cNvSpPr/>
          <p:nvPr/>
        </p:nvSpPr>
        <p:spPr>
          <a:xfrm>
            <a:off x="381000" y="3784437"/>
            <a:ext cx="6798056" cy="266700"/>
          </a:xfrm>
          <a:prstGeom prst="round2SameRect">
            <a:avLst>
              <a:gd name="adj1" fmla="val 38095"/>
              <a:gd name="adj2" fmla="val 0"/>
            </a:avLst>
          </a:prstGeom>
          <a:solidFill>
            <a:srgbClr val="3F5C4A"/>
          </a:solidFill>
          <a:ln>
            <a:noFill/>
          </a:ln>
          <a:effectLst/>
        </p:spPr>
        <p:txBody>
          <a:bodyPr rtlCol="0" anchor="ctr"/>
          <a:lstStyle/>
          <a:p/>
        </p:txBody>
      </p:sp>
      <p:sp>
        <p:nvSpPr>
          <p:cNvPr id="28" name="Rounded Rectangle 27"/>
          <p:cNvSpPr/>
          <p:nvPr/>
        </p:nvSpPr>
        <p:spPr>
          <a:xfrm>
            <a:off x="381000" y="2324461"/>
            <a:ext cx="6798056" cy="1313757"/>
          </a:xfrm>
          <a:prstGeom prst="roundRect">
            <a:avLst>
              <a:gd name="adj" fmla="val 7733"/>
            </a:avLst>
          </a:prstGeom>
          <a:solidFill>
            <a:srgbClr val="FDFCF8"/>
          </a:solidFill>
          <a:ln w="10160">
            <a:solidFill>
              <a:srgbClr val="D7D4C9"/>
            </a:solidFill>
          </a:ln>
          <a:effectLst/>
        </p:spPr>
        <p:txBody>
          <a:bodyPr rtlCol="0" anchor="ctr"/>
          <a:lstStyle/>
          <a:p/>
        </p:txBody>
      </p:sp>
      <p:sp>
        <p:nvSpPr>
          <p:cNvPr id="29" name="Round Same Side Corner Rectangle 28"/>
          <p:cNvSpPr/>
          <p:nvPr/>
        </p:nvSpPr>
        <p:spPr>
          <a:xfrm>
            <a:off x="381000" y="2324461"/>
            <a:ext cx="6798056" cy="266700"/>
          </a:xfrm>
          <a:prstGeom prst="round2SameRect">
            <a:avLst>
              <a:gd name="adj1" fmla="val 38095"/>
              <a:gd name="adj2" fmla="val 0"/>
            </a:avLst>
          </a:prstGeom>
          <a:solidFill>
            <a:srgbClr val="3F5C4A"/>
          </a:solidFill>
          <a:ln>
            <a:noFill/>
          </a:ln>
          <a:effectLst/>
        </p:spPr>
        <p:txBody>
          <a:bodyPr rtlCol="0" anchor="ctr"/>
          <a:lstStyle/>
          <a:p/>
        </p:txBody>
      </p:sp>
      <p:sp>
        <p:nvSpPr>
          <p:cNvPr id="24" name="Rounded Rectangle 23"/>
          <p:cNvSpPr/>
          <p:nvPr/>
        </p:nvSpPr>
        <p:spPr>
          <a:xfrm>
            <a:off x="381000" y="1461770"/>
            <a:ext cx="6798056" cy="716472"/>
          </a:xfrm>
          <a:prstGeom prst="roundRect">
            <a:avLst>
              <a:gd name="adj" fmla="val 14180"/>
            </a:avLst>
          </a:prstGeom>
          <a:solidFill>
            <a:srgbClr val="FDFCF8"/>
          </a:solidFill>
          <a:ln w="10160">
            <a:solidFill>
              <a:srgbClr val="D7D4C9"/>
            </a:solidFill>
          </a:ln>
          <a:effectLst/>
        </p:spPr>
        <p:txBody>
          <a:bodyPr rtlCol="0" anchor="ctr"/>
          <a:lstStyle/>
          <a:p/>
        </p:txBody>
      </p:sp>
      <p:cxnSp>
        <p:nvCxnSpPr>
          <p:cNvPr id="2" name="Connector 1"/>
          <p:cNvCxnSpPr/>
          <p:nvPr/>
        </p:nvCxnSpPr>
        <p:spPr>
          <a:xfrm>
            <a:off x="38100" y="25400"/>
            <a:ext cx="660400" cy="660400"/>
          </a:xfrm>
          <a:prstGeom prst="line">
            <a:avLst/>
          </a:prstGeom>
          <a:ln w="13970">
            <a:solidFill>
              <a:srgbClr val="B08D4F"/>
            </a:solidFill>
          </a:ln>
        </p:spPr>
      </p:cxnSp>
      <p:sp>
        <p:nvSpPr>
          <p:cNvPr id="3" name="Oval 2"/>
          <p:cNvSpPr/>
          <p:nvPr/>
        </p:nvSpPr>
        <p:spPr>
          <a:xfrm>
            <a:off x="191770" y="77470"/>
            <a:ext cx="190500" cy="215900"/>
          </a:xfrm>
          <a:prstGeom prst="ellipse">
            <a:avLst/>
          </a:prstGeom>
          <a:solidFill>
            <a:srgbClr val="8FA388"/>
          </a:solidFill>
          <a:ln>
            <a:noFill/>
          </a:ln>
          <a:effectLst/>
        </p:spPr>
        <p:txBody>
          <a:bodyPr rtlCol="0" anchor="ctr"/>
          <a:lstStyle/>
          <a:p/>
        </p:txBody>
      </p:sp>
      <p:sp>
        <p:nvSpPr>
          <p:cNvPr id="4" name="Oval 3"/>
          <p:cNvSpPr/>
          <p:nvPr/>
        </p:nvSpPr>
        <p:spPr>
          <a:xfrm>
            <a:off x="330708" y="216408"/>
            <a:ext cx="203200" cy="228600"/>
          </a:xfrm>
          <a:prstGeom prst="ellipse">
            <a:avLst/>
          </a:prstGeom>
          <a:solidFill>
            <a:srgbClr val="8FA388"/>
          </a:solidFill>
          <a:ln>
            <a:noFill/>
          </a:ln>
          <a:effectLst/>
        </p:spPr>
        <p:txBody>
          <a:bodyPr rtlCol="0" anchor="ctr"/>
          <a:lstStyle/>
          <a:p/>
        </p:txBody>
      </p:sp>
      <p:sp>
        <p:nvSpPr>
          <p:cNvPr id="5" name="Oval 4"/>
          <p:cNvSpPr/>
          <p:nvPr/>
        </p:nvSpPr>
        <p:spPr>
          <a:xfrm>
            <a:off x="482345" y="368045"/>
            <a:ext cx="190500" cy="215900"/>
          </a:xfrm>
          <a:prstGeom prst="ellipse">
            <a:avLst/>
          </a:prstGeom>
          <a:solidFill>
            <a:srgbClr val="8FA388"/>
          </a:solidFill>
          <a:ln>
            <a:noFill/>
          </a:ln>
          <a:effectLst/>
        </p:spPr>
        <p:txBody>
          <a:bodyPr rtlCol="0" anchor="ctr"/>
          <a:lstStyle/>
          <a:p/>
        </p:txBody>
      </p:sp>
      <p:cxnSp>
        <p:nvCxnSpPr>
          <p:cNvPr id="6" name="Connector 5"/>
          <p:cNvCxnSpPr/>
          <p:nvPr/>
        </p:nvCxnSpPr>
        <p:spPr>
          <a:xfrm flipH="1">
            <a:off x="6861556" y="25400"/>
            <a:ext cx="660400" cy="660400"/>
          </a:xfrm>
          <a:prstGeom prst="line">
            <a:avLst/>
          </a:prstGeom>
          <a:ln w="13970">
            <a:solidFill>
              <a:srgbClr val="B08D4F"/>
            </a:solidFill>
          </a:ln>
        </p:spPr>
      </p:cxnSp>
      <p:sp>
        <p:nvSpPr>
          <p:cNvPr id="7" name="Oval 6"/>
          <p:cNvSpPr/>
          <p:nvPr/>
        </p:nvSpPr>
        <p:spPr>
          <a:xfrm>
            <a:off x="7177785" y="77470"/>
            <a:ext cx="190500" cy="215900"/>
          </a:xfrm>
          <a:prstGeom prst="ellipse">
            <a:avLst/>
          </a:prstGeom>
          <a:solidFill>
            <a:srgbClr val="8FA388"/>
          </a:solidFill>
          <a:ln>
            <a:noFill/>
          </a:ln>
          <a:effectLst/>
        </p:spPr>
        <p:txBody>
          <a:bodyPr rtlCol="0" anchor="ctr"/>
          <a:lstStyle/>
          <a:p/>
        </p:txBody>
      </p:sp>
      <p:sp>
        <p:nvSpPr>
          <p:cNvPr id="8" name="Oval 7"/>
          <p:cNvSpPr/>
          <p:nvPr/>
        </p:nvSpPr>
        <p:spPr>
          <a:xfrm>
            <a:off x="7026148" y="216408"/>
            <a:ext cx="203200" cy="228600"/>
          </a:xfrm>
          <a:prstGeom prst="ellipse">
            <a:avLst/>
          </a:prstGeom>
          <a:solidFill>
            <a:srgbClr val="8FA388"/>
          </a:solidFill>
          <a:ln>
            <a:noFill/>
          </a:ln>
          <a:effectLst/>
        </p:spPr>
        <p:txBody>
          <a:bodyPr rtlCol="0" anchor="ctr"/>
          <a:lstStyle/>
          <a:p/>
        </p:txBody>
      </p:sp>
      <p:sp>
        <p:nvSpPr>
          <p:cNvPr id="9" name="Oval 8"/>
          <p:cNvSpPr/>
          <p:nvPr/>
        </p:nvSpPr>
        <p:spPr>
          <a:xfrm>
            <a:off x="6887209" y="368045"/>
            <a:ext cx="190500" cy="215900"/>
          </a:xfrm>
          <a:prstGeom prst="ellipse">
            <a:avLst/>
          </a:prstGeom>
          <a:solidFill>
            <a:srgbClr val="8FA388"/>
          </a:solidFill>
          <a:ln>
            <a:noFill/>
          </a:ln>
          <a:effectLst/>
        </p:spPr>
        <p:txBody>
          <a:bodyPr rtlCol="0" anchor="ctr"/>
          <a:lstStyle/>
          <a:p/>
        </p:txBody>
      </p:sp>
      <p:sp>
        <p:nvSpPr>
          <p:cNvPr id="10" name="Oval 9"/>
          <p:cNvSpPr/>
          <p:nvPr/>
        </p:nvSpPr>
        <p:spPr>
          <a:xfrm>
            <a:off x="3500628" y="127000"/>
            <a:ext cx="114300" cy="215900"/>
          </a:xfrm>
          <a:prstGeom prst="ellipse">
            <a:avLst/>
          </a:prstGeom>
          <a:noFill/>
          <a:ln w="10160">
            <a:solidFill>
              <a:srgbClr val="B08D4F"/>
            </a:solidFill>
          </a:ln>
          <a:effectLst/>
        </p:spPr>
        <p:txBody>
          <a:bodyPr rtlCol="0" anchor="ctr"/>
          <a:lstStyle/>
          <a:p/>
        </p:txBody>
      </p:sp>
      <p:sp>
        <p:nvSpPr>
          <p:cNvPr id="11" name="Oval 10"/>
          <p:cNvSpPr/>
          <p:nvPr/>
        </p:nvSpPr>
        <p:spPr>
          <a:xfrm>
            <a:off x="3595878" y="127000"/>
            <a:ext cx="114300" cy="215900"/>
          </a:xfrm>
          <a:prstGeom prst="ellipse">
            <a:avLst/>
          </a:prstGeom>
          <a:noFill/>
          <a:ln w="10160">
            <a:solidFill>
              <a:srgbClr val="B08D4F"/>
            </a:solidFill>
          </a:ln>
          <a:effectLst/>
        </p:spPr>
        <p:txBody>
          <a:bodyPr rtlCol="0" anchor="ctr"/>
          <a:lstStyle/>
          <a:p/>
        </p:txBody>
      </p:sp>
      <p:sp>
        <p:nvSpPr>
          <p:cNvPr id="12" name="Oval 11"/>
          <p:cNvSpPr/>
          <p:nvPr/>
        </p:nvSpPr>
        <p:spPr>
          <a:xfrm>
            <a:off x="3691128" y="127000"/>
            <a:ext cx="114300" cy="215900"/>
          </a:xfrm>
          <a:prstGeom prst="ellipse">
            <a:avLst/>
          </a:prstGeom>
          <a:noFill/>
          <a:ln w="10160">
            <a:solidFill>
              <a:srgbClr val="B08D4F"/>
            </a:solidFill>
          </a:ln>
          <a:effectLst/>
        </p:spPr>
        <p:txBody>
          <a:bodyPr rtlCol="0" anchor="ctr"/>
          <a:lstStyle/>
          <a:p/>
        </p:txBody>
      </p:sp>
      <p:sp>
        <p:nvSpPr>
          <p:cNvPr id="13" name="Oval 12"/>
          <p:cNvSpPr/>
          <p:nvPr/>
        </p:nvSpPr>
        <p:spPr>
          <a:xfrm>
            <a:off x="3786378" y="127000"/>
            <a:ext cx="114300" cy="215900"/>
          </a:xfrm>
          <a:prstGeom prst="ellipse">
            <a:avLst/>
          </a:prstGeom>
          <a:noFill/>
          <a:ln w="10160">
            <a:solidFill>
              <a:srgbClr val="B08D4F"/>
            </a:solidFill>
          </a:ln>
          <a:effectLst/>
        </p:spPr>
        <p:txBody>
          <a:bodyPr rtlCol="0" anchor="ctr"/>
          <a:lstStyle/>
          <a:p/>
        </p:txBody>
      </p:sp>
      <p:sp>
        <p:nvSpPr>
          <p:cNvPr id="14" name="Oval 13"/>
          <p:cNvSpPr/>
          <p:nvPr/>
        </p:nvSpPr>
        <p:spPr>
          <a:xfrm>
            <a:off x="3881628" y="127000"/>
            <a:ext cx="114300" cy="215900"/>
          </a:xfrm>
          <a:prstGeom prst="ellipse">
            <a:avLst/>
          </a:prstGeom>
          <a:noFill/>
          <a:ln w="10160">
            <a:solidFill>
              <a:srgbClr val="B08D4F"/>
            </a:solidFill>
          </a:ln>
          <a:effectLst/>
        </p:spPr>
        <p:txBody>
          <a:bodyPr rtlCol="0" anchor="ctr"/>
          <a:lstStyle/>
          <a:p/>
        </p:txBody>
      </p:sp>
      <p:sp>
        <p:nvSpPr>
          <p:cNvPr id="15" name="Arc 14"/>
          <p:cNvSpPr/>
          <p:nvPr/>
        </p:nvSpPr>
        <p:spPr>
          <a:xfrm>
            <a:off x="3437128" y="165100"/>
            <a:ext cx="685800" cy="381000"/>
          </a:xfrm>
          <a:prstGeom prst="arc">
            <a:avLst>
              <a:gd name="adj1" fmla="val 18000000"/>
              <a:gd name="adj2" fmla="val 0"/>
            </a:avLst>
          </a:prstGeom>
          <a:noFill/>
          <a:ln w="10160">
            <a:solidFill>
              <a:srgbClr val="B08D4F"/>
            </a:solidFill>
          </a:ln>
          <a:effectLst/>
        </p:spPr>
        <p:txBody>
          <a:bodyPr rtlCol="0" anchor="ctr"/>
          <a:lstStyle/>
          <a:p>
            <a:pPr algn="ctr"/>
          </a:p>
        </p:txBody>
      </p:sp>
      <p:sp>
        <p:nvSpPr>
          <p:cNvPr id="16" name="TextBox 15"/>
          <p:cNvSpPr txBox="1"/>
          <p:nvPr/>
        </p:nvSpPr>
        <p:spPr>
          <a:xfrm>
            <a:off x="254000" y="635000"/>
            <a:ext cx="7052056" cy="462280"/>
          </a:xfrm>
          <a:prstGeom prst="rect">
            <a:avLst/>
          </a:prstGeom>
          <a:noFill/>
        </p:spPr>
        <p:txBody>
          <a:bodyPr wrap="square" lIns="0" rIns="0" tIns="0" bIns="0" anchor="t">
            <a:spAutoFit/>
          </a:bodyPr>
          <a:lstStyle/>
          <a:p>
            <a:pPr algn="ctr"/>
            <a:r>
              <a:rPr sz="2600" b="1" i="0">
                <a:solidFill>
                  <a:srgbClr val="3F5C4A"/>
                </a:solidFill>
                <a:latin typeface="Libre Baskerville"/>
              </a:rPr>
              <a:t>REGISTRO DE SENSAÇÕES</a:t>
            </a:r>
          </a:p>
        </p:txBody>
      </p:sp>
      <p:sp>
        <p:nvSpPr>
          <p:cNvPr id="17" name="TextBox 16"/>
          <p:cNvSpPr txBox="1"/>
          <p:nvPr/>
        </p:nvSpPr>
        <p:spPr>
          <a:xfrm>
            <a:off x="508000" y="1080770"/>
            <a:ext cx="6544056" cy="177800"/>
          </a:xfrm>
          <a:prstGeom prst="rect">
            <a:avLst/>
          </a:prstGeom>
          <a:noFill/>
        </p:spPr>
        <p:txBody>
          <a:bodyPr wrap="square" lIns="0" rIns="0" tIns="0" bIns="0" anchor="t">
            <a:spAutoFit/>
          </a:bodyPr>
          <a:lstStyle/>
          <a:p>
            <a:pPr algn="ctr"/>
            <a:r>
              <a:rPr sz="950" b="0" i="0">
                <a:solidFill>
                  <a:srgbClr val="2A2A26"/>
                </a:solidFill>
                <a:latin typeface="Montserrat"/>
              </a:rPr>
              <a:t>Acompanhe como o corpo responde aos atendimentos</a:t>
            </a:r>
          </a:p>
        </p:txBody>
      </p:sp>
      <p:sp>
        <p:nvSpPr>
          <p:cNvPr id="18" name="TextBox 17"/>
          <p:cNvSpPr txBox="1"/>
          <p:nvPr/>
        </p:nvSpPr>
        <p:spPr>
          <a:xfrm>
            <a:off x="762000" y="10196703"/>
            <a:ext cx="6036056" cy="127000"/>
          </a:xfrm>
          <a:prstGeom prst="rect">
            <a:avLst/>
          </a:prstGeom>
          <a:noFill/>
        </p:spPr>
        <p:txBody>
          <a:bodyPr wrap="square" lIns="0" rIns="0" tIns="0" bIns="0" anchor="t">
            <a:spAutoFit/>
          </a:bodyPr>
          <a:lstStyle/>
          <a:p>
            <a:pPr algn="ctr"/>
            <a:r>
              <a:rPr sz="650" b="0" i="0">
                <a:solidFill>
                  <a:srgbClr val="77776E"/>
                </a:solidFill>
                <a:latin typeface="Montserrat"/>
              </a:rPr>
              <a:t>MASSOTERAPIA • CUIDADO • BEM-ESTAR</a:t>
            </a:r>
          </a:p>
        </p:txBody>
      </p:sp>
      <p:cxnSp>
        <p:nvCxnSpPr>
          <p:cNvPr id="19" name="Connector 18"/>
          <p:cNvCxnSpPr/>
          <p:nvPr/>
        </p:nvCxnSpPr>
        <p:spPr>
          <a:xfrm>
            <a:off x="1968500" y="10336403"/>
            <a:ext cx="3623056" cy="0"/>
          </a:xfrm>
          <a:prstGeom prst="line">
            <a:avLst/>
          </a:prstGeom>
          <a:ln w="8890">
            <a:solidFill>
              <a:srgbClr val="B08D4F"/>
            </a:solidFill>
          </a:ln>
        </p:spPr>
      </p:cxnSp>
      <p:sp>
        <p:nvSpPr>
          <p:cNvPr id="20" name="TextBox 19"/>
          <p:cNvSpPr txBox="1"/>
          <p:nvPr/>
        </p:nvSpPr>
        <p:spPr>
          <a:xfrm>
            <a:off x="533400" y="1695720"/>
            <a:ext cx="3056128" cy="172239"/>
          </a:xfrm>
          <a:prstGeom prst="rect">
            <a:avLst/>
          </a:prstGeom>
          <a:noFill/>
        </p:spPr>
        <p:txBody>
          <a:bodyPr wrap="square" lIns="0" rIns="0" tIns="0" bIns="0" anchor="t">
            <a:spAutoFit/>
          </a:bodyPr>
          <a:lstStyle/>
          <a:p>
            <a:pPr algn="l"/>
            <a:r>
              <a:rPr sz="968" b="1" i="0">
                <a:solidFill>
                  <a:srgbClr val="2A2A26"/>
                </a:solidFill>
                <a:latin typeface="Montserrat"/>
              </a:rPr>
              <a:t>Data:</a:t>
            </a:r>
          </a:p>
        </p:txBody>
      </p:sp>
      <p:cxnSp>
        <p:nvCxnSpPr>
          <p:cNvPr id="21" name="Connector 20"/>
          <p:cNvCxnSpPr/>
          <p:nvPr/>
        </p:nvCxnSpPr>
        <p:spPr>
          <a:xfrm>
            <a:off x="946582" y="1843354"/>
            <a:ext cx="2642946" cy="0"/>
          </a:xfrm>
          <a:prstGeom prst="line">
            <a:avLst/>
          </a:prstGeom>
          <a:ln w="7620">
            <a:solidFill>
              <a:srgbClr val="B4B2A8"/>
            </a:solidFill>
          </a:ln>
        </p:spPr>
      </p:cxnSp>
      <p:sp>
        <p:nvSpPr>
          <p:cNvPr id="22" name="TextBox 21"/>
          <p:cNvSpPr txBox="1"/>
          <p:nvPr/>
        </p:nvSpPr>
        <p:spPr>
          <a:xfrm>
            <a:off x="3970528" y="1695720"/>
            <a:ext cx="3056128" cy="172239"/>
          </a:xfrm>
          <a:prstGeom prst="rect">
            <a:avLst/>
          </a:prstGeom>
          <a:noFill/>
        </p:spPr>
        <p:txBody>
          <a:bodyPr wrap="square" lIns="0" rIns="0" tIns="0" bIns="0" anchor="t">
            <a:spAutoFit/>
          </a:bodyPr>
          <a:lstStyle/>
          <a:p>
            <a:pPr algn="l"/>
            <a:r>
              <a:rPr sz="968" b="1" i="0">
                <a:solidFill>
                  <a:srgbClr val="2A2A26"/>
                </a:solidFill>
                <a:latin typeface="Montserrat"/>
              </a:rPr>
              <a:t>Horário:</a:t>
            </a:r>
          </a:p>
        </p:txBody>
      </p:sp>
      <p:cxnSp>
        <p:nvCxnSpPr>
          <p:cNvPr id="23" name="Connector 22"/>
          <p:cNvCxnSpPr/>
          <p:nvPr/>
        </p:nvCxnSpPr>
        <p:spPr>
          <a:xfrm>
            <a:off x="4553201" y="1843354"/>
            <a:ext cx="2473455" cy="0"/>
          </a:xfrm>
          <a:prstGeom prst="line">
            <a:avLst/>
          </a:prstGeom>
          <a:ln w="7620">
            <a:solidFill>
              <a:srgbClr val="B4B2A8"/>
            </a:solidFill>
          </a:ln>
        </p:spPr>
      </p:cxnSp>
      <p:sp>
        <p:nvSpPr>
          <p:cNvPr id="25" name="TextBox 24"/>
          <p:cNvSpPr txBox="1"/>
          <p:nvPr/>
        </p:nvSpPr>
        <p:spPr>
          <a:xfrm>
            <a:off x="533400" y="2737380"/>
            <a:ext cx="6493256" cy="173587"/>
          </a:xfrm>
          <a:prstGeom prst="rect">
            <a:avLst/>
          </a:prstGeom>
          <a:noFill/>
        </p:spPr>
        <p:txBody>
          <a:bodyPr wrap="square" lIns="0" rIns="0" tIns="0" bIns="0" anchor="t">
            <a:spAutoFit/>
          </a:bodyPr>
          <a:lstStyle/>
          <a:p>
            <a:pPr algn="l">
              <a:lnSpc>
                <a:spcPct val="140000"/>
              </a:lnSpc>
            </a:pPr>
            <a:r>
              <a:rPr sz="800" b="0" i="0">
                <a:solidFill>
                  <a:srgbClr val="2A2A26"/>
                </a:solidFill>
                <a:latin typeface="Montserrat"/>
              </a:rPr>
              <a:t>Registre tensões, desconfortos, cansaço ou sensações percebidas antes do atendimento.</a:t>
            </a:r>
          </a:p>
        </p:txBody>
      </p:sp>
      <p:cxnSp>
        <p:nvCxnSpPr>
          <p:cNvPr id="26" name="Connector 25"/>
          <p:cNvCxnSpPr/>
          <p:nvPr/>
        </p:nvCxnSpPr>
        <p:spPr>
          <a:xfrm>
            <a:off x="533400" y="3176083"/>
            <a:ext cx="6493256" cy="0"/>
          </a:xfrm>
          <a:prstGeom prst="line">
            <a:avLst/>
          </a:prstGeom>
          <a:ln w="7620">
            <a:solidFill>
              <a:srgbClr val="B4B2A8"/>
            </a:solidFill>
          </a:ln>
        </p:spPr>
      </p:cxnSp>
      <p:cxnSp>
        <p:nvCxnSpPr>
          <p:cNvPr id="27" name="Connector 26"/>
          <p:cNvCxnSpPr/>
          <p:nvPr/>
        </p:nvCxnSpPr>
        <p:spPr>
          <a:xfrm>
            <a:off x="533400" y="3453899"/>
            <a:ext cx="6493256" cy="0"/>
          </a:xfrm>
          <a:prstGeom prst="line">
            <a:avLst/>
          </a:prstGeom>
          <a:ln w="7620">
            <a:solidFill>
              <a:srgbClr val="B4B2A8"/>
            </a:solidFill>
          </a:ln>
        </p:spPr>
      </p:cxnSp>
      <p:sp>
        <p:nvSpPr>
          <p:cNvPr id="30" name="TextBox 29"/>
          <p:cNvSpPr txBox="1"/>
          <p:nvPr/>
        </p:nvSpPr>
        <p:spPr>
          <a:xfrm>
            <a:off x="508000" y="2324461"/>
            <a:ext cx="6544056" cy="266700"/>
          </a:xfrm>
          <a:prstGeom prst="rect">
            <a:avLst/>
          </a:prstGeom>
          <a:noFill/>
        </p:spPr>
        <p:txBody>
          <a:bodyPr wrap="square" lIns="0" rIns="0" tIns="0" bIns="0" anchor="ctr">
            <a:spAutoFit/>
          </a:bodyPr>
          <a:lstStyle/>
          <a:p>
            <a:pPr algn="l"/>
            <a:r>
              <a:rPr sz="840" b="1" i="0">
                <a:solidFill>
                  <a:srgbClr val="FFFFFF"/>
                </a:solidFill>
                <a:latin typeface="Montserrat"/>
              </a:rPr>
              <a:t>ANTES DA SESSÃO — COMO MEU CORPO ESTAVA?</a:t>
            </a:r>
          </a:p>
        </p:txBody>
      </p:sp>
      <p:cxnSp>
        <p:nvCxnSpPr>
          <p:cNvPr id="31" name="Connector 30"/>
          <p:cNvCxnSpPr/>
          <p:nvPr/>
        </p:nvCxnSpPr>
        <p:spPr>
          <a:xfrm>
            <a:off x="533400" y="4437071"/>
            <a:ext cx="6493256" cy="0"/>
          </a:xfrm>
          <a:prstGeom prst="line">
            <a:avLst/>
          </a:prstGeom>
          <a:ln w="7620">
            <a:solidFill>
              <a:srgbClr val="B4B2A8"/>
            </a:solidFill>
          </a:ln>
        </p:spPr>
      </p:cxnSp>
      <p:cxnSp>
        <p:nvCxnSpPr>
          <p:cNvPr id="32" name="Connector 31"/>
          <p:cNvCxnSpPr/>
          <p:nvPr/>
        </p:nvCxnSpPr>
        <p:spPr>
          <a:xfrm>
            <a:off x="533400" y="4714887"/>
            <a:ext cx="6493256" cy="0"/>
          </a:xfrm>
          <a:prstGeom prst="line">
            <a:avLst/>
          </a:prstGeom>
          <a:ln w="7620">
            <a:solidFill>
              <a:srgbClr val="B4B2A8"/>
            </a:solidFill>
          </a:ln>
        </p:spPr>
      </p:cxnSp>
      <p:sp>
        <p:nvSpPr>
          <p:cNvPr id="35" name="TextBox 34"/>
          <p:cNvSpPr txBox="1"/>
          <p:nvPr/>
        </p:nvSpPr>
        <p:spPr>
          <a:xfrm>
            <a:off x="508000" y="3784437"/>
            <a:ext cx="6544056" cy="266700"/>
          </a:xfrm>
          <a:prstGeom prst="rect">
            <a:avLst/>
          </a:prstGeom>
          <a:noFill/>
        </p:spPr>
        <p:txBody>
          <a:bodyPr wrap="square" lIns="0" rIns="0" tIns="0" bIns="0" anchor="ctr">
            <a:spAutoFit/>
          </a:bodyPr>
          <a:lstStyle/>
          <a:p>
            <a:pPr algn="l"/>
            <a:r>
              <a:rPr sz="840" b="1" i="0">
                <a:solidFill>
                  <a:srgbClr val="FFFFFF"/>
                </a:solidFill>
                <a:latin typeface="Montserrat"/>
              </a:rPr>
              <a:t>REGIÕES DE MAIOR TENSÃO OU DESCONFORTO</a:t>
            </a:r>
          </a:p>
        </p:txBody>
      </p:sp>
      <p:sp>
        <p:nvSpPr>
          <p:cNvPr id="36" name="Oval 35"/>
          <p:cNvSpPr/>
          <p:nvPr/>
        </p:nvSpPr>
        <p:spPr>
          <a:xfrm>
            <a:off x="635000" y="5458344"/>
            <a:ext cx="165100" cy="165100"/>
          </a:xfrm>
          <a:prstGeom prst="ellipse">
            <a:avLst/>
          </a:prstGeom>
          <a:noFill/>
          <a:ln w="8890">
            <a:solidFill>
              <a:srgbClr val="B08D4F"/>
            </a:solidFill>
          </a:ln>
          <a:effectLst/>
        </p:spPr>
        <p:txBody>
          <a:bodyPr rtlCol="0" anchor="ctr"/>
          <a:lstStyle/>
          <a:p/>
        </p:txBody>
      </p:sp>
      <p:sp>
        <p:nvSpPr>
          <p:cNvPr id="37" name="TextBox 36"/>
          <p:cNvSpPr txBox="1"/>
          <p:nvPr/>
        </p:nvSpPr>
        <p:spPr>
          <a:xfrm>
            <a:off x="558800" y="5661544"/>
            <a:ext cx="317500" cy="127000"/>
          </a:xfrm>
          <a:prstGeom prst="rect">
            <a:avLst/>
          </a:prstGeom>
          <a:noFill/>
        </p:spPr>
        <p:txBody>
          <a:bodyPr wrap="square" lIns="0" rIns="0" tIns="0" bIns="0" anchor="t">
            <a:spAutoFit/>
          </a:bodyPr>
          <a:lstStyle/>
          <a:p>
            <a:pPr algn="ctr"/>
            <a:r>
              <a:rPr sz="740" b="0" i="0">
                <a:solidFill>
                  <a:srgbClr val="2A2A26"/>
                </a:solidFill>
                <a:latin typeface="Montserrat"/>
              </a:rPr>
              <a:t>0</a:t>
            </a:r>
          </a:p>
        </p:txBody>
      </p:sp>
      <p:sp>
        <p:nvSpPr>
          <p:cNvPr id="38" name="Oval 37"/>
          <p:cNvSpPr/>
          <p:nvPr/>
        </p:nvSpPr>
        <p:spPr>
          <a:xfrm>
            <a:off x="1233525" y="5458344"/>
            <a:ext cx="165100" cy="165100"/>
          </a:xfrm>
          <a:prstGeom prst="ellipse">
            <a:avLst/>
          </a:prstGeom>
          <a:noFill/>
          <a:ln w="8890">
            <a:solidFill>
              <a:srgbClr val="B08D4F"/>
            </a:solidFill>
          </a:ln>
          <a:effectLst/>
        </p:spPr>
        <p:txBody>
          <a:bodyPr rtlCol="0" anchor="ctr"/>
          <a:lstStyle/>
          <a:p/>
        </p:txBody>
      </p:sp>
      <p:sp>
        <p:nvSpPr>
          <p:cNvPr id="39" name="TextBox 38"/>
          <p:cNvSpPr txBox="1"/>
          <p:nvPr/>
        </p:nvSpPr>
        <p:spPr>
          <a:xfrm>
            <a:off x="1157325" y="5661544"/>
            <a:ext cx="317500" cy="127000"/>
          </a:xfrm>
          <a:prstGeom prst="rect">
            <a:avLst/>
          </a:prstGeom>
          <a:noFill/>
        </p:spPr>
        <p:txBody>
          <a:bodyPr wrap="square" lIns="0" rIns="0" tIns="0" bIns="0" anchor="t">
            <a:spAutoFit/>
          </a:bodyPr>
          <a:lstStyle/>
          <a:p>
            <a:pPr algn="ctr"/>
            <a:r>
              <a:rPr sz="740" b="0" i="0">
                <a:solidFill>
                  <a:srgbClr val="2A2A26"/>
                </a:solidFill>
                <a:latin typeface="Montserrat"/>
              </a:rPr>
              <a:t>1</a:t>
            </a:r>
          </a:p>
        </p:txBody>
      </p:sp>
      <p:sp>
        <p:nvSpPr>
          <p:cNvPr id="40" name="Oval 39"/>
          <p:cNvSpPr/>
          <p:nvPr/>
        </p:nvSpPr>
        <p:spPr>
          <a:xfrm>
            <a:off x="1832051" y="5458344"/>
            <a:ext cx="165100" cy="165100"/>
          </a:xfrm>
          <a:prstGeom prst="ellipse">
            <a:avLst/>
          </a:prstGeom>
          <a:noFill/>
          <a:ln w="8890">
            <a:solidFill>
              <a:srgbClr val="B08D4F"/>
            </a:solidFill>
          </a:ln>
          <a:effectLst/>
        </p:spPr>
        <p:txBody>
          <a:bodyPr rtlCol="0" anchor="ctr"/>
          <a:lstStyle/>
          <a:p/>
        </p:txBody>
      </p:sp>
      <p:sp>
        <p:nvSpPr>
          <p:cNvPr id="41" name="TextBox 40"/>
          <p:cNvSpPr txBox="1"/>
          <p:nvPr/>
        </p:nvSpPr>
        <p:spPr>
          <a:xfrm>
            <a:off x="1755851" y="5661544"/>
            <a:ext cx="317500" cy="127000"/>
          </a:xfrm>
          <a:prstGeom prst="rect">
            <a:avLst/>
          </a:prstGeom>
          <a:noFill/>
        </p:spPr>
        <p:txBody>
          <a:bodyPr wrap="square" lIns="0" rIns="0" tIns="0" bIns="0" anchor="t">
            <a:spAutoFit/>
          </a:bodyPr>
          <a:lstStyle/>
          <a:p>
            <a:pPr algn="ctr"/>
            <a:r>
              <a:rPr sz="740" b="0" i="0">
                <a:solidFill>
                  <a:srgbClr val="2A2A26"/>
                </a:solidFill>
                <a:latin typeface="Montserrat"/>
              </a:rPr>
              <a:t>2</a:t>
            </a:r>
          </a:p>
        </p:txBody>
      </p:sp>
      <p:sp>
        <p:nvSpPr>
          <p:cNvPr id="42" name="Oval 41"/>
          <p:cNvSpPr/>
          <p:nvPr/>
        </p:nvSpPr>
        <p:spPr>
          <a:xfrm>
            <a:off x="2430576" y="5458344"/>
            <a:ext cx="165100" cy="165100"/>
          </a:xfrm>
          <a:prstGeom prst="ellipse">
            <a:avLst/>
          </a:prstGeom>
          <a:noFill/>
          <a:ln w="8890">
            <a:solidFill>
              <a:srgbClr val="B08D4F"/>
            </a:solidFill>
          </a:ln>
          <a:effectLst/>
        </p:spPr>
        <p:txBody>
          <a:bodyPr rtlCol="0" anchor="ctr"/>
          <a:lstStyle/>
          <a:p/>
        </p:txBody>
      </p:sp>
      <p:sp>
        <p:nvSpPr>
          <p:cNvPr id="43" name="TextBox 42"/>
          <p:cNvSpPr txBox="1"/>
          <p:nvPr/>
        </p:nvSpPr>
        <p:spPr>
          <a:xfrm>
            <a:off x="2354376" y="5661544"/>
            <a:ext cx="317500" cy="127000"/>
          </a:xfrm>
          <a:prstGeom prst="rect">
            <a:avLst/>
          </a:prstGeom>
          <a:noFill/>
        </p:spPr>
        <p:txBody>
          <a:bodyPr wrap="square" lIns="0" rIns="0" tIns="0" bIns="0" anchor="t">
            <a:spAutoFit/>
          </a:bodyPr>
          <a:lstStyle/>
          <a:p>
            <a:pPr algn="ctr"/>
            <a:r>
              <a:rPr sz="740" b="0" i="0">
                <a:solidFill>
                  <a:srgbClr val="2A2A26"/>
                </a:solidFill>
                <a:latin typeface="Montserrat"/>
              </a:rPr>
              <a:t>3</a:t>
            </a:r>
          </a:p>
        </p:txBody>
      </p:sp>
      <p:sp>
        <p:nvSpPr>
          <p:cNvPr id="44" name="Oval 43"/>
          <p:cNvSpPr/>
          <p:nvPr/>
        </p:nvSpPr>
        <p:spPr>
          <a:xfrm>
            <a:off x="3029102" y="5458344"/>
            <a:ext cx="165100" cy="165100"/>
          </a:xfrm>
          <a:prstGeom prst="ellipse">
            <a:avLst/>
          </a:prstGeom>
          <a:noFill/>
          <a:ln w="8890">
            <a:solidFill>
              <a:srgbClr val="B08D4F"/>
            </a:solidFill>
          </a:ln>
          <a:effectLst/>
        </p:spPr>
        <p:txBody>
          <a:bodyPr rtlCol="0" anchor="ctr"/>
          <a:lstStyle/>
          <a:p/>
        </p:txBody>
      </p:sp>
      <p:sp>
        <p:nvSpPr>
          <p:cNvPr id="45" name="TextBox 44"/>
          <p:cNvSpPr txBox="1"/>
          <p:nvPr/>
        </p:nvSpPr>
        <p:spPr>
          <a:xfrm>
            <a:off x="2952902" y="5661544"/>
            <a:ext cx="317500" cy="127000"/>
          </a:xfrm>
          <a:prstGeom prst="rect">
            <a:avLst/>
          </a:prstGeom>
          <a:noFill/>
        </p:spPr>
        <p:txBody>
          <a:bodyPr wrap="square" lIns="0" rIns="0" tIns="0" bIns="0" anchor="t">
            <a:spAutoFit/>
          </a:bodyPr>
          <a:lstStyle/>
          <a:p>
            <a:pPr algn="ctr"/>
            <a:r>
              <a:rPr sz="740" b="0" i="0">
                <a:solidFill>
                  <a:srgbClr val="2A2A26"/>
                </a:solidFill>
                <a:latin typeface="Montserrat"/>
              </a:rPr>
              <a:t>4</a:t>
            </a:r>
          </a:p>
        </p:txBody>
      </p:sp>
      <p:sp>
        <p:nvSpPr>
          <p:cNvPr id="46" name="Oval 45"/>
          <p:cNvSpPr/>
          <p:nvPr/>
        </p:nvSpPr>
        <p:spPr>
          <a:xfrm>
            <a:off x="3627628" y="5458344"/>
            <a:ext cx="165100" cy="165100"/>
          </a:xfrm>
          <a:prstGeom prst="ellipse">
            <a:avLst/>
          </a:prstGeom>
          <a:noFill/>
          <a:ln w="8890">
            <a:solidFill>
              <a:srgbClr val="B08D4F"/>
            </a:solidFill>
          </a:ln>
          <a:effectLst/>
        </p:spPr>
        <p:txBody>
          <a:bodyPr rtlCol="0" anchor="ctr"/>
          <a:lstStyle/>
          <a:p/>
        </p:txBody>
      </p:sp>
      <p:sp>
        <p:nvSpPr>
          <p:cNvPr id="47" name="TextBox 46"/>
          <p:cNvSpPr txBox="1"/>
          <p:nvPr/>
        </p:nvSpPr>
        <p:spPr>
          <a:xfrm>
            <a:off x="3551428" y="5661544"/>
            <a:ext cx="317500" cy="127000"/>
          </a:xfrm>
          <a:prstGeom prst="rect">
            <a:avLst/>
          </a:prstGeom>
          <a:noFill/>
        </p:spPr>
        <p:txBody>
          <a:bodyPr wrap="square" lIns="0" rIns="0" tIns="0" bIns="0" anchor="t">
            <a:spAutoFit/>
          </a:bodyPr>
          <a:lstStyle/>
          <a:p>
            <a:pPr algn="ctr"/>
            <a:r>
              <a:rPr sz="740" b="0" i="0">
                <a:solidFill>
                  <a:srgbClr val="2A2A26"/>
                </a:solidFill>
                <a:latin typeface="Montserrat"/>
              </a:rPr>
              <a:t>5</a:t>
            </a:r>
          </a:p>
        </p:txBody>
      </p:sp>
      <p:sp>
        <p:nvSpPr>
          <p:cNvPr id="48" name="Oval 47"/>
          <p:cNvSpPr/>
          <p:nvPr/>
        </p:nvSpPr>
        <p:spPr>
          <a:xfrm>
            <a:off x="4226153" y="5458344"/>
            <a:ext cx="165100" cy="165100"/>
          </a:xfrm>
          <a:prstGeom prst="ellipse">
            <a:avLst/>
          </a:prstGeom>
          <a:noFill/>
          <a:ln w="8890">
            <a:solidFill>
              <a:srgbClr val="B08D4F"/>
            </a:solidFill>
          </a:ln>
          <a:effectLst/>
        </p:spPr>
        <p:txBody>
          <a:bodyPr rtlCol="0" anchor="ctr"/>
          <a:lstStyle/>
          <a:p/>
        </p:txBody>
      </p:sp>
      <p:sp>
        <p:nvSpPr>
          <p:cNvPr id="49" name="TextBox 48"/>
          <p:cNvSpPr txBox="1"/>
          <p:nvPr/>
        </p:nvSpPr>
        <p:spPr>
          <a:xfrm>
            <a:off x="4149953" y="5661544"/>
            <a:ext cx="317500" cy="127000"/>
          </a:xfrm>
          <a:prstGeom prst="rect">
            <a:avLst/>
          </a:prstGeom>
          <a:noFill/>
        </p:spPr>
        <p:txBody>
          <a:bodyPr wrap="square" lIns="0" rIns="0" tIns="0" bIns="0" anchor="t">
            <a:spAutoFit/>
          </a:bodyPr>
          <a:lstStyle/>
          <a:p>
            <a:pPr algn="ctr"/>
            <a:r>
              <a:rPr sz="740" b="0" i="0">
                <a:solidFill>
                  <a:srgbClr val="2A2A26"/>
                </a:solidFill>
                <a:latin typeface="Montserrat"/>
              </a:rPr>
              <a:t>6</a:t>
            </a:r>
          </a:p>
        </p:txBody>
      </p:sp>
      <p:sp>
        <p:nvSpPr>
          <p:cNvPr id="50" name="Oval 49"/>
          <p:cNvSpPr/>
          <p:nvPr/>
        </p:nvSpPr>
        <p:spPr>
          <a:xfrm>
            <a:off x="4824679" y="5458344"/>
            <a:ext cx="165100" cy="165100"/>
          </a:xfrm>
          <a:prstGeom prst="ellipse">
            <a:avLst/>
          </a:prstGeom>
          <a:noFill/>
          <a:ln w="8890">
            <a:solidFill>
              <a:srgbClr val="B08D4F"/>
            </a:solidFill>
          </a:ln>
          <a:effectLst/>
        </p:spPr>
        <p:txBody>
          <a:bodyPr rtlCol="0" anchor="ctr"/>
          <a:lstStyle/>
          <a:p/>
        </p:txBody>
      </p:sp>
      <p:sp>
        <p:nvSpPr>
          <p:cNvPr id="51" name="TextBox 50"/>
          <p:cNvSpPr txBox="1"/>
          <p:nvPr/>
        </p:nvSpPr>
        <p:spPr>
          <a:xfrm>
            <a:off x="4748479" y="5661544"/>
            <a:ext cx="317500" cy="127000"/>
          </a:xfrm>
          <a:prstGeom prst="rect">
            <a:avLst/>
          </a:prstGeom>
          <a:noFill/>
        </p:spPr>
        <p:txBody>
          <a:bodyPr wrap="square" lIns="0" rIns="0" tIns="0" bIns="0" anchor="t">
            <a:spAutoFit/>
          </a:bodyPr>
          <a:lstStyle/>
          <a:p>
            <a:pPr algn="ctr"/>
            <a:r>
              <a:rPr sz="740" b="0" i="0">
                <a:solidFill>
                  <a:srgbClr val="2A2A26"/>
                </a:solidFill>
                <a:latin typeface="Montserrat"/>
              </a:rPr>
              <a:t>7</a:t>
            </a:r>
          </a:p>
        </p:txBody>
      </p:sp>
      <p:sp>
        <p:nvSpPr>
          <p:cNvPr id="52" name="Oval 51"/>
          <p:cNvSpPr/>
          <p:nvPr/>
        </p:nvSpPr>
        <p:spPr>
          <a:xfrm>
            <a:off x="5423204" y="5458344"/>
            <a:ext cx="165100" cy="165100"/>
          </a:xfrm>
          <a:prstGeom prst="ellipse">
            <a:avLst/>
          </a:prstGeom>
          <a:noFill/>
          <a:ln w="8890">
            <a:solidFill>
              <a:srgbClr val="B08D4F"/>
            </a:solidFill>
          </a:ln>
          <a:effectLst/>
        </p:spPr>
        <p:txBody>
          <a:bodyPr rtlCol="0" anchor="ctr"/>
          <a:lstStyle/>
          <a:p/>
        </p:txBody>
      </p:sp>
      <p:sp>
        <p:nvSpPr>
          <p:cNvPr id="53" name="TextBox 52"/>
          <p:cNvSpPr txBox="1"/>
          <p:nvPr/>
        </p:nvSpPr>
        <p:spPr>
          <a:xfrm>
            <a:off x="5347004" y="5661544"/>
            <a:ext cx="317500" cy="127000"/>
          </a:xfrm>
          <a:prstGeom prst="rect">
            <a:avLst/>
          </a:prstGeom>
          <a:noFill/>
        </p:spPr>
        <p:txBody>
          <a:bodyPr wrap="square" lIns="0" rIns="0" tIns="0" bIns="0" anchor="t">
            <a:spAutoFit/>
          </a:bodyPr>
          <a:lstStyle/>
          <a:p>
            <a:pPr algn="ctr"/>
            <a:r>
              <a:rPr sz="740" b="0" i="0">
                <a:solidFill>
                  <a:srgbClr val="2A2A26"/>
                </a:solidFill>
                <a:latin typeface="Montserrat"/>
              </a:rPr>
              <a:t>8</a:t>
            </a:r>
          </a:p>
        </p:txBody>
      </p:sp>
      <p:sp>
        <p:nvSpPr>
          <p:cNvPr id="54" name="Oval 53"/>
          <p:cNvSpPr/>
          <p:nvPr/>
        </p:nvSpPr>
        <p:spPr>
          <a:xfrm>
            <a:off x="6021730" y="5458344"/>
            <a:ext cx="165100" cy="165100"/>
          </a:xfrm>
          <a:prstGeom prst="ellipse">
            <a:avLst/>
          </a:prstGeom>
          <a:noFill/>
          <a:ln w="8890">
            <a:solidFill>
              <a:srgbClr val="B08D4F"/>
            </a:solidFill>
          </a:ln>
          <a:effectLst/>
        </p:spPr>
        <p:txBody>
          <a:bodyPr rtlCol="0" anchor="ctr"/>
          <a:lstStyle/>
          <a:p/>
        </p:txBody>
      </p:sp>
      <p:sp>
        <p:nvSpPr>
          <p:cNvPr id="55" name="TextBox 54"/>
          <p:cNvSpPr txBox="1"/>
          <p:nvPr/>
        </p:nvSpPr>
        <p:spPr>
          <a:xfrm>
            <a:off x="5945530" y="5661544"/>
            <a:ext cx="317500" cy="127000"/>
          </a:xfrm>
          <a:prstGeom prst="rect">
            <a:avLst/>
          </a:prstGeom>
          <a:noFill/>
        </p:spPr>
        <p:txBody>
          <a:bodyPr wrap="square" lIns="0" rIns="0" tIns="0" bIns="0" anchor="t">
            <a:spAutoFit/>
          </a:bodyPr>
          <a:lstStyle/>
          <a:p>
            <a:pPr algn="ctr"/>
            <a:r>
              <a:rPr sz="740" b="0" i="0">
                <a:solidFill>
                  <a:srgbClr val="2A2A26"/>
                </a:solidFill>
                <a:latin typeface="Montserrat"/>
              </a:rPr>
              <a:t>9</a:t>
            </a:r>
          </a:p>
        </p:txBody>
      </p:sp>
      <p:sp>
        <p:nvSpPr>
          <p:cNvPr id="56" name="Oval 55"/>
          <p:cNvSpPr/>
          <p:nvPr/>
        </p:nvSpPr>
        <p:spPr>
          <a:xfrm>
            <a:off x="6620256" y="5458344"/>
            <a:ext cx="165100" cy="165100"/>
          </a:xfrm>
          <a:prstGeom prst="ellipse">
            <a:avLst/>
          </a:prstGeom>
          <a:noFill/>
          <a:ln w="8890">
            <a:solidFill>
              <a:srgbClr val="B08D4F"/>
            </a:solidFill>
          </a:ln>
          <a:effectLst/>
        </p:spPr>
        <p:txBody>
          <a:bodyPr rtlCol="0" anchor="ctr"/>
          <a:lstStyle/>
          <a:p/>
        </p:txBody>
      </p:sp>
      <p:sp>
        <p:nvSpPr>
          <p:cNvPr id="57" name="TextBox 56"/>
          <p:cNvSpPr txBox="1"/>
          <p:nvPr/>
        </p:nvSpPr>
        <p:spPr>
          <a:xfrm>
            <a:off x="6544056" y="5661544"/>
            <a:ext cx="317500" cy="127000"/>
          </a:xfrm>
          <a:prstGeom prst="rect">
            <a:avLst/>
          </a:prstGeom>
          <a:noFill/>
        </p:spPr>
        <p:txBody>
          <a:bodyPr wrap="square" lIns="0" rIns="0" tIns="0" bIns="0" anchor="t">
            <a:spAutoFit/>
          </a:bodyPr>
          <a:lstStyle/>
          <a:p>
            <a:pPr algn="ctr"/>
            <a:r>
              <a:rPr sz="740" b="0" i="0">
                <a:solidFill>
                  <a:srgbClr val="2A2A26"/>
                </a:solidFill>
                <a:latin typeface="Montserrat"/>
              </a:rPr>
              <a:t>10</a:t>
            </a:r>
          </a:p>
        </p:txBody>
      </p:sp>
      <p:sp>
        <p:nvSpPr>
          <p:cNvPr id="60" name="TextBox 59"/>
          <p:cNvSpPr txBox="1"/>
          <p:nvPr/>
        </p:nvSpPr>
        <p:spPr>
          <a:xfrm>
            <a:off x="508000" y="5045425"/>
            <a:ext cx="6544056" cy="266700"/>
          </a:xfrm>
          <a:prstGeom prst="rect">
            <a:avLst/>
          </a:prstGeom>
          <a:noFill/>
        </p:spPr>
        <p:txBody>
          <a:bodyPr wrap="square" lIns="0" rIns="0" tIns="0" bIns="0" anchor="ctr">
            <a:spAutoFit/>
          </a:bodyPr>
          <a:lstStyle/>
          <a:p>
            <a:pPr algn="l"/>
            <a:r>
              <a:rPr sz="840" b="1" i="0">
                <a:solidFill>
                  <a:srgbClr val="FFFFFF"/>
                </a:solidFill>
                <a:latin typeface="Montserrat"/>
              </a:rPr>
              <a:t>INTENSIDADE DO DESCONFORTO (0–10)</a:t>
            </a:r>
          </a:p>
        </p:txBody>
      </p:sp>
      <p:cxnSp>
        <p:nvCxnSpPr>
          <p:cNvPr id="61" name="Connector 60"/>
          <p:cNvCxnSpPr/>
          <p:nvPr/>
        </p:nvCxnSpPr>
        <p:spPr>
          <a:xfrm>
            <a:off x="533400" y="6759016"/>
            <a:ext cx="6493256" cy="0"/>
          </a:xfrm>
          <a:prstGeom prst="line">
            <a:avLst/>
          </a:prstGeom>
          <a:ln w="7620">
            <a:solidFill>
              <a:srgbClr val="B4B2A8"/>
            </a:solidFill>
          </a:ln>
        </p:spPr>
      </p:cxnSp>
      <p:cxnSp>
        <p:nvCxnSpPr>
          <p:cNvPr id="62" name="Connector 61"/>
          <p:cNvCxnSpPr/>
          <p:nvPr/>
        </p:nvCxnSpPr>
        <p:spPr>
          <a:xfrm>
            <a:off x="533400" y="7036832"/>
            <a:ext cx="6493256" cy="0"/>
          </a:xfrm>
          <a:prstGeom prst="line">
            <a:avLst/>
          </a:prstGeom>
          <a:ln w="7620">
            <a:solidFill>
              <a:srgbClr val="B4B2A8"/>
            </a:solidFill>
          </a:ln>
        </p:spPr>
      </p:cxnSp>
      <p:sp>
        <p:nvSpPr>
          <p:cNvPr id="65" name="TextBox 64"/>
          <p:cNvSpPr txBox="1"/>
          <p:nvPr/>
        </p:nvSpPr>
        <p:spPr>
          <a:xfrm>
            <a:off x="508000" y="6106382"/>
            <a:ext cx="6544056" cy="266700"/>
          </a:xfrm>
          <a:prstGeom prst="rect">
            <a:avLst/>
          </a:prstGeom>
          <a:noFill/>
        </p:spPr>
        <p:txBody>
          <a:bodyPr wrap="square" lIns="0" rIns="0" tIns="0" bIns="0" anchor="ctr">
            <a:spAutoFit/>
          </a:bodyPr>
          <a:lstStyle/>
          <a:p>
            <a:pPr algn="l"/>
            <a:r>
              <a:rPr sz="840" b="1" i="0">
                <a:solidFill>
                  <a:srgbClr val="FFFFFF"/>
                </a:solidFill>
                <a:latin typeface="Montserrat"/>
              </a:rPr>
              <a:t>DEPOIS DA SESSÃO — O QUE MUDOU?</a:t>
            </a:r>
          </a:p>
        </p:txBody>
      </p:sp>
      <p:cxnSp>
        <p:nvCxnSpPr>
          <p:cNvPr id="66" name="Connector 65"/>
          <p:cNvCxnSpPr/>
          <p:nvPr/>
        </p:nvCxnSpPr>
        <p:spPr>
          <a:xfrm>
            <a:off x="533400" y="8020004"/>
            <a:ext cx="6493256" cy="0"/>
          </a:xfrm>
          <a:prstGeom prst="line">
            <a:avLst/>
          </a:prstGeom>
          <a:ln w="7620">
            <a:solidFill>
              <a:srgbClr val="B4B2A8"/>
            </a:solidFill>
          </a:ln>
        </p:spPr>
      </p:cxnSp>
      <p:cxnSp>
        <p:nvCxnSpPr>
          <p:cNvPr id="67" name="Connector 66"/>
          <p:cNvCxnSpPr/>
          <p:nvPr/>
        </p:nvCxnSpPr>
        <p:spPr>
          <a:xfrm>
            <a:off x="533400" y="8297820"/>
            <a:ext cx="6493256" cy="0"/>
          </a:xfrm>
          <a:prstGeom prst="line">
            <a:avLst/>
          </a:prstGeom>
          <a:ln w="7620">
            <a:solidFill>
              <a:srgbClr val="B4B2A8"/>
            </a:solidFill>
          </a:ln>
        </p:spPr>
      </p:cxnSp>
      <p:sp>
        <p:nvSpPr>
          <p:cNvPr id="70" name="TextBox 69"/>
          <p:cNvSpPr txBox="1"/>
          <p:nvPr/>
        </p:nvSpPr>
        <p:spPr>
          <a:xfrm>
            <a:off x="508000" y="7367370"/>
            <a:ext cx="6544056" cy="266700"/>
          </a:xfrm>
          <a:prstGeom prst="rect">
            <a:avLst/>
          </a:prstGeom>
          <a:noFill/>
        </p:spPr>
        <p:txBody>
          <a:bodyPr wrap="square" lIns="0" rIns="0" tIns="0" bIns="0" anchor="ctr">
            <a:spAutoFit/>
          </a:bodyPr>
          <a:lstStyle/>
          <a:p>
            <a:pPr algn="l"/>
            <a:r>
              <a:rPr sz="840" b="1" i="0">
                <a:solidFill>
                  <a:srgbClr val="FFFFFF"/>
                </a:solidFill>
                <a:latin typeface="Montserrat"/>
              </a:rPr>
              <a:t>REAÇÕES NAS HORAS SEGUINTES</a:t>
            </a:r>
          </a:p>
        </p:txBody>
      </p:sp>
      <p:cxnSp>
        <p:nvCxnSpPr>
          <p:cNvPr id="71" name="Connector 70"/>
          <p:cNvCxnSpPr/>
          <p:nvPr/>
        </p:nvCxnSpPr>
        <p:spPr>
          <a:xfrm>
            <a:off x="533400" y="9280993"/>
            <a:ext cx="6493256" cy="0"/>
          </a:xfrm>
          <a:prstGeom prst="line">
            <a:avLst/>
          </a:prstGeom>
          <a:ln w="7620">
            <a:solidFill>
              <a:srgbClr val="B4B2A8"/>
            </a:solidFill>
          </a:ln>
        </p:spPr>
      </p:cxnSp>
      <p:cxnSp>
        <p:nvCxnSpPr>
          <p:cNvPr id="72" name="Connector 71"/>
          <p:cNvCxnSpPr/>
          <p:nvPr/>
        </p:nvCxnSpPr>
        <p:spPr>
          <a:xfrm>
            <a:off x="533400" y="9558809"/>
            <a:ext cx="6493256" cy="0"/>
          </a:xfrm>
          <a:prstGeom prst="line">
            <a:avLst/>
          </a:prstGeom>
          <a:ln w="7620">
            <a:solidFill>
              <a:srgbClr val="B4B2A8"/>
            </a:solidFill>
          </a:ln>
        </p:spPr>
      </p:cxnSp>
      <p:cxnSp>
        <p:nvCxnSpPr>
          <p:cNvPr id="73" name="Connector 72"/>
          <p:cNvCxnSpPr/>
          <p:nvPr/>
        </p:nvCxnSpPr>
        <p:spPr>
          <a:xfrm>
            <a:off x="533400" y="9836624"/>
            <a:ext cx="6493256" cy="0"/>
          </a:xfrm>
          <a:prstGeom prst="line">
            <a:avLst/>
          </a:prstGeom>
          <a:ln w="7620">
            <a:solidFill>
              <a:srgbClr val="B4B2A8"/>
            </a:solidFill>
          </a:ln>
        </p:spPr>
      </p:cxnSp>
      <p:sp>
        <p:nvSpPr>
          <p:cNvPr id="76" name="TextBox 75"/>
          <p:cNvSpPr txBox="1"/>
          <p:nvPr/>
        </p:nvSpPr>
        <p:spPr>
          <a:xfrm>
            <a:off x="508000" y="8628358"/>
            <a:ext cx="6544056" cy="266700"/>
          </a:xfrm>
          <a:prstGeom prst="rect">
            <a:avLst/>
          </a:prstGeom>
          <a:noFill/>
        </p:spPr>
        <p:txBody>
          <a:bodyPr wrap="square" lIns="0" rIns="0" tIns="0" bIns="0" anchor="ctr">
            <a:spAutoFit/>
          </a:bodyPr>
          <a:lstStyle/>
          <a:p>
            <a:pPr algn="l"/>
            <a:r>
              <a:rPr sz="840" b="1" i="0">
                <a:solidFill>
                  <a:srgbClr val="FFFFFF"/>
                </a:solidFill>
                <a:latin typeface="Montserrat"/>
              </a:rPr>
              <a:t>O QUE POSSO OBSERVAR ATÉ O PRÓXIMO ATENDIMENTO?</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8F5EE"/>
        </a:solidFill>
        <a:effectLst/>
      </p:bgPr>
    </p:bg>
    <p:spTree>
      <p:nvGrpSpPr>
        <p:cNvPr id="1" name=""/>
        <p:cNvGrpSpPr/>
        <p:nvPr/>
      </p:nvGrpSpPr>
      <p:grpSpPr/>
      <p:sp>
        <p:nvSpPr>
          <p:cNvPr id="59" name="Rounded Rectangle 58"/>
          <p:cNvSpPr/>
          <p:nvPr/>
        </p:nvSpPr>
        <p:spPr>
          <a:xfrm>
            <a:off x="381000" y="9380150"/>
            <a:ext cx="6798056" cy="653597"/>
          </a:xfrm>
          <a:prstGeom prst="roundRect">
            <a:avLst>
              <a:gd name="adj" fmla="val 15544"/>
            </a:avLst>
          </a:prstGeom>
          <a:solidFill>
            <a:srgbClr val="FDFCF8"/>
          </a:solidFill>
          <a:ln w="10160">
            <a:solidFill>
              <a:srgbClr val="D7D4C9"/>
            </a:solidFill>
          </a:ln>
          <a:effectLst/>
        </p:spPr>
        <p:txBody>
          <a:bodyPr rtlCol="0" anchor="ctr"/>
          <a:lstStyle/>
          <a:p/>
        </p:txBody>
      </p:sp>
      <p:sp>
        <p:nvSpPr>
          <p:cNvPr id="52" name="Rounded Rectangle 51"/>
          <p:cNvSpPr/>
          <p:nvPr/>
        </p:nvSpPr>
        <p:spPr>
          <a:xfrm>
            <a:off x="381000" y="7893401"/>
            <a:ext cx="6798056" cy="1341504"/>
          </a:xfrm>
          <a:prstGeom prst="roundRect">
            <a:avLst>
              <a:gd name="adj" fmla="val 7573"/>
            </a:avLst>
          </a:prstGeom>
          <a:solidFill>
            <a:srgbClr val="FDFCF8"/>
          </a:solidFill>
          <a:ln w="10160">
            <a:solidFill>
              <a:srgbClr val="D7D4C9"/>
            </a:solidFill>
          </a:ln>
          <a:effectLst/>
        </p:spPr>
        <p:txBody>
          <a:bodyPr rtlCol="0" anchor="ctr"/>
          <a:lstStyle/>
          <a:p/>
        </p:txBody>
      </p:sp>
      <p:sp>
        <p:nvSpPr>
          <p:cNvPr id="53" name="Round Same Side Corner Rectangle 52"/>
          <p:cNvSpPr/>
          <p:nvPr/>
        </p:nvSpPr>
        <p:spPr>
          <a:xfrm>
            <a:off x="381000" y="7893401"/>
            <a:ext cx="6798056" cy="266700"/>
          </a:xfrm>
          <a:prstGeom prst="round2SameRect">
            <a:avLst>
              <a:gd name="adj1" fmla="val 38095"/>
              <a:gd name="adj2" fmla="val 0"/>
            </a:avLst>
          </a:prstGeom>
          <a:solidFill>
            <a:srgbClr val="3F5C4A"/>
          </a:solidFill>
          <a:ln>
            <a:noFill/>
          </a:ln>
          <a:effectLst/>
        </p:spPr>
        <p:txBody>
          <a:bodyPr rtlCol="0" anchor="ctr"/>
          <a:lstStyle/>
          <a:p/>
        </p:txBody>
      </p:sp>
      <p:sp>
        <p:nvSpPr>
          <p:cNvPr id="46" name="Rounded Rectangle 45"/>
          <p:cNvSpPr/>
          <p:nvPr/>
        </p:nvSpPr>
        <p:spPr>
          <a:xfrm>
            <a:off x="381000" y="6406652"/>
            <a:ext cx="6798056" cy="1341504"/>
          </a:xfrm>
          <a:prstGeom prst="roundRect">
            <a:avLst>
              <a:gd name="adj" fmla="val 7573"/>
            </a:avLst>
          </a:prstGeom>
          <a:solidFill>
            <a:srgbClr val="FDFCF8"/>
          </a:solidFill>
          <a:ln w="10160">
            <a:solidFill>
              <a:srgbClr val="D7D4C9"/>
            </a:solidFill>
          </a:ln>
          <a:effectLst/>
        </p:spPr>
        <p:txBody>
          <a:bodyPr rtlCol="0" anchor="ctr"/>
          <a:lstStyle/>
          <a:p/>
        </p:txBody>
      </p:sp>
      <p:sp>
        <p:nvSpPr>
          <p:cNvPr id="47" name="Round Same Side Corner Rectangle 46"/>
          <p:cNvSpPr/>
          <p:nvPr/>
        </p:nvSpPr>
        <p:spPr>
          <a:xfrm>
            <a:off x="381000" y="6406652"/>
            <a:ext cx="6798056" cy="266700"/>
          </a:xfrm>
          <a:prstGeom prst="round2SameRect">
            <a:avLst>
              <a:gd name="adj1" fmla="val 38095"/>
              <a:gd name="adj2" fmla="val 0"/>
            </a:avLst>
          </a:prstGeom>
          <a:solidFill>
            <a:srgbClr val="3F5C4A"/>
          </a:solidFill>
          <a:ln>
            <a:noFill/>
          </a:ln>
          <a:effectLst/>
        </p:spPr>
        <p:txBody>
          <a:bodyPr rtlCol="0" anchor="ctr"/>
          <a:lstStyle/>
          <a:p/>
        </p:txBody>
      </p:sp>
      <p:sp>
        <p:nvSpPr>
          <p:cNvPr id="42" name="Rounded Rectangle 41"/>
          <p:cNvSpPr/>
          <p:nvPr/>
        </p:nvSpPr>
        <p:spPr>
          <a:xfrm>
            <a:off x="381000" y="5302799"/>
            <a:ext cx="6798056" cy="958609"/>
          </a:xfrm>
          <a:prstGeom prst="roundRect">
            <a:avLst>
              <a:gd name="adj" fmla="val 10598"/>
            </a:avLst>
          </a:prstGeom>
          <a:solidFill>
            <a:srgbClr val="FDFCF8"/>
          </a:solidFill>
          <a:ln w="10160">
            <a:solidFill>
              <a:srgbClr val="D7D4C9"/>
            </a:solidFill>
          </a:ln>
          <a:effectLst/>
        </p:spPr>
        <p:txBody>
          <a:bodyPr rtlCol="0" anchor="ctr"/>
          <a:lstStyle/>
          <a:p/>
        </p:txBody>
      </p:sp>
      <p:cxnSp>
        <p:nvCxnSpPr>
          <p:cNvPr id="2" name="Connector 1"/>
          <p:cNvCxnSpPr/>
          <p:nvPr/>
        </p:nvCxnSpPr>
        <p:spPr>
          <a:xfrm>
            <a:off x="38100" y="25400"/>
            <a:ext cx="660400" cy="660400"/>
          </a:xfrm>
          <a:prstGeom prst="line">
            <a:avLst/>
          </a:prstGeom>
          <a:ln w="13970">
            <a:solidFill>
              <a:srgbClr val="B08D4F"/>
            </a:solidFill>
          </a:ln>
        </p:spPr>
      </p:cxnSp>
      <p:sp>
        <p:nvSpPr>
          <p:cNvPr id="3" name="Oval 2"/>
          <p:cNvSpPr/>
          <p:nvPr/>
        </p:nvSpPr>
        <p:spPr>
          <a:xfrm>
            <a:off x="191770" y="77470"/>
            <a:ext cx="190500" cy="215900"/>
          </a:xfrm>
          <a:prstGeom prst="ellipse">
            <a:avLst/>
          </a:prstGeom>
          <a:solidFill>
            <a:srgbClr val="8FA388"/>
          </a:solidFill>
          <a:ln>
            <a:noFill/>
          </a:ln>
          <a:effectLst/>
        </p:spPr>
        <p:txBody>
          <a:bodyPr rtlCol="0" anchor="ctr"/>
          <a:lstStyle/>
          <a:p/>
        </p:txBody>
      </p:sp>
      <p:sp>
        <p:nvSpPr>
          <p:cNvPr id="4" name="Oval 3"/>
          <p:cNvSpPr/>
          <p:nvPr/>
        </p:nvSpPr>
        <p:spPr>
          <a:xfrm>
            <a:off x="330708" y="216408"/>
            <a:ext cx="203200" cy="228600"/>
          </a:xfrm>
          <a:prstGeom prst="ellipse">
            <a:avLst/>
          </a:prstGeom>
          <a:solidFill>
            <a:srgbClr val="8FA388"/>
          </a:solidFill>
          <a:ln>
            <a:noFill/>
          </a:ln>
          <a:effectLst/>
        </p:spPr>
        <p:txBody>
          <a:bodyPr rtlCol="0" anchor="ctr"/>
          <a:lstStyle/>
          <a:p/>
        </p:txBody>
      </p:sp>
      <p:sp>
        <p:nvSpPr>
          <p:cNvPr id="5" name="Oval 4"/>
          <p:cNvSpPr/>
          <p:nvPr/>
        </p:nvSpPr>
        <p:spPr>
          <a:xfrm>
            <a:off x="482345" y="368045"/>
            <a:ext cx="190500" cy="215900"/>
          </a:xfrm>
          <a:prstGeom prst="ellipse">
            <a:avLst/>
          </a:prstGeom>
          <a:solidFill>
            <a:srgbClr val="8FA388"/>
          </a:solidFill>
          <a:ln>
            <a:noFill/>
          </a:ln>
          <a:effectLst/>
        </p:spPr>
        <p:txBody>
          <a:bodyPr rtlCol="0" anchor="ctr"/>
          <a:lstStyle/>
          <a:p/>
        </p:txBody>
      </p:sp>
      <p:cxnSp>
        <p:nvCxnSpPr>
          <p:cNvPr id="6" name="Connector 5"/>
          <p:cNvCxnSpPr/>
          <p:nvPr/>
        </p:nvCxnSpPr>
        <p:spPr>
          <a:xfrm flipH="1">
            <a:off x="6861556" y="25400"/>
            <a:ext cx="660400" cy="660400"/>
          </a:xfrm>
          <a:prstGeom prst="line">
            <a:avLst/>
          </a:prstGeom>
          <a:ln w="13970">
            <a:solidFill>
              <a:srgbClr val="B08D4F"/>
            </a:solidFill>
          </a:ln>
        </p:spPr>
      </p:cxnSp>
      <p:sp>
        <p:nvSpPr>
          <p:cNvPr id="7" name="Oval 6"/>
          <p:cNvSpPr/>
          <p:nvPr/>
        </p:nvSpPr>
        <p:spPr>
          <a:xfrm>
            <a:off x="7177785" y="77470"/>
            <a:ext cx="190500" cy="215900"/>
          </a:xfrm>
          <a:prstGeom prst="ellipse">
            <a:avLst/>
          </a:prstGeom>
          <a:solidFill>
            <a:srgbClr val="8FA388"/>
          </a:solidFill>
          <a:ln>
            <a:noFill/>
          </a:ln>
          <a:effectLst/>
        </p:spPr>
        <p:txBody>
          <a:bodyPr rtlCol="0" anchor="ctr"/>
          <a:lstStyle/>
          <a:p/>
        </p:txBody>
      </p:sp>
      <p:sp>
        <p:nvSpPr>
          <p:cNvPr id="8" name="Oval 7"/>
          <p:cNvSpPr/>
          <p:nvPr/>
        </p:nvSpPr>
        <p:spPr>
          <a:xfrm>
            <a:off x="7026148" y="216408"/>
            <a:ext cx="203200" cy="228600"/>
          </a:xfrm>
          <a:prstGeom prst="ellipse">
            <a:avLst/>
          </a:prstGeom>
          <a:solidFill>
            <a:srgbClr val="8FA388"/>
          </a:solidFill>
          <a:ln>
            <a:noFill/>
          </a:ln>
          <a:effectLst/>
        </p:spPr>
        <p:txBody>
          <a:bodyPr rtlCol="0" anchor="ctr"/>
          <a:lstStyle/>
          <a:p/>
        </p:txBody>
      </p:sp>
      <p:sp>
        <p:nvSpPr>
          <p:cNvPr id="9" name="Oval 8"/>
          <p:cNvSpPr/>
          <p:nvPr/>
        </p:nvSpPr>
        <p:spPr>
          <a:xfrm>
            <a:off x="6887209" y="368045"/>
            <a:ext cx="190500" cy="215900"/>
          </a:xfrm>
          <a:prstGeom prst="ellipse">
            <a:avLst/>
          </a:prstGeom>
          <a:solidFill>
            <a:srgbClr val="8FA388"/>
          </a:solidFill>
          <a:ln>
            <a:noFill/>
          </a:ln>
          <a:effectLst/>
        </p:spPr>
        <p:txBody>
          <a:bodyPr rtlCol="0" anchor="ctr"/>
          <a:lstStyle/>
          <a:p/>
        </p:txBody>
      </p:sp>
      <p:sp>
        <p:nvSpPr>
          <p:cNvPr id="10" name="Oval 9"/>
          <p:cNvSpPr/>
          <p:nvPr/>
        </p:nvSpPr>
        <p:spPr>
          <a:xfrm>
            <a:off x="3500628" y="127000"/>
            <a:ext cx="114300" cy="215900"/>
          </a:xfrm>
          <a:prstGeom prst="ellipse">
            <a:avLst/>
          </a:prstGeom>
          <a:noFill/>
          <a:ln w="10160">
            <a:solidFill>
              <a:srgbClr val="B08D4F"/>
            </a:solidFill>
          </a:ln>
          <a:effectLst/>
        </p:spPr>
        <p:txBody>
          <a:bodyPr rtlCol="0" anchor="ctr"/>
          <a:lstStyle/>
          <a:p/>
        </p:txBody>
      </p:sp>
      <p:sp>
        <p:nvSpPr>
          <p:cNvPr id="11" name="Oval 10"/>
          <p:cNvSpPr/>
          <p:nvPr/>
        </p:nvSpPr>
        <p:spPr>
          <a:xfrm>
            <a:off x="3595878" y="127000"/>
            <a:ext cx="114300" cy="215900"/>
          </a:xfrm>
          <a:prstGeom prst="ellipse">
            <a:avLst/>
          </a:prstGeom>
          <a:noFill/>
          <a:ln w="10160">
            <a:solidFill>
              <a:srgbClr val="B08D4F"/>
            </a:solidFill>
          </a:ln>
          <a:effectLst/>
        </p:spPr>
        <p:txBody>
          <a:bodyPr rtlCol="0" anchor="ctr"/>
          <a:lstStyle/>
          <a:p/>
        </p:txBody>
      </p:sp>
      <p:sp>
        <p:nvSpPr>
          <p:cNvPr id="12" name="Oval 11"/>
          <p:cNvSpPr/>
          <p:nvPr/>
        </p:nvSpPr>
        <p:spPr>
          <a:xfrm>
            <a:off x="3691128" y="127000"/>
            <a:ext cx="114300" cy="215900"/>
          </a:xfrm>
          <a:prstGeom prst="ellipse">
            <a:avLst/>
          </a:prstGeom>
          <a:noFill/>
          <a:ln w="10160">
            <a:solidFill>
              <a:srgbClr val="B08D4F"/>
            </a:solidFill>
          </a:ln>
          <a:effectLst/>
        </p:spPr>
        <p:txBody>
          <a:bodyPr rtlCol="0" anchor="ctr"/>
          <a:lstStyle/>
          <a:p/>
        </p:txBody>
      </p:sp>
      <p:sp>
        <p:nvSpPr>
          <p:cNvPr id="13" name="Oval 12"/>
          <p:cNvSpPr/>
          <p:nvPr/>
        </p:nvSpPr>
        <p:spPr>
          <a:xfrm>
            <a:off x="3786378" y="127000"/>
            <a:ext cx="114300" cy="215900"/>
          </a:xfrm>
          <a:prstGeom prst="ellipse">
            <a:avLst/>
          </a:prstGeom>
          <a:noFill/>
          <a:ln w="10160">
            <a:solidFill>
              <a:srgbClr val="B08D4F"/>
            </a:solidFill>
          </a:ln>
          <a:effectLst/>
        </p:spPr>
        <p:txBody>
          <a:bodyPr rtlCol="0" anchor="ctr"/>
          <a:lstStyle/>
          <a:p/>
        </p:txBody>
      </p:sp>
      <p:sp>
        <p:nvSpPr>
          <p:cNvPr id="14" name="Oval 13"/>
          <p:cNvSpPr/>
          <p:nvPr/>
        </p:nvSpPr>
        <p:spPr>
          <a:xfrm>
            <a:off x="3881628" y="127000"/>
            <a:ext cx="114300" cy="215900"/>
          </a:xfrm>
          <a:prstGeom prst="ellipse">
            <a:avLst/>
          </a:prstGeom>
          <a:noFill/>
          <a:ln w="10160">
            <a:solidFill>
              <a:srgbClr val="B08D4F"/>
            </a:solidFill>
          </a:ln>
          <a:effectLst/>
        </p:spPr>
        <p:txBody>
          <a:bodyPr rtlCol="0" anchor="ctr"/>
          <a:lstStyle/>
          <a:p/>
        </p:txBody>
      </p:sp>
      <p:sp>
        <p:nvSpPr>
          <p:cNvPr id="15" name="Arc 14"/>
          <p:cNvSpPr/>
          <p:nvPr/>
        </p:nvSpPr>
        <p:spPr>
          <a:xfrm>
            <a:off x="3437128" y="165100"/>
            <a:ext cx="685800" cy="381000"/>
          </a:xfrm>
          <a:prstGeom prst="arc">
            <a:avLst>
              <a:gd name="adj1" fmla="val 18000000"/>
              <a:gd name="adj2" fmla="val 0"/>
            </a:avLst>
          </a:prstGeom>
          <a:noFill/>
          <a:ln w="10160">
            <a:solidFill>
              <a:srgbClr val="B08D4F"/>
            </a:solidFill>
          </a:ln>
          <a:effectLst/>
        </p:spPr>
        <p:txBody>
          <a:bodyPr rtlCol="0" anchor="ctr"/>
          <a:lstStyle/>
          <a:p>
            <a:pPr algn="ctr"/>
          </a:p>
        </p:txBody>
      </p:sp>
      <p:sp>
        <p:nvSpPr>
          <p:cNvPr id="16" name="TextBox 15"/>
          <p:cNvSpPr txBox="1"/>
          <p:nvPr/>
        </p:nvSpPr>
        <p:spPr>
          <a:xfrm>
            <a:off x="254000" y="635000"/>
            <a:ext cx="7052056" cy="462280"/>
          </a:xfrm>
          <a:prstGeom prst="rect">
            <a:avLst/>
          </a:prstGeom>
          <a:noFill/>
        </p:spPr>
        <p:txBody>
          <a:bodyPr wrap="square" lIns="0" rIns="0" tIns="0" bIns="0" anchor="t">
            <a:spAutoFit/>
          </a:bodyPr>
          <a:lstStyle/>
          <a:p>
            <a:pPr algn="ctr"/>
            <a:r>
              <a:rPr sz="2600" b="1" i="0">
                <a:solidFill>
                  <a:srgbClr val="3F5C4A"/>
                </a:solidFill>
                <a:latin typeface="Libre Baskerville"/>
              </a:rPr>
              <a:t>RODA DO BEM-ESTAR</a:t>
            </a:r>
          </a:p>
        </p:txBody>
      </p:sp>
      <p:sp>
        <p:nvSpPr>
          <p:cNvPr id="17" name="TextBox 16"/>
          <p:cNvSpPr txBox="1"/>
          <p:nvPr/>
        </p:nvSpPr>
        <p:spPr>
          <a:xfrm>
            <a:off x="508000" y="1080770"/>
            <a:ext cx="6544056" cy="177800"/>
          </a:xfrm>
          <a:prstGeom prst="rect">
            <a:avLst/>
          </a:prstGeom>
          <a:noFill/>
        </p:spPr>
        <p:txBody>
          <a:bodyPr wrap="square" lIns="0" rIns="0" tIns="0" bIns="0" anchor="t">
            <a:spAutoFit/>
          </a:bodyPr>
          <a:lstStyle/>
          <a:p>
            <a:pPr algn="ctr"/>
            <a:r>
              <a:rPr sz="950" b="0" i="0">
                <a:solidFill>
                  <a:srgbClr val="2A2A26"/>
                </a:solidFill>
                <a:latin typeface="Montserrat"/>
              </a:rPr>
              <a:t>Avalie como está seu corpo e sua rotina hoje</a:t>
            </a:r>
          </a:p>
        </p:txBody>
      </p:sp>
      <p:sp>
        <p:nvSpPr>
          <p:cNvPr id="18" name="TextBox 17"/>
          <p:cNvSpPr txBox="1"/>
          <p:nvPr/>
        </p:nvSpPr>
        <p:spPr>
          <a:xfrm>
            <a:off x="762000" y="10196703"/>
            <a:ext cx="6036056" cy="127000"/>
          </a:xfrm>
          <a:prstGeom prst="rect">
            <a:avLst/>
          </a:prstGeom>
          <a:noFill/>
        </p:spPr>
        <p:txBody>
          <a:bodyPr wrap="square" lIns="0" rIns="0" tIns="0" bIns="0" anchor="t">
            <a:spAutoFit/>
          </a:bodyPr>
          <a:lstStyle/>
          <a:p>
            <a:pPr algn="ctr"/>
            <a:r>
              <a:rPr sz="650" b="0" i="0">
                <a:solidFill>
                  <a:srgbClr val="77776E"/>
                </a:solidFill>
                <a:latin typeface="Montserrat"/>
              </a:rPr>
              <a:t>MASSOTERAPIA • CUIDADO • BEM-ESTAR</a:t>
            </a:r>
          </a:p>
        </p:txBody>
      </p:sp>
      <p:cxnSp>
        <p:nvCxnSpPr>
          <p:cNvPr id="19" name="Connector 18"/>
          <p:cNvCxnSpPr/>
          <p:nvPr/>
        </p:nvCxnSpPr>
        <p:spPr>
          <a:xfrm>
            <a:off x="1968500" y="10336403"/>
            <a:ext cx="3623056" cy="0"/>
          </a:xfrm>
          <a:prstGeom prst="line">
            <a:avLst/>
          </a:prstGeom>
          <a:ln w="8890">
            <a:solidFill>
              <a:srgbClr val="B08D4F"/>
            </a:solidFill>
          </a:ln>
        </p:spPr>
      </p:cxnSp>
      <p:sp>
        <p:nvSpPr>
          <p:cNvPr id="20" name="Oval 19"/>
          <p:cNvSpPr/>
          <p:nvPr/>
        </p:nvSpPr>
        <p:spPr>
          <a:xfrm>
            <a:off x="2501881" y="1791970"/>
            <a:ext cx="2556292" cy="2556292"/>
          </a:xfrm>
          <a:prstGeom prst="ellipse">
            <a:avLst/>
          </a:prstGeom>
          <a:noFill/>
          <a:ln w="8890">
            <a:solidFill>
              <a:srgbClr val="B9B8AE"/>
            </a:solidFill>
          </a:ln>
          <a:effectLst/>
        </p:spPr>
        <p:txBody>
          <a:bodyPr rtlCol="0" anchor="ctr"/>
          <a:lstStyle/>
          <a:p/>
        </p:txBody>
      </p:sp>
      <p:sp>
        <p:nvSpPr>
          <p:cNvPr id="21" name="Oval 20"/>
          <p:cNvSpPr/>
          <p:nvPr/>
        </p:nvSpPr>
        <p:spPr>
          <a:xfrm>
            <a:off x="2757510" y="2047599"/>
            <a:ext cx="2045034" cy="2045034"/>
          </a:xfrm>
          <a:prstGeom prst="ellipse">
            <a:avLst/>
          </a:prstGeom>
          <a:noFill/>
          <a:ln w="8890">
            <a:solidFill>
              <a:srgbClr val="B9B8AE"/>
            </a:solidFill>
          </a:ln>
          <a:effectLst/>
        </p:spPr>
        <p:txBody>
          <a:bodyPr rtlCol="0" anchor="ctr"/>
          <a:lstStyle/>
          <a:p/>
        </p:txBody>
      </p:sp>
      <p:sp>
        <p:nvSpPr>
          <p:cNvPr id="22" name="Oval 21"/>
          <p:cNvSpPr/>
          <p:nvPr/>
        </p:nvSpPr>
        <p:spPr>
          <a:xfrm>
            <a:off x="3013140" y="2303228"/>
            <a:ext cx="1533775" cy="1533775"/>
          </a:xfrm>
          <a:prstGeom prst="ellipse">
            <a:avLst/>
          </a:prstGeom>
          <a:noFill/>
          <a:ln w="8890">
            <a:solidFill>
              <a:srgbClr val="B9B8AE"/>
            </a:solidFill>
          </a:ln>
          <a:effectLst/>
        </p:spPr>
        <p:txBody>
          <a:bodyPr rtlCol="0" anchor="ctr"/>
          <a:lstStyle/>
          <a:p/>
        </p:txBody>
      </p:sp>
      <p:sp>
        <p:nvSpPr>
          <p:cNvPr id="23" name="Oval 22"/>
          <p:cNvSpPr/>
          <p:nvPr/>
        </p:nvSpPr>
        <p:spPr>
          <a:xfrm>
            <a:off x="3268769" y="2558857"/>
            <a:ext cx="1022517" cy="1022517"/>
          </a:xfrm>
          <a:prstGeom prst="ellipse">
            <a:avLst/>
          </a:prstGeom>
          <a:noFill/>
          <a:ln w="8890">
            <a:solidFill>
              <a:srgbClr val="B9B8AE"/>
            </a:solidFill>
          </a:ln>
          <a:effectLst/>
        </p:spPr>
        <p:txBody>
          <a:bodyPr rtlCol="0" anchor="ctr"/>
          <a:lstStyle/>
          <a:p/>
        </p:txBody>
      </p:sp>
      <p:sp>
        <p:nvSpPr>
          <p:cNvPr id="24" name="Oval 23"/>
          <p:cNvSpPr/>
          <p:nvPr/>
        </p:nvSpPr>
        <p:spPr>
          <a:xfrm>
            <a:off x="3524398" y="2814487"/>
            <a:ext cx="511258" cy="511258"/>
          </a:xfrm>
          <a:prstGeom prst="ellipse">
            <a:avLst/>
          </a:prstGeom>
          <a:noFill/>
          <a:ln w="8890">
            <a:solidFill>
              <a:srgbClr val="B9B8AE"/>
            </a:solidFill>
          </a:ln>
          <a:effectLst/>
        </p:spPr>
        <p:txBody>
          <a:bodyPr rtlCol="0" anchor="ctr"/>
          <a:lstStyle/>
          <a:p/>
        </p:txBody>
      </p:sp>
      <p:cxnSp>
        <p:nvCxnSpPr>
          <p:cNvPr id="25" name="Connector 24"/>
          <p:cNvCxnSpPr/>
          <p:nvPr/>
        </p:nvCxnSpPr>
        <p:spPr>
          <a:xfrm>
            <a:off x="2324081" y="3070116"/>
            <a:ext cx="2911893" cy="0"/>
          </a:xfrm>
          <a:prstGeom prst="line">
            <a:avLst/>
          </a:prstGeom>
          <a:ln w="8890">
            <a:solidFill>
              <a:srgbClr val="B9B8AE"/>
            </a:solidFill>
          </a:ln>
        </p:spPr>
      </p:cxnSp>
      <p:cxnSp>
        <p:nvCxnSpPr>
          <p:cNvPr id="26" name="Connector 25"/>
          <p:cNvCxnSpPr/>
          <p:nvPr/>
        </p:nvCxnSpPr>
        <p:spPr>
          <a:xfrm>
            <a:off x="2750518" y="2040606"/>
            <a:ext cx="2059019" cy="2059019"/>
          </a:xfrm>
          <a:prstGeom prst="line">
            <a:avLst/>
          </a:prstGeom>
          <a:ln w="8890">
            <a:solidFill>
              <a:srgbClr val="B9B8AE"/>
            </a:solidFill>
          </a:ln>
        </p:spPr>
      </p:cxnSp>
      <p:cxnSp>
        <p:nvCxnSpPr>
          <p:cNvPr id="27" name="Connector 26"/>
          <p:cNvCxnSpPr/>
          <p:nvPr/>
        </p:nvCxnSpPr>
        <p:spPr>
          <a:xfrm>
            <a:off x="3780028" y="1614170"/>
            <a:ext cx="0" cy="2911892"/>
          </a:xfrm>
          <a:prstGeom prst="line">
            <a:avLst/>
          </a:prstGeom>
          <a:ln w="8890">
            <a:solidFill>
              <a:srgbClr val="B9B8AE"/>
            </a:solidFill>
          </a:ln>
        </p:spPr>
      </p:cxnSp>
      <p:cxnSp>
        <p:nvCxnSpPr>
          <p:cNvPr id="28" name="Connector 27"/>
          <p:cNvCxnSpPr/>
          <p:nvPr/>
        </p:nvCxnSpPr>
        <p:spPr>
          <a:xfrm flipH="1">
            <a:off x="2750518" y="2040606"/>
            <a:ext cx="2059019" cy="2059019"/>
          </a:xfrm>
          <a:prstGeom prst="line">
            <a:avLst/>
          </a:prstGeom>
          <a:ln w="8890">
            <a:solidFill>
              <a:srgbClr val="B9B8AE"/>
            </a:solidFill>
          </a:ln>
        </p:spPr>
      </p:cxnSp>
      <p:sp>
        <p:nvSpPr>
          <p:cNvPr id="29" name="TextBox 28"/>
          <p:cNvSpPr txBox="1"/>
          <p:nvPr/>
        </p:nvSpPr>
        <p:spPr>
          <a:xfrm>
            <a:off x="3578737" y="1283970"/>
            <a:ext cx="402581" cy="152400"/>
          </a:xfrm>
          <a:prstGeom prst="rect">
            <a:avLst/>
          </a:prstGeom>
          <a:noFill/>
        </p:spPr>
        <p:txBody>
          <a:bodyPr wrap="square" lIns="0" rIns="0" tIns="0" bIns="0" anchor="t">
            <a:spAutoFit/>
          </a:bodyPr>
          <a:lstStyle/>
          <a:p>
            <a:pPr algn="ctr"/>
            <a:r>
              <a:rPr sz="819" b="1" i="0">
                <a:solidFill>
                  <a:srgbClr val="3F5C4A"/>
                </a:solidFill>
                <a:latin typeface="Montserrat"/>
              </a:rPr>
              <a:t>SONO</a:t>
            </a:r>
          </a:p>
        </p:txBody>
      </p:sp>
      <p:sp>
        <p:nvSpPr>
          <p:cNvPr id="30" name="TextBox 29"/>
          <p:cNvSpPr txBox="1"/>
          <p:nvPr/>
        </p:nvSpPr>
        <p:spPr>
          <a:xfrm>
            <a:off x="4676650" y="1784801"/>
            <a:ext cx="624985" cy="152400"/>
          </a:xfrm>
          <a:prstGeom prst="rect">
            <a:avLst/>
          </a:prstGeom>
          <a:noFill/>
        </p:spPr>
        <p:txBody>
          <a:bodyPr wrap="square" lIns="0" rIns="0" tIns="0" bIns="0" anchor="t">
            <a:spAutoFit/>
          </a:bodyPr>
          <a:lstStyle/>
          <a:p>
            <a:pPr algn="ctr"/>
            <a:r>
              <a:rPr sz="819" b="1" i="0">
                <a:solidFill>
                  <a:srgbClr val="3F5C4A"/>
                </a:solidFill>
                <a:latin typeface="Montserrat"/>
              </a:rPr>
              <a:t>ESTRESSE</a:t>
            </a:r>
          </a:p>
        </p:txBody>
      </p:sp>
      <p:sp>
        <p:nvSpPr>
          <p:cNvPr id="31" name="TextBox 30"/>
          <p:cNvSpPr txBox="1"/>
          <p:nvPr/>
        </p:nvSpPr>
        <p:spPr>
          <a:xfrm>
            <a:off x="5204558" y="2993916"/>
            <a:ext cx="570832" cy="152400"/>
          </a:xfrm>
          <a:prstGeom prst="rect">
            <a:avLst/>
          </a:prstGeom>
          <a:noFill/>
        </p:spPr>
        <p:txBody>
          <a:bodyPr wrap="square" lIns="0" rIns="0" tIns="0" bIns="0" anchor="t">
            <a:spAutoFit/>
          </a:bodyPr>
          <a:lstStyle/>
          <a:p>
            <a:pPr algn="ctr"/>
            <a:r>
              <a:rPr sz="819" b="1" i="0">
                <a:solidFill>
                  <a:srgbClr val="3F5C4A"/>
                </a:solidFill>
                <a:latin typeface="Montserrat"/>
              </a:rPr>
              <a:t>ENERGIA</a:t>
            </a:r>
          </a:p>
        </p:txBody>
      </p:sp>
      <p:sp>
        <p:nvSpPr>
          <p:cNvPr id="32" name="TextBox 31"/>
          <p:cNvSpPr txBox="1"/>
          <p:nvPr/>
        </p:nvSpPr>
        <p:spPr>
          <a:xfrm>
            <a:off x="4591613" y="4203031"/>
            <a:ext cx="795058" cy="152400"/>
          </a:xfrm>
          <a:prstGeom prst="rect">
            <a:avLst/>
          </a:prstGeom>
          <a:noFill/>
        </p:spPr>
        <p:txBody>
          <a:bodyPr wrap="square" lIns="0" rIns="0" tIns="0" bIns="0" anchor="t">
            <a:spAutoFit/>
          </a:bodyPr>
          <a:lstStyle/>
          <a:p>
            <a:pPr algn="ctr"/>
            <a:r>
              <a:rPr sz="819" b="1" i="0">
                <a:solidFill>
                  <a:srgbClr val="3F5C4A"/>
                </a:solidFill>
                <a:latin typeface="Montserrat"/>
              </a:rPr>
              <a:t>MOBILIDADE</a:t>
            </a:r>
          </a:p>
        </p:txBody>
      </p:sp>
      <p:sp>
        <p:nvSpPr>
          <p:cNvPr id="33" name="TextBox 32"/>
          <p:cNvSpPr txBox="1"/>
          <p:nvPr/>
        </p:nvSpPr>
        <p:spPr>
          <a:xfrm>
            <a:off x="3247710" y="4703862"/>
            <a:ext cx="1064635" cy="152400"/>
          </a:xfrm>
          <a:prstGeom prst="rect">
            <a:avLst/>
          </a:prstGeom>
          <a:noFill/>
        </p:spPr>
        <p:txBody>
          <a:bodyPr wrap="square" lIns="0" rIns="0" tIns="0" bIns="0" anchor="t">
            <a:spAutoFit/>
          </a:bodyPr>
          <a:lstStyle/>
          <a:p>
            <a:pPr algn="ctr"/>
            <a:r>
              <a:rPr sz="819" b="1" i="0">
                <a:solidFill>
                  <a:srgbClr val="3F5C4A"/>
                </a:solidFill>
                <a:latin typeface="Montserrat"/>
              </a:rPr>
              <a:t>ATIVIDADE FÍSICA</a:t>
            </a:r>
          </a:p>
        </p:txBody>
      </p:sp>
      <p:sp>
        <p:nvSpPr>
          <p:cNvPr id="34" name="TextBox 33"/>
          <p:cNvSpPr txBox="1"/>
          <p:nvPr/>
        </p:nvSpPr>
        <p:spPr>
          <a:xfrm>
            <a:off x="2164328" y="4203031"/>
            <a:ext cx="813169" cy="152400"/>
          </a:xfrm>
          <a:prstGeom prst="rect">
            <a:avLst/>
          </a:prstGeom>
          <a:noFill/>
        </p:spPr>
        <p:txBody>
          <a:bodyPr wrap="square" lIns="0" rIns="0" tIns="0" bIns="0" anchor="t">
            <a:spAutoFit/>
          </a:bodyPr>
          <a:lstStyle/>
          <a:p>
            <a:pPr algn="ctr"/>
            <a:r>
              <a:rPr sz="819" b="1" i="0">
                <a:solidFill>
                  <a:srgbClr val="3F5C4A"/>
                </a:solidFill>
                <a:latin typeface="Montserrat"/>
              </a:rPr>
              <a:t>HIDRATAÇÃO</a:t>
            </a:r>
          </a:p>
        </p:txBody>
      </p:sp>
      <p:sp>
        <p:nvSpPr>
          <p:cNvPr id="35" name="TextBox 34"/>
          <p:cNvSpPr txBox="1"/>
          <p:nvPr/>
        </p:nvSpPr>
        <p:spPr>
          <a:xfrm>
            <a:off x="1433380" y="2993916"/>
            <a:ext cx="1273403" cy="152400"/>
          </a:xfrm>
          <a:prstGeom prst="rect">
            <a:avLst/>
          </a:prstGeom>
          <a:noFill/>
        </p:spPr>
        <p:txBody>
          <a:bodyPr wrap="square" lIns="0" rIns="0" tIns="0" bIns="0" anchor="t">
            <a:spAutoFit/>
          </a:bodyPr>
          <a:lstStyle/>
          <a:p>
            <a:pPr algn="ctr"/>
            <a:r>
              <a:rPr sz="819" b="1" i="0">
                <a:solidFill>
                  <a:srgbClr val="3F5C4A"/>
                </a:solidFill>
                <a:latin typeface="Montserrat"/>
              </a:rPr>
              <a:t>DOR / DESCONFORTO</a:t>
            </a:r>
          </a:p>
        </p:txBody>
      </p:sp>
      <p:sp>
        <p:nvSpPr>
          <p:cNvPr id="36" name="TextBox 35"/>
          <p:cNvSpPr txBox="1"/>
          <p:nvPr/>
        </p:nvSpPr>
        <p:spPr>
          <a:xfrm>
            <a:off x="2112885" y="1784801"/>
            <a:ext cx="916056" cy="152400"/>
          </a:xfrm>
          <a:prstGeom prst="rect">
            <a:avLst/>
          </a:prstGeom>
          <a:noFill/>
        </p:spPr>
        <p:txBody>
          <a:bodyPr wrap="square" lIns="0" rIns="0" tIns="0" bIns="0" anchor="t">
            <a:spAutoFit/>
          </a:bodyPr>
          <a:lstStyle/>
          <a:p>
            <a:pPr algn="ctr"/>
            <a:r>
              <a:rPr sz="819" b="1" i="0">
                <a:solidFill>
                  <a:srgbClr val="3F5C4A"/>
                </a:solidFill>
                <a:latin typeface="Montserrat"/>
              </a:rPr>
              <a:t>AUTOCUIDADO</a:t>
            </a:r>
          </a:p>
        </p:txBody>
      </p:sp>
      <p:sp>
        <p:nvSpPr>
          <p:cNvPr id="37" name="TextBox 36"/>
          <p:cNvSpPr txBox="1"/>
          <p:nvPr/>
        </p:nvSpPr>
        <p:spPr>
          <a:xfrm>
            <a:off x="762000" y="4983262"/>
            <a:ext cx="6036056" cy="152400"/>
          </a:xfrm>
          <a:prstGeom prst="rect">
            <a:avLst/>
          </a:prstGeom>
          <a:noFill/>
        </p:spPr>
        <p:txBody>
          <a:bodyPr wrap="square" lIns="0" rIns="0" tIns="0" bIns="0" anchor="t">
            <a:spAutoFit/>
          </a:bodyPr>
          <a:lstStyle/>
          <a:p>
            <a:pPr algn="ctr"/>
            <a:r>
              <a:rPr sz="840" b="0" i="0">
                <a:solidFill>
                  <a:srgbClr val="2A2A26"/>
                </a:solidFill>
                <a:latin typeface="Montserrat"/>
              </a:rPr>
              <a:t>Avalie cada área de 0 a 10 e marque o nível correspondente.</a:t>
            </a:r>
          </a:p>
        </p:txBody>
      </p:sp>
      <p:sp>
        <p:nvSpPr>
          <p:cNvPr id="38" name="TextBox 37"/>
          <p:cNvSpPr txBox="1"/>
          <p:nvPr/>
        </p:nvSpPr>
        <p:spPr>
          <a:xfrm>
            <a:off x="533400" y="5506140"/>
            <a:ext cx="6493256" cy="160595"/>
          </a:xfrm>
          <a:prstGeom prst="rect">
            <a:avLst/>
          </a:prstGeom>
          <a:noFill/>
        </p:spPr>
        <p:txBody>
          <a:bodyPr wrap="square" lIns="0" rIns="0" tIns="0" bIns="0" anchor="t">
            <a:spAutoFit/>
          </a:bodyPr>
          <a:lstStyle/>
          <a:p>
            <a:pPr algn="l"/>
            <a:r>
              <a:rPr sz="903" b="1" i="0">
                <a:solidFill>
                  <a:srgbClr val="2A2A26"/>
                </a:solidFill>
                <a:latin typeface="Montserrat"/>
              </a:rPr>
              <a:t>Área que mais precisa de atenção:</a:t>
            </a:r>
          </a:p>
        </p:txBody>
      </p:sp>
      <p:cxnSp>
        <p:nvCxnSpPr>
          <p:cNvPr id="39" name="Connector 38"/>
          <p:cNvCxnSpPr/>
          <p:nvPr/>
        </p:nvCxnSpPr>
        <p:spPr>
          <a:xfrm>
            <a:off x="2666734" y="5643794"/>
            <a:ext cx="4359922" cy="0"/>
          </a:xfrm>
          <a:prstGeom prst="line">
            <a:avLst/>
          </a:prstGeom>
          <a:ln w="7620">
            <a:solidFill>
              <a:srgbClr val="B4B2A8"/>
            </a:solidFill>
          </a:ln>
        </p:spPr>
      </p:cxnSp>
      <p:sp>
        <p:nvSpPr>
          <p:cNvPr id="40" name="TextBox 39"/>
          <p:cNvSpPr txBox="1"/>
          <p:nvPr/>
        </p:nvSpPr>
        <p:spPr>
          <a:xfrm>
            <a:off x="533400" y="5811152"/>
            <a:ext cx="6493256" cy="160595"/>
          </a:xfrm>
          <a:prstGeom prst="rect">
            <a:avLst/>
          </a:prstGeom>
          <a:noFill/>
        </p:spPr>
        <p:txBody>
          <a:bodyPr wrap="square" lIns="0" rIns="0" tIns="0" bIns="0" anchor="t">
            <a:spAutoFit/>
          </a:bodyPr>
          <a:lstStyle/>
          <a:p>
            <a:pPr algn="l"/>
            <a:r>
              <a:rPr sz="903" b="1" i="0">
                <a:solidFill>
                  <a:srgbClr val="2A2A26"/>
                </a:solidFill>
                <a:latin typeface="Montserrat"/>
              </a:rPr>
              <a:t>Nota atual:</a:t>
            </a:r>
          </a:p>
        </p:txBody>
      </p:sp>
      <p:cxnSp>
        <p:nvCxnSpPr>
          <p:cNvPr id="41" name="Connector 40"/>
          <p:cNvCxnSpPr/>
          <p:nvPr/>
        </p:nvCxnSpPr>
        <p:spPr>
          <a:xfrm>
            <a:off x="1263347" y="5948806"/>
            <a:ext cx="5763309" cy="0"/>
          </a:xfrm>
          <a:prstGeom prst="line">
            <a:avLst/>
          </a:prstGeom>
          <a:ln w="7620">
            <a:solidFill>
              <a:srgbClr val="B4B2A8"/>
            </a:solidFill>
          </a:ln>
        </p:spPr>
      </p:cxnSp>
      <p:cxnSp>
        <p:nvCxnSpPr>
          <p:cNvPr id="43" name="Connector 42"/>
          <p:cNvCxnSpPr/>
          <p:nvPr/>
        </p:nvCxnSpPr>
        <p:spPr>
          <a:xfrm>
            <a:off x="533400" y="7041935"/>
            <a:ext cx="6493256" cy="0"/>
          </a:xfrm>
          <a:prstGeom prst="line">
            <a:avLst/>
          </a:prstGeom>
          <a:ln w="7620">
            <a:solidFill>
              <a:srgbClr val="B4B2A8"/>
            </a:solidFill>
          </a:ln>
        </p:spPr>
      </p:cxnSp>
      <p:cxnSp>
        <p:nvCxnSpPr>
          <p:cNvPr id="44" name="Connector 43"/>
          <p:cNvCxnSpPr/>
          <p:nvPr/>
        </p:nvCxnSpPr>
        <p:spPr>
          <a:xfrm>
            <a:off x="533400" y="7303374"/>
            <a:ext cx="6493256" cy="0"/>
          </a:xfrm>
          <a:prstGeom prst="line">
            <a:avLst/>
          </a:prstGeom>
          <a:ln w="7620">
            <a:solidFill>
              <a:srgbClr val="B4B2A8"/>
            </a:solidFill>
          </a:ln>
        </p:spPr>
      </p:cxnSp>
      <p:cxnSp>
        <p:nvCxnSpPr>
          <p:cNvPr id="45" name="Connector 44"/>
          <p:cNvCxnSpPr/>
          <p:nvPr/>
        </p:nvCxnSpPr>
        <p:spPr>
          <a:xfrm>
            <a:off x="533400" y="7564813"/>
            <a:ext cx="6493256" cy="0"/>
          </a:xfrm>
          <a:prstGeom prst="line">
            <a:avLst/>
          </a:prstGeom>
          <a:ln w="7620">
            <a:solidFill>
              <a:srgbClr val="B4B2A8"/>
            </a:solidFill>
          </a:ln>
        </p:spPr>
      </p:cxnSp>
      <p:sp>
        <p:nvSpPr>
          <p:cNvPr id="48" name="TextBox 47"/>
          <p:cNvSpPr txBox="1"/>
          <p:nvPr/>
        </p:nvSpPr>
        <p:spPr>
          <a:xfrm>
            <a:off x="508000" y="6406652"/>
            <a:ext cx="6544056" cy="266700"/>
          </a:xfrm>
          <a:prstGeom prst="rect">
            <a:avLst/>
          </a:prstGeom>
          <a:noFill/>
        </p:spPr>
        <p:txBody>
          <a:bodyPr wrap="square" lIns="0" rIns="0" tIns="0" bIns="0" anchor="ctr">
            <a:spAutoFit/>
          </a:bodyPr>
          <a:lstStyle/>
          <a:p>
            <a:pPr algn="l"/>
            <a:r>
              <a:rPr sz="840" b="1" i="0">
                <a:solidFill>
                  <a:srgbClr val="FFFFFF"/>
                </a:solidFill>
                <a:latin typeface="Montserrat"/>
              </a:rPr>
              <a:t>O QUE EXPLICA ESSA NOTA?</a:t>
            </a:r>
          </a:p>
        </p:txBody>
      </p:sp>
      <p:cxnSp>
        <p:nvCxnSpPr>
          <p:cNvPr id="49" name="Connector 48"/>
          <p:cNvCxnSpPr/>
          <p:nvPr/>
        </p:nvCxnSpPr>
        <p:spPr>
          <a:xfrm>
            <a:off x="533400" y="8528684"/>
            <a:ext cx="6493256" cy="0"/>
          </a:xfrm>
          <a:prstGeom prst="line">
            <a:avLst/>
          </a:prstGeom>
          <a:ln w="7620">
            <a:solidFill>
              <a:srgbClr val="B4B2A8"/>
            </a:solidFill>
          </a:ln>
        </p:spPr>
      </p:cxnSp>
      <p:cxnSp>
        <p:nvCxnSpPr>
          <p:cNvPr id="50" name="Connector 49"/>
          <p:cNvCxnSpPr/>
          <p:nvPr/>
        </p:nvCxnSpPr>
        <p:spPr>
          <a:xfrm>
            <a:off x="533400" y="8790123"/>
            <a:ext cx="6493256" cy="0"/>
          </a:xfrm>
          <a:prstGeom prst="line">
            <a:avLst/>
          </a:prstGeom>
          <a:ln w="7620">
            <a:solidFill>
              <a:srgbClr val="B4B2A8"/>
            </a:solidFill>
          </a:ln>
        </p:spPr>
      </p:cxnSp>
      <p:cxnSp>
        <p:nvCxnSpPr>
          <p:cNvPr id="51" name="Connector 50"/>
          <p:cNvCxnSpPr/>
          <p:nvPr/>
        </p:nvCxnSpPr>
        <p:spPr>
          <a:xfrm>
            <a:off x="533400" y="9051562"/>
            <a:ext cx="6493256" cy="0"/>
          </a:xfrm>
          <a:prstGeom prst="line">
            <a:avLst/>
          </a:prstGeom>
          <a:ln w="7620">
            <a:solidFill>
              <a:srgbClr val="B4B2A8"/>
            </a:solidFill>
          </a:ln>
        </p:spPr>
      </p:cxnSp>
      <p:sp>
        <p:nvSpPr>
          <p:cNvPr id="54" name="TextBox 53"/>
          <p:cNvSpPr txBox="1"/>
          <p:nvPr/>
        </p:nvSpPr>
        <p:spPr>
          <a:xfrm>
            <a:off x="508000" y="7893401"/>
            <a:ext cx="6544056" cy="266700"/>
          </a:xfrm>
          <a:prstGeom prst="rect">
            <a:avLst/>
          </a:prstGeom>
          <a:noFill/>
        </p:spPr>
        <p:txBody>
          <a:bodyPr wrap="square" lIns="0" rIns="0" tIns="0" bIns="0" anchor="ctr">
            <a:spAutoFit/>
          </a:bodyPr>
          <a:lstStyle/>
          <a:p>
            <a:pPr algn="l"/>
            <a:r>
              <a:rPr sz="840" b="1" i="0">
                <a:solidFill>
                  <a:srgbClr val="FFFFFF"/>
                </a:solidFill>
                <a:latin typeface="Montserrat"/>
              </a:rPr>
              <a:t>QUAL SERIA UM SINAL DE MELHORA?</a:t>
            </a:r>
          </a:p>
        </p:txBody>
      </p:sp>
      <p:sp>
        <p:nvSpPr>
          <p:cNvPr id="55" name="TextBox 54"/>
          <p:cNvSpPr txBox="1"/>
          <p:nvPr/>
        </p:nvSpPr>
        <p:spPr>
          <a:xfrm>
            <a:off x="533400" y="9583491"/>
            <a:ext cx="3056128" cy="160595"/>
          </a:xfrm>
          <a:prstGeom prst="rect">
            <a:avLst/>
          </a:prstGeom>
          <a:noFill/>
        </p:spPr>
        <p:txBody>
          <a:bodyPr wrap="square" lIns="0" rIns="0" tIns="0" bIns="0" anchor="t">
            <a:spAutoFit/>
          </a:bodyPr>
          <a:lstStyle/>
          <a:p>
            <a:pPr algn="l"/>
            <a:r>
              <a:rPr sz="903" b="1" i="0">
                <a:solidFill>
                  <a:srgbClr val="2A2A26"/>
                </a:solidFill>
                <a:latin typeface="Montserrat"/>
              </a:rPr>
              <a:t>Primeiro passo possível:</a:t>
            </a:r>
          </a:p>
        </p:txBody>
      </p:sp>
      <p:cxnSp>
        <p:nvCxnSpPr>
          <p:cNvPr id="56" name="Connector 55"/>
          <p:cNvCxnSpPr/>
          <p:nvPr/>
        </p:nvCxnSpPr>
        <p:spPr>
          <a:xfrm>
            <a:off x="2052346" y="9721145"/>
            <a:ext cx="1537182" cy="0"/>
          </a:xfrm>
          <a:prstGeom prst="line">
            <a:avLst/>
          </a:prstGeom>
          <a:ln w="7620">
            <a:solidFill>
              <a:srgbClr val="B4B2A8"/>
            </a:solidFill>
          </a:ln>
        </p:spPr>
      </p:cxnSp>
      <p:sp>
        <p:nvSpPr>
          <p:cNvPr id="57" name="TextBox 56"/>
          <p:cNvSpPr txBox="1"/>
          <p:nvPr/>
        </p:nvSpPr>
        <p:spPr>
          <a:xfrm>
            <a:off x="3970528" y="9583491"/>
            <a:ext cx="3056128" cy="160595"/>
          </a:xfrm>
          <a:prstGeom prst="rect">
            <a:avLst/>
          </a:prstGeom>
          <a:noFill/>
        </p:spPr>
        <p:txBody>
          <a:bodyPr wrap="square" lIns="0" rIns="0" tIns="0" bIns="0" anchor="t">
            <a:spAutoFit/>
          </a:bodyPr>
          <a:lstStyle/>
          <a:p>
            <a:pPr algn="l"/>
            <a:r>
              <a:rPr sz="903" b="1" i="0">
                <a:solidFill>
                  <a:srgbClr val="2A2A26"/>
                </a:solidFill>
                <a:latin typeface="Montserrat"/>
              </a:rPr>
              <a:t>Quando posso começar:</a:t>
            </a:r>
          </a:p>
        </p:txBody>
      </p:sp>
      <p:cxnSp>
        <p:nvCxnSpPr>
          <p:cNvPr id="58" name="Connector 57"/>
          <p:cNvCxnSpPr/>
          <p:nvPr/>
        </p:nvCxnSpPr>
        <p:spPr>
          <a:xfrm>
            <a:off x="5497361" y="9721145"/>
            <a:ext cx="1529295" cy="0"/>
          </a:xfrm>
          <a:prstGeom prst="line">
            <a:avLst/>
          </a:prstGeom>
          <a:ln w="7620">
            <a:solidFill>
              <a:srgbClr val="B4B2A8"/>
            </a:solidFill>
          </a:ln>
        </p:spPr>
      </p:cxn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8F5EE"/>
        </a:solidFill>
        <a:effectLst/>
      </p:bgPr>
    </p:bg>
    <p:spTree>
      <p:nvGrpSpPr>
        <p:cNvPr id="1" name=""/>
        <p:cNvGrpSpPr/>
        <p:nvPr/>
      </p:nvGrpSpPr>
      <p:grpSpPr/>
      <p:cxnSp>
        <p:nvCxnSpPr>
          <p:cNvPr id="2" name="Connector 1"/>
          <p:cNvCxnSpPr/>
          <p:nvPr/>
        </p:nvCxnSpPr>
        <p:spPr>
          <a:xfrm>
            <a:off x="38100" y="25400"/>
            <a:ext cx="660400" cy="660400"/>
          </a:xfrm>
          <a:prstGeom prst="line">
            <a:avLst/>
          </a:prstGeom>
          <a:ln w="13970">
            <a:solidFill>
              <a:srgbClr val="B08D4F"/>
            </a:solidFill>
          </a:ln>
        </p:spPr>
      </p:cxnSp>
      <p:sp>
        <p:nvSpPr>
          <p:cNvPr id="3" name="Oval 2"/>
          <p:cNvSpPr/>
          <p:nvPr/>
        </p:nvSpPr>
        <p:spPr>
          <a:xfrm>
            <a:off x="191770" y="77470"/>
            <a:ext cx="190500" cy="215900"/>
          </a:xfrm>
          <a:prstGeom prst="ellipse">
            <a:avLst/>
          </a:prstGeom>
          <a:solidFill>
            <a:srgbClr val="8FA388"/>
          </a:solidFill>
          <a:ln>
            <a:noFill/>
          </a:ln>
          <a:effectLst/>
        </p:spPr>
        <p:txBody>
          <a:bodyPr rtlCol="0" anchor="ctr"/>
          <a:lstStyle/>
          <a:p/>
        </p:txBody>
      </p:sp>
      <p:sp>
        <p:nvSpPr>
          <p:cNvPr id="4" name="Oval 3"/>
          <p:cNvSpPr/>
          <p:nvPr/>
        </p:nvSpPr>
        <p:spPr>
          <a:xfrm>
            <a:off x="330708" y="216408"/>
            <a:ext cx="203200" cy="228600"/>
          </a:xfrm>
          <a:prstGeom prst="ellipse">
            <a:avLst/>
          </a:prstGeom>
          <a:solidFill>
            <a:srgbClr val="8FA388"/>
          </a:solidFill>
          <a:ln>
            <a:noFill/>
          </a:ln>
          <a:effectLst/>
        </p:spPr>
        <p:txBody>
          <a:bodyPr rtlCol="0" anchor="ctr"/>
          <a:lstStyle/>
          <a:p/>
        </p:txBody>
      </p:sp>
      <p:sp>
        <p:nvSpPr>
          <p:cNvPr id="5" name="Oval 4"/>
          <p:cNvSpPr/>
          <p:nvPr/>
        </p:nvSpPr>
        <p:spPr>
          <a:xfrm>
            <a:off x="482345" y="368045"/>
            <a:ext cx="190500" cy="215900"/>
          </a:xfrm>
          <a:prstGeom prst="ellipse">
            <a:avLst/>
          </a:prstGeom>
          <a:solidFill>
            <a:srgbClr val="8FA388"/>
          </a:solidFill>
          <a:ln>
            <a:noFill/>
          </a:ln>
          <a:effectLst/>
        </p:spPr>
        <p:txBody>
          <a:bodyPr rtlCol="0" anchor="ctr"/>
          <a:lstStyle/>
          <a:p/>
        </p:txBody>
      </p:sp>
      <p:cxnSp>
        <p:nvCxnSpPr>
          <p:cNvPr id="6" name="Connector 5"/>
          <p:cNvCxnSpPr/>
          <p:nvPr/>
        </p:nvCxnSpPr>
        <p:spPr>
          <a:xfrm flipH="1">
            <a:off x="6861556" y="25400"/>
            <a:ext cx="660400" cy="660400"/>
          </a:xfrm>
          <a:prstGeom prst="line">
            <a:avLst/>
          </a:prstGeom>
          <a:ln w="13970">
            <a:solidFill>
              <a:srgbClr val="B08D4F"/>
            </a:solidFill>
          </a:ln>
        </p:spPr>
      </p:cxnSp>
      <p:sp>
        <p:nvSpPr>
          <p:cNvPr id="7" name="Oval 6"/>
          <p:cNvSpPr/>
          <p:nvPr/>
        </p:nvSpPr>
        <p:spPr>
          <a:xfrm>
            <a:off x="7177785" y="77470"/>
            <a:ext cx="190500" cy="215900"/>
          </a:xfrm>
          <a:prstGeom prst="ellipse">
            <a:avLst/>
          </a:prstGeom>
          <a:solidFill>
            <a:srgbClr val="8FA388"/>
          </a:solidFill>
          <a:ln>
            <a:noFill/>
          </a:ln>
          <a:effectLst/>
        </p:spPr>
        <p:txBody>
          <a:bodyPr rtlCol="0" anchor="ctr"/>
          <a:lstStyle/>
          <a:p/>
        </p:txBody>
      </p:sp>
      <p:sp>
        <p:nvSpPr>
          <p:cNvPr id="8" name="Oval 7"/>
          <p:cNvSpPr/>
          <p:nvPr/>
        </p:nvSpPr>
        <p:spPr>
          <a:xfrm>
            <a:off x="7026148" y="216408"/>
            <a:ext cx="203200" cy="228600"/>
          </a:xfrm>
          <a:prstGeom prst="ellipse">
            <a:avLst/>
          </a:prstGeom>
          <a:solidFill>
            <a:srgbClr val="8FA388"/>
          </a:solidFill>
          <a:ln>
            <a:noFill/>
          </a:ln>
          <a:effectLst/>
        </p:spPr>
        <p:txBody>
          <a:bodyPr rtlCol="0" anchor="ctr"/>
          <a:lstStyle/>
          <a:p/>
        </p:txBody>
      </p:sp>
      <p:sp>
        <p:nvSpPr>
          <p:cNvPr id="9" name="Oval 8"/>
          <p:cNvSpPr/>
          <p:nvPr/>
        </p:nvSpPr>
        <p:spPr>
          <a:xfrm>
            <a:off x="6887209" y="368045"/>
            <a:ext cx="190500" cy="215900"/>
          </a:xfrm>
          <a:prstGeom prst="ellipse">
            <a:avLst/>
          </a:prstGeom>
          <a:solidFill>
            <a:srgbClr val="8FA388"/>
          </a:solidFill>
          <a:ln>
            <a:noFill/>
          </a:ln>
          <a:effectLst/>
        </p:spPr>
        <p:txBody>
          <a:bodyPr rtlCol="0" anchor="ctr"/>
          <a:lstStyle/>
          <a:p/>
        </p:txBody>
      </p:sp>
      <p:sp>
        <p:nvSpPr>
          <p:cNvPr id="10" name="Oval 9"/>
          <p:cNvSpPr/>
          <p:nvPr/>
        </p:nvSpPr>
        <p:spPr>
          <a:xfrm>
            <a:off x="3500628" y="127000"/>
            <a:ext cx="114300" cy="215900"/>
          </a:xfrm>
          <a:prstGeom prst="ellipse">
            <a:avLst/>
          </a:prstGeom>
          <a:noFill/>
          <a:ln w="10160">
            <a:solidFill>
              <a:srgbClr val="B08D4F"/>
            </a:solidFill>
          </a:ln>
          <a:effectLst/>
        </p:spPr>
        <p:txBody>
          <a:bodyPr rtlCol="0" anchor="ctr"/>
          <a:lstStyle/>
          <a:p/>
        </p:txBody>
      </p:sp>
      <p:sp>
        <p:nvSpPr>
          <p:cNvPr id="11" name="Oval 10"/>
          <p:cNvSpPr/>
          <p:nvPr/>
        </p:nvSpPr>
        <p:spPr>
          <a:xfrm>
            <a:off x="3595878" y="127000"/>
            <a:ext cx="114300" cy="215900"/>
          </a:xfrm>
          <a:prstGeom prst="ellipse">
            <a:avLst/>
          </a:prstGeom>
          <a:noFill/>
          <a:ln w="10160">
            <a:solidFill>
              <a:srgbClr val="B08D4F"/>
            </a:solidFill>
          </a:ln>
          <a:effectLst/>
        </p:spPr>
        <p:txBody>
          <a:bodyPr rtlCol="0" anchor="ctr"/>
          <a:lstStyle/>
          <a:p/>
        </p:txBody>
      </p:sp>
      <p:sp>
        <p:nvSpPr>
          <p:cNvPr id="12" name="Oval 11"/>
          <p:cNvSpPr/>
          <p:nvPr/>
        </p:nvSpPr>
        <p:spPr>
          <a:xfrm>
            <a:off x="3691128" y="127000"/>
            <a:ext cx="114300" cy="215900"/>
          </a:xfrm>
          <a:prstGeom prst="ellipse">
            <a:avLst/>
          </a:prstGeom>
          <a:noFill/>
          <a:ln w="10160">
            <a:solidFill>
              <a:srgbClr val="B08D4F"/>
            </a:solidFill>
          </a:ln>
          <a:effectLst/>
        </p:spPr>
        <p:txBody>
          <a:bodyPr rtlCol="0" anchor="ctr"/>
          <a:lstStyle/>
          <a:p/>
        </p:txBody>
      </p:sp>
      <p:sp>
        <p:nvSpPr>
          <p:cNvPr id="13" name="Oval 12"/>
          <p:cNvSpPr/>
          <p:nvPr/>
        </p:nvSpPr>
        <p:spPr>
          <a:xfrm>
            <a:off x="3786378" y="127000"/>
            <a:ext cx="114300" cy="215900"/>
          </a:xfrm>
          <a:prstGeom prst="ellipse">
            <a:avLst/>
          </a:prstGeom>
          <a:noFill/>
          <a:ln w="10160">
            <a:solidFill>
              <a:srgbClr val="B08D4F"/>
            </a:solidFill>
          </a:ln>
          <a:effectLst/>
        </p:spPr>
        <p:txBody>
          <a:bodyPr rtlCol="0" anchor="ctr"/>
          <a:lstStyle/>
          <a:p/>
        </p:txBody>
      </p:sp>
      <p:sp>
        <p:nvSpPr>
          <p:cNvPr id="14" name="Oval 13"/>
          <p:cNvSpPr/>
          <p:nvPr/>
        </p:nvSpPr>
        <p:spPr>
          <a:xfrm>
            <a:off x="3881628" y="127000"/>
            <a:ext cx="114300" cy="215900"/>
          </a:xfrm>
          <a:prstGeom prst="ellipse">
            <a:avLst/>
          </a:prstGeom>
          <a:noFill/>
          <a:ln w="10160">
            <a:solidFill>
              <a:srgbClr val="B08D4F"/>
            </a:solidFill>
          </a:ln>
          <a:effectLst/>
        </p:spPr>
        <p:txBody>
          <a:bodyPr rtlCol="0" anchor="ctr"/>
          <a:lstStyle/>
          <a:p/>
        </p:txBody>
      </p:sp>
      <p:sp>
        <p:nvSpPr>
          <p:cNvPr id="15" name="Arc 14"/>
          <p:cNvSpPr/>
          <p:nvPr/>
        </p:nvSpPr>
        <p:spPr>
          <a:xfrm>
            <a:off x="3437128" y="165100"/>
            <a:ext cx="685800" cy="381000"/>
          </a:xfrm>
          <a:prstGeom prst="arc">
            <a:avLst>
              <a:gd name="adj1" fmla="val 18000000"/>
              <a:gd name="adj2" fmla="val 0"/>
            </a:avLst>
          </a:prstGeom>
          <a:noFill/>
          <a:ln w="10160">
            <a:solidFill>
              <a:srgbClr val="B08D4F"/>
            </a:solidFill>
          </a:ln>
          <a:effectLst/>
        </p:spPr>
        <p:txBody>
          <a:bodyPr rtlCol="0" anchor="ctr"/>
          <a:lstStyle/>
          <a:p>
            <a:pPr algn="ctr"/>
          </a:p>
        </p:txBody>
      </p:sp>
      <p:sp>
        <p:nvSpPr>
          <p:cNvPr id="16" name="TextBox 15"/>
          <p:cNvSpPr txBox="1"/>
          <p:nvPr/>
        </p:nvSpPr>
        <p:spPr>
          <a:xfrm>
            <a:off x="254000" y="635000"/>
            <a:ext cx="7052056" cy="426719"/>
          </a:xfrm>
          <a:prstGeom prst="rect">
            <a:avLst/>
          </a:prstGeom>
          <a:noFill/>
        </p:spPr>
        <p:txBody>
          <a:bodyPr wrap="square" lIns="0" rIns="0" tIns="0" bIns="0" anchor="t">
            <a:spAutoFit/>
          </a:bodyPr>
          <a:lstStyle/>
          <a:p>
            <a:pPr algn="ctr"/>
            <a:r>
              <a:rPr sz="2400" b="1" i="0">
                <a:solidFill>
                  <a:srgbClr val="3F5C4A"/>
                </a:solidFill>
                <a:latin typeface="Libre Baskerville"/>
              </a:rPr>
              <a:t>CARTÕES DE SENSAÇÕES CORPORAIS</a:t>
            </a:r>
          </a:p>
        </p:txBody>
      </p:sp>
      <p:sp>
        <p:nvSpPr>
          <p:cNvPr id="17" name="TextBox 16"/>
          <p:cNvSpPr txBox="1"/>
          <p:nvPr/>
        </p:nvSpPr>
        <p:spPr>
          <a:xfrm>
            <a:off x="508000" y="1046480"/>
            <a:ext cx="6544056" cy="177800"/>
          </a:xfrm>
          <a:prstGeom prst="rect">
            <a:avLst/>
          </a:prstGeom>
          <a:noFill/>
        </p:spPr>
        <p:txBody>
          <a:bodyPr wrap="square" lIns="0" rIns="0" tIns="0" bIns="0" anchor="t">
            <a:spAutoFit/>
          </a:bodyPr>
          <a:lstStyle/>
          <a:p>
            <a:pPr algn="ctr"/>
            <a:r>
              <a:rPr sz="950" b="0" i="0">
                <a:solidFill>
                  <a:srgbClr val="2A2A26"/>
                </a:solidFill>
                <a:latin typeface="Montserrat"/>
              </a:rPr>
              <a:t>Recorte e use para facilitar a percepção corporal</a:t>
            </a:r>
          </a:p>
        </p:txBody>
      </p:sp>
      <p:sp>
        <p:nvSpPr>
          <p:cNvPr id="18" name="TextBox 17"/>
          <p:cNvSpPr txBox="1"/>
          <p:nvPr/>
        </p:nvSpPr>
        <p:spPr>
          <a:xfrm>
            <a:off x="762000" y="10196703"/>
            <a:ext cx="6036056" cy="127000"/>
          </a:xfrm>
          <a:prstGeom prst="rect">
            <a:avLst/>
          </a:prstGeom>
          <a:noFill/>
        </p:spPr>
        <p:txBody>
          <a:bodyPr wrap="square" lIns="0" rIns="0" tIns="0" bIns="0" anchor="t">
            <a:spAutoFit/>
          </a:bodyPr>
          <a:lstStyle/>
          <a:p>
            <a:pPr algn="ctr"/>
            <a:r>
              <a:rPr sz="650" b="0" i="0">
                <a:solidFill>
                  <a:srgbClr val="77776E"/>
                </a:solidFill>
                <a:latin typeface="Montserrat"/>
              </a:rPr>
              <a:t>MASSOTERAPIA • CUIDADO • BEM-ESTAR</a:t>
            </a:r>
          </a:p>
        </p:txBody>
      </p:sp>
      <p:cxnSp>
        <p:nvCxnSpPr>
          <p:cNvPr id="19" name="Connector 18"/>
          <p:cNvCxnSpPr/>
          <p:nvPr/>
        </p:nvCxnSpPr>
        <p:spPr>
          <a:xfrm>
            <a:off x="1968500" y="10336403"/>
            <a:ext cx="3623056" cy="0"/>
          </a:xfrm>
          <a:prstGeom prst="line">
            <a:avLst/>
          </a:prstGeom>
          <a:ln w="8890">
            <a:solidFill>
              <a:srgbClr val="B08D4F"/>
            </a:solidFill>
          </a:ln>
        </p:spPr>
      </p:cxnSp>
      <p:sp>
        <p:nvSpPr>
          <p:cNvPr id="20" name="Rounded Rectangle 19"/>
          <p:cNvSpPr/>
          <p:nvPr/>
        </p:nvSpPr>
        <p:spPr>
          <a:xfrm>
            <a:off x="381000" y="1427480"/>
            <a:ext cx="2164418" cy="2690241"/>
          </a:xfrm>
          <a:prstGeom prst="roundRect">
            <a:avLst>
              <a:gd name="adj" fmla="val 5867"/>
            </a:avLst>
          </a:prstGeom>
          <a:solidFill>
            <a:srgbClr val="FDFCF8"/>
          </a:solidFill>
          <a:ln w="10160">
            <a:solidFill>
              <a:srgbClr val="B08D4F"/>
            </a:solidFill>
          </a:ln>
          <a:effectLst/>
        </p:spPr>
        <p:txBody>
          <a:bodyPr rtlCol="0" anchor="ctr"/>
          <a:lstStyle/>
          <a:p/>
        </p:txBody>
      </p:sp>
      <p:sp>
        <p:nvSpPr>
          <p:cNvPr id="21" name="Oval 20"/>
          <p:cNvSpPr/>
          <p:nvPr/>
        </p:nvSpPr>
        <p:spPr>
          <a:xfrm>
            <a:off x="1285409" y="1656080"/>
            <a:ext cx="355600" cy="355600"/>
          </a:xfrm>
          <a:prstGeom prst="ellipse">
            <a:avLst/>
          </a:prstGeom>
          <a:noFill/>
          <a:ln w="11430">
            <a:solidFill>
              <a:srgbClr val="3F5C4A"/>
            </a:solidFill>
          </a:ln>
          <a:effectLst/>
        </p:spPr>
        <p:txBody>
          <a:bodyPr rtlCol="0" anchor="ctr"/>
          <a:lstStyle/>
          <a:p/>
        </p:txBody>
      </p:sp>
      <p:sp>
        <p:nvSpPr>
          <p:cNvPr id="22" name="TextBox 21"/>
          <p:cNvSpPr txBox="1"/>
          <p:nvPr/>
        </p:nvSpPr>
        <p:spPr>
          <a:xfrm>
            <a:off x="1285409" y="1656080"/>
            <a:ext cx="355600" cy="355600"/>
          </a:xfrm>
          <a:prstGeom prst="rect">
            <a:avLst/>
          </a:prstGeom>
          <a:noFill/>
        </p:spPr>
        <p:txBody>
          <a:bodyPr wrap="square" lIns="0" rIns="0" tIns="0" bIns="0" anchor="ctr">
            <a:spAutoFit/>
          </a:bodyPr>
          <a:lstStyle/>
          <a:p>
            <a:pPr algn="ctr"/>
            <a:r>
              <a:rPr sz="1100" b="1" i="0">
                <a:solidFill>
                  <a:srgbClr val="3F5C4A"/>
                </a:solidFill>
                <a:latin typeface="Libre Baskerville"/>
              </a:rPr>
              <a:t>~</a:t>
            </a:r>
          </a:p>
        </p:txBody>
      </p:sp>
      <p:sp>
        <p:nvSpPr>
          <p:cNvPr id="23" name="TextBox 22"/>
          <p:cNvSpPr txBox="1"/>
          <p:nvPr/>
        </p:nvSpPr>
        <p:spPr>
          <a:xfrm>
            <a:off x="482600" y="2138680"/>
            <a:ext cx="1961218" cy="203200"/>
          </a:xfrm>
          <a:prstGeom prst="rect">
            <a:avLst/>
          </a:prstGeom>
          <a:noFill/>
        </p:spPr>
        <p:txBody>
          <a:bodyPr wrap="square" lIns="0" rIns="0" tIns="0" bIns="0" anchor="t">
            <a:spAutoFit/>
          </a:bodyPr>
          <a:lstStyle/>
          <a:p>
            <a:pPr algn="ctr"/>
            <a:r>
              <a:rPr sz="1150" b="1" i="0">
                <a:solidFill>
                  <a:srgbClr val="3F5C4A"/>
                </a:solidFill>
                <a:latin typeface="Libre Baskerville"/>
              </a:rPr>
              <a:t>LEVEZA</a:t>
            </a:r>
          </a:p>
        </p:txBody>
      </p:sp>
      <p:sp>
        <p:nvSpPr>
          <p:cNvPr id="24" name="TextBox 23"/>
          <p:cNvSpPr txBox="1"/>
          <p:nvPr/>
        </p:nvSpPr>
        <p:spPr>
          <a:xfrm>
            <a:off x="520700" y="2418080"/>
            <a:ext cx="1885018" cy="508000"/>
          </a:xfrm>
          <a:prstGeom prst="rect">
            <a:avLst/>
          </a:prstGeom>
          <a:noFill/>
        </p:spPr>
        <p:txBody>
          <a:bodyPr wrap="square" lIns="0" rIns="0" tIns="0" bIns="0" anchor="t">
            <a:spAutoFit/>
          </a:bodyPr>
          <a:lstStyle/>
          <a:p>
            <a:pPr algn="l">
              <a:lnSpc>
                <a:spcPct val="130000"/>
              </a:lnSpc>
            </a:pPr>
            <a:r>
              <a:rPr sz="760" b="0" i="0">
                <a:solidFill>
                  <a:srgbClr val="2A2A26"/>
                </a:solidFill>
                <a:latin typeface="Montserrat"/>
              </a:rPr>
              <a:t>Em que parte do corpo você percebe mais leveza?</a:t>
            </a:r>
          </a:p>
        </p:txBody>
      </p:sp>
      <p:sp>
        <p:nvSpPr>
          <p:cNvPr id="25" name="Rounded Rectangle 24"/>
          <p:cNvSpPr/>
          <p:nvPr/>
        </p:nvSpPr>
        <p:spPr>
          <a:xfrm>
            <a:off x="2697818" y="1427480"/>
            <a:ext cx="2164418" cy="2690241"/>
          </a:xfrm>
          <a:prstGeom prst="roundRect">
            <a:avLst>
              <a:gd name="adj" fmla="val 5867"/>
            </a:avLst>
          </a:prstGeom>
          <a:solidFill>
            <a:srgbClr val="FDFCF8"/>
          </a:solidFill>
          <a:ln w="10160">
            <a:solidFill>
              <a:srgbClr val="B08D4F"/>
            </a:solidFill>
          </a:ln>
          <a:effectLst/>
        </p:spPr>
        <p:txBody>
          <a:bodyPr rtlCol="0" anchor="ctr"/>
          <a:lstStyle/>
          <a:p/>
        </p:txBody>
      </p:sp>
      <p:sp>
        <p:nvSpPr>
          <p:cNvPr id="26" name="Oval 25"/>
          <p:cNvSpPr/>
          <p:nvPr/>
        </p:nvSpPr>
        <p:spPr>
          <a:xfrm>
            <a:off x="3602228" y="1656080"/>
            <a:ext cx="355600" cy="355600"/>
          </a:xfrm>
          <a:prstGeom prst="ellipse">
            <a:avLst/>
          </a:prstGeom>
          <a:noFill/>
          <a:ln w="11430">
            <a:solidFill>
              <a:srgbClr val="3F5C4A"/>
            </a:solidFill>
          </a:ln>
          <a:effectLst/>
        </p:spPr>
        <p:txBody>
          <a:bodyPr rtlCol="0" anchor="ctr"/>
          <a:lstStyle/>
          <a:p/>
        </p:txBody>
      </p:sp>
      <p:sp>
        <p:nvSpPr>
          <p:cNvPr id="27" name="TextBox 26"/>
          <p:cNvSpPr txBox="1"/>
          <p:nvPr/>
        </p:nvSpPr>
        <p:spPr>
          <a:xfrm>
            <a:off x="3602228" y="1656080"/>
            <a:ext cx="355600" cy="355600"/>
          </a:xfrm>
          <a:prstGeom prst="rect">
            <a:avLst/>
          </a:prstGeom>
          <a:noFill/>
        </p:spPr>
        <p:txBody>
          <a:bodyPr wrap="square" lIns="0" rIns="0" tIns="0" bIns="0" anchor="ctr">
            <a:spAutoFit/>
          </a:bodyPr>
          <a:lstStyle/>
          <a:p>
            <a:pPr algn="ctr"/>
            <a:r>
              <a:rPr sz="1100" b="1" i="0">
                <a:solidFill>
                  <a:srgbClr val="3F5C4A"/>
                </a:solidFill>
                <a:latin typeface="Libre Baskerville"/>
              </a:rPr>
              <a:t>!</a:t>
            </a:r>
          </a:p>
        </p:txBody>
      </p:sp>
      <p:sp>
        <p:nvSpPr>
          <p:cNvPr id="28" name="TextBox 27"/>
          <p:cNvSpPr txBox="1"/>
          <p:nvPr/>
        </p:nvSpPr>
        <p:spPr>
          <a:xfrm>
            <a:off x="2799418" y="2138680"/>
            <a:ext cx="1961218" cy="203200"/>
          </a:xfrm>
          <a:prstGeom prst="rect">
            <a:avLst/>
          </a:prstGeom>
          <a:noFill/>
        </p:spPr>
        <p:txBody>
          <a:bodyPr wrap="square" lIns="0" rIns="0" tIns="0" bIns="0" anchor="t">
            <a:spAutoFit/>
          </a:bodyPr>
          <a:lstStyle/>
          <a:p>
            <a:pPr algn="ctr"/>
            <a:r>
              <a:rPr sz="1150" b="1" i="0">
                <a:solidFill>
                  <a:srgbClr val="3F5C4A"/>
                </a:solidFill>
                <a:latin typeface="Libre Baskerville"/>
              </a:rPr>
              <a:t>TENSÃO</a:t>
            </a:r>
          </a:p>
        </p:txBody>
      </p:sp>
      <p:sp>
        <p:nvSpPr>
          <p:cNvPr id="29" name="TextBox 28"/>
          <p:cNvSpPr txBox="1"/>
          <p:nvPr/>
        </p:nvSpPr>
        <p:spPr>
          <a:xfrm>
            <a:off x="2837518" y="2418080"/>
            <a:ext cx="1885018" cy="508000"/>
          </a:xfrm>
          <a:prstGeom prst="rect">
            <a:avLst/>
          </a:prstGeom>
          <a:noFill/>
        </p:spPr>
        <p:txBody>
          <a:bodyPr wrap="square" lIns="0" rIns="0" tIns="0" bIns="0" anchor="t">
            <a:spAutoFit/>
          </a:bodyPr>
          <a:lstStyle/>
          <a:p>
            <a:pPr algn="l">
              <a:lnSpc>
                <a:spcPct val="130000"/>
              </a:lnSpc>
            </a:pPr>
            <a:r>
              <a:rPr sz="760" b="0" i="0">
                <a:solidFill>
                  <a:srgbClr val="2A2A26"/>
                </a:solidFill>
                <a:latin typeface="Montserrat"/>
              </a:rPr>
              <a:t>Onde seu corpo parece mais preso ou rígido?</a:t>
            </a:r>
          </a:p>
        </p:txBody>
      </p:sp>
      <p:sp>
        <p:nvSpPr>
          <p:cNvPr id="30" name="Rounded Rectangle 29"/>
          <p:cNvSpPr/>
          <p:nvPr/>
        </p:nvSpPr>
        <p:spPr>
          <a:xfrm>
            <a:off x="5014637" y="1427480"/>
            <a:ext cx="2164418" cy="2690241"/>
          </a:xfrm>
          <a:prstGeom prst="roundRect">
            <a:avLst>
              <a:gd name="adj" fmla="val 5867"/>
            </a:avLst>
          </a:prstGeom>
          <a:solidFill>
            <a:srgbClr val="FDFCF8"/>
          </a:solidFill>
          <a:ln w="10160">
            <a:solidFill>
              <a:srgbClr val="B08D4F"/>
            </a:solidFill>
          </a:ln>
          <a:effectLst/>
        </p:spPr>
        <p:txBody>
          <a:bodyPr rtlCol="0" anchor="ctr"/>
          <a:lstStyle/>
          <a:p/>
        </p:txBody>
      </p:sp>
      <p:sp>
        <p:nvSpPr>
          <p:cNvPr id="31" name="Oval 30"/>
          <p:cNvSpPr/>
          <p:nvPr/>
        </p:nvSpPr>
        <p:spPr>
          <a:xfrm>
            <a:off x="5919046" y="1656080"/>
            <a:ext cx="355600" cy="355600"/>
          </a:xfrm>
          <a:prstGeom prst="ellipse">
            <a:avLst/>
          </a:prstGeom>
          <a:noFill/>
          <a:ln w="11430">
            <a:solidFill>
              <a:srgbClr val="3F5C4A"/>
            </a:solidFill>
          </a:ln>
          <a:effectLst/>
        </p:spPr>
        <p:txBody>
          <a:bodyPr rtlCol="0" anchor="ctr"/>
          <a:lstStyle/>
          <a:p/>
        </p:txBody>
      </p:sp>
      <p:sp>
        <p:nvSpPr>
          <p:cNvPr id="32" name="TextBox 31"/>
          <p:cNvSpPr txBox="1"/>
          <p:nvPr/>
        </p:nvSpPr>
        <p:spPr>
          <a:xfrm>
            <a:off x="5919046" y="1656080"/>
            <a:ext cx="355600" cy="355600"/>
          </a:xfrm>
          <a:prstGeom prst="rect">
            <a:avLst/>
          </a:prstGeom>
          <a:noFill/>
        </p:spPr>
        <p:txBody>
          <a:bodyPr wrap="square" lIns="0" rIns="0" tIns="0" bIns="0" anchor="ctr">
            <a:spAutoFit/>
          </a:bodyPr>
          <a:lstStyle/>
          <a:p>
            <a:pPr algn="ctr"/>
            <a:r>
              <a:rPr sz="1100" b="1" i="0">
                <a:solidFill>
                  <a:srgbClr val="3F5C4A"/>
                </a:solidFill>
                <a:latin typeface="Libre Baskerville"/>
              </a:rPr>
              <a:t>+</a:t>
            </a:r>
          </a:p>
        </p:txBody>
      </p:sp>
      <p:sp>
        <p:nvSpPr>
          <p:cNvPr id="33" name="TextBox 32"/>
          <p:cNvSpPr txBox="1"/>
          <p:nvPr/>
        </p:nvSpPr>
        <p:spPr>
          <a:xfrm>
            <a:off x="5116237" y="2138680"/>
            <a:ext cx="1961218" cy="203200"/>
          </a:xfrm>
          <a:prstGeom prst="rect">
            <a:avLst/>
          </a:prstGeom>
          <a:noFill/>
        </p:spPr>
        <p:txBody>
          <a:bodyPr wrap="square" lIns="0" rIns="0" tIns="0" bIns="0" anchor="t">
            <a:spAutoFit/>
          </a:bodyPr>
          <a:lstStyle/>
          <a:p>
            <a:pPr algn="ctr"/>
            <a:r>
              <a:rPr sz="1150" b="1" i="0">
                <a:solidFill>
                  <a:srgbClr val="3F5C4A"/>
                </a:solidFill>
                <a:latin typeface="Libre Baskerville"/>
              </a:rPr>
              <a:t>DOR</a:t>
            </a:r>
          </a:p>
        </p:txBody>
      </p:sp>
      <p:sp>
        <p:nvSpPr>
          <p:cNvPr id="34" name="TextBox 33"/>
          <p:cNvSpPr txBox="1"/>
          <p:nvPr/>
        </p:nvSpPr>
        <p:spPr>
          <a:xfrm>
            <a:off x="5154337" y="2418080"/>
            <a:ext cx="1885018" cy="508000"/>
          </a:xfrm>
          <a:prstGeom prst="rect">
            <a:avLst/>
          </a:prstGeom>
          <a:noFill/>
        </p:spPr>
        <p:txBody>
          <a:bodyPr wrap="square" lIns="0" rIns="0" tIns="0" bIns="0" anchor="t">
            <a:spAutoFit/>
          </a:bodyPr>
          <a:lstStyle/>
          <a:p>
            <a:pPr algn="l">
              <a:lnSpc>
                <a:spcPct val="130000"/>
              </a:lnSpc>
            </a:pPr>
            <a:r>
              <a:rPr sz="760" b="0" i="0">
                <a:solidFill>
                  <a:srgbClr val="2A2A26"/>
                </a:solidFill>
                <a:latin typeface="Montserrat"/>
              </a:rPr>
              <a:t>Qual região está mais sensível agora?</a:t>
            </a:r>
          </a:p>
        </p:txBody>
      </p:sp>
      <p:sp>
        <p:nvSpPr>
          <p:cNvPr id="35" name="Rounded Rectangle 34"/>
          <p:cNvSpPr/>
          <p:nvPr/>
        </p:nvSpPr>
        <p:spPr>
          <a:xfrm>
            <a:off x="381000" y="4270121"/>
            <a:ext cx="2164418" cy="2690241"/>
          </a:xfrm>
          <a:prstGeom prst="roundRect">
            <a:avLst>
              <a:gd name="adj" fmla="val 5867"/>
            </a:avLst>
          </a:prstGeom>
          <a:solidFill>
            <a:srgbClr val="FDFCF8"/>
          </a:solidFill>
          <a:ln w="10160">
            <a:solidFill>
              <a:srgbClr val="B08D4F"/>
            </a:solidFill>
          </a:ln>
          <a:effectLst/>
        </p:spPr>
        <p:txBody>
          <a:bodyPr rtlCol="0" anchor="ctr"/>
          <a:lstStyle/>
          <a:p/>
        </p:txBody>
      </p:sp>
      <p:sp>
        <p:nvSpPr>
          <p:cNvPr id="36" name="Oval 35"/>
          <p:cNvSpPr/>
          <p:nvPr/>
        </p:nvSpPr>
        <p:spPr>
          <a:xfrm>
            <a:off x="1285409" y="4498721"/>
            <a:ext cx="355600" cy="355600"/>
          </a:xfrm>
          <a:prstGeom prst="ellipse">
            <a:avLst/>
          </a:prstGeom>
          <a:noFill/>
          <a:ln w="11430">
            <a:solidFill>
              <a:srgbClr val="3F5C4A"/>
            </a:solidFill>
          </a:ln>
          <a:effectLst/>
        </p:spPr>
        <p:txBody>
          <a:bodyPr rtlCol="0" anchor="ctr"/>
          <a:lstStyle/>
          <a:p/>
        </p:txBody>
      </p:sp>
      <p:sp>
        <p:nvSpPr>
          <p:cNvPr id="37" name="TextBox 36"/>
          <p:cNvSpPr txBox="1"/>
          <p:nvPr/>
        </p:nvSpPr>
        <p:spPr>
          <a:xfrm>
            <a:off x="1285409" y="4498721"/>
            <a:ext cx="355600" cy="355600"/>
          </a:xfrm>
          <a:prstGeom prst="rect">
            <a:avLst/>
          </a:prstGeom>
          <a:noFill/>
        </p:spPr>
        <p:txBody>
          <a:bodyPr wrap="square" lIns="0" rIns="0" tIns="0" bIns="0" anchor="ctr">
            <a:spAutoFit/>
          </a:bodyPr>
          <a:lstStyle/>
          <a:p>
            <a:pPr algn="ctr"/>
            <a:r>
              <a:rPr sz="1100" b="1" i="0">
                <a:solidFill>
                  <a:srgbClr val="3F5C4A"/>
                </a:solidFill>
                <a:latin typeface="Libre Baskerville"/>
              </a:rPr>
              <a:t>Z</a:t>
            </a:r>
          </a:p>
        </p:txBody>
      </p:sp>
      <p:sp>
        <p:nvSpPr>
          <p:cNvPr id="38" name="TextBox 37"/>
          <p:cNvSpPr txBox="1"/>
          <p:nvPr/>
        </p:nvSpPr>
        <p:spPr>
          <a:xfrm>
            <a:off x="482600" y="4981321"/>
            <a:ext cx="1961218" cy="203200"/>
          </a:xfrm>
          <a:prstGeom prst="rect">
            <a:avLst/>
          </a:prstGeom>
          <a:noFill/>
        </p:spPr>
        <p:txBody>
          <a:bodyPr wrap="square" lIns="0" rIns="0" tIns="0" bIns="0" anchor="t">
            <a:spAutoFit/>
          </a:bodyPr>
          <a:lstStyle/>
          <a:p>
            <a:pPr algn="ctr"/>
            <a:r>
              <a:rPr sz="1150" b="1" i="0">
                <a:solidFill>
                  <a:srgbClr val="3F5C4A"/>
                </a:solidFill>
                <a:latin typeface="Libre Baskerville"/>
              </a:rPr>
              <a:t>CANSAÇO</a:t>
            </a:r>
          </a:p>
        </p:txBody>
      </p:sp>
      <p:sp>
        <p:nvSpPr>
          <p:cNvPr id="39" name="TextBox 38"/>
          <p:cNvSpPr txBox="1"/>
          <p:nvPr/>
        </p:nvSpPr>
        <p:spPr>
          <a:xfrm>
            <a:off x="520700" y="5260721"/>
            <a:ext cx="1885018" cy="508000"/>
          </a:xfrm>
          <a:prstGeom prst="rect">
            <a:avLst/>
          </a:prstGeom>
          <a:noFill/>
        </p:spPr>
        <p:txBody>
          <a:bodyPr wrap="square" lIns="0" rIns="0" tIns="0" bIns="0" anchor="t">
            <a:spAutoFit/>
          </a:bodyPr>
          <a:lstStyle/>
          <a:p>
            <a:pPr algn="l">
              <a:lnSpc>
                <a:spcPct val="130000"/>
              </a:lnSpc>
            </a:pPr>
            <a:r>
              <a:rPr sz="760" b="0" i="0">
                <a:solidFill>
                  <a:srgbClr val="2A2A26"/>
                </a:solidFill>
                <a:latin typeface="Montserrat"/>
              </a:rPr>
              <a:t>Seu corpo pede pausa ou recuperação?</a:t>
            </a:r>
          </a:p>
        </p:txBody>
      </p:sp>
      <p:sp>
        <p:nvSpPr>
          <p:cNvPr id="40" name="Rounded Rectangle 39"/>
          <p:cNvSpPr/>
          <p:nvPr/>
        </p:nvSpPr>
        <p:spPr>
          <a:xfrm>
            <a:off x="2697818" y="4270121"/>
            <a:ext cx="2164418" cy="2690241"/>
          </a:xfrm>
          <a:prstGeom prst="roundRect">
            <a:avLst>
              <a:gd name="adj" fmla="val 5867"/>
            </a:avLst>
          </a:prstGeom>
          <a:solidFill>
            <a:srgbClr val="FDFCF8"/>
          </a:solidFill>
          <a:ln w="10160">
            <a:solidFill>
              <a:srgbClr val="B08D4F"/>
            </a:solidFill>
          </a:ln>
          <a:effectLst/>
        </p:spPr>
        <p:txBody>
          <a:bodyPr rtlCol="0" anchor="ctr"/>
          <a:lstStyle/>
          <a:p/>
        </p:txBody>
      </p:sp>
      <p:sp>
        <p:nvSpPr>
          <p:cNvPr id="41" name="Oval 40"/>
          <p:cNvSpPr/>
          <p:nvPr/>
        </p:nvSpPr>
        <p:spPr>
          <a:xfrm>
            <a:off x="3602228" y="4498721"/>
            <a:ext cx="355600" cy="355600"/>
          </a:xfrm>
          <a:prstGeom prst="ellipse">
            <a:avLst/>
          </a:prstGeom>
          <a:noFill/>
          <a:ln w="11430">
            <a:solidFill>
              <a:srgbClr val="3F5C4A"/>
            </a:solidFill>
          </a:ln>
          <a:effectLst/>
        </p:spPr>
        <p:txBody>
          <a:bodyPr rtlCol="0" anchor="ctr"/>
          <a:lstStyle/>
          <a:p/>
        </p:txBody>
      </p:sp>
      <p:sp>
        <p:nvSpPr>
          <p:cNvPr id="42" name="TextBox 41"/>
          <p:cNvSpPr txBox="1"/>
          <p:nvPr/>
        </p:nvSpPr>
        <p:spPr>
          <a:xfrm>
            <a:off x="3602228" y="4498721"/>
            <a:ext cx="355600" cy="355600"/>
          </a:xfrm>
          <a:prstGeom prst="rect">
            <a:avLst/>
          </a:prstGeom>
          <a:noFill/>
        </p:spPr>
        <p:txBody>
          <a:bodyPr wrap="square" lIns="0" rIns="0" tIns="0" bIns="0" anchor="ctr">
            <a:spAutoFit/>
          </a:bodyPr>
          <a:lstStyle/>
          <a:p>
            <a:pPr algn="ctr"/>
            <a:r>
              <a:rPr sz="1100" b="1" i="0">
                <a:solidFill>
                  <a:srgbClr val="3F5C4A"/>
                </a:solidFill>
                <a:latin typeface="Libre Baskerville"/>
              </a:rPr>
              <a:t>♡</a:t>
            </a:r>
          </a:p>
        </p:txBody>
      </p:sp>
      <p:sp>
        <p:nvSpPr>
          <p:cNvPr id="43" name="TextBox 42"/>
          <p:cNvSpPr txBox="1"/>
          <p:nvPr/>
        </p:nvSpPr>
        <p:spPr>
          <a:xfrm>
            <a:off x="2799418" y="4981321"/>
            <a:ext cx="1961218" cy="203200"/>
          </a:xfrm>
          <a:prstGeom prst="rect">
            <a:avLst/>
          </a:prstGeom>
          <a:noFill/>
        </p:spPr>
        <p:txBody>
          <a:bodyPr wrap="square" lIns="0" rIns="0" tIns="0" bIns="0" anchor="t">
            <a:spAutoFit/>
          </a:bodyPr>
          <a:lstStyle/>
          <a:p>
            <a:pPr algn="ctr"/>
            <a:r>
              <a:rPr sz="1150" b="1" i="0">
                <a:solidFill>
                  <a:srgbClr val="3F5C4A"/>
                </a:solidFill>
                <a:latin typeface="Libre Baskerville"/>
              </a:rPr>
              <a:t>RELAXAMENTO</a:t>
            </a:r>
          </a:p>
        </p:txBody>
      </p:sp>
      <p:sp>
        <p:nvSpPr>
          <p:cNvPr id="44" name="TextBox 43"/>
          <p:cNvSpPr txBox="1"/>
          <p:nvPr/>
        </p:nvSpPr>
        <p:spPr>
          <a:xfrm>
            <a:off x="2837518" y="5260721"/>
            <a:ext cx="1885018" cy="508000"/>
          </a:xfrm>
          <a:prstGeom prst="rect">
            <a:avLst/>
          </a:prstGeom>
          <a:noFill/>
        </p:spPr>
        <p:txBody>
          <a:bodyPr wrap="square" lIns="0" rIns="0" tIns="0" bIns="0" anchor="t">
            <a:spAutoFit/>
          </a:bodyPr>
          <a:lstStyle/>
          <a:p>
            <a:pPr algn="l">
              <a:lnSpc>
                <a:spcPct val="130000"/>
              </a:lnSpc>
            </a:pPr>
            <a:r>
              <a:rPr sz="760" b="0" i="0">
                <a:solidFill>
                  <a:srgbClr val="2A2A26"/>
                </a:solidFill>
                <a:latin typeface="Montserrat"/>
              </a:rPr>
              <a:t>O que ajudou seu corpo a desacelerar?</a:t>
            </a:r>
          </a:p>
        </p:txBody>
      </p:sp>
      <p:sp>
        <p:nvSpPr>
          <p:cNvPr id="45" name="Rounded Rectangle 44"/>
          <p:cNvSpPr/>
          <p:nvPr/>
        </p:nvSpPr>
        <p:spPr>
          <a:xfrm>
            <a:off x="5014637" y="4270121"/>
            <a:ext cx="2164418" cy="2690241"/>
          </a:xfrm>
          <a:prstGeom prst="roundRect">
            <a:avLst>
              <a:gd name="adj" fmla="val 5867"/>
            </a:avLst>
          </a:prstGeom>
          <a:solidFill>
            <a:srgbClr val="FDFCF8"/>
          </a:solidFill>
          <a:ln w="10160">
            <a:solidFill>
              <a:srgbClr val="B08D4F"/>
            </a:solidFill>
          </a:ln>
          <a:effectLst/>
        </p:spPr>
        <p:txBody>
          <a:bodyPr rtlCol="0" anchor="ctr"/>
          <a:lstStyle/>
          <a:p/>
        </p:txBody>
      </p:sp>
      <p:sp>
        <p:nvSpPr>
          <p:cNvPr id="46" name="Oval 45"/>
          <p:cNvSpPr/>
          <p:nvPr/>
        </p:nvSpPr>
        <p:spPr>
          <a:xfrm>
            <a:off x="5919046" y="4498721"/>
            <a:ext cx="355600" cy="355600"/>
          </a:xfrm>
          <a:prstGeom prst="ellipse">
            <a:avLst/>
          </a:prstGeom>
          <a:noFill/>
          <a:ln w="11430">
            <a:solidFill>
              <a:srgbClr val="3F5C4A"/>
            </a:solidFill>
          </a:ln>
          <a:effectLst/>
        </p:spPr>
        <p:txBody>
          <a:bodyPr rtlCol="0" anchor="ctr"/>
          <a:lstStyle/>
          <a:p/>
        </p:txBody>
      </p:sp>
      <p:sp>
        <p:nvSpPr>
          <p:cNvPr id="47" name="TextBox 46"/>
          <p:cNvSpPr txBox="1"/>
          <p:nvPr/>
        </p:nvSpPr>
        <p:spPr>
          <a:xfrm>
            <a:off x="5919046" y="4498721"/>
            <a:ext cx="355600" cy="355600"/>
          </a:xfrm>
          <a:prstGeom prst="rect">
            <a:avLst/>
          </a:prstGeom>
          <a:noFill/>
        </p:spPr>
        <p:txBody>
          <a:bodyPr wrap="square" lIns="0" rIns="0" tIns="0" bIns="0" anchor="ctr">
            <a:spAutoFit/>
          </a:bodyPr>
          <a:lstStyle/>
          <a:p>
            <a:pPr algn="ctr"/>
            <a:r>
              <a:rPr sz="1100" b="1" i="0">
                <a:solidFill>
                  <a:srgbClr val="3F5C4A"/>
                </a:solidFill>
                <a:latin typeface="Libre Baskerville"/>
              </a:rPr>
              <a:t>|</a:t>
            </a:r>
          </a:p>
        </p:txBody>
      </p:sp>
      <p:sp>
        <p:nvSpPr>
          <p:cNvPr id="48" name="TextBox 47"/>
          <p:cNvSpPr txBox="1"/>
          <p:nvPr/>
        </p:nvSpPr>
        <p:spPr>
          <a:xfrm>
            <a:off x="5116237" y="4981321"/>
            <a:ext cx="1961218" cy="203200"/>
          </a:xfrm>
          <a:prstGeom prst="rect">
            <a:avLst/>
          </a:prstGeom>
          <a:noFill/>
        </p:spPr>
        <p:txBody>
          <a:bodyPr wrap="square" lIns="0" rIns="0" tIns="0" bIns="0" anchor="t">
            <a:spAutoFit/>
          </a:bodyPr>
          <a:lstStyle/>
          <a:p>
            <a:pPr algn="ctr"/>
            <a:r>
              <a:rPr sz="1150" b="1" i="0">
                <a:solidFill>
                  <a:srgbClr val="3F5C4A"/>
                </a:solidFill>
                <a:latin typeface="Libre Baskerville"/>
              </a:rPr>
              <a:t>RIGIDEZ</a:t>
            </a:r>
          </a:p>
        </p:txBody>
      </p:sp>
      <p:sp>
        <p:nvSpPr>
          <p:cNvPr id="49" name="TextBox 48"/>
          <p:cNvSpPr txBox="1"/>
          <p:nvPr/>
        </p:nvSpPr>
        <p:spPr>
          <a:xfrm>
            <a:off x="5154337" y="5260721"/>
            <a:ext cx="1885018" cy="508000"/>
          </a:xfrm>
          <a:prstGeom prst="rect">
            <a:avLst/>
          </a:prstGeom>
          <a:noFill/>
        </p:spPr>
        <p:txBody>
          <a:bodyPr wrap="square" lIns="0" rIns="0" tIns="0" bIns="0" anchor="t">
            <a:spAutoFit/>
          </a:bodyPr>
          <a:lstStyle/>
          <a:p>
            <a:pPr algn="l">
              <a:lnSpc>
                <a:spcPct val="130000"/>
              </a:lnSpc>
            </a:pPr>
            <a:r>
              <a:rPr sz="760" b="0" i="0">
                <a:solidFill>
                  <a:srgbClr val="2A2A26"/>
                </a:solidFill>
                <a:latin typeface="Montserrat"/>
              </a:rPr>
              <a:t>Em qual movimento você sente limitação?</a:t>
            </a:r>
          </a:p>
        </p:txBody>
      </p:sp>
      <p:sp>
        <p:nvSpPr>
          <p:cNvPr id="50" name="Rounded Rectangle 49"/>
          <p:cNvSpPr/>
          <p:nvPr/>
        </p:nvSpPr>
        <p:spPr>
          <a:xfrm>
            <a:off x="381000" y="7112762"/>
            <a:ext cx="2164418" cy="2690241"/>
          </a:xfrm>
          <a:prstGeom prst="roundRect">
            <a:avLst>
              <a:gd name="adj" fmla="val 5867"/>
            </a:avLst>
          </a:prstGeom>
          <a:solidFill>
            <a:srgbClr val="FDFCF8"/>
          </a:solidFill>
          <a:ln w="10160">
            <a:solidFill>
              <a:srgbClr val="B08D4F"/>
            </a:solidFill>
          </a:ln>
          <a:effectLst/>
        </p:spPr>
        <p:txBody>
          <a:bodyPr rtlCol="0" anchor="ctr"/>
          <a:lstStyle/>
          <a:p/>
        </p:txBody>
      </p:sp>
      <p:sp>
        <p:nvSpPr>
          <p:cNvPr id="51" name="Oval 50"/>
          <p:cNvSpPr/>
          <p:nvPr/>
        </p:nvSpPr>
        <p:spPr>
          <a:xfrm>
            <a:off x="1285409" y="7341362"/>
            <a:ext cx="355600" cy="355600"/>
          </a:xfrm>
          <a:prstGeom prst="ellipse">
            <a:avLst/>
          </a:prstGeom>
          <a:noFill/>
          <a:ln w="11430">
            <a:solidFill>
              <a:srgbClr val="3F5C4A"/>
            </a:solidFill>
          </a:ln>
          <a:effectLst/>
        </p:spPr>
        <p:txBody>
          <a:bodyPr rtlCol="0" anchor="ctr"/>
          <a:lstStyle/>
          <a:p/>
        </p:txBody>
      </p:sp>
      <p:sp>
        <p:nvSpPr>
          <p:cNvPr id="52" name="TextBox 51"/>
          <p:cNvSpPr txBox="1"/>
          <p:nvPr/>
        </p:nvSpPr>
        <p:spPr>
          <a:xfrm>
            <a:off x="1285409" y="7341362"/>
            <a:ext cx="355600" cy="355600"/>
          </a:xfrm>
          <a:prstGeom prst="rect">
            <a:avLst/>
          </a:prstGeom>
          <a:noFill/>
        </p:spPr>
        <p:txBody>
          <a:bodyPr wrap="square" lIns="0" rIns="0" tIns="0" bIns="0" anchor="ctr">
            <a:spAutoFit/>
          </a:bodyPr>
          <a:lstStyle/>
          <a:p>
            <a:pPr algn="ctr"/>
            <a:r>
              <a:rPr sz="1100" b="1" i="0">
                <a:solidFill>
                  <a:srgbClr val="3F5C4A"/>
                </a:solidFill>
                <a:latin typeface="Libre Baskerville"/>
              </a:rPr>
              <a:t>○</a:t>
            </a:r>
          </a:p>
        </p:txBody>
      </p:sp>
      <p:sp>
        <p:nvSpPr>
          <p:cNvPr id="53" name="TextBox 52"/>
          <p:cNvSpPr txBox="1"/>
          <p:nvPr/>
        </p:nvSpPr>
        <p:spPr>
          <a:xfrm>
            <a:off x="482600" y="7823962"/>
            <a:ext cx="1961218" cy="203200"/>
          </a:xfrm>
          <a:prstGeom prst="rect">
            <a:avLst/>
          </a:prstGeom>
          <a:noFill/>
        </p:spPr>
        <p:txBody>
          <a:bodyPr wrap="square" lIns="0" rIns="0" tIns="0" bIns="0" anchor="t">
            <a:spAutoFit/>
          </a:bodyPr>
          <a:lstStyle/>
          <a:p>
            <a:pPr algn="ctr"/>
            <a:r>
              <a:rPr sz="1150" b="1" i="0">
                <a:solidFill>
                  <a:srgbClr val="3F5C4A"/>
                </a:solidFill>
                <a:latin typeface="Libre Baskerville"/>
              </a:rPr>
              <a:t>CONFORTO</a:t>
            </a:r>
          </a:p>
        </p:txBody>
      </p:sp>
      <p:sp>
        <p:nvSpPr>
          <p:cNvPr id="54" name="TextBox 53"/>
          <p:cNvSpPr txBox="1"/>
          <p:nvPr/>
        </p:nvSpPr>
        <p:spPr>
          <a:xfrm>
            <a:off x="520700" y="8103362"/>
            <a:ext cx="1885018" cy="508000"/>
          </a:xfrm>
          <a:prstGeom prst="rect">
            <a:avLst/>
          </a:prstGeom>
          <a:noFill/>
        </p:spPr>
        <p:txBody>
          <a:bodyPr wrap="square" lIns="0" rIns="0" tIns="0" bIns="0" anchor="t">
            <a:spAutoFit/>
          </a:bodyPr>
          <a:lstStyle/>
          <a:p>
            <a:pPr algn="l">
              <a:lnSpc>
                <a:spcPct val="130000"/>
              </a:lnSpc>
            </a:pPr>
            <a:r>
              <a:rPr sz="760" b="0" i="0">
                <a:solidFill>
                  <a:srgbClr val="2A2A26"/>
                </a:solidFill>
                <a:latin typeface="Montserrat"/>
              </a:rPr>
              <a:t>Qual posição ou toque traz mais bem-estar?</a:t>
            </a:r>
          </a:p>
        </p:txBody>
      </p:sp>
      <p:sp>
        <p:nvSpPr>
          <p:cNvPr id="55" name="Rounded Rectangle 54"/>
          <p:cNvSpPr/>
          <p:nvPr/>
        </p:nvSpPr>
        <p:spPr>
          <a:xfrm>
            <a:off x="2697818" y="7112762"/>
            <a:ext cx="2164418" cy="2690241"/>
          </a:xfrm>
          <a:prstGeom prst="roundRect">
            <a:avLst>
              <a:gd name="adj" fmla="val 5867"/>
            </a:avLst>
          </a:prstGeom>
          <a:solidFill>
            <a:srgbClr val="FDFCF8"/>
          </a:solidFill>
          <a:ln w="10160">
            <a:solidFill>
              <a:srgbClr val="B08D4F"/>
            </a:solidFill>
          </a:ln>
          <a:effectLst/>
        </p:spPr>
        <p:txBody>
          <a:bodyPr rtlCol="0" anchor="ctr"/>
          <a:lstStyle/>
          <a:p/>
        </p:txBody>
      </p:sp>
      <p:sp>
        <p:nvSpPr>
          <p:cNvPr id="56" name="Oval 55"/>
          <p:cNvSpPr/>
          <p:nvPr/>
        </p:nvSpPr>
        <p:spPr>
          <a:xfrm>
            <a:off x="3602228" y="7341362"/>
            <a:ext cx="355600" cy="355600"/>
          </a:xfrm>
          <a:prstGeom prst="ellipse">
            <a:avLst/>
          </a:prstGeom>
          <a:noFill/>
          <a:ln w="11430">
            <a:solidFill>
              <a:srgbClr val="3F5C4A"/>
            </a:solidFill>
          </a:ln>
          <a:effectLst/>
        </p:spPr>
        <p:txBody>
          <a:bodyPr rtlCol="0" anchor="ctr"/>
          <a:lstStyle/>
          <a:p/>
        </p:txBody>
      </p:sp>
      <p:sp>
        <p:nvSpPr>
          <p:cNvPr id="57" name="TextBox 56"/>
          <p:cNvSpPr txBox="1"/>
          <p:nvPr/>
        </p:nvSpPr>
        <p:spPr>
          <a:xfrm>
            <a:off x="3602228" y="7341362"/>
            <a:ext cx="355600" cy="355600"/>
          </a:xfrm>
          <a:prstGeom prst="rect">
            <a:avLst/>
          </a:prstGeom>
          <a:noFill/>
        </p:spPr>
        <p:txBody>
          <a:bodyPr wrap="square" lIns="0" rIns="0" tIns="0" bIns="0" anchor="ctr">
            <a:spAutoFit/>
          </a:bodyPr>
          <a:lstStyle/>
          <a:p>
            <a:pPr algn="ctr"/>
            <a:r>
              <a:rPr sz="1100" b="1" i="0">
                <a:solidFill>
                  <a:srgbClr val="3F5C4A"/>
                </a:solidFill>
                <a:latin typeface="Libre Baskerville"/>
              </a:rPr>
              <a:t>↓</a:t>
            </a:r>
          </a:p>
        </p:txBody>
      </p:sp>
      <p:sp>
        <p:nvSpPr>
          <p:cNvPr id="58" name="TextBox 57"/>
          <p:cNvSpPr txBox="1"/>
          <p:nvPr/>
        </p:nvSpPr>
        <p:spPr>
          <a:xfrm>
            <a:off x="2799418" y="7823962"/>
            <a:ext cx="1961218" cy="203200"/>
          </a:xfrm>
          <a:prstGeom prst="rect">
            <a:avLst/>
          </a:prstGeom>
          <a:noFill/>
        </p:spPr>
        <p:txBody>
          <a:bodyPr wrap="square" lIns="0" rIns="0" tIns="0" bIns="0" anchor="t">
            <a:spAutoFit/>
          </a:bodyPr>
          <a:lstStyle/>
          <a:p>
            <a:pPr algn="ctr"/>
            <a:r>
              <a:rPr sz="1150" b="1" i="0">
                <a:solidFill>
                  <a:srgbClr val="3F5C4A"/>
                </a:solidFill>
                <a:latin typeface="Libre Baskerville"/>
              </a:rPr>
              <a:t>PESO</a:t>
            </a:r>
          </a:p>
        </p:txBody>
      </p:sp>
      <p:sp>
        <p:nvSpPr>
          <p:cNvPr id="59" name="TextBox 58"/>
          <p:cNvSpPr txBox="1"/>
          <p:nvPr/>
        </p:nvSpPr>
        <p:spPr>
          <a:xfrm>
            <a:off x="2837518" y="8103362"/>
            <a:ext cx="1885018" cy="508000"/>
          </a:xfrm>
          <a:prstGeom prst="rect">
            <a:avLst/>
          </a:prstGeom>
          <a:noFill/>
        </p:spPr>
        <p:txBody>
          <a:bodyPr wrap="square" lIns="0" rIns="0" tIns="0" bIns="0" anchor="t">
            <a:spAutoFit/>
          </a:bodyPr>
          <a:lstStyle/>
          <a:p>
            <a:pPr algn="l">
              <a:lnSpc>
                <a:spcPct val="130000"/>
              </a:lnSpc>
            </a:pPr>
            <a:r>
              <a:rPr sz="760" b="0" i="0">
                <a:solidFill>
                  <a:srgbClr val="2A2A26"/>
                </a:solidFill>
                <a:latin typeface="Montserrat"/>
              </a:rPr>
              <a:t>Há alguma região que parece pesada ou sobrecarregada?</a:t>
            </a:r>
          </a:p>
        </p:txBody>
      </p:sp>
      <p:sp>
        <p:nvSpPr>
          <p:cNvPr id="60" name="Rounded Rectangle 59"/>
          <p:cNvSpPr/>
          <p:nvPr/>
        </p:nvSpPr>
        <p:spPr>
          <a:xfrm>
            <a:off x="5014637" y="7112762"/>
            <a:ext cx="2164418" cy="2690241"/>
          </a:xfrm>
          <a:prstGeom prst="roundRect">
            <a:avLst>
              <a:gd name="adj" fmla="val 5867"/>
            </a:avLst>
          </a:prstGeom>
          <a:solidFill>
            <a:srgbClr val="FDFCF8"/>
          </a:solidFill>
          <a:ln w="10160">
            <a:solidFill>
              <a:srgbClr val="B08D4F"/>
            </a:solidFill>
          </a:ln>
          <a:effectLst/>
        </p:spPr>
        <p:txBody>
          <a:bodyPr rtlCol="0" anchor="ctr"/>
          <a:lstStyle/>
          <a:p/>
        </p:txBody>
      </p:sp>
      <p:sp>
        <p:nvSpPr>
          <p:cNvPr id="61" name="Oval 60"/>
          <p:cNvSpPr/>
          <p:nvPr/>
        </p:nvSpPr>
        <p:spPr>
          <a:xfrm>
            <a:off x="5919046" y="7341362"/>
            <a:ext cx="355600" cy="355600"/>
          </a:xfrm>
          <a:prstGeom prst="ellipse">
            <a:avLst/>
          </a:prstGeom>
          <a:noFill/>
          <a:ln w="11430">
            <a:solidFill>
              <a:srgbClr val="3F5C4A"/>
            </a:solidFill>
          </a:ln>
          <a:effectLst/>
        </p:spPr>
        <p:txBody>
          <a:bodyPr rtlCol="0" anchor="ctr"/>
          <a:lstStyle/>
          <a:p/>
        </p:txBody>
      </p:sp>
      <p:sp>
        <p:nvSpPr>
          <p:cNvPr id="62" name="TextBox 61"/>
          <p:cNvSpPr txBox="1"/>
          <p:nvPr/>
        </p:nvSpPr>
        <p:spPr>
          <a:xfrm>
            <a:off x="5919046" y="7341362"/>
            <a:ext cx="355600" cy="355600"/>
          </a:xfrm>
          <a:prstGeom prst="rect">
            <a:avLst/>
          </a:prstGeom>
          <a:noFill/>
        </p:spPr>
        <p:txBody>
          <a:bodyPr wrap="square" lIns="0" rIns="0" tIns="0" bIns="0" anchor="ctr">
            <a:spAutoFit/>
          </a:bodyPr>
          <a:lstStyle/>
          <a:p>
            <a:pPr algn="ctr"/>
            <a:r>
              <a:rPr sz="1100" b="1" i="0">
                <a:solidFill>
                  <a:srgbClr val="3F5C4A"/>
                </a:solidFill>
                <a:latin typeface="Libre Baskerville"/>
              </a:rPr>
              <a:t>...</a:t>
            </a:r>
          </a:p>
        </p:txBody>
      </p:sp>
      <p:sp>
        <p:nvSpPr>
          <p:cNvPr id="63" name="TextBox 62"/>
          <p:cNvSpPr txBox="1"/>
          <p:nvPr/>
        </p:nvSpPr>
        <p:spPr>
          <a:xfrm>
            <a:off x="5116237" y="7823962"/>
            <a:ext cx="1961218" cy="203200"/>
          </a:xfrm>
          <a:prstGeom prst="rect">
            <a:avLst/>
          </a:prstGeom>
          <a:noFill/>
        </p:spPr>
        <p:txBody>
          <a:bodyPr wrap="square" lIns="0" rIns="0" tIns="0" bIns="0" anchor="t">
            <a:spAutoFit/>
          </a:bodyPr>
          <a:lstStyle/>
          <a:p>
            <a:pPr algn="ctr"/>
            <a:r>
              <a:rPr sz="1150" b="1" i="0">
                <a:solidFill>
                  <a:srgbClr val="3F5C4A"/>
                </a:solidFill>
                <a:latin typeface="Libre Baskerville"/>
              </a:rPr>
              <a:t>FORMIGAMENTO</a:t>
            </a:r>
          </a:p>
        </p:txBody>
      </p:sp>
      <p:sp>
        <p:nvSpPr>
          <p:cNvPr id="64" name="TextBox 63"/>
          <p:cNvSpPr txBox="1"/>
          <p:nvPr/>
        </p:nvSpPr>
        <p:spPr>
          <a:xfrm>
            <a:off x="5154337" y="8103362"/>
            <a:ext cx="1885018" cy="508000"/>
          </a:xfrm>
          <a:prstGeom prst="rect">
            <a:avLst/>
          </a:prstGeom>
          <a:noFill/>
        </p:spPr>
        <p:txBody>
          <a:bodyPr wrap="square" lIns="0" rIns="0" tIns="0" bIns="0" anchor="t">
            <a:spAutoFit/>
          </a:bodyPr>
          <a:lstStyle/>
          <a:p>
            <a:pPr algn="l">
              <a:lnSpc>
                <a:spcPct val="130000"/>
              </a:lnSpc>
            </a:pPr>
            <a:r>
              <a:rPr sz="760" b="0" i="0">
                <a:solidFill>
                  <a:srgbClr val="2A2A26"/>
                </a:solidFill>
                <a:latin typeface="Montserrat"/>
              </a:rPr>
              <a:t>Onde você percebe formigamento ou alteração de sensibilidade?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8F5EE"/>
        </a:solidFill>
        <a:effectLst/>
      </p:bgPr>
    </p:bg>
    <p:spTree>
      <p:nvGrpSpPr>
        <p:cNvPr id="1" name=""/>
        <p:cNvGrpSpPr/>
        <p:nvPr/>
      </p:nvGrpSpPr>
      <p:grpSpPr/>
      <p:cxnSp>
        <p:nvCxnSpPr>
          <p:cNvPr id="2" name="Connector 1"/>
          <p:cNvCxnSpPr/>
          <p:nvPr/>
        </p:nvCxnSpPr>
        <p:spPr>
          <a:xfrm>
            <a:off x="38100" y="25400"/>
            <a:ext cx="660400" cy="660400"/>
          </a:xfrm>
          <a:prstGeom prst="line">
            <a:avLst/>
          </a:prstGeom>
          <a:ln w="13970">
            <a:solidFill>
              <a:srgbClr val="B08D4F"/>
            </a:solidFill>
          </a:ln>
        </p:spPr>
      </p:cxnSp>
      <p:sp>
        <p:nvSpPr>
          <p:cNvPr id="3" name="Oval 2"/>
          <p:cNvSpPr/>
          <p:nvPr/>
        </p:nvSpPr>
        <p:spPr>
          <a:xfrm>
            <a:off x="191770" y="77470"/>
            <a:ext cx="190500" cy="215900"/>
          </a:xfrm>
          <a:prstGeom prst="ellipse">
            <a:avLst/>
          </a:prstGeom>
          <a:solidFill>
            <a:srgbClr val="8FA388"/>
          </a:solidFill>
          <a:ln>
            <a:noFill/>
          </a:ln>
          <a:effectLst/>
        </p:spPr>
        <p:txBody>
          <a:bodyPr rtlCol="0" anchor="ctr"/>
          <a:lstStyle/>
          <a:p/>
        </p:txBody>
      </p:sp>
      <p:sp>
        <p:nvSpPr>
          <p:cNvPr id="4" name="Oval 3"/>
          <p:cNvSpPr/>
          <p:nvPr/>
        </p:nvSpPr>
        <p:spPr>
          <a:xfrm>
            <a:off x="330708" y="216408"/>
            <a:ext cx="203200" cy="228600"/>
          </a:xfrm>
          <a:prstGeom prst="ellipse">
            <a:avLst/>
          </a:prstGeom>
          <a:solidFill>
            <a:srgbClr val="8FA388"/>
          </a:solidFill>
          <a:ln>
            <a:noFill/>
          </a:ln>
          <a:effectLst/>
        </p:spPr>
        <p:txBody>
          <a:bodyPr rtlCol="0" anchor="ctr"/>
          <a:lstStyle/>
          <a:p/>
        </p:txBody>
      </p:sp>
      <p:sp>
        <p:nvSpPr>
          <p:cNvPr id="5" name="Oval 4"/>
          <p:cNvSpPr/>
          <p:nvPr/>
        </p:nvSpPr>
        <p:spPr>
          <a:xfrm>
            <a:off x="482345" y="368045"/>
            <a:ext cx="190500" cy="215900"/>
          </a:xfrm>
          <a:prstGeom prst="ellipse">
            <a:avLst/>
          </a:prstGeom>
          <a:solidFill>
            <a:srgbClr val="8FA388"/>
          </a:solidFill>
          <a:ln>
            <a:noFill/>
          </a:ln>
          <a:effectLst/>
        </p:spPr>
        <p:txBody>
          <a:bodyPr rtlCol="0" anchor="ctr"/>
          <a:lstStyle/>
          <a:p/>
        </p:txBody>
      </p:sp>
      <p:cxnSp>
        <p:nvCxnSpPr>
          <p:cNvPr id="6" name="Connector 5"/>
          <p:cNvCxnSpPr/>
          <p:nvPr/>
        </p:nvCxnSpPr>
        <p:spPr>
          <a:xfrm flipH="1">
            <a:off x="6861556" y="25400"/>
            <a:ext cx="660400" cy="660400"/>
          </a:xfrm>
          <a:prstGeom prst="line">
            <a:avLst/>
          </a:prstGeom>
          <a:ln w="13970">
            <a:solidFill>
              <a:srgbClr val="B08D4F"/>
            </a:solidFill>
          </a:ln>
        </p:spPr>
      </p:cxnSp>
      <p:sp>
        <p:nvSpPr>
          <p:cNvPr id="7" name="Oval 6"/>
          <p:cNvSpPr/>
          <p:nvPr/>
        </p:nvSpPr>
        <p:spPr>
          <a:xfrm>
            <a:off x="7177785" y="77470"/>
            <a:ext cx="190500" cy="215900"/>
          </a:xfrm>
          <a:prstGeom prst="ellipse">
            <a:avLst/>
          </a:prstGeom>
          <a:solidFill>
            <a:srgbClr val="8FA388"/>
          </a:solidFill>
          <a:ln>
            <a:noFill/>
          </a:ln>
          <a:effectLst/>
        </p:spPr>
        <p:txBody>
          <a:bodyPr rtlCol="0" anchor="ctr"/>
          <a:lstStyle/>
          <a:p/>
        </p:txBody>
      </p:sp>
      <p:sp>
        <p:nvSpPr>
          <p:cNvPr id="8" name="Oval 7"/>
          <p:cNvSpPr/>
          <p:nvPr/>
        </p:nvSpPr>
        <p:spPr>
          <a:xfrm>
            <a:off x="7026148" y="216408"/>
            <a:ext cx="203200" cy="228600"/>
          </a:xfrm>
          <a:prstGeom prst="ellipse">
            <a:avLst/>
          </a:prstGeom>
          <a:solidFill>
            <a:srgbClr val="8FA388"/>
          </a:solidFill>
          <a:ln>
            <a:noFill/>
          </a:ln>
          <a:effectLst/>
        </p:spPr>
        <p:txBody>
          <a:bodyPr rtlCol="0" anchor="ctr"/>
          <a:lstStyle/>
          <a:p/>
        </p:txBody>
      </p:sp>
      <p:sp>
        <p:nvSpPr>
          <p:cNvPr id="9" name="Oval 8"/>
          <p:cNvSpPr/>
          <p:nvPr/>
        </p:nvSpPr>
        <p:spPr>
          <a:xfrm>
            <a:off x="6887209" y="368045"/>
            <a:ext cx="190500" cy="215900"/>
          </a:xfrm>
          <a:prstGeom prst="ellipse">
            <a:avLst/>
          </a:prstGeom>
          <a:solidFill>
            <a:srgbClr val="8FA388"/>
          </a:solidFill>
          <a:ln>
            <a:noFill/>
          </a:ln>
          <a:effectLst/>
        </p:spPr>
        <p:txBody>
          <a:bodyPr rtlCol="0" anchor="ctr"/>
          <a:lstStyle/>
          <a:p/>
        </p:txBody>
      </p:sp>
      <p:sp>
        <p:nvSpPr>
          <p:cNvPr id="10" name="Oval 9"/>
          <p:cNvSpPr/>
          <p:nvPr/>
        </p:nvSpPr>
        <p:spPr>
          <a:xfrm>
            <a:off x="3500628" y="127000"/>
            <a:ext cx="114300" cy="215900"/>
          </a:xfrm>
          <a:prstGeom prst="ellipse">
            <a:avLst/>
          </a:prstGeom>
          <a:noFill/>
          <a:ln w="10160">
            <a:solidFill>
              <a:srgbClr val="B08D4F"/>
            </a:solidFill>
          </a:ln>
          <a:effectLst/>
        </p:spPr>
        <p:txBody>
          <a:bodyPr rtlCol="0" anchor="ctr"/>
          <a:lstStyle/>
          <a:p/>
        </p:txBody>
      </p:sp>
      <p:sp>
        <p:nvSpPr>
          <p:cNvPr id="11" name="Oval 10"/>
          <p:cNvSpPr/>
          <p:nvPr/>
        </p:nvSpPr>
        <p:spPr>
          <a:xfrm>
            <a:off x="3595878" y="127000"/>
            <a:ext cx="114300" cy="215900"/>
          </a:xfrm>
          <a:prstGeom prst="ellipse">
            <a:avLst/>
          </a:prstGeom>
          <a:noFill/>
          <a:ln w="10160">
            <a:solidFill>
              <a:srgbClr val="B08D4F"/>
            </a:solidFill>
          </a:ln>
          <a:effectLst/>
        </p:spPr>
        <p:txBody>
          <a:bodyPr rtlCol="0" anchor="ctr"/>
          <a:lstStyle/>
          <a:p/>
        </p:txBody>
      </p:sp>
      <p:sp>
        <p:nvSpPr>
          <p:cNvPr id="12" name="Oval 11"/>
          <p:cNvSpPr/>
          <p:nvPr/>
        </p:nvSpPr>
        <p:spPr>
          <a:xfrm>
            <a:off x="3691128" y="127000"/>
            <a:ext cx="114300" cy="215900"/>
          </a:xfrm>
          <a:prstGeom prst="ellipse">
            <a:avLst/>
          </a:prstGeom>
          <a:noFill/>
          <a:ln w="10160">
            <a:solidFill>
              <a:srgbClr val="B08D4F"/>
            </a:solidFill>
          </a:ln>
          <a:effectLst/>
        </p:spPr>
        <p:txBody>
          <a:bodyPr rtlCol="0" anchor="ctr"/>
          <a:lstStyle/>
          <a:p/>
        </p:txBody>
      </p:sp>
      <p:sp>
        <p:nvSpPr>
          <p:cNvPr id="13" name="Oval 12"/>
          <p:cNvSpPr/>
          <p:nvPr/>
        </p:nvSpPr>
        <p:spPr>
          <a:xfrm>
            <a:off x="3786378" y="127000"/>
            <a:ext cx="114300" cy="215900"/>
          </a:xfrm>
          <a:prstGeom prst="ellipse">
            <a:avLst/>
          </a:prstGeom>
          <a:noFill/>
          <a:ln w="10160">
            <a:solidFill>
              <a:srgbClr val="B08D4F"/>
            </a:solidFill>
          </a:ln>
          <a:effectLst/>
        </p:spPr>
        <p:txBody>
          <a:bodyPr rtlCol="0" anchor="ctr"/>
          <a:lstStyle/>
          <a:p/>
        </p:txBody>
      </p:sp>
      <p:sp>
        <p:nvSpPr>
          <p:cNvPr id="14" name="Oval 13"/>
          <p:cNvSpPr/>
          <p:nvPr/>
        </p:nvSpPr>
        <p:spPr>
          <a:xfrm>
            <a:off x="3881628" y="127000"/>
            <a:ext cx="114300" cy="215900"/>
          </a:xfrm>
          <a:prstGeom prst="ellipse">
            <a:avLst/>
          </a:prstGeom>
          <a:noFill/>
          <a:ln w="10160">
            <a:solidFill>
              <a:srgbClr val="B08D4F"/>
            </a:solidFill>
          </a:ln>
          <a:effectLst/>
        </p:spPr>
        <p:txBody>
          <a:bodyPr rtlCol="0" anchor="ctr"/>
          <a:lstStyle/>
          <a:p/>
        </p:txBody>
      </p:sp>
      <p:sp>
        <p:nvSpPr>
          <p:cNvPr id="15" name="Arc 14"/>
          <p:cNvSpPr/>
          <p:nvPr/>
        </p:nvSpPr>
        <p:spPr>
          <a:xfrm>
            <a:off x="3437128" y="165100"/>
            <a:ext cx="685800" cy="381000"/>
          </a:xfrm>
          <a:prstGeom prst="arc">
            <a:avLst>
              <a:gd name="adj1" fmla="val 18000000"/>
              <a:gd name="adj2" fmla="val 0"/>
            </a:avLst>
          </a:prstGeom>
          <a:noFill/>
          <a:ln w="10160">
            <a:solidFill>
              <a:srgbClr val="B08D4F"/>
            </a:solidFill>
          </a:ln>
          <a:effectLst/>
        </p:spPr>
        <p:txBody>
          <a:bodyPr rtlCol="0" anchor="ctr"/>
          <a:lstStyle/>
          <a:p>
            <a:pPr algn="ctr"/>
          </a:p>
        </p:txBody>
      </p:sp>
      <p:sp>
        <p:nvSpPr>
          <p:cNvPr id="16" name="TextBox 15"/>
          <p:cNvSpPr txBox="1"/>
          <p:nvPr/>
        </p:nvSpPr>
        <p:spPr>
          <a:xfrm>
            <a:off x="254000" y="635000"/>
            <a:ext cx="7052056" cy="426719"/>
          </a:xfrm>
          <a:prstGeom prst="rect">
            <a:avLst/>
          </a:prstGeom>
          <a:noFill/>
        </p:spPr>
        <p:txBody>
          <a:bodyPr wrap="square" lIns="0" rIns="0" tIns="0" bIns="0" anchor="t">
            <a:spAutoFit/>
          </a:bodyPr>
          <a:lstStyle/>
          <a:p>
            <a:pPr algn="ctr"/>
            <a:r>
              <a:rPr sz="2400" b="1" i="0">
                <a:solidFill>
                  <a:srgbClr val="3F5C4A"/>
                </a:solidFill>
                <a:latin typeface="Libre Baskerville"/>
              </a:rPr>
              <a:t>CARTÕES DE SENSAÇÕES CORPORAIS</a:t>
            </a:r>
          </a:p>
        </p:txBody>
      </p:sp>
      <p:sp>
        <p:nvSpPr>
          <p:cNvPr id="17" name="TextBox 16"/>
          <p:cNvSpPr txBox="1"/>
          <p:nvPr/>
        </p:nvSpPr>
        <p:spPr>
          <a:xfrm>
            <a:off x="508000" y="1046480"/>
            <a:ext cx="6544056" cy="177800"/>
          </a:xfrm>
          <a:prstGeom prst="rect">
            <a:avLst/>
          </a:prstGeom>
          <a:noFill/>
        </p:spPr>
        <p:txBody>
          <a:bodyPr wrap="square" lIns="0" rIns="0" tIns="0" bIns="0" anchor="t">
            <a:spAutoFit/>
          </a:bodyPr>
          <a:lstStyle/>
          <a:p>
            <a:pPr algn="ctr"/>
            <a:r>
              <a:rPr sz="950" b="0" i="0">
                <a:solidFill>
                  <a:srgbClr val="2A2A26"/>
                </a:solidFill>
                <a:latin typeface="Montserrat"/>
              </a:rPr>
              <a:t>Segunda folha para recorte</a:t>
            </a:r>
          </a:p>
        </p:txBody>
      </p:sp>
      <p:sp>
        <p:nvSpPr>
          <p:cNvPr id="18" name="TextBox 17"/>
          <p:cNvSpPr txBox="1"/>
          <p:nvPr/>
        </p:nvSpPr>
        <p:spPr>
          <a:xfrm>
            <a:off x="762000" y="10196703"/>
            <a:ext cx="6036056" cy="127000"/>
          </a:xfrm>
          <a:prstGeom prst="rect">
            <a:avLst/>
          </a:prstGeom>
          <a:noFill/>
        </p:spPr>
        <p:txBody>
          <a:bodyPr wrap="square" lIns="0" rIns="0" tIns="0" bIns="0" anchor="t">
            <a:spAutoFit/>
          </a:bodyPr>
          <a:lstStyle/>
          <a:p>
            <a:pPr algn="ctr"/>
            <a:r>
              <a:rPr sz="650" b="0" i="0">
                <a:solidFill>
                  <a:srgbClr val="77776E"/>
                </a:solidFill>
                <a:latin typeface="Montserrat"/>
              </a:rPr>
              <a:t>MASSOTERAPIA • CUIDADO • BEM-ESTAR</a:t>
            </a:r>
          </a:p>
        </p:txBody>
      </p:sp>
      <p:cxnSp>
        <p:nvCxnSpPr>
          <p:cNvPr id="19" name="Connector 18"/>
          <p:cNvCxnSpPr/>
          <p:nvPr/>
        </p:nvCxnSpPr>
        <p:spPr>
          <a:xfrm>
            <a:off x="1968500" y="10336403"/>
            <a:ext cx="3623056" cy="0"/>
          </a:xfrm>
          <a:prstGeom prst="line">
            <a:avLst/>
          </a:prstGeom>
          <a:ln w="8890">
            <a:solidFill>
              <a:srgbClr val="B08D4F"/>
            </a:solidFill>
          </a:ln>
        </p:spPr>
      </p:cxnSp>
      <p:sp>
        <p:nvSpPr>
          <p:cNvPr id="20" name="Rounded Rectangle 19"/>
          <p:cNvSpPr/>
          <p:nvPr/>
        </p:nvSpPr>
        <p:spPr>
          <a:xfrm>
            <a:off x="381000" y="1427480"/>
            <a:ext cx="2164418" cy="2690241"/>
          </a:xfrm>
          <a:prstGeom prst="roundRect">
            <a:avLst>
              <a:gd name="adj" fmla="val 5867"/>
            </a:avLst>
          </a:prstGeom>
          <a:solidFill>
            <a:srgbClr val="FDFCF8"/>
          </a:solidFill>
          <a:ln w="10160">
            <a:solidFill>
              <a:srgbClr val="B08D4F"/>
            </a:solidFill>
          </a:ln>
          <a:effectLst/>
        </p:spPr>
        <p:txBody>
          <a:bodyPr rtlCol="0" anchor="ctr"/>
          <a:lstStyle/>
          <a:p/>
        </p:txBody>
      </p:sp>
      <p:sp>
        <p:nvSpPr>
          <p:cNvPr id="21" name="Oval 20"/>
          <p:cNvSpPr/>
          <p:nvPr/>
        </p:nvSpPr>
        <p:spPr>
          <a:xfrm>
            <a:off x="1285409" y="1656080"/>
            <a:ext cx="355600" cy="355600"/>
          </a:xfrm>
          <a:prstGeom prst="ellipse">
            <a:avLst/>
          </a:prstGeom>
          <a:noFill/>
          <a:ln w="11430">
            <a:solidFill>
              <a:srgbClr val="3F5C4A"/>
            </a:solidFill>
          </a:ln>
          <a:effectLst/>
        </p:spPr>
        <p:txBody>
          <a:bodyPr rtlCol="0" anchor="ctr"/>
          <a:lstStyle/>
          <a:p/>
        </p:txBody>
      </p:sp>
      <p:sp>
        <p:nvSpPr>
          <p:cNvPr id="22" name="TextBox 21"/>
          <p:cNvSpPr txBox="1"/>
          <p:nvPr/>
        </p:nvSpPr>
        <p:spPr>
          <a:xfrm>
            <a:off x="1285409" y="1656080"/>
            <a:ext cx="355600" cy="355600"/>
          </a:xfrm>
          <a:prstGeom prst="rect">
            <a:avLst/>
          </a:prstGeom>
          <a:noFill/>
        </p:spPr>
        <p:txBody>
          <a:bodyPr wrap="square" lIns="0" rIns="0" tIns="0" bIns="0" anchor="ctr">
            <a:spAutoFit/>
          </a:bodyPr>
          <a:lstStyle/>
          <a:p>
            <a:pPr algn="ctr"/>
            <a:r>
              <a:rPr sz="1100" b="1" i="0">
                <a:solidFill>
                  <a:srgbClr val="3F5C4A"/>
                </a:solidFill>
                <a:latin typeface="Libre Baskerville"/>
              </a:rPr>
              <a:t>~</a:t>
            </a:r>
          </a:p>
        </p:txBody>
      </p:sp>
      <p:sp>
        <p:nvSpPr>
          <p:cNvPr id="23" name="TextBox 22"/>
          <p:cNvSpPr txBox="1"/>
          <p:nvPr/>
        </p:nvSpPr>
        <p:spPr>
          <a:xfrm>
            <a:off x="482600" y="2138680"/>
            <a:ext cx="1961218" cy="203200"/>
          </a:xfrm>
          <a:prstGeom prst="rect">
            <a:avLst/>
          </a:prstGeom>
          <a:noFill/>
        </p:spPr>
        <p:txBody>
          <a:bodyPr wrap="square" lIns="0" rIns="0" tIns="0" bIns="0" anchor="t">
            <a:spAutoFit/>
          </a:bodyPr>
          <a:lstStyle/>
          <a:p>
            <a:pPr algn="ctr"/>
            <a:r>
              <a:rPr sz="1150" b="1" i="0">
                <a:solidFill>
                  <a:srgbClr val="3F5C4A"/>
                </a:solidFill>
                <a:latin typeface="Libre Baskerville"/>
              </a:rPr>
              <a:t>CALOR</a:t>
            </a:r>
          </a:p>
        </p:txBody>
      </p:sp>
      <p:sp>
        <p:nvSpPr>
          <p:cNvPr id="24" name="TextBox 23"/>
          <p:cNvSpPr txBox="1"/>
          <p:nvPr/>
        </p:nvSpPr>
        <p:spPr>
          <a:xfrm>
            <a:off x="520700" y="2418080"/>
            <a:ext cx="1885018" cy="508000"/>
          </a:xfrm>
          <a:prstGeom prst="rect">
            <a:avLst/>
          </a:prstGeom>
          <a:noFill/>
        </p:spPr>
        <p:txBody>
          <a:bodyPr wrap="square" lIns="0" rIns="0" tIns="0" bIns="0" anchor="t">
            <a:spAutoFit/>
          </a:bodyPr>
          <a:lstStyle/>
          <a:p>
            <a:pPr algn="l">
              <a:lnSpc>
                <a:spcPct val="130000"/>
              </a:lnSpc>
            </a:pPr>
            <a:r>
              <a:rPr sz="760" b="0" i="0">
                <a:solidFill>
                  <a:srgbClr val="2A2A26"/>
                </a:solidFill>
                <a:latin typeface="Montserrat"/>
              </a:rPr>
              <a:t>Em qual região você percebe aumento de calor?</a:t>
            </a:r>
          </a:p>
        </p:txBody>
      </p:sp>
      <p:sp>
        <p:nvSpPr>
          <p:cNvPr id="25" name="Rounded Rectangle 24"/>
          <p:cNvSpPr/>
          <p:nvPr/>
        </p:nvSpPr>
        <p:spPr>
          <a:xfrm>
            <a:off x="2697818" y="1427480"/>
            <a:ext cx="2164418" cy="2690241"/>
          </a:xfrm>
          <a:prstGeom prst="roundRect">
            <a:avLst>
              <a:gd name="adj" fmla="val 5867"/>
            </a:avLst>
          </a:prstGeom>
          <a:solidFill>
            <a:srgbClr val="FDFCF8"/>
          </a:solidFill>
          <a:ln w="10160">
            <a:solidFill>
              <a:srgbClr val="B08D4F"/>
            </a:solidFill>
          </a:ln>
          <a:effectLst/>
        </p:spPr>
        <p:txBody>
          <a:bodyPr rtlCol="0" anchor="ctr"/>
          <a:lstStyle/>
          <a:p/>
        </p:txBody>
      </p:sp>
      <p:sp>
        <p:nvSpPr>
          <p:cNvPr id="26" name="Oval 25"/>
          <p:cNvSpPr/>
          <p:nvPr/>
        </p:nvSpPr>
        <p:spPr>
          <a:xfrm>
            <a:off x="3602228" y="1656080"/>
            <a:ext cx="355600" cy="355600"/>
          </a:xfrm>
          <a:prstGeom prst="ellipse">
            <a:avLst/>
          </a:prstGeom>
          <a:noFill/>
          <a:ln w="11430">
            <a:solidFill>
              <a:srgbClr val="3F5C4A"/>
            </a:solidFill>
          </a:ln>
          <a:effectLst/>
        </p:spPr>
        <p:txBody>
          <a:bodyPr rtlCol="0" anchor="ctr"/>
          <a:lstStyle/>
          <a:p/>
        </p:txBody>
      </p:sp>
      <p:sp>
        <p:nvSpPr>
          <p:cNvPr id="27" name="TextBox 26"/>
          <p:cNvSpPr txBox="1"/>
          <p:nvPr/>
        </p:nvSpPr>
        <p:spPr>
          <a:xfrm>
            <a:off x="3602228" y="1656080"/>
            <a:ext cx="355600" cy="355600"/>
          </a:xfrm>
          <a:prstGeom prst="rect">
            <a:avLst/>
          </a:prstGeom>
          <a:noFill/>
        </p:spPr>
        <p:txBody>
          <a:bodyPr wrap="square" lIns="0" rIns="0" tIns="0" bIns="0" anchor="ctr">
            <a:spAutoFit/>
          </a:bodyPr>
          <a:lstStyle/>
          <a:p>
            <a:pPr algn="ctr"/>
            <a:r>
              <a:rPr sz="1100" b="1" i="0">
                <a:solidFill>
                  <a:srgbClr val="3F5C4A"/>
                </a:solidFill>
                <a:latin typeface="Libre Baskerville"/>
              </a:rPr>
              <a:t>*</a:t>
            </a:r>
          </a:p>
        </p:txBody>
      </p:sp>
      <p:sp>
        <p:nvSpPr>
          <p:cNvPr id="28" name="TextBox 27"/>
          <p:cNvSpPr txBox="1"/>
          <p:nvPr/>
        </p:nvSpPr>
        <p:spPr>
          <a:xfrm>
            <a:off x="2799418" y="2138680"/>
            <a:ext cx="1961218" cy="203200"/>
          </a:xfrm>
          <a:prstGeom prst="rect">
            <a:avLst/>
          </a:prstGeom>
          <a:noFill/>
        </p:spPr>
        <p:txBody>
          <a:bodyPr wrap="square" lIns="0" rIns="0" tIns="0" bIns="0" anchor="t">
            <a:spAutoFit/>
          </a:bodyPr>
          <a:lstStyle/>
          <a:p>
            <a:pPr algn="ctr"/>
            <a:r>
              <a:rPr sz="1150" b="1" i="0">
                <a:solidFill>
                  <a:srgbClr val="3F5C4A"/>
                </a:solidFill>
                <a:latin typeface="Libre Baskerville"/>
              </a:rPr>
              <a:t>FRIO</a:t>
            </a:r>
          </a:p>
        </p:txBody>
      </p:sp>
      <p:sp>
        <p:nvSpPr>
          <p:cNvPr id="29" name="TextBox 28"/>
          <p:cNvSpPr txBox="1"/>
          <p:nvPr/>
        </p:nvSpPr>
        <p:spPr>
          <a:xfrm>
            <a:off x="2837518" y="2418080"/>
            <a:ext cx="1885018" cy="508000"/>
          </a:xfrm>
          <a:prstGeom prst="rect">
            <a:avLst/>
          </a:prstGeom>
          <a:noFill/>
        </p:spPr>
        <p:txBody>
          <a:bodyPr wrap="square" lIns="0" rIns="0" tIns="0" bIns="0" anchor="t">
            <a:spAutoFit/>
          </a:bodyPr>
          <a:lstStyle/>
          <a:p>
            <a:pPr algn="l">
              <a:lnSpc>
                <a:spcPct val="130000"/>
              </a:lnSpc>
            </a:pPr>
            <a:r>
              <a:rPr sz="760" b="0" i="0">
                <a:solidFill>
                  <a:srgbClr val="2A2A26"/>
                </a:solidFill>
                <a:latin typeface="Montserrat"/>
              </a:rPr>
              <a:t>Existe alguma região que parece mais fria?</a:t>
            </a:r>
          </a:p>
        </p:txBody>
      </p:sp>
      <p:sp>
        <p:nvSpPr>
          <p:cNvPr id="30" name="Rounded Rectangle 29"/>
          <p:cNvSpPr/>
          <p:nvPr/>
        </p:nvSpPr>
        <p:spPr>
          <a:xfrm>
            <a:off x="5014637" y="1427480"/>
            <a:ext cx="2164418" cy="2690241"/>
          </a:xfrm>
          <a:prstGeom prst="roundRect">
            <a:avLst>
              <a:gd name="adj" fmla="val 5867"/>
            </a:avLst>
          </a:prstGeom>
          <a:solidFill>
            <a:srgbClr val="FDFCF8"/>
          </a:solidFill>
          <a:ln w="10160">
            <a:solidFill>
              <a:srgbClr val="B08D4F"/>
            </a:solidFill>
          </a:ln>
          <a:effectLst/>
        </p:spPr>
        <p:txBody>
          <a:bodyPr rtlCol="0" anchor="ctr"/>
          <a:lstStyle/>
          <a:p/>
        </p:txBody>
      </p:sp>
      <p:sp>
        <p:nvSpPr>
          <p:cNvPr id="31" name="Oval 30"/>
          <p:cNvSpPr/>
          <p:nvPr/>
        </p:nvSpPr>
        <p:spPr>
          <a:xfrm>
            <a:off x="5919046" y="1656080"/>
            <a:ext cx="355600" cy="355600"/>
          </a:xfrm>
          <a:prstGeom prst="ellipse">
            <a:avLst/>
          </a:prstGeom>
          <a:noFill/>
          <a:ln w="11430">
            <a:solidFill>
              <a:srgbClr val="3F5C4A"/>
            </a:solidFill>
          </a:ln>
          <a:effectLst/>
        </p:spPr>
        <p:txBody>
          <a:bodyPr rtlCol="0" anchor="ctr"/>
          <a:lstStyle/>
          <a:p/>
        </p:txBody>
      </p:sp>
      <p:sp>
        <p:nvSpPr>
          <p:cNvPr id="32" name="TextBox 31"/>
          <p:cNvSpPr txBox="1"/>
          <p:nvPr/>
        </p:nvSpPr>
        <p:spPr>
          <a:xfrm>
            <a:off x="5919046" y="1656080"/>
            <a:ext cx="355600" cy="355600"/>
          </a:xfrm>
          <a:prstGeom prst="rect">
            <a:avLst/>
          </a:prstGeom>
          <a:noFill/>
        </p:spPr>
        <p:txBody>
          <a:bodyPr wrap="square" lIns="0" rIns="0" tIns="0" bIns="0" anchor="ctr">
            <a:spAutoFit/>
          </a:bodyPr>
          <a:lstStyle/>
          <a:p>
            <a:pPr algn="ctr"/>
            <a:r>
              <a:rPr sz="1100" b="1" i="0">
                <a:solidFill>
                  <a:srgbClr val="3F5C4A"/>
                </a:solidFill>
                <a:latin typeface="Libre Baskerville"/>
              </a:rPr>
              <a:t>+</a:t>
            </a:r>
          </a:p>
        </p:txBody>
      </p:sp>
      <p:sp>
        <p:nvSpPr>
          <p:cNvPr id="33" name="TextBox 32"/>
          <p:cNvSpPr txBox="1"/>
          <p:nvPr/>
        </p:nvSpPr>
        <p:spPr>
          <a:xfrm>
            <a:off x="5116237" y="2138680"/>
            <a:ext cx="1961218" cy="203200"/>
          </a:xfrm>
          <a:prstGeom prst="rect">
            <a:avLst/>
          </a:prstGeom>
          <a:noFill/>
        </p:spPr>
        <p:txBody>
          <a:bodyPr wrap="square" lIns="0" rIns="0" tIns="0" bIns="0" anchor="t">
            <a:spAutoFit/>
          </a:bodyPr>
          <a:lstStyle/>
          <a:p>
            <a:pPr algn="ctr"/>
            <a:r>
              <a:rPr sz="1150" b="1" i="0">
                <a:solidFill>
                  <a:srgbClr val="3F5C4A"/>
                </a:solidFill>
                <a:latin typeface="Libre Baskerville"/>
              </a:rPr>
              <a:t>INCHAÇO</a:t>
            </a:r>
          </a:p>
        </p:txBody>
      </p:sp>
      <p:sp>
        <p:nvSpPr>
          <p:cNvPr id="34" name="TextBox 33"/>
          <p:cNvSpPr txBox="1"/>
          <p:nvPr/>
        </p:nvSpPr>
        <p:spPr>
          <a:xfrm>
            <a:off x="5154337" y="2418080"/>
            <a:ext cx="1885018" cy="508000"/>
          </a:xfrm>
          <a:prstGeom prst="rect">
            <a:avLst/>
          </a:prstGeom>
          <a:noFill/>
        </p:spPr>
        <p:txBody>
          <a:bodyPr wrap="square" lIns="0" rIns="0" tIns="0" bIns="0" anchor="t">
            <a:spAutoFit/>
          </a:bodyPr>
          <a:lstStyle/>
          <a:p>
            <a:pPr algn="l">
              <a:lnSpc>
                <a:spcPct val="130000"/>
              </a:lnSpc>
            </a:pPr>
            <a:r>
              <a:rPr sz="760" b="0" i="0">
                <a:solidFill>
                  <a:srgbClr val="2A2A26"/>
                </a:solidFill>
                <a:latin typeface="Montserrat"/>
              </a:rPr>
              <a:t>Onde você percebe retenção ou sensação de volume?</a:t>
            </a:r>
          </a:p>
        </p:txBody>
      </p:sp>
      <p:sp>
        <p:nvSpPr>
          <p:cNvPr id="35" name="Rounded Rectangle 34"/>
          <p:cNvSpPr/>
          <p:nvPr/>
        </p:nvSpPr>
        <p:spPr>
          <a:xfrm>
            <a:off x="381000" y="4270121"/>
            <a:ext cx="2164418" cy="2690241"/>
          </a:xfrm>
          <a:prstGeom prst="roundRect">
            <a:avLst>
              <a:gd name="adj" fmla="val 5867"/>
            </a:avLst>
          </a:prstGeom>
          <a:solidFill>
            <a:srgbClr val="FDFCF8"/>
          </a:solidFill>
          <a:ln w="10160">
            <a:solidFill>
              <a:srgbClr val="B08D4F"/>
            </a:solidFill>
          </a:ln>
          <a:effectLst/>
        </p:spPr>
        <p:txBody>
          <a:bodyPr rtlCol="0" anchor="ctr"/>
          <a:lstStyle/>
          <a:p/>
        </p:txBody>
      </p:sp>
      <p:sp>
        <p:nvSpPr>
          <p:cNvPr id="36" name="Oval 35"/>
          <p:cNvSpPr/>
          <p:nvPr/>
        </p:nvSpPr>
        <p:spPr>
          <a:xfrm>
            <a:off x="1285409" y="4498721"/>
            <a:ext cx="355600" cy="355600"/>
          </a:xfrm>
          <a:prstGeom prst="ellipse">
            <a:avLst/>
          </a:prstGeom>
          <a:noFill/>
          <a:ln w="11430">
            <a:solidFill>
              <a:srgbClr val="3F5C4A"/>
            </a:solidFill>
          </a:ln>
          <a:effectLst/>
        </p:spPr>
        <p:txBody>
          <a:bodyPr rtlCol="0" anchor="ctr"/>
          <a:lstStyle/>
          <a:p/>
        </p:txBody>
      </p:sp>
      <p:sp>
        <p:nvSpPr>
          <p:cNvPr id="37" name="TextBox 36"/>
          <p:cNvSpPr txBox="1"/>
          <p:nvPr/>
        </p:nvSpPr>
        <p:spPr>
          <a:xfrm>
            <a:off x="1285409" y="4498721"/>
            <a:ext cx="355600" cy="355600"/>
          </a:xfrm>
          <a:prstGeom prst="rect">
            <a:avLst/>
          </a:prstGeom>
          <a:noFill/>
        </p:spPr>
        <p:txBody>
          <a:bodyPr wrap="square" lIns="0" rIns="0" tIns="0" bIns="0" anchor="ctr">
            <a:spAutoFit/>
          </a:bodyPr>
          <a:lstStyle/>
          <a:p>
            <a:pPr algn="ctr"/>
            <a:r>
              <a:rPr sz="1100" b="1" i="0">
                <a:solidFill>
                  <a:srgbClr val="3F5C4A"/>
                </a:solidFill>
                <a:latin typeface="Libre Baskerville"/>
              </a:rPr>
              <a:t>&lt;&gt;</a:t>
            </a:r>
          </a:p>
        </p:txBody>
      </p:sp>
      <p:sp>
        <p:nvSpPr>
          <p:cNvPr id="38" name="TextBox 37"/>
          <p:cNvSpPr txBox="1"/>
          <p:nvPr/>
        </p:nvSpPr>
        <p:spPr>
          <a:xfrm>
            <a:off x="482600" y="4981321"/>
            <a:ext cx="1961218" cy="203200"/>
          </a:xfrm>
          <a:prstGeom prst="rect">
            <a:avLst/>
          </a:prstGeom>
          <a:noFill/>
        </p:spPr>
        <p:txBody>
          <a:bodyPr wrap="square" lIns="0" rIns="0" tIns="0" bIns="0" anchor="t">
            <a:spAutoFit/>
          </a:bodyPr>
          <a:lstStyle/>
          <a:p>
            <a:pPr algn="ctr"/>
            <a:r>
              <a:rPr sz="1150" b="1" i="0">
                <a:solidFill>
                  <a:srgbClr val="3F5C4A"/>
                </a:solidFill>
                <a:latin typeface="Libre Baskerville"/>
              </a:rPr>
              <a:t>MOBILIDADE</a:t>
            </a:r>
          </a:p>
        </p:txBody>
      </p:sp>
      <p:sp>
        <p:nvSpPr>
          <p:cNvPr id="39" name="TextBox 38"/>
          <p:cNvSpPr txBox="1"/>
          <p:nvPr/>
        </p:nvSpPr>
        <p:spPr>
          <a:xfrm>
            <a:off x="520700" y="5260721"/>
            <a:ext cx="1885018" cy="508000"/>
          </a:xfrm>
          <a:prstGeom prst="rect">
            <a:avLst/>
          </a:prstGeom>
          <a:noFill/>
        </p:spPr>
        <p:txBody>
          <a:bodyPr wrap="square" lIns="0" rIns="0" tIns="0" bIns="0" anchor="t">
            <a:spAutoFit/>
          </a:bodyPr>
          <a:lstStyle/>
          <a:p>
            <a:pPr algn="l">
              <a:lnSpc>
                <a:spcPct val="130000"/>
              </a:lnSpc>
            </a:pPr>
            <a:r>
              <a:rPr sz="760" b="0" i="0">
                <a:solidFill>
                  <a:srgbClr val="2A2A26"/>
                </a:solidFill>
                <a:latin typeface="Montserrat"/>
              </a:rPr>
              <a:t>Qual movimento está mais fácil hoje?</a:t>
            </a:r>
          </a:p>
        </p:txBody>
      </p:sp>
      <p:sp>
        <p:nvSpPr>
          <p:cNvPr id="40" name="Rounded Rectangle 39"/>
          <p:cNvSpPr/>
          <p:nvPr/>
        </p:nvSpPr>
        <p:spPr>
          <a:xfrm>
            <a:off x="2697818" y="4270121"/>
            <a:ext cx="2164418" cy="2690241"/>
          </a:xfrm>
          <a:prstGeom prst="roundRect">
            <a:avLst>
              <a:gd name="adj" fmla="val 5867"/>
            </a:avLst>
          </a:prstGeom>
          <a:solidFill>
            <a:srgbClr val="FDFCF8"/>
          </a:solidFill>
          <a:ln w="10160">
            <a:solidFill>
              <a:srgbClr val="B08D4F"/>
            </a:solidFill>
          </a:ln>
          <a:effectLst/>
        </p:spPr>
        <p:txBody>
          <a:bodyPr rtlCol="0" anchor="ctr"/>
          <a:lstStyle/>
          <a:p/>
        </p:txBody>
      </p:sp>
      <p:sp>
        <p:nvSpPr>
          <p:cNvPr id="41" name="Oval 40"/>
          <p:cNvSpPr/>
          <p:nvPr/>
        </p:nvSpPr>
        <p:spPr>
          <a:xfrm>
            <a:off x="3602228" y="4498721"/>
            <a:ext cx="355600" cy="355600"/>
          </a:xfrm>
          <a:prstGeom prst="ellipse">
            <a:avLst/>
          </a:prstGeom>
          <a:noFill/>
          <a:ln w="11430">
            <a:solidFill>
              <a:srgbClr val="3F5C4A"/>
            </a:solidFill>
          </a:ln>
          <a:effectLst/>
        </p:spPr>
        <p:txBody>
          <a:bodyPr rtlCol="0" anchor="ctr"/>
          <a:lstStyle/>
          <a:p/>
        </p:txBody>
      </p:sp>
      <p:sp>
        <p:nvSpPr>
          <p:cNvPr id="42" name="TextBox 41"/>
          <p:cNvSpPr txBox="1"/>
          <p:nvPr/>
        </p:nvSpPr>
        <p:spPr>
          <a:xfrm>
            <a:off x="3602228" y="4498721"/>
            <a:ext cx="355600" cy="355600"/>
          </a:xfrm>
          <a:prstGeom prst="rect">
            <a:avLst/>
          </a:prstGeom>
          <a:noFill/>
        </p:spPr>
        <p:txBody>
          <a:bodyPr wrap="square" lIns="0" rIns="0" tIns="0" bIns="0" anchor="ctr">
            <a:spAutoFit/>
          </a:bodyPr>
          <a:lstStyle/>
          <a:p>
            <a:pPr algn="ctr"/>
            <a:r>
              <a:rPr sz="1100" b="1" i="0">
                <a:solidFill>
                  <a:srgbClr val="3F5C4A"/>
                </a:solidFill>
                <a:latin typeface="Libre Baskerville"/>
              </a:rPr>
              <a:t>!</a:t>
            </a:r>
          </a:p>
        </p:txBody>
      </p:sp>
      <p:sp>
        <p:nvSpPr>
          <p:cNvPr id="43" name="TextBox 42"/>
          <p:cNvSpPr txBox="1"/>
          <p:nvPr/>
        </p:nvSpPr>
        <p:spPr>
          <a:xfrm>
            <a:off x="2799418" y="4981321"/>
            <a:ext cx="1961218" cy="203200"/>
          </a:xfrm>
          <a:prstGeom prst="rect">
            <a:avLst/>
          </a:prstGeom>
          <a:noFill/>
        </p:spPr>
        <p:txBody>
          <a:bodyPr wrap="square" lIns="0" rIns="0" tIns="0" bIns="0" anchor="t">
            <a:spAutoFit/>
          </a:bodyPr>
          <a:lstStyle/>
          <a:p>
            <a:pPr algn="ctr"/>
            <a:r>
              <a:rPr sz="1150" b="1" i="0">
                <a:solidFill>
                  <a:srgbClr val="3F5C4A"/>
                </a:solidFill>
                <a:latin typeface="Libre Baskerville"/>
              </a:rPr>
              <a:t>SENSIBILIDADE</a:t>
            </a:r>
          </a:p>
        </p:txBody>
      </p:sp>
      <p:sp>
        <p:nvSpPr>
          <p:cNvPr id="44" name="TextBox 43"/>
          <p:cNvSpPr txBox="1"/>
          <p:nvPr/>
        </p:nvSpPr>
        <p:spPr>
          <a:xfrm>
            <a:off x="2837518" y="5260721"/>
            <a:ext cx="1885018" cy="508000"/>
          </a:xfrm>
          <a:prstGeom prst="rect">
            <a:avLst/>
          </a:prstGeom>
          <a:noFill/>
        </p:spPr>
        <p:txBody>
          <a:bodyPr wrap="square" lIns="0" rIns="0" tIns="0" bIns="0" anchor="t">
            <a:spAutoFit/>
          </a:bodyPr>
          <a:lstStyle/>
          <a:p>
            <a:pPr algn="l">
              <a:lnSpc>
                <a:spcPct val="130000"/>
              </a:lnSpc>
            </a:pPr>
            <a:r>
              <a:rPr sz="760" b="0" i="0">
                <a:solidFill>
                  <a:srgbClr val="2A2A26"/>
                </a:solidFill>
                <a:latin typeface="Montserrat"/>
              </a:rPr>
              <a:t>Alguma área está mais sensível ao toque?</a:t>
            </a:r>
          </a:p>
        </p:txBody>
      </p:sp>
      <p:sp>
        <p:nvSpPr>
          <p:cNvPr id="45" name="Rounded Rectangle 44"/>
          <p:cNvSpPr/>
          <p:nvPr/>
        </p:nvSpPr>
        <p:spPr>
          <a:xfrm>
            <a:off x="5014637" y="4270121"/>
            <a:ext cx="2164418" cy="2690241"/>
          </a:xfrm>
          <a:prstGeom prst="roundRect">
            <a:avLst>
              <a:gd name="adj" fmla="val 5867"/>
            </a:avLst>
          </a:prstGeom>
          <a:solidFill>
            <a:srgbClr val="FDFCF8"/>
          </a:solidFill>
          <a:ln w="10160">
            <a:solidFill>
              <a:srgbClr val="B08D4F"/>
            </a:solidFill>
          </a:ln>
          <a:effectLst/>
        </p:spPr>
        <p:txBody>
          <a:bodyPr rtlCol="0" anchor="ctr"/>
          <a:lstStyle/>
          <a:p/>
        </p:txBody>
      </p:sp>
      <p:sp>
        <p:nvSpPr>
          <p:cNvPr id="46" name="Oval 45"/>
          <p:cNvSpPr/>
          <p:nvPr/>
        </p:nvSpPr>
        <p:spPr>
          <a:xfrm>
            <a:off x="5919046" y="4498721"/>
            <a:ext cx="355600" cy="355600"/>
          </a:xfrm>
          <a:prstGeom prst="ellipse">
            <a:avLst/>
          </a:prstGeom>
          <a:noFill/>
          <a:ln w="11430">
            <a:solidFill>
              <a:srgbClr val="3F5C4A"/>
            </a:solidFill>
          </a:ln>
          <a:effectLst/>
        </p:spPr>
        <p:txBody>
          <a:bodyPr rtlCol="0" anchor="ctr"/>
          <a:lstStyle/>
          <a:p/>
        </p:txBody>
      </p:sp>
      <p:sp>
        <p:nvSpPr>
          <p:cNvPr id="47" name="TextBox 46"/>
          <p:cNvSpPr txBox="1"/>
          <p:nvPr/>
        </p:nvSpPr>
        <p:spPr>
          <a:xfrm>
            <a:off x="5919046" y="4498721"/>
            <a:ext cx="355600" cy="355600"/>
          </a:xfrm>
          <a:prstGeom prst="rect">
            <a:avLst/>
          </a:prstGeom>
          <a:noFill/>
        </p:spPr>
        <p:txBody>
          <a:bodyPr wrap="square" lIns="0" rIns="0" tIns="0" bIns="0" anchor="ctr">
            <a:spAutoFit/>
          </a:bodyPr>
          <a:lstStyle/>
          <a:p>
            <a:pPr algn="ctr"/>
            <a:r>
              <a:rPr sz="1100" b="1" i="0">
                <a:solidFill>
                  <a:srgbClr val="3F5C4A"/>
                </a:solidFill>
                <a:latin typeface="Libre Baskerville"/>
              </a:rPr>
              <a:t>↑</a:t>
            </a:r>
          </a:p>
        </p:txBody>
      </p:sp>
      <p:sp>
        <p:nvSpPr>
          <p:cNvPr id="48" name="TextBox 47"/>
          <p:cNvSpPr txBox="1"/>
          <p:nvPr/>
        </p:nvSpPr>
        <p:spPr>
          <a:xfrm>
            <a:off x="5116237" y="4981321"/>
            <a:ext cx="1961218" cy="203200"/>
          </a:xfrm>
          <a:prstGeom prst="rect">
            <a:avLst/>
          </a:prstGeom>
          <a:noFill/>
        </p:spPr>
        <p:txBody>
          <a:bodyPr wrap="square" lIns="0" rIns="0" tIns="0" bIns="0" anchor="t">
            <a:spAutoFit/>
          </a:bodyPr>
          <a:lstStyle/>
          <a:p>
            <a:pPr algn="ctr"/>
            <a:r>
              <a:rPr sz="1150" b="1" i="0">
                <a:solidFill>
                  <a:srgbClr val="3F5C4A"/>
                </a:solidFill>
                <a:latin typeface="Libre Baskerville"/>
              </a:rPr>
              <a:t>ENERGIA</a:t>
            </a:r>
          </a:p>
        </p:txBody>
      </p:sp>
      <p:sp>
        <p:nvSpPr>
          <p:cNvPr id="49" name="TextBox 48"/>
          <p:cNvSpPr txBox="1"/>
          <p:nvPr/>
        </p:nvSpPr>
        <p:spPr>
          <a:xfrm>
            <a:off x="5154337" y="5260721"/>
            <a:ext cx="1885018" cy="508000"/>
          </a:xfrm>
          <a:prstGeom prst="rect">
            <a:avLst/>
          </a:prstGeom>
          <a:noFill/>
        </p:spPr>
        <p:txBody>
          <a:bodyPr wrap="square" lIns="0" rIns="0" tIns="0" bIns="0" anchor="t">
            <a:spAutoFit/>
          </a:bodyPr>
          <a:lstStyle/>
          <a:p>
            <a:pPr algn="l">
              <a:lnSpc>
                <a:spcPct val="130000"/>
              </a:lnSpc>
            </a:pPr>
            <a:r>
              <a:rPr sz="760" b="0" i="0">
                <a:solidFill>
                  <a:srgbClr val="2A2A26"/>
                </a:solidFill>
                <a:latin typeface="Montserrat"/>
              </a:rPr>
              <a:t>Como está sua disposição corporal agora?</a:t>
            </a:r>
          </a:p>
        </p:txBody>
      </p:sp>
      <p:sp>
        <p:nvSpPr>
          <p:cNvPr id="50" name="Rounded Rectangle 49"/>
          <p:cNvSpPr/>
          <p:nvPr/>
        </p:nvSpPr>
        <p:spPr>
          <a:xfrm>
            <a:off x="381000" y="7112762"/>
            <a:ext cx="2164418" cy="2690241"/>
          </a:xfrm>
          <a:prstGeom prst="roundRect">
            <a:avLst>
              <a:gd name="adj" fmla="val 5867"/>
            </a:avLst>
          </a:prstGeom>
          <a:solidFill>
            <a:srgbClr val="FDFCF8"/>
          </a:solidFill>
          <a:ln w="10160">
            <a:solidFill>
              <a:srgbClr val="B08D4F"/>
            </a:solidFill>
          </a:ln>
          <a:effectLst/>
        </p:spPr>
        <p:txBody>
          <a:bodyPr rtlCol="0" anchor="ctr"/>
          <a:lstStyle/>
          <a:p/>
        </p:txBody>
      </p:sp>
      <p:sp>
        <p:nvSpPr>
          <p:cNvPr id="51" name="Oval 50"/>
          <p:cNvSpPr/>
          <p:nvPr/>
        </p:nvSpPr>
        <p:spPr>
          <a:xfrm>
            <a:off x="1285409" y="7341362"/>
            <a:ext cx="355600" cy="355600"/>
          </a:xfrm>
          <a:prstGeom prst="ellipse">
            <a:avLst/>
          </a:prstGeom>
          <a:noFill/>
          <a:ln w="11430">
            <a:solidFill>
              <a:srgbClr val="3F5C4A"/>
            </a:solidFill>
          </a:ln>
          <a:effectLst/>
        </p:spPr>
        <p:txBody>
          <a:bodyPr rtlCol="0" anchor="ctr"/>
          <a:lstStyle/>
          <a:p/>
        </p:txBody>
      </p:sp>
      <p:sp>
        <p:nvSpPr>
          <p:cNvPr id="52" name="TextBox 51"/>
          <p:cNvSpPr txBox="1"/>
          <p:nvPr/>
        </p:nvSpPr>
        <p:spPr>
          <a:xfrm>
            <a:off x="1285409" y="7341362"/>
            <a:ext cx="355600" cy="355600"/>
          </a:xfrm>
          <a:prstGeom prst="rect">
            <a:avLst/>
          </a:prstGeom>
          <a:noFill/>
        </p:spPr>
        <p:txBody>
          <a:bodyPr wrap="square" lIns="0" rIns="0" tIns="0" bIns="0" anchor="ctr">
            <a:spAutoFit/>
          </a:bodyPr>
          <a:lstStyle/>
          <a:p>
            <a:pPr algn="ctr"/>
            <a:r>
              <a:rPr sz="1100" b="1" i="0">
                <a:solidFill>
                  <a:srgbClr val="3F5C4A"/>
                </a:solidFill>
                <a:latin typeface="Libre Baskerville"/>
              </a:rPr>
              <a:t>Z</a:t>
            </a:r>
          </a:p>
        </p:txBody>
      </p:sp>
      <p:sp>
        <p:nvSpPr>
          <p:cNvPr id="53" name="TextBox 52"/>
          <p:cNvSpPr txBox="1"/>
          <p:nvPr/>
        </p:nvSpPr>
        <p:spPr>
          <a:xfrm>
            <a:off x="482600" y="7823962"/>
            <a:ext cx="1961218" cy="203200"/>
          </a:xfrm>
          <a:prstGeom prst="rect">
            <a:avLst/>
          </a:prstGeom>
          <a:noFill/>
        </p:spPr>
        <p:txBody>
          <a:bodyPr wrap="square" lIns="0" rIns="0" tIns="0" bIns="0" anchor="t">
            <a:spAutoFit/>
          </a:bodyPr>
          <a:lstStyle/>
          <a:p>
            <a:pPr algn="ctr"/>
            <a:r>
              <a:rPr sz="1150" b="1" i="0">
                <a:solidFill>
                  <a:srgbClr val="3F5C4A"/>
                </a:solidFill>
                <a:latin typeface="Libre Baskerville"/>
              </a:rPr>
              <a:t>SONOLÊNCIA</a:t>
            </a:r>
          </a:p>
        </p:txBody>
      </p:sp>
      <p:sp>
        <p:nvSpPr>
          <p:cNvPr id="54" name="TextBox 53"/>
          <p:cNvSpPr txBox="1"/>
          <p:nvPr/>
        </p:nvSpPr>
        <p:spPr>
          <a:xfrm>
            <a:off x="520700" y="8103362"/>
            <a:ext cx="1885018" cy="508000"/>
          </a:xfrm>
          <a:prstGeom prst="rect">
            <a:avLst/>
          </a:prstGeom>
          <a:noFill/>
        </p:spPr>
        <p:txBody>
          <a:bodyPr wrap="square" lIns="0" rIns="0" tIns="0" bIns="0" anchor="t">
            <a:spAutoFit/>
          </a:bodyPr>
          <a:lstStyle/>
          <a:p>
            <a:pPr algn="l">
              <a:lnSpc>
                <a:spcPct val="130000"/>
              </a:lnSpc>
            </a:pPr>
            <a:r>
              <a:rPr sz="760" b="0" i="0">
                <a:solidFill>
                  <a:srgbClr val="2A2A26"/>
                </a:solidFill>
                <a:latin typeface="Montserrat"/>
              </a:rPr>
              <a:t>Seu corpo pede descanso depois da sessão?</a:t>
            </a:r>
          </a:p>
        </p:txBody>
      </p:sp>
      <p:sp>
        <p:nvSpPr>
          <p:cNvPr id="55" name="Rounded Rectangle 54"/>
          <p:cNvSpPr/>
          <p:nvPr/>
        </p:nvSpPr>
        <p:spPr>
          <a:xfrm>
            <a:off x="2697818" y="7112762"/>
            <a:ext cx="2164418" cy="2690241"/>
          </a:xfrm>
          <a:prstGeom prst="roundRect">
            <a:avLst>
              <a:gd name="adj" fmla="val 5867"/>
            </a:avLst>
          </a:prstGeom>
          <a:solidFill>
            <a:srgbClr val="FDFCF8"/>
          </a:solidFill>
          <a:ln w="10160">
            <a:solidFill>
              <a:srgbClr val="B08D4F"/>
            </a:solidFill>
          </a:ln>
          <a:effectLst/>
        </p:spPr>
        <p:txBody>
          <a:bodyPr rtlCol="0" anchor="ctr"/>
          <a:lstStyle/>
          <a:p/>
        </p:txBody>
      </p:sp>
      <p:sp>
        <p:nvSpPr>
          <p:cNvPr id="56" name="Oval 55"/>
          <p:cNvSpPr/>
          <p:nvPr/>
        </p:nvSpPr>
        <p:spPr>
          <a:xfrm>
            <a:off x="3602228" y="7341362"/>
            <a:ext cx="355600" cy="355600"/>
          </a:xfrm>
          <a:prstGeom prst="ellipse">
            <a:avLst/>
          </a:prstGeom>
          <a:noFill/>
          <a:ln w="11430">
            <a:solidFill>
              <a:srgbClr val="3F5C4A"/>
            </a:solidFill>
          </a:ln>
          <a:effectLst/>
        </p:spPr>
        <p:txBody>
          <a:bodyPr rtlCol="0" anchor="ctr"/>
          <a:lstStyle/>
          <a:p/>
        </p:txBody>
      </p:sp>
      <p:sp>
        <p:nvSpPr>
          <p:cNvPr id="57" name="TextBox 56"/>
          <p:cNvSpPr txBox="1"/>
          <p:nvPr/>
        </p:nvSpPr>
        <p:spPr>
          <a:xfrm>
            <a:off x="3602228" y="7341362"/>
            <a:ext cx="355600" cy="355600"/>
          </a:xfrm>
          <a:prstGeom prst="rect">
            <a:avLst/>
          </a:prstGeom>
          <a:noFill/>
        </p:spPr>
        <p:txBody>
          <a:bodyPr wrap="square" lIns="0" rIns="0" tIns="0" bIns="0" anchor="ctr">
            <a:spAutoFit/>
          </a:bodyPr>
          <a:lstStyle/>
          <a:p>
            <a:pPr algn="ctr"/>
            <a:r>
              <a:rPr sz="1100" b="1" i="0">
                <a:solidFill>
                  <a:srgbClr val="3F5C4A"/>
                </a:solidFill>
                <a:latin typeface="Libre Baskerville"/>
              </a:rPr>
              <a:t>≈</a:t>
            </a:r>
          </a:p>
        </p:txBody>
      </p:sp>
      <p:sp>
        <p:nvSpPr>
          <p:cNvPr id="58" name="TextBox 57"/>
          <p:cNvSpPr txBox="1"/>
          <p:nvPr/>
        </p:nvSpPr>
        <p:spPr>
          <a:xfrm>
            <a:off x="2799418" y="7823962"/>
            <a:ext cx="1961218" cy="203200"/>
          </a:xfrm>
          <a:prstGeom prst="rect">
            <a:avLst/>
          </a:prstGeom>
          <a:noFill/>
        </p:spPr>
        <p:txBody>
          <a:bodyPr wrap="square" lIns="0" rIns="0" tIns="0" bIns="0" anchor="t">
            <a:spAutoFit/>
          </a:bodyPr>
          <a:lstStyle/>
          <a:p>
            <a:pPr algn="ctr"/>
            <a:r>
              <a:rPr sz="1150" b="1" i="0">
                <a:solidFill>
                  <a:srgbClr val="3F5C4A"/>
                </a:solidFill>
                <a:latin typeface="Libre Baskerville"/>
              </a:rPr>
              <a:t>RESPIRAÇÃO</a:t>
            </a:r>
          </a:p>
        </p:txBody>
      </p:sp>
      <p:sp>
        <p:nvSpPr>
          <p:cNvPr id="59" name="TextBox 58"/>
          <p:cNvSpPr txBox="1"/>
          <p:nvPr/>
        </p:nvSpPr>
        <p:spPr>
          <a:xfrm>
            <a:off x="2837518" y="8103362"/>
            <a:ext cx="1885018" cy="508000"/>
          </a:xfrm>
          <a:prstGeom prst="rect">
            <a:avLst/>
          </a:prstGeom>
          <a:noFill/>
        </p:spPr>
        <p:txBody>
          <a:bodyPr wrap="square" lIns="0" rIns="0" tIns="0" bIns="0" anchor="t">
            <a:spAutoFit/>
          </a:bodyPr>
          <a:lstStyle/>
          <a:p>
            <a:pPr algn="l">
              <a:lnSpc>
                <a:spcPct val="130000"/>
              </a:lnSpc>
            </a:pPr>
            <a:r>
              <a:rPr sz="760" b="0" i="0">
                <a:solidFill>
                  <a:srgbClr val="2A2A26"/>
                </a:solidFill>
                <a:latin typeface="Montserrat"/>
              </a:rPr>
              <a:t>Sua respiração está mais livre ou profunda?</a:t>
            </a:r>
          </a:p>
        </p:txBody>
      </p:sp>
      <p:sp>
        <p:nvSpPr>
          <p:cNvPr id="60" name="Rounded Rectangle 59"/>
          <p:cNvSpPr/>
          <p:nvPr/>
        </p:nvSpPr>
        <p:spPr>
          <a:xfrm>
            <a:off x="5014637" y="7112762"/>
            <a:ext cx="2164418" cy="2690241"/>
          </a:xfrm>
          <a:prstGeom prst="roundRect">
            <a:avLst>
              <a:gd name="adj" fmla="val 5867"/>
            </a:avLst>
          </a:prstGeom>
          <a:solidFill>
            <a:srgbClr val="FDFCF8"/>
          </a:solidFill>
          <a:ln w="10160">
            <a:solidFill>
              <a:srgbClr val="B08D4F"/>
            </a:solidFill>
          </a:ln>
          <a:effectLst/>
        </p:spPr>
        <p:txBody>
          <a:bodyPr rtlCol="0" anchor="ctr"/>
          <a:lstStyle/>
          <a:p/>
        </p:txBody>
      </p:sp>
      <p:sp>
        <p:nvSpPr>
          <p:cNvPr id="61" name="Oval 60"/>
          <p:cNvSpPr/>
          <p:nvPr/>
        </p:nvSpPr>
        <p:spPr>
          <a:xfrm>
            <a:off x="5919046" y="7341362"/>
            <a:ext cx="355600" cy="355600"/>
          </a:xfrm>
          <a:prstGeom prst="ellipse">
            <a:avLst/>
          </a:prstGeom>
          <a:noFill/>
          <a:ln w="11430">
            <a:solidFill>
              <a:srgbClr val="3F5C4A"/>
            </a:solidFill>
          </a:ln>
          <a:effectLst/>
        </p:spPr>
        <p:txBody>
          <a:bodyPr rtlCol="0" anchor="ctr"/>
          <a:lstStyle/>
          <a:p/>
        </p:txBody>
      </p:sp>
      <p:sp>
        <p:nvSpPr>
          <p:cNvPr id="62" name="TextBox 61"/>
          <p:cNvSpPr txBox="1"/>
          <p:nvPr/>
        </p:nvSpPr>
        <p:spPr>
          <a:xfrm>
            <a:off x="5919046" y="7341362"/>
            <a:ext cx="355600" cy="355600"/>
          </a:xfrm>
          <a:prstGeom prst="rect">
            <a:avLst/>
          </a:prstGeom>
          <a:noFill/>
        </p:spPr>
        <p:txBody>
          <a:bodyPr wrap="square" lIns="0" rIns="0" tIns="0" bIns="0" anchor="ctr">
            <a:spAutoFit/>
          </a:bodyPr>
          <a:lstStyle/>
          <a:p>
            <a:pPr algn="ctr"/>
            <a:r>
              <a:rPr sz="1100" b="1" i="0">
                <a:solidFill>
                  <a:srgbClr val="3F5C4A"/>
                </a:solidFill>
                <a:latin typeface="Libre Baskerville"/>
              </a:rPr>
              <a:t>♡</a:t>
            </a:r>
          </a:p>
        </p:txBody>
      </p:sp>
      <p:sp>
        <p:nvSpPr>
          <p:cNvPr id="63" name="TextBox 62"/>
          <p:cNvSpPr txBox="1"/>
          <p:nvPr/>
        </p:nvSpPr>
        <p:spPr>
          <a:xfrm>
            <a:off x="5116237" y="7823962"/>
            <a:ext cx="1961218" cy="203200"/>
          </a:xfrm>
          <a:prstGeom prst="rect">
            <a:avLst/>
          </a:prstGeom>
          <a:noFill/>
        </p:spPr>
        <p:txBody>
          <a:bodyPr wrap="square" lIns="0" rIns="0" tIns="0" bIns="0" anchor="t">
            <a:spAutoFit/>
          </a:bodyPr>
          <a:lstStyle/>
          <a:p>
            <a:pPr algn="ctr"/>
            <a:r>
              <a:rPr sz="1150" b="1" i="0">
                <a:solidFill>
                  <a:srgbClr val="3F5C4A"/>
                </a:solidFill>
                <a:latin typeface="Libre Baskerville"/>
              </a:rPr>
              <a:t>BEM-ESTAR</a:t>
            </a:r>
          </a:p>
        </p:txBody>
      </p:sp>
      <p:sp>
        <p:nvSpPr>
          <p:cNvPr id="64" name="TextBox 63"/>
          <p:cNvSpPr txBox="1"/>
          <p:nvPr/>
        </p:nvSpPr>
        <p:spPr>
          <a:xfrm>
            <a:off x="5154337" y="8103362"/>
            <a:ext cx="1885018" cy="508000"/>
          </a:xfrm>
          <a:prstGeom prst="rect">
            <a:avLst/>
          </a:prstGeom>
          <a:noFill/>
        </p:spPr>
        <p:txBody>
          <a:bodyPr wrap="square" lIns="0" rIns="0" tIns="0" bIns="0" anchor="t">
            <a:spAutoFit/>
          </a:bodyPr>
          <a:lstStyle/>
          <a:p>
            <a:pPr algn="l">
              <a:lnSpc>
                <a:spcPct val="130000"/>
              </a:lnSpc>
            </a:pPr>
            <a:r>
              <a:rPr sz="760" b="0" i="0">
                <a:solidFill>
                  <a:srgbClr val="2A2A26"/>
                </a:solidFill>
                <a:latin typeface="Montserrat"/>
              </a:rPr>
              <a:t>O que melhor descreve como você se sente agora?</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8F5EE"/>
        </a:solidFill>
        <a:effectLst/>
      </p:bgPr>
    </p:bg>
    <p:spTree>
      <p:nvGrpSpPr>
        <p:cNvPr id="1" name=""/>
        <p:cNvGrpSpPr/>
        <p:nvPr/>
      </p:nvGrpSpPr>
      <p:grpSpPr/>
      <p:sp>
        <p:nvSpPr>
          <p:cNvPr id="38" name="Rounded Rectangle 37"/>
          <p:cNvSpPr/>
          <p:nvPr/>
        </p:nvSpPr>
        <p:spPr>
          <a:xfrm>
            <a:off x="3907028" y="8802287"/>
            <a:ext cx="3272028" cy="1226558"/>
          </a:xfrm>
          <a:prstGeom prst="roundRect">
            <a:avLst>
              <a:gd name="adj" fmla="val 8283"/>
            </a:avLst>
          </a:prstGeom>
          <a:solidFill>
            <a:srgbClr val="FDFCF8"/>
          </a:solidFill>
          <a:ln w="10160">
            <a:solidFill>
              <a:srgbClr val="D7D4C9"/>
            </a:solidFill>
          </a:ln>
          <a:effectLst/>
        </p:spPr>
        <p:txBody>
          <a:bodyPr rtlCol="0" anchor="ctr"/>
          <a:lstStyle/>
          <a:p/>
        </p:txBody>
      </p:sp>
      <p:sp>
        <p:nvSpPr>
          <p:cNvPr id="39" name="Round Same Side Corner Rectangle 38"/>
          <p:cNvSpPr/>
          <p:nvPr/>
        </p:nvSpPr>
        <p:spPr>
          <a:xfrm>
            <a:off x="3907028" y="8802287"/>
            <a:ext cx="3272028" cy="266700"/>
          </a:xfrm>
          <a:prstGeom prst="round2SameRect">
            <a:avLst>
              <a:gd name="adj1" fmla="val 38095"/>
              <a:gd name="adj2" fmla="val 0"/>
            </a:avLst>
          </a:prstGeom>
          <a:solidFill>
            <a:srgbClr val="3F5C4A"/>
          </a:solidFill>
          <a:ln>
            <a:noFill/>
          </a:ln>
          <a:effectLst/>
        </p:spPr>
        <p:txBody>
          <a:bodyPr rtlCol="0" anchor="ctr"/>
          <a:lstStyle/>
          <a:p/>
        </p:txBody>
      </p:sp>
      <p:sp>
        <p:nvSpPr>
          <p:cNvPr id="32" name="Rounded Rectangle 31"/>
          <p:cNvSpPr/>
          <p:nvPr/>
        </p:nvSpPr>
        <p:spPr>
          <a:xfrm>
            <a:off x="381000" y="8802287"/>
            <a:ext cx="3272028" cy="1226558"/>
          </a:xfrm>
          <a:prstGeom prst="roundRect">
            <a:avLst>
              <a:gd name="adj" fmla="val 8283"/>
            </a:avLst>
          </a:prstGeom>
          <a:solidFill>
            <a:srgbClr val="FDFCF8"/>
          </a:solidFill>
          <a:ln w="10160">
            <a:solidFill>
              <a:srgbClr val="D7D4C9"/>
            </a:solidFill>
          </a:ln>
          <a:effectLst/>
        </p:spPr>
        <p:txBody>
          <a:bodyPr rtlCol="0" anchor="ctr"/>
          <a:lstStyle/>
          <a:p/>
        </p:txBody>
      </p:sp>
      <p:sp>
        <p:nvSpPr>
          <p:cNvPr id="33" name="Round Same Side Corner Rectangle 32"/>
          <p:cNvSpPr/>
          <p:nvPr/>
        </p:nvSpPr>
        <p:spPr>
          <a:xfrm>
            <a:off x="381000" y="8802287"/>
            <a:ext cx="3272028" cy="266700"/>
          </a:xfrm>
          <a:prstGeom prst="round2SameRect">
            <a:avLst>
              <a:gd name="adj1" fmla="val 38095"/>
              <a:gd name="adj2" fmla="val 0"/>
            </a:avLst>
          </a:prstGeom>
          <a:solidFill>
            <a:srgbClr val="3F5C4A"/>
          </a:solidFill>
          <a:ln>
            <a:noFill/>
          </a:ln>
          <a:effectLst/>
        </p:spPr>
        <p:txBody>
          <a:bodyPr rtlCol="0" anchor="ctr"/>
          <a:lstStyle/>
          <a:p/>
        </p:txBody>
      </p:sp>
      <p:sp>
        <p:nvSpPr>
          <p:cNvPr id="26" name="Rounded Rectangle 25"/>
          <p:cNvSpPr/>
          <p:nvPr/>
        </p:nvSpPr>
        <p:spPr>
          <a:xfrm>
            <a:off x="381000" y="2169546"/>
            <a:ext cx="6798056" cy="6491585"/>
          </a:xfrm>
          <a:prstGeom prst="roundRect">
            <a:avLst>
              <a:gd name="adj" fmla="val 1565"/>
            </a:avLst>
          </a:prstGeom>
          <a:solidFill>
            <a:srgbClr val="FDFCF8"/>
          </a:solidFill>
          <a:ln w="10160">
            <a:solidFill>
              <a:srgbClr val="D7D4C9"/>
            </a:solidFill>
          </a:ln>
          <a:effectLst/>
        </p:spPr>
        <p:txBody>
          <a:bodyPr rtlCol="0" anchor="ctr"/>
          <a:lstStyle/>
          <a:p/>
        </p:txBody>
      </p:sp>
      <p:sp>
        <p:nvSpPr>
          <p:cNvPr id="27" name="Round Same Side Corner Rectangle 26"/>
          <p:cNvSpPr/>
          <p:nvPr/>
        </p:nvSpPr>
        <p:spPr>
          <a:xfrm>
            <a:off x="381000" y="2169546"/>
            <a:ext cx="6798056" cy="266700"/>
          </a:xfrm>
          <a:prstGeom prst="round2SameRect">
            <a:avLst>
              <a:gd name="adj1" fmla="val 38095"/>
              <a:gd name="adj2" fmla="val 0"/>
            </a:avLst>
          </a:prstGeom>
          <a:solidFill>
            <a:srgbClr val="3F5C4A"/>
          </a:solidFill>
          <a:ln>
            <a:noFill/>
          </a:ln>
          <a:effectLst/>
        </p:spPr>
        <p:txBody>
          <a:bodyPr rtlCol="0" anchor="ctr"/>
          <a:lstStyle/>
          <a:p/>
        </p:txBody>
      </p:sp>
      <p:sp>
        <p:nvSpPr>
          <p:cNvPr id="24" name="Rounded Rectangle 23"/>
          <p:cNvSpPr/>
          <p:nvPr/>
        </p:nvSpPr>
        <p:spPr>
          <a:xfrm>
            <a:off x="381000" y="1393190"/>
            <a:ext cx="6798056" cy="635200"/>
          </a:xfrm>
          <a:prstGeom prst="roundRect">
            <a:avLst>
              <a:gd name="adj" fmla="val 15994"/>
            </a:avLst>
          </a:prstGeom>
          <a:solidFill>
            <a:srgbClr val="FDFCF8"/>
          </a:solidFill>
          <a:ln w="10160">
            <a:solidFill>
              <a:srgbClr val="D7D4C9"/>
            </a:solidFill>
          </a:ln>
          <a:effectLst/>
        </p:spPr>
        <p:txBody>
          <a:bodyPr rtlCol="0" anchor="ctr"/>
          <a:lstStyle/>
          <a:p/>
        </p:txBody>
      </p:sp>
      <p:cxnSp>
        <p:nvCxnSpPr>
          <p:cNvPr id="2" name="Connector 1"/>
          <p:cNvCxnSpPr/>
          <p:nvPr/>
        </p:nvCxnSpPr>
        <p:spPr>
          <a:xfrm>
            <a:off x="38100" y="25400"/>
            <a:ext cx="660400" cy="660400"/>
          </a:xfrm>
          <a:prstGeom prst="line">
            <a:avLst/>
          </a:prstGeom>
          <a:ln w="13970">
            <a:solidFill>
              <a:srgbClr val="B08D4F"/>
            </a:solidFill>
          </a:ln>
        </p:spPr>
      </p:cxnSp>
      <p:sp>
        <p:nvSpPr>
          <p:cNvPr id="3" name="Oval 2"/>
          <p:cNvSpPr/>
          <p:nvPr/>
        </p:nvSpPr>
        <p:spPr>
          <a:xfrm>
            <a:off x="191770" y="77470"/>
            <a:ext cx="190500" cy="215900"/>
          </a:xfrm>
          <a:prstGeom prst="ellipse">
            <a:avLst/>
          </a:prstGeom>
          <a:solidFill>
            <a:srgbClr val="8FA388"/>
          </a:solidFill>
          <a:ln>
            <a:noFill/>
          </a:ln>
          <a:effectLst/>
        </p:spPr>
        <p:txBody>
          <a:bodyPr rtlCol="0" anchor="ctr"/>
          <a:lstStyle/>
          <a:p/>
        </p:txBody>
      </p:sp>
      <p:sp>
        <p:nvSpPr>
          <p:cNvPr id="4" name="Oval 3"/>
          <p:cNvSpPr/>
          <p:nvPr/>
        </p:nvSpPr>
        <p:spPr>
          <a:xfrm>
            <a:off x="330708" y="216408"/>
            <a:ext cx="203200" cy="228600"/>
          </a:xfrm>
          <a:prstGeom prst="ellipse">
            <a:avLst/>
          </a:prstGeom>
          <a:solidFill>
            <a:srgbClr val="8FA388"/>
          </a:solidFill>
          <a:ln>
            <a:noFill/>
          </a:ln>
          <a:effectLst/>
        </p:spPr>
        <p:txBody>
          <a:bodyPr rtlCol="0" anchor="ctr"/>
          <a:lstStyle/>
          <a:p/>
        </p:txBody>
      </p:sp>
      <p:sp>
        <p:nvSpPr>
          <p:cNvPr id="5" name="Oval 4"/>
          <p:cNvSpPr/>
          <p:nvPr/>
        </p:nvSpPr>
        <p:spPr>
          <a:xfrm>
            <a:off x="482345" y="368045"/>
            <a:ext cx="190500" cy="215900"/>
          </a:xfrm>
          <a:prstGeom prst="ellipse">
            <a:avLst/>
          </a:prstGeom>
          <a:solidFill>
            <a:srgbClr val="8FA388"/>
          </a:solidFill>
          <a:ln>
            <a:noFill/>
          </a:ln>
          <a:effectLst/>
        </p:spPr>
        <p:txBody>
          <a:bodyPr rtlCol="0" anchor="ctr"/>
          <a:lstStyle/>
          <a:p/>
        </p:txBody>
      </p:sp>
      <p:cxnSp>
        <p:nvCxnSpPr>
          <p:cNvPr id="6" name="Connector 5"/>
          <p:cNvCxnSpPr/>
          <p:nvPr/>
        </p:nvCxnSpPr>
        <p:spPr>
          <a:xfrm flipH="1">
            <a:off x="6861556" y="25400"/>
            <a:ext cx="660400" cy="660400"/>
          </a:xfrm>
          <a:prstGeom prst="line">
            <a:avLst/>
          </a:prstGeom>
          <a:ln w="13970">
            <a:solidFill>
              <a:srgbClr val="B08D4F"/>
            </a:solidFill>
          </a:ln>
        </p:spPr>
      </p:cxnSp>
      <p:sp>
        <p:nvSpPr>
          <p:cNvPr id="7" name="Oval 6"/>
          <p:cNvSpPr/>
          <p:nvPr/>
        </p:nvSpPr>
        <p:spPr>
          <a:xfrm>
            <a:off x="7177785" y="77470"/>
            <a:ext cx="190500" cy="215900"/>
          </a:xfrm>
          <a:prstGeom prst="ellipse">
            <a:avLst/>
          </a:prstGeom>
          <a:solidFill>
            <a:srgbClr val="8FA388"/>
          </a:solidFill>
          <a:ln>
            <a:noFill/>
          </a:ln>
          <a:effectLst/>
        </p:spPr>
        <p:txBody>
          <a:bodyPr rtlCol="0" anchor="ctr"/>
          <a:lstStyle/>
          <a:p/>
        </p:txBody>
      </p:sp>
      <p:sp>
        <p:nvSpPr>
          <p:cNvPr id="8" name="Oval 7"/>
          <p:cNvSpPr/>
          <p:nvPr/>
        </p:nvSpPr>
        <p:spPr>
          <a:xfrm>
            <a:off x="7026148" y="216408"/>
            <a:ext cx="203200" cy="228600"/>
          </a:xfrm>
          <a:prstGeom prst="ellipse">
            <a:avLst/>
          </a:prstGeom>
          <a:solidFill>
            <a:srgbClr val="8FA388"/>
          </a:solidFill>
          <a:ln>
            <a:noFill/>
          </a:ln>
          <a:effectLst/>
        </p:spPr>
        <p:txBody>
          <a:bodyPr rtlCol="0" anchor="ctr"/>
          <a:lstStyle/>
          <a:p/>
        </p:txBody>
      </p:sp>
      <p:sp>
        <p:nvSpPr>
          <p:cNvPr id="9" name="Oval 8"/>
          <p:cNvSpPr/>
          <p:nvPr/>
        </p:nvSpPr>
        <p:spPr>
          <a:xfrm>
            <a:off x="6887209" y="368045"/>
            <a:ext cx="190500" cy="215900"/>
          </a:xfrm>
          <a:prstGeom prst="ellipse">
            <a:avLst/>
          </a:prstGeom>
          <a:solidFill>
            <a:srgbClr val="8FA388"/>
          </a:solidFill>
          <a:ln>
            <a:noFill/>
          </a:ln>
          <a:effectLst/>
        </p:spPr>
        <p:txBody>
          <a:bodyPr rtlCol="0" anchor="ctr"/>
          <a:lstStyle/>
          <a:p/>
        </p:txBody>
      </p:sp>
      <p:sp>
        <p:nvSpPr>
          <p:cNvPr id="10" name="Oval 9"/>
          <p:cNvSpPr/>
          <p:nvPr/>
        </p:nvSpPr>
        <p:spPr>
          <a:xfrm>
            <a:off x="3500628" y="127000"/>
            <a:ext cx="114300" cy="215900"/>
          </a:xfrm>
          <a:prstGeom prst="ellipse">
            <a:avLst/>
          </a:prstGeom>
          <a:noFill/>
          <a:ln w="10160">
            <a:solidFill>
              <a:srgbClr val="B08D4F"/>
            </a:solidFill>
          </a:ln>
          <a:effectLst/>
        </p:spPr>
        <p:txBody>
          <a:bodyPr rtlCol="0" anchor="ctr"/>
          <a:lstStyle/>
          <a:p/>
        </p:txBody>
      </p:sp>
      <p:sp>
        <p:nvSpPr>
          <p:cNvPr id="11" name="Oval 10"/>
          <p:cNvSpPr/>
          <p:nvPr/>
        </p:nvSpPr>
        <p:spPr>
          <a:xfrm>
            <a:off x="3595878" y="127000"/>
            <a:ext cx="114300" cy="215900"/>
          </a:xfrm>
          <a:prstGeom prst="ellipse">
            <a:avLst/>
          </a:prstGeom>
          <a:noFill/>
          <a:ln w="10160">
            <a:solidFill>
              <a:srgbClr val="B08D4F"/>
            </a:solidFill>
          </a:ln>
          <a:effectLst/>
        </p:spPr>
        <p:txBody>
          <a:bodyPr rtlCol="0" anchor="ctr"/>
          <a:lstStyle/>
          <a:p/>
        </p:txBody>
      </p:sp>
      <p:sp>
        <p:nvSpPr>
          <p:cNvPr id="12" name="Oval 11"/>
          <p:cNvSpPr/>
          <p:nvPr/>
        </p:nvSpPr>
        <p:spPr>
          <a:xfrm>
            <a:off x="3691128" y="127000"/>
            <a:ext cx="114300" cy="215900"/>
          </a:xfrm>
          <a:prstGeom prst="ellipse">
            <a:avLst/>
          </a:prstGeom>
          <a:noFill/>
          <a:ln w="10160">
            <a:solidFill>
              <a:srgbClr val="B08D4F"/>
            </a:solidFill>
          </a:ln>
          <a:effectLst/>
        </p:spPr>
        <p:txBody>
          <a:bodyPr rtlCol="0" anchor="ctr"/>
          <a:lstStyle/>
          <a:p/>
        </p:txBody>
      </p:sp>
      <p:sp>
        <p:nvSpPr>
          <p:cNvPr id="13" name="Oval 12"/>
          <p:cNvSpPr/>
          <p:nvPr/>
        </p:nvSpPr>
        <p:spPr>
          <a:xfrm>
            <a:off x="3786378" y="127000"/>
            <a:ext cx="114300" cy="215900"/>
          </a:xfrm>
          <a:prstGeom prst="ellipse">
            <a:avLst/>
          </a:prstGeom>
          <a:noFill/>
          <a:ln w="10160">
            <a:solidFill>
              <a:srgbClr val="B08D4F"/>
            </a:solidFill>
          </a:ln>
          <a:effectLst/>
        </p:spPr>
        <p:txBody>
          <a:bodyPr rtlCol="0" anchor="ctr"/>
          <a:lstStyle/>
          <a:p/>
        </p:txBody>
      </p:sp>
      <p:sp>
        <p:nvSpPr>
          <p:cNvPr id="14" name="Oval 13"/>
          <p:cNvSpPr/>
          <p:nvPr/>
        </p:nvSpPr>
        <p:spPr>
          <a:xfrm>
            <a:off x="3881628" y="127000"/>
            <a:ext cx="114300" cy="215900"/>
          </a:xfrm>
          <a:prstGeom prst="ellipse">
            <a:avLst/>
          </a:prstGeom>
          <a:noFill/>
          <a:ln w="10160">
            <a:solidFill>
              <a:srgbClr val="B08D4F"/>
            </a:solidFill>
          </a:ln>
          <a:effectLst/>
        </p:spPr>
        <p:txBody>
          <a:bodyPr rtlCol="0" anchor="ctr"/>
          <a:lstStyle/>
          <a:p/>
        </p:txBody>
      </p:sp>
      <p:sp>
        <p:nvSpPr>
          <p:cNvPr id="15" name="Arc 14"/>
          <p:cNvSpPr/>
          <p:nvPr/>
        </p:nvSpPr>
        <p:spPr>
          <a:xfrm>
            <a:off x="3437128" y="165100"/>
            <a:ext cx="685800" cy="381000"/>
          </a:xfrm>
          <a:prstGeom prst="arc">
            <a:avLst>
              <a:gd name="adj1" fmla="val 18000000"/>
              <a:gd name="adj2" fmla="val 0"/>
            </a:avLst>
          </a:prstGeom>
          <a:noFill/>
          <a:ln w="10160">
            <a:solidFill>
              <a:srgbClr val="B08D4F"/>
            </a:solidFill>
          </a:ln>
          <a:effectLst/>
        </p:spPr>
        <p:txBody>
          <a:bodyPr rtlCol="0" anchor="ctr"/>
          <a:lstStyle/>
          <a:p>
            <a:pPr algn="ctr"/>
          </a:p>
        </p:txBody>
      </p:sp>
      <p:sp>
        <p:nvSpPr>
          <p:cNvPr id="16" name="TextBox 15"/>
          <p:cNvSpPr txBox="1"/>
          <p:nvPr/>
        </p:nvSpPr>
        <p:spPr>
          <a:xfrm>
            <a:off x="254000" y="635000"/>
            <a:ext cx="7052056" cy="391159"/>
          </a:xfrm>
          <a:prstGeom prst="rect">
            <a:avLst/>
          </a:prstGeom>
          <a:noFill/>
        </p:spPr>
        <p:txBody>
          <a:bodyPr wrap="square" lIns="0" rIns="0" tIns="0" bIns="0" anchor="t">
            <a:spAutoFit/>
          </a:bodyPr>
          <a:lstStyle/>
          <a:p>
            <a:pPr algn="ctr"/>
            <a:r>
              <a:rPr sz="2200" b="1" i="0">
                <a:solidFill>
                  <a:srgbClr val="3F5C4A"/>
                </a:solidFill>
                <a:latin typeface="Libre Baskerville"/>
              </a:rPr>
              <a:t>RASTREADOR DE HÁBITOS E BEM-ESTAR</a:t>
            </a:r>
          </a:p>
        </p:txBody>
      </p:sp>
      <p:sp>
        <p:nvSpPr>
          <p:cNvPr id="17" name="TextBox 16"/>
          <p:cNvSpPr txBox="1"/>
          <p:nvPr/>
        </p:nvSpPr>
        <p:spPr>
          <a:xfrm>
            <a:off x="508000" y="1012190"/>
            <a:ext cx="6544056" cy="177800"/>
          </a:xfrm>
          <a:prstGeom prst="rect">
            <a:avLst/>
          </a:prstGeom>
          <a:noFill/>
        </p:spPr>
        <p:txBody>
          <a:bodyPr wrap="square" lIns="0" rIns="0" tIns="0" bIns="0" anchor="t">
            <a:spAutoFit/>
          </a:bodyPr>
          <a:lstStyle/>
          <a:p>
            <a:pPr algn="ctr"/>
            <a:r>
              <a:rPr sz="950" b="0" i="0">
                <a:solidFill>
                  <a:srgbClr val="2A2A26"/>
                </a:solidFill>
                <a:latin typeface="Montserrat"/>
              </a:rPr>
              <a:t>Consistência, não perfeição</a:t>
            </a:r>
          </a:p>
        </p:txBody>
      </p:sp>
      <p:sp>
        <p:nvSpPr>
          <p:cNvPr id="18" name="TextBox 17"/>
          <p:cNvSpPr txBox="1"/>
          <p:nvPr/>
        </p:nvSpPr>
        <p:spPr>
          <a:xfrm>
            <a:off x="762000" y="10196703"/>
            <a:ext cx="6036056" cy="127000"/>
          </a:xfrm>
          <a:prstGeom prst="rect">
            <a:avLst/>
          </a:prstGeom>
          <a:noFill/>
        </p:spPr>
        <p:txBody>
          <a:bodyPr wrap="square" lIns="0" rIns="0" tIns="0" bIns="0" anchor="t">
            <a:spAutoFit/>
          </a:bodyPr>
          <a:lstStyle/>
          <a:p>
            <a:pPr algn="ctr"/>
            <a:r>
              <a:rPr sz="650" b="0" i="0">
                <a:solidFill>
                  <a:srgbClr val="77776E"/>
                </a:solidFill>
                <a:latin typeface="Montserrat"/>
              </a:rPr>
              <a:t>MASSOTERAPIA • CUIDADO • BEM-ESTAR</a:t>
            </a:r>
          </a:p>
        </p:txBody>
      </p:sp>
      <p:cxnSp>
        <p:nvCxnSpPr>
          <p:cNvPr id="19" name="Connector 18"/>
          <p:cNvCxnSpPr/>
          <p:nvPr/>
        </p:nvCxnSpPr>
        <p:spPr>
          <a:xfrm>
            <a:off x="1968500" y="10336403"/>
            <a:ext cx="3623056" cy="0"/>
          </a:xfrm>
          <a:prstGeom prst="line">
            <a:avLst/>
          </a:prstGeom>
          <a:ln w="8890">
            <a:solidFill>
              <a:srgbClr val="B08D4F"/>
            </a:solidFill>
          </a:ln>
        </p:spPr>
      </p:cxnSp>
      <p:sp>
        <p:nvSpPr>
          <p:cNvPr id="20" name="TextBox 19"/>
          <p:cNvSpPr txBox="1"/>
          <p:nvPr/>
        </p:nvSpPr>
        <p:spPr>
          <a:xfrm>
            <a:off x="533400" y="1590807"/>
            <a:ext cx="3056128" cy="162567"/>
          </a:xfrm>
          <a:prstGeom prst="rect">
            <a:avLst/>
          </a:prstGeom>
          <a:noFill/>
        </p:spPr>
        <p:txBody>
          <a:bodyPr wrap="square" lIns="0" rIns="0" tIns="0" bIns="0" anchor="t">
            <a:spAutoFit/>
          </a:bodyPr>
          <a:lstStyle/>
          <a:p>
            <a:pPr algn="l"/>
            <a:r>
              <a:rPr sz="914" b="1" i="0">
                <a:solidFill>
                  <a:srgbClr val="2A2A26"/>
                </a:solidFill>
                <a:latin typeface="Montserrat"/>
              </a:rPr>
              <a:t>Mês / ano:</a:t>
            </a:r>
          </a:p>
        </p:txBody>
      </p:sp>
      <p:cxnSp>
        <p:nvCxnSpPr>
          <p:cNvPr id="21" name="Connector 20"/>
          <p:cNvCxnSpPr/>
          <p:nvPr/>
        </p:nvCxnSpPr>
        <p:spPr>
          <a:xfrm>
            <a:off x="1225489" y="1730151"/>
            <a:ext cx="2364039" cy="0"/>
          </a:xfrm>
          <a:prstGeom prst="line">
            <a:avLst/>
          </a:prstGeom>
          <a:ln w="7620">
            <a:solidFill>
              <a:srgbClr val="B4B2A8"/>
            </a:solidFill>
          </a:ln>
        </p:spPr>
      </p:cxnSp>
      <p:sp>
        <p:nvSpPr>
          <p:cNvPr id="22" name="TextBox 21"/>
          <p:cNvSpPr txBox="1"/>
          <p:nvPr/>
        </p:nvSpPr>
        <p:spPr>
          <a:xfrm>
            <a:off x="3970528" y="1590807"/>
            <a:ext cx="3056128" cy="162567"/>
          </a:xfrm>
          <a:prstGeom prst="rect">
            <a:avLst/>
          </a:prstGeom>
          <a:noFill/>
        </p:spPr>
        <p:txBody>
          <a:bodyPr wrap="square" lIns="0" rIns="0" tIns="0" bIns="0" anchor="t">
            <a:spAutoFit/>
          </a:bodyPr>
          <a:lstStyle/>
          <a:p>
            <a:pPr algn="l"/>
            <a:r>
              <a:rPr sz="914" b="1" i="0">
                <a:solidFill>
                  <a:srgbClr val="2A2A26"/>
                </a:solidFill>
                <a:latin typeface="Montserrat"/>
              </a:rPr>
              <a:t>Intenção do mês:</a:t>
            </a:r>
          </a:p>
        </p:txBody>
      </p:sp>
      <p:cxnSp>
        <p:nvCxnSpPr>
          <p:cNvPr id="23" name="Connector 22"/>
          <p:cNvCxnSpPr/>
          <p:nvPr/>
        </p:nvCxnSpPr>
        <p:spPr>
          <a:xfrm>
            <a:off x="5094111" y="1730151"/>
            <a:ext cx="1932545" cy="0"/>
          </a:xfrm>
          <a:prstGeom prst="line">
            <a:avLst/>
          </a:prstGeom>
          <a:ln w="7620">
            <a:solidFill>
              <a:srgbClr val="B4B2A8"/>
            </a:solidFill>
          </a:ln>
        </p:spPr>
      </p:cxnSp>
      <p:graphicFrame>
        <p:nvGraphicFramePr>
          <p:cNvPr id="25" name="Table 24"/>
          <p:cNvGraphicFramePr>
            <a:graphicFrameLocks noGrp="1"/>
          </p:cNvGraphicFramePr>
          <p:nvPr/>
        </p:nvGraphicFramePr>
        <p:xfrm>
          <a:off x="533400" y="2577401"/>
          <a:ext cx="6493252" cy="5942562"/>
        </p:xfrm>
        <a:graphic>
          <a:graphicData uri="http://schemas.openxmlformats.org/drawingml/2006/table">
            <a:tbl>
              <a:tblPr firstRow="0" bandRow="0">
                <a:tableStyleId>{5C22544A-7EE6-4342-B048-85BDC9FD1C3A}</a:tableStyleId>
              </a:tblPr>
              <a:tblGrid>
                <a:gridCol w="454527"/>
                <a:gridCol w="779190"/>
                <a:gridCol w="779190"/>
                <a:gridCol w="779190"/>
                <a:gridCol w="973988"/>
                <a:gridCol w="973988"/>
                <a:gridCol w="1753179"/>
              </a:tblGrid>
              <a:tr h="254000">
                <a:tc>
                  <a:txBody>
                    <a:bodyPr/>
                    <a:lstStyle/>
                    <a:p>
                      <a:pPr algn="ctr"/>
                      <a:r>
                        <a:rPr sz="740" b="0">
                          <a:solidFill>
                            <a:srgbClr val="FFFFFF"/>
                          </a:solidFill>
                          <a:latin typeface="Montserrat"/>
                        </a:rPr>
                        <a:t>DIA</a:t>
                      </a:r>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3F5C4A"/>
                    </a:solidFill>
                  </a:tcPr>
                </a:tc>
                <a:tc>
                  <a:txBody>
                    <a:bodyPr/>
                    <a:lstStyle/>
                    <a:p>
                      <a:pPr algn="ctr"/>
                      <a:r>
                        <a:rPr sz="740" b="0">
                          <a:solidFill>
                            <a:srgbClr val="FFFFFF"/>
                          </a:solidFill>
                          <a:latin typeface="Montserrat"/>
                        </a:rPr>
                        <a:t>DOR 0–10</a:t>
                      </a:r>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3F5C4A"/>
                    </a:solidFill>
                  </a:tcPr>
                </a:tc>
                <a:tc>
                  <a:txBody>
                    <a:bodyPr/>
                    <a:lstStyle/>
                    <a:p>
                      <a:pPr algn="ctr"/>
                      <a:r>
                        <a:rPr sz="740" b="0">
                          <a:solidFill>
                            <a:srgbClr val="FFFFFF"/>
                          </a:solidFill>
                          <a:latin typeface="Montserrat"/>
                        </a:rPr>
                        <a:t>SONO 0–10</a:t>
                      </a:r>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3F5C4A"/>
                    </a:solidFill>
                  </a:tcPr>
                </a:tc>
                <a:tc>
                  <a:txBody>
                    <a:bodyPr/>
                    <a:lstStyle/>
                    <a:p>
                      <a:pPr algn="ctr"/>
                      <a:r>
                        <a:rPr sz="740" b="0">
                          <a:solidFill>
                            <a:srgbClr val="FFFFFF"/>
                          </a:solidFill>
                          <a:latin typeface="Montserrat"/>
                        </a:rPr>
                        <a:t>ÁGUA</a:t>
                      </a:r>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3F5C4A"/>
                    </a:solidFill>
                  </a:tcPr>
                </a:tc>
                <a:tc>
                  <a:txBody>
                    <a:bodyPr/>
                    <a:lstStyle/>
                    <a:p>
                      <a:pPr algn="ctr"/>
                      <a:r>
                        <a:rPr sz="740" b="0">
                          <a:solidFill>
                            <a:srgbClr val="FFFFFF"/>
                          </a:solidFill>
                          <a:latin typeface="Montserrat"/>
                        </a:rPr>
                        <a:t>MOVIMENTO</a:t>
                      </a:r>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3F5C4A"/>
                    </a:solidFill>
                  </a:tcPr>
                </a:tc>
                <a:tc>
                  <a:txBody>
                    <a:bodyPr/>
                    <a:lstStyle/>
                    <a:p>
                      <a:pPr algn="ctr"/>
                      <a:r>
                        <a:rPr sz="740" b="0">
                          <a:solidFill>
                            <a:srgbClr val="FFFFFF"/>
                          </a:solidFill>
                          <a:latin typeface="Montserrat"/>
                        </a:rPr>
                        <a:t>AUTOCUIDADO</a:t>
                      </a:r>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3F5C4A"/>
                    </a:solidFill>
                  </a:tcPr>
                </a:tc>
                <a:tc>
                  <a:txBody>
                    <a:bodyPr/>
                    <a:lstStyle/>
                    <a:p>
                      <a:pPr algn="ctr"/>
                      <a:r>
                        <a:rPr sz="740" b="0">
                          <a:solidFill>
                            <a:srgbClr val="FFFFFF"/>
                          </a:solidFill>
                          <a:latin typeface="Montserrat"/>
                        </a:rPr>
                        <a:t>OBSERVAÇÃO</a:t>
                      </a:r>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3F5C4A"/>
                    </a:solidFill>
                  </a:tcPr>
                </a:tc>
              </a:tr>
              <a:tr h="183502">
                <a:tc>
                  <a:txBody>
                    <a:bodyPr/>
                    <a:lstStyle/>
                    <a:p>
                      <a:pPr algn="l"/>
                      <a:r>
                        <a:rPr sz="740">
                          <a:solidFill>
                            <a:srgbClr val="2A2A26"/>
                          </a:solidFill>
                          <a:latin typeface="Montserrat"/>
                        </a:rPr>
                        <a:t>1</a:t>
                      </a:r>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r>
              <a:tr h="183502">
                <a:tc>
                  <a:txBody>
                    <a:bodyPr/>
                    <a:lstStyle/>
                    <a:p>
                      <a:pPr algn="l"/>
                      <a:r>
                        <a:rPr sz="740">
                          <a:solidFill>
                            <a:srgbClr val="2A2A26"/>
                          </a:solidFill>
                          <a:latin typeface="Montserrat"/>
                        </a:rPr>
                        <a:t>2</a:t>
                      </a:r>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r>
              <a:tr h="183502">
                <a:tc>
                  <a:txBody>
                    <a:bodyPr/>
                    <a:lstStyle/>
                    <a:p>
                      <a:pPr algn="l"/>
                      <a:r>
                        <a:rPr sz="740">
                          <a:solidFill>
                            <a:srgbClr val="2A2A26"/>
                          </a:solidFill>
                          <a:latin typeface="Montserrat"/>
                        </a:rPr>
                        <a:t>3</a:t>
                      </a:r>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r>
              <a:tr h="183502">
                <a:tc>
                  <a:txBody>
                    <a:bodyPr/>
                    <a:lstStyle/>
                    <a:p>
                      <a:pPr algn="l"/>
                      <a:r>
                        <a:rPr sz="740">
                          <a:solidFill>
                            <a:srgbClr val="2A2A26"/>
                          </a:solidFill>
                          <a:latin typeface="Montserrat"/>
                        </a:rPr>
                        <a:t>4</a:t>
                      </a:r>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r>
              <a:tr h="183502">
                <a:tc>
                  <a:txBody>
                    <a:bodyPr/>
                    <a:lstStyle/>
                    <a:p>
                      <a:pPr algn="l"/>
                      <a:r>
                        <a:rPr sz="740">
                          <a:solidFill>
                            <a:srgbClr val="2A2A26"/>
                          </a:solidFill>
                          <a:latin typeface="Montserrat"/>
                        </a:rPr>
                        <a:t>5</a:t>
                      </a:r>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r>
              <a:tr h="183502">
                <a:tc>
                  <a:txBody>
                    <a:bodyPr/>
                    <a:lstStyle/>
                    <a:p>
                      <a:pPr algn="l"/>
                      <a:r>
                        <a:rPr sz="740">
                          <a:solidFill>
                            <a:srgbClr val="2A2A26"/>
                          </a:solidFill>
                          <a:latin typeface="Montserrat"/>
                        </a:rPr>
                        <a:t>6</a:t>
                      </a:r>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r>
              <a:tr h="183502">
                <a:tc>
                  <a:txBody>
                    <a:bodyPr/>
                    <a:lstStyle/>
                    <a:p>
                      <a:pPr algn="l"/>
                      <a:r>
                        <a:rPr sz="740">
                          <a:solidFill>
                            <a:srgbClr val="2A2A26"/>
                          </a:solidFill>
                          <a:latin typeface="Montserrat"/>
                        </a:rPr>
                        <a:t>7</a:t>
                      </a:r>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r>
              <a:tr h="183502">
                <a:tc>
                  <a:txBody>
                    <a:bodyPr/>
                    <a:lstStyle/>
                    <a:p>
                      <a:pPr algn="l"/>
                      <a:r>
                        <a:rPr sz="740">
                          <a:solidFill>
                            <a:srgbClr val="2A2A26"/>
                          </a:solidFill>
                          <a:latin typeface="Montserrat"/>
                        </a:rPr>
                        <a:t>8</a:t>
                      </a:r>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r>
              <a:tr h="183502">
                <a:tc>
                  <a:txBody>
                    <a:bodyPr/>
                    <a:lstStyle/>
                    <a:p>
                      <a:pPr algn="l"/>
                      <a:r>
                        <a:rPr sz="740">
                          <a:solidFill>
                            <a:srgbClr val="2A2A26"/>
                          </a:solidFill>
                          <a:latin typeface="Montserrat"/>
                        </a:rPr>
                        <a:t>9</a:t>
                      </a:r>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r>
              <a:tr h="183502">
                <a:tc>
                  <a:txBody>
                    <a:bodyPr/>
                    <a:lstStyle/>
                    <a:p>
                      <a:pPr algn="l"/>
                      <a:r>
                        <a:rPr sz="740">
                          <a:solidFill>
                            <a:srgbClr val="2A2A26"/>
                          </a:solidFill>
                          <a:latin typeface="Montserrat"/>
                        </a:rPr>
                        <a:t>10</a:t>
                      </a:r>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r>
              <a:tr h="183502">
                <a:tc>
                  <a:txBody>
                    <a:bodyPr/>
                    <a:lstStyle/>
                    <a:p>
                      <a:pPr algn="l"/>
                      <a:r>
                        <a:rPr sz="740">
                          <a:solidFill>
                            <a:srgbClr val="2A2A26"/>
                          </a:solidFill>
                          <a:latin typeface="Montserrat"/>
                        </a:rPr>
                        <a:t>11</a:t>
                      </a:r>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r>
              <a:tr h="183502">
                <a:tc>
                  <a:txBody>
                    <a:bodyPr/>
                    <a:lstStyle/>
                    <a:p>
                      <a:pPr algn="l"/>
                      <a:r>
                        <a:rPr sz="740">
                          <a:solidFill>
                            <a:srgbClr val="2A2A26"/>
                          </a:solidFill>
                          <a:latin typeface="Montserrat"/>
                        </a:rPr>
                        <a:t>12</a:t>
                      </a:r>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r>
              <a:tr h="183502">
                <a:tc>
                  <a:txBody>
                    <a:bodyPr/>
                    <a:lstStyle/>
                    <a:p>
                      <a:pPr algn="l"/>
                      <a:r>
                        <a:rPr sz="740">
                          <a:solidFill>
                            <a:srgbClr val="2A2A26"/>
                          </a:solidFill>
                          <a:latin typeface="Montserrat"/>
                        </a:rPr>
                        <a:t>13</a:t>
                      </a:r>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r>
              <a:tr h="183502">
                <a:tc>
                  <a:txBody>
                    <a:bodyPr/>
                    <a:lstStyle/>
                    <a:p>
                      <a:pPr algn="l"/>
                      <a:r>
                        <a:rPr sz="740">
                          <a:solidFill>
                            <a:srgbClr val="2A2A26"/>
                          </a:solidFill>
                          <a:latin typeface="Montserrat"/>
                        </a:rPr>
                        <a:t>14</a:t>
                      </a:r>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r>
              <a:tr h="183502">
                <a:tc>
                  <a:txBody>
                    <a:bodyPr/>
                    <a:lstStyle/>
                    <a:p>
                      <a:pPr algn="l"/>
                      <a:r>
                        <a:rPr sz="740">
                          <a:solidFill>
                            <a:srgbClr val="2A2A26"/>
                          </a:solidFill>
                          <a:latin typeface="Montserrat"/>
                        </a:rPr>
                        <a:t>15</a:t>
                      </a:r>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r>
              <a:tr h="183502">
                <a:tc>
                  <a:txBody>
                    <a:bodyPr/>
                    <a:lstStyle/>
                    <a:p>
                      <a:pPr algn="l"/>
                      <a:r>
                        <a:rPr sz="740">
                          <a:solidFill>
                            <a:srgbClr val="2A2A26"/>
                          </a:solidFill>
                          <a:latin typeface="Montserrat"/>
                        </a:rPr>
                        <a:t>16</a:t>
                      </a:r>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r>
              <a:tr h="183502">
                <a:tc>
                  <a:txBody>
                    <a:bodyPr/>
                    <a:lstStyle/>
                    <a:p>
                      <a:pPr algn="l"/>
                      <a:r>
                        <a:rPr sz="740">
                          <a:solidFill>
                            <a:srgbClr val="2A2A26"/>
                          </a:solidFill>
                          <a:latin typeface="Montserrat"/>
                        </a:rPr>
                        <a:t>17</a:t>
                      </a:r>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r>
              <a:tr h="183502">
                <a:tc>
                  <a:txBody>
                    <a:bodyPr/>
                    <a:lstStyle/>
                    <a:p>
                      <a:pPr algn="l"/>
                      <a:r>
                        <a:rPr sz="740">
                          <a:solidFill>
                            <a:srgbClr val="2A2A26"/>
                          </a:solidFill>
                          <a:latin typeface="Montserrat"/>
                        </a:rPr>
                        <a:t>18</a:t>
                      </a:r>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r>
              <a:tr h="183502">
                <a:tc>
                  <a:txBody>
                    <a:bodyPr/>
                    <a:lstStyle/>
                    <a:p>
                      <a:pPr algn="l"/>
                      <a:r>
                        <a:rPr sz="740">
                          <a:solidFill>
                            <a:srgbClr val="2A2A26"/>
                          </a:solidFill>
                          <a:latin typeface="Montserrat"/>
                        </a:rPr>
                        <a:t>19</a:t>
                      </a:r>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r>
              <a:tr h="183502">
                <a:tc>
                  <a:txBody>
                    <a:bodyPr/>
                    <a:lstStyle/>
                    <a:p>
                      <a:pPr algn="l"/>
                      <a:r>
                        <a:rPr sz="740">
                          <a:solidFill>
                            <a:srgbClr val="2A2A26"/>
                          </a:solidFill>
                          <a:latin typeface="Montserrat"/>
                        </a:rPr>
                        <a:t>20</a:t>
                      </a:r>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r>
              <a:tr h="183502">
                <a:tc>
                  <a:txBody>
                    <a:bodyPr/>
                    <a:lstStyle/>
                    <a:p>
                      <a:pPr algn="l"/>
                      <a:r>
                        <a:rPr sz="740">
                          <a:solidFill>
                            <a:srgbClr val="2A2A26"/>
                          </a:solidFill>
                          <a:latin typeface="Montserrat"/>
                        </a:rPr>
                        <a:t>21</a:t>
                      </a:r>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r>
              <a:tr h="183502">
                <a:tc>
                  <a:txBody>
                    <a:bodyPr/>
                    <a:lstStyle/>
                    <a:p>
                      <a:pPr algn="l"/>
                      <a:r>
                        <a:rPr sz="740">
                          <a:solidFill>
                            <a:srgbClr val="2A2A26"/>
                          </a:solidFill>
                          <a:latin typeface="Montserrat"/>
                        </a:rPr>
                        <a:t>22</a:t>
                      </a:r>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r>
              <a:tr h="183502">
                <a:tc>
                  <a:txBody>
                    <a:bodyPr/>
                    <a:lstStyle/>
                    <a:p>
                      <a:pPr algn="l"/>
                      <a:r>
                        <a:rPr sz="740">
                          <a:solidFill>
                            <a:srgbClr val="2A2A26"/>
                          </a:solidFill>
                          <a:latin typeface="Montserrat"/>
                        </a:rPr>
                        <a:t>23</a:t>
                      </a:r>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r>
              <a:tr h="183502">
                <a:tc>
                  <a:txBody>
                    <a:bodyPr/>
                    <a:lstStyle/>
                    <a:p>
                      <a:pPr algn="l"/>
                      <a:r>
                        <a:rPr sz="740">
                          <a:solidFill>
                            <a:srgbClr val="2A2A26"/>
                          </a:solidFill>
                          <a:latin typeface="Montserrat"/>
                        </a:rPr>
                        <a:t>24</a:t>
                      </a:r>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r>
              <a:tr h="183502">
                <a:tc>
                  <a:txBody>
                    <a:bodyPr/>
                    <a:lstStyle/>
                    <a:p>
                      <a:pPr algn="l"/>
                      <a:r>
                        <a:rPr sz="740">
                          <a:solidFill>
                            <a:srgbClr val="2A2A26"/>
                          </a:solidFill>
                          <a:latin typeface="Montserrat"/>
                        </a:rPr>
                        <a:t>25</a:t>
                      </a:r>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r>
              <a:tr h="183502">
                <a:tc>
                  <a:txBody>
                    <a:bodyPr/>
                    <a:lstStyle/>
                    <a:p>
                      <a:pPr algn="l"/>
                      <a:r>
                        <a:rPr sz="740">
                          <a:solidFill>
                            <a:srgbClr val="2A2A26"/>
                          </a:solidFill>
                          <a:latin typeface="Montserrat"/>
                        </a:rPr>
                        <a:t>26</a:t>
                      </a:r>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r>
              <a:tr h="183502">
                <a:tc>
                  <a:txBody>
                    <a:bodyPr/>
                    <a:lstStyle/>
                    <a:p>
                      <a:pPr algn="l"/>
                      <a:r>
                        <a:rPr sz="740">
                          <a:solidFill>
                            <a:srgbClr val="2A2A26"/>
                          </a:solidFill>
                          <a:latin typeface="Montserrat"/>
                        </a:rPr>
                        <a:t>27</a:t>
                      </a:r>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r>
              <a:tr h="183502">
                <a:tc>
                  <a:txBody>
                    <a:bodyPr/>
                    <a:lstStyle/>
                    <a:p>
                      <a:pPr algn="l"/>
                      <a:r>
                        <a:rPr sz="740">
                          <a:solidFill>
                            <a:srgbClr val="2A2A26"/>
                          </a:solidFill>
                          <a:latin typeface="Montserrat"/>
                        </a:rPr>
                        <a:t>28</a:t>
                      </a:r>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r>
              <a:tr h="183502">
                <a:tc>
                  <a:txBody>
                    <a:bodyPr/>
                    <a:lstStyle/>
                    <a:p>
                      <a:pPr algn="l"/>
                      <a:r>
                        <a:rPr sz="740">
                          <a:solidFill>
                            <a:srgbClr val="2A2A26"/>
                          </a:solidFill>
                          <a:latin typeface="Montserrat"/>
                        </a:rPr>
                        <a:t>29</a:t>
                      </a:r>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r>
              <a:tr h="183502">
                <a:tc>
                  <a:txBody>
                    <a:bodyPr/>
                    <a:lstStyle/>
                    <a:p>
                      <a:pPr algn="l"/>
                      <a:r>
                        <a:rPr sz="740">
                          <a:solidFill>
                            <a:srgbClr val="2A2A26"/>
                          </a:solidFill>
                          <a:latin typeface="Montserrat"/>
                        </a:rPr>
                        <a:t>30</a:t>
                      </a:r>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r>
              <a:tr h="183502">
                <a:tc>
                  <a:txBody>
                    <a:bodyPr/>
                    <a:lstStyle/>
                    <a:p>
                      <a:pPr algn="l"/>
                      <a:r>
                        <a:rPr sz="740">
                          <a:solidFill>
                            <a:srgbClr val="2A2A26"/>
                          </a:solidFill>
                          <a:latin typeface="Montserrat"/>
                        </a:rPr>
                        <a:t>31</a:t>
                      </a:r>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r>
            </a:tbl>
          </a:graphicData>
        </a:graphic>
      </p:graphicFrame>
      <p:sp>
        <p:nvSpPr>
          <p:cNvPr id="28" name="TextBox 27"/>
          <p:cNvSpPr txBox="1"/>
          <p:nvPr/>
        </p:nvSpPr>
        <p:spPr>
          <a:xfrm>
            <a:off x="508000" y="2169546"/>
            <a:ext cx="6544056" cy="266700"/>
          </a:xfrm>
          <a:prstGeom prst="rect">
            <a:avLst/>
          </a:prstGeom>
          <a:noFill/>
        </p:spPr>
        <p:txBody>
          <a:bodyPr wrap="square" lIns="0" rIns="0" tIns="0" bIns="0" anchor="ctr">
            <a:spAutoFit/>
          </a:bodyPr>
          <a:lstStyle/>
          <a:p>
            <a:pPr algn="l"/>
            <a:r>
              <a:rPr sz="840" b="1" i="0">
                <a:solidFill>
                  <a:srgbClr val="FFFFFF"/>
                </a:solidFill>
                <a:latin typeface="Montserrat"/>
              </a:rPr>
              <a:t>ACOMPANHAMENTO DIÁRIO</a:t>
            </a:r>
          </a:p>
        </p:txBody>
      </p:sp>
      <p:cxnSp>
        <p:nvCxnSpPr>
          <p:cNvPr id="29" name="Connector 28"/>
          <p:cNvCxnSpPr/>
          <p:nvPr/>
        </p:nvCxnSpPr>
        <p:spPr>
          <a:xfrm>
            <a:off x="508000" y="9397892"/>
            <a:ext cx="3018028" cy="0"/>
          </a:xfrm>
          <a:prstGeom prst="line">
            <a:avLst/>
          </a:prstGeom>
          <a:ln w="7620">
            <a:solidFill>
              <a:srgbClr val="B4B2A8"/>
            </a:solidFill>
          </a:ln>
        </p:spPr>
      </p:cxnSp>
      <p:cxnSp>
        <p:nvCxnSpPr>
          <p:cNvPr id="30" name="Connector 29"/>
          <p:cNvCxnSpPr/>
          <p:nvPr/>
        </p:nvCxnSpPr>
        <p:spPr>
          <a:xfrm>
            <a:off x="508000" y="9623741"/>
            <a:ext cx="3018028" cy="0"/>
          </a:xfrm>
          <a:prstGeom prst="line">
            <a:avLst/>
          </a:prstGeom>
          <a:ln w="7620">
            <a:solidFill>
              <a:srgbClr val="B4B2A8"/>
            </a:solidFill>
          </a:ln>
        </p:spPr>
      </p:cxnSp>
      <p:cxnSp>
        <p:nvCxnSpPr>
          <p:cNvPr id="31" name="Connector 30"/>
          <p:cNvCxnSpPr/>
          <p:nvPr/>
        </p:nvCxnSpPr>
        <p:spPr>
          <a:xfrm>
            <a:off x="508000" y="9849590"/>
            <a:ext cx="3018028" cy="0"/>
          </a:xfrm>
          <a:prstGeom prst="line">
            <a:avLst/>
          </a:prstGeom>
          <a:ln w="7620">
            <a:solidFill>
              <a:srgbClr val="B4B2A8"/>
            </a:solidFill>
          </a:ln>
        </p:spPr>
      </p:cxnSp>
      <p:sp>
        <p:nvSpPr>
          <p:cNvPr id="34" name="TextBox 33"/>
          <p:cNvSpPr txBox="1"/>
          <p:nvPr/>
        </p:nvSpPr>
        <p:spPr>
          <a:xfrm>
            <a:off x="508000" y="8802287"/>
            <a:ext cx="3018028" cy="266700"/>
          </a:xfrm>
          <a:prstGeom prst="rect">
            <a:avLst/>
          </a:prstGeom>
          <a:noFill/>
        </p:spPr>
        <p:txBody>
          <a:bodyPr wrap="square" lIns="0" rIns="0" tIns="0" bIns="0" anchor="ctr">
            <a:spAutoFit/>
          </a:bodyPr>
          <a:lstStyle/>
          <a:p>
            <a:pPr algn="l"/>
            <a:r>
              <a:rPr sz="840" b="1" i="0">
                <a:solidFill>
                  <a:srgbClr val="FFFFFF"/>
                </a:solidFill>
                <a:latin typeface="Montserrat"/>
              </a:rPr>
              <a:t>HÁBITO QUE QUERO FORTALECER</a:t>
            </a:r>
          </a:p>
        </p:txBody>
      </p:sp>
      <p:cxnSp>
        <p:nvCxnSpPr>
          <p:cNvPr id="35" name="Connector 34"/>
          <p:cNvCxnSpPr/>
          <p:nvPr/>
        </p:nvCxnSpPr>
        <p:spPr>
          <a:xfrm>
            <a:off x="4034028" y="9397892"/>
            <a:ext cx="3018028" cy="0"/>
          </a:xfrm>
          <a:prstGeom prst="line">
            <a:avLst/>
          </a:prstGeom>
          <a:ln w="7620">
            <a:solidFill>
              <a:srgbClr val="B4B2A8"/>
            </a:solidFill>
          </a:ln>
        </p:spPr>
      </p:cxnSp>
      <p:cxnSp>
        <p:nvCxnSpPr>
          <p:cNvPr id="36" name="Connector 35"/>
          <p:cNvCxnSpPr/>
          <p:nvPr/>
        </p:nvCxnSpPr>
        <p:spPr>
          <a:xfrm>
            <a:off x="4034028" y="9623741"/>
            <a:ext cx="3018028" cy="0"/>
          </a:xfrm>
          <a:prstGeom prst="line">
            <a:avLst/>
          </a:prstGeom>
          <a:ln w="7620">
            <a:solidFill>
              <a:srgbClr val="B4B2A8"/>
            </a:solidFill>
          </a:ln>
        </p:spPr>
      </p:cxnSp>
      <p:cxnSp>
        <p:nvCxnSpPr>
          <p:cNvPr id="37" name="Connector 36"/>
          <p:cNvCxnSpPr/>
          <p:nvPr/>
        </p:nvCxnSpPr>
        <p:spPr>
          <a:xfrm>
            <a:off x="4034028" y="9849590"/>
            <a:ext cx="3018028" cy="0"/>
          </a:xfrm>
          <a:prstGeom prst="line">
            <a:avLst/>
          </a:prstGeom>
          <a:ln w="7620">
            <a:solidFill>
              <a:srgbClr val="B4B2A8"/>
            </a:solidFill>
          </a:ln>
        </p:spPr>
      </p:cxnSp>
      <p:sp>
        <p:nvSpPr>
          <p:cNvPr id="40" name="TextBox 39"/>
          <p:cNvSpPr txBox="1"/>
          <p:nvPr/>
        </p:nvSpPr>
        <p:spPr>
          <a:xfrm>
            <a:off x="4034028" y="8802287"/>
            <a:ext cx="3018028" cy="266700"/>
          </a:xfrm>
          <a:prstGeom prst="rect">
            <a:avLst/>
          </a:prstGeom>
          <a:noFill/>
        </p:spPr>
        <p:txBody>
          <a:bodyPr wrap="square" lIns="0" rIns="0" tIns="0" bIns="0" anchor="ctr">
            <a:spAutoFit/>
          </a:bodyPr>
          <a:lstStyle/>
          <a:p>
            <a:pPr algn="l"/>
            <a:r>
              <a:rPr sz="840" b="1" i="0">
                <a:solidFill>
                  <a:srgbClr val="FFFFFF"/>
                </a:solidFill>
                <a:latin typeface="Montserrat"/>
              </a:rPr>
              <a:t>O QUE PODE FACILITAR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8F5EE"/>
        </a:solidFill>
        <a:effectLst/>
      </p:bgPr>
    </p:bg>
    <p:spTree>
      <p:nvGrpSpPr>
        <p:cNvPr id="1" name=""/>
        <p:cNvGrpSpPr/>
        <p:nvPr/>
      </p:nvGrpSpPr>
      <p:grpSpPr/>
      <p:sp>
        <p:nvSpPr>
          <p:cNvPr id="71" name="Rounded Rectangle 70"/>
          <p:cNvSpPr/>
          <p:nvPr/>
        </p:nvSpPr>
        <p:spPr>
          <a:xfrm>
            <a:off x="381000" y="9232633"/>
            <a:ext cx="6798056" cy="790893"/>
          </a:xfrm>
          <a:prstGeom prst="roundRect">
            <a:avLst>
              <a:gd name="adj" fmla="val 12846"/>
            </a:avLst>
          </a:prstGeom>
          <a:solidFill>
            <a:srgbClr val="FDFCF8"/>
          </a:solidFill>
          <a:ln w="10160">
            <a:solidFill>
              <a:srgbClr val="D7D4C9"/>
            </a:solidFill>
          </a:ln>
          <a:effectLst/>
        </p:spPr>
        <p:txBody>
          <a:bodyPr rtlCol="0" anchor="ctr"/>
          <a:lstStyle/>
          <a:p/>
        </p:txBody>
      </p:sp>
      <p:sp>
        <p:nvSpPr>
          <p:cNvPr id="64" name="Rounded Rectangle 63"/>
          <p:cNvSpPr/>
          <p:nvPr/>
        </p:nvSpPr>
        <p:spPr>
          <a:xfrm>
            <a:off x="381000" y="7029052"/>
            <a:ext cx="6798056" cy="2042174"/>
          </a:xfrm>
          <a:prstGeom prst="roundRect">
            <a:avLst>
              <a:gd name="adj" fmla="val 4975"/>
            </a:avLst>
          </a:prstGeom>
          <a:solidFill>
            <a:srgbClr val="FDFCF8"/>
          </a:solidFill>
          <a:ln w="10160">
            <a:solidFill>
              <a:srgbClr val="D7D4C9"/>
            </a:solidFill>
          </a:ln>
          <a:effectLst/>
        </p:spPr>
        <p:txBody>
          <a:bodyPr rtlCol="0" anchor="ctr"/>
          <a:lstStyle/>
          <a:p/>
        </p:txBody>
      </p:sp>
      <p:sp>
        <p:nvSpPr>
          <p:cNvPr id="65" name="Round Same Side Corner Rectangle 64"/>
          <p:cNvSpPr/>
          <p:nvPr/>
        </p:nvSpPr>
        <p:spPr>
          <a:xfrm>
            <a:off x="381000" y="7029052"/>
            <a:ext cx="6798056" cy="266700"/>
          </a:xfrm>
          <a:prstGeom prst="round2SameRect">
            <a:avLst>
              <a:gd name="adj1" fmla="val 38095"/>
              <a:gd name="adj2" fmla="val 0"/>
            </a:avLst>
          </a:prstGeom>
          <a:solidFill>
            <a:srgbClr val="3F5C4A"/>
          </a:solidFill>
          <a:ln>
            <a:noFill/>
          </a:ln>
          <a:effectLst/>
        </p:spPr>
        <p:txBody>
          <a:bodyPr rtlCol="0" anchor="ctr"/>
          <a:lstStyle/>
          <a:p/>
        </p:txBody>
      </p:sp>
      <p:sp>
        <p:nvSpPr>
          <p:cNvPr id="56" name="Rounded Rectangle 55"/>
          <p:cNvSpPr/>
          <p:nvPr/>
        </p:nvSpPr>
        <p:spPr>
          <a:xfrm>
            <a:off x="381000" y="3049996"/>
            <a:ext cx="6798056" cy="3817648"/>
          </a:xfrm>
          <a:prstGeom prst="roundRect">
            <a:avLst>
              <a:gd name="adj" fmla="val 2661"/>
            </a:avLst>
          </a:prstGeom>
          <a:solidFill>
            <a:srgbClr val="FDFCF8"/>
          </a:solidFill>
          <a:ln w="10160">
            <a:solidFill>
              <a:srgbClr val="D7D4C9"/>
            </a:solidFill>
          </a:ln>
          <a:effectLst/>
        </p:spPr>
        <p:txBody>
          <a:bodyPr rtlCol="0" anchor="ctr"/>
          <a:lstStyle/>
          <a:p/>
        </p:txBody>
      </p:sp>
      <p:sp>
        <p:nvSpPr>
          <p:cNvPr id="57" name="Round Same Side Corner Rectangle 56"/>
          <p:cNvSpPr/>
          <p:nvPr/>
        </p:nvSpPr>
        <p:spPr>
          <a:xfrm>
            <a:off x="381000" y="3049996"/>
            <a:ext cx="6798056" cy="266700"/>
          </a:xfrm>
          <a:prstGeom prst="round2SameRect">
            <a:avLst>
              <a:gd name="adj1" fmla="val 38095"/>
              <a:gd name="adj2" fmla="val 0"/>
            </a:avLst>
          </a:prstGeom>
          <a:solidFill>
            <a:srgbClr val="3F5C4A"/>
          </a:solidFill>
          <a:ln>
            <a:noFill/>
          </a:ln>
          <a:effectLst/>
        </p:spPr>
        <p:txBody>
          <a:bodyPr rtlCol="0" anchor="ctr"/>
          <a:lstStyle/>
          <a:p/>
        </p:txBody>
      </p:sp>
      <p:sp>
        <p:nvSpPr>
          <p:cNvPr id="23" name="Rounded Rectangle 22"/>
          <p:cNvSpPr/>
          <p:nvPr/>
        </p:nvSpPr>
        <p:spPr>
          <a:xfrm>
            <a:off x="381000" y="1427480"/>
            <a:ext cx="6798056" cy="1461109"/>
          </a:xfrm>
          <a:prstGeom prst="roundRect">
            <a:avLst>
              <a:gd name="adj" fmla="val 6953"/>
            </a:avLst>
          </a:prstGeom>
          <a:solidFill>
            <a:srgbClr val="FDFCF8"/>
          </a:solidFill>
          <a:ln w="10160">
            <a:solidFill>
              <a:srgbClr val="D7D4C9"/>
            </a:solidFill>
          </a:ln>
          <a:effectLst/>
        </p:spPr>
        <p:txBody>
          <a:bodyPr rtlCol="0" anchor="ctr"/>
          <a:lstStyle/>
          <a:p/>
        </p:txBody>
      </p:sp>
      <p:sp>
        <p:nvSpPr>
          <p:cNvPr id="24" name="Round Same Side Corner Rectangle 23"/>
          <p:cNvSpPr/>
          <p:nvPr/>
        </p:nvSpPr>
        <p:spPr>
          <a:xfrm>
            <a:off x="381000" y="1427480"/>
            <a:ext cx="6798056" cy="266700"/>
          </a:xfrm>
          <a:prstGeom prst="round2SameRect">
            <a:avLst>
              <a:gd name="adj1" fmla="val 38095"/>
              <a:gd name="adj2" fmla="val 0"/>
            </a:avLst>
          </a:prstGeom>
          <a:solidFill>
            <a:srgbClr val="3F5C4A"/>
          </a:solidFill>
          <a:ln>
            <a:noFill/>
          </a:ln>
          <a:effectLst/>
        </p:spPr>
        <p:txBody>
          <a:bodyPr rtlCol="0" anchor="ctr"/>
          <a:lstStyle/>
          <a:p/>
        </p:txBody>
      </p:sp>
      <p:cxnSp>
        <p:nvCxnSpPr>
          <p:cNvPr id="2" name="Connector 1"/>
          <p:cNvCxnSpPr/>
          <p:nvPr/>
        </p:nvCxnSpPr>
        <p:spPr>
          <a:xfrm>
            <a:off x="38100" y="25400"/>
            <a:ext cx="660400" cy="660400"/>
          </a:xfrm>
          <a:prstGeom prst="line">
            <a:avLst/>
          </a:prstGeom>
          <a:ln w="13970">
            <a:solidFill>
              <a:srgbClr val="B08D4F"/>
            </a:solidFill>
          </a:ln>
        </p:spPr>
      </p:cxnSp>
      <p:sp>
        <p:nvSpPr>
          <p:cNvPr id="3" name="Oval 2"/>
          <p:cNvSpPr/>
          <p:nvPr/>
        </p:nvSpPr>
        <p:spPr>
          <a:xfrm>
            <a:off x="191770" y="77470"/>
            <a:ext cx="190500" cy="215900"/>
          </a:xfrm>
          <a:prstGeom prst="ellipse">
            <a:avLst/>
          </a:prstGeom>
          <a:solidFill>
            <a:srgbClr val="8FA388"/>
          </a:solidFill>
          <a:ln>
            <a:noFill/>
          </a:ln>
          <a:effectLst/>
        </p:spPr>
        <p:txBody>
          <a:bodyPr rtlCol="0" anchor="ctr"/>
          <a:lstStyle/>
          <a:p/>
        </p:txBody>
      </p:sp>
      <p:sp>
        <p:nvSpPr>
          <p:cNvPr id="4" name="Oval 3"/>
          <p:cNvSpPr/>
          <p:nvPr/>
        </p:nvSpPr>
        <p:spPr>
          <a:xfrm>
            <a:off x="330708" y="216408"/>
            <a:ext cx="203200" cy="228600"/>
          </a:xfrm>
          <a:prstGeom prst="ellipse">
            <a:avLst/>
          </a:prstGeom>
          <a:solidFill>
            <a:srgbClr val="8FA388"/>
          </a:solidFill>
          <a:ln>
            <a:noFill/>
          </a:ln>
          <a:effectLst/>
        </p:spPr>
        <p:txBody>
          <a:bodyPr rtlCol="0" anchor="ctr"/>
          <a:lstStyle/>
          <a:p/>
        </p:txBody>
      </p:sp>
      <p:sp>
        <p:nvSpPr>
          <p:cNvPr id="5" name="Oval 4"/>
          <p:cNvSpPr/>
          <p:nvPr/>
        </p:nvSpPr>
        <p:spPr>
          <a:xfrm>
            <a:off x="482345" y="368045"/>
            <a:ext cx="190500" cy="215900"/>
          </a:xfrm>
          <a:prstGeom prst="ellipse">
            <a:avLst/>
          </a:prstGeom>
          <a:solidFill>
            <a:srgbClr val="8FA388"/>
          </a:solidFill>
          <a:ln>
            <a:noFill/>
          </a:ln>
          <a:effectLst/>
        </p:spPr>
        <p:txBody>
          <a:bodyPr rtlCol="0" anchor="ctr"/>
          <a:lstStyle/>
          <a:p/>
        </p:txBody>
      </p:sp>
      <p:cxnSp>
        <p:nvCxnSpPr>
          <p:cNvPr id="6" name="Connector 5"/>
          <p:cNvCxnSpPr/>
          <p:nvPr/>
        </p:nvCxnSpPr>
        <p:spPr>
          <a:xfrm flipH="1">
            <a:off x="6861556" y="25400"/>
            <a:ext cx="660400" cy="660400"/>
          </a:xfrm>
          <a:prstGeom prst="line">
            <a:avLst/>
          </a:prstGeom>
          <a:ln w="13970">
            <a:solidFill>
              <a:srgbClr val="B08D4F"/>
            </a:solidFill>
          </a:ln>
        </p:spPr>
      </p:cxnSp>
      <p:sp>
        <p:nvSpPr>
          <p:cNvPr id="7" name="Oval 6"/>
          <p:cNvSpPr/>
          <p:nvPr/>
        </p:nvSpPr>
        <p:spPr>
          <a:xfrm>
            <a:off x="7177785" y="77470"/>
            <a:ext cx="190500" cy="215900"/>
          </a:xfrm>
          <a:prstGeom prst="ellipse">
            <a:avLst/>
          </a:prstGeom>
          <a:solidFill>
            <a:srgbClr val="8FA388"/>
          </a:solidFill>
          <a:ln>
            <a:noFill/>
          </a:ln>
          <a:effectLst/>
        </p:spPr>
        <p:txBody>
          <a:bodyPr rtlCol="0" anchor="ctr"/>
          <a:lstStyle/>
          <a:p/>
        </p:txBody>
      </p:sp>
      <p:sp>
        <p:nvSpPr>
          <p:cNvPr id="8" name="Oval 7"/>
          <p:cNvSpPr/>
          <p:nvPr/>
        </p:nvSpPr>
        <p:spPr>
          <a:xfrm>
            <a:off x="7026148" y="216408"/>
            <a:ext cx="203200" cy="228600"/>
          </a:xfrm>
          <a:prstGeom prst="ellipse">
            <a:avLst/>
          </a:prstGeom>
          <a:solidFill>
            <a:srgbClr val="8FA388"/>
          </a:solidFill>
          <a:ln>
            <a:noFill/>
          </a:ln>
          <a:effectLst/>
        </p:spPr>
        <p:txBody>
          <a:bodyPr rtlCol="0" anchor="ctr"/>
          <a:lstStyle/>
          <a:p/>
        </p:txBody>
      </p:sp>
      <p:sp>
        <p:nvSpPr>
          <p:cNvPr id="9" name="Oval 8"/>
          <p:cNvSpPr/>
          <p:nvPr/>
        </p:nvSpPr>
        <p:spPr>
          <a:xfrm>
            <a:off x="6887209" y="368045"/>
            <a:ext cx="190500" cy="215900"/>
          </a:xfrm>
          <a:prstGeom prst="ellipse">
            <a:avLst/>
          </a:prstGeom>
          <a:solidFill>
            <a:srgbClr val="8FA388"/>
          </a:solidFill>
          <a:ln>
            <a:noFill/>
          </a:ln>
          <a:effectLst/>
        </p:spPr>
        <p:txBody>
          <a:bodyPr rtlCol="0" anchor="ctr"/>
          <a:lstStyle/>
          <a:p/>
        </p:txBody>
      </p:sp>
      <p:sp>
        <p:nvSpPr>
          <p:cNvPr id="10" name="Oval 9"/>
          <p:cNvSpPr/>
          <p:nvPr/>
        </p:nvSpPr>
        <p:spPr>
          <a:xfrm>
            <a:off x="3500628" y="127000"/>
            <a:ext cx="114300" cy="215900"/>
          </a:xfrm>
          <a:prstGeom prst="ellipse">
            <a:avLst/>
          </a:prstGeom>
          <a:noFill/>
          <a:ln w="10160">
            <a:solidFill>
              <a:srgbClr val="B08D4F"/>
            </a:solidFill>
          </a:ln>
          <a:effectLst/>
        </p:spPr>
        <p:txBody>
          <a:bodyPr rtlCol="0" anchor="ctr"/>
          <a:lstStyle/>
          <a:p/>
        </p:txBody>
      </p:sp>
      <p:sp>
        <p:nvSpPr>
          <p:cNvPr id="11" name="Oval 10"/>
          <p:cNvSpPr/>
          <p:nvPr/>
        </p:nvSpPr>
        <p:spPr>
          <a:xfrm>
            <a:off x="3595878" y="127000"/>
            <a:ext cx="114300" cy="215900"/>
          </a:xfrm>
          <a:prstGeom prst="ellipse">
            <a:avLst/>
          </a:prstGeom>
          <a:noFill/>
          <a:ln w="10160">
            <a:solidFill>
              <a:srgbClr val="B08D4F"/>
            </a:solidFill>
          </a:ln>
          <a:effectLst/>
        </p:spPr>
        <p:txBody>
          <a:bodyPr rtlCol="0" anchor="ctr"/>
          <a:lstStyle/>
          <a:p/>
        </p:txBody>
      </p:sp>
      <p:sp>
        <p:nvSpPr>
          <p:cNvPr id="12" name="Oval 11"/>
          <p:cNvSpPr/>
          <p:nvPr/>
        </p:nvSpPr>
        <p:spPr>
          <a:xfrm>
            <a:off x="3691128" y="127000"/>
            <a:ext cx="114300" cy="215900"/>
          </a:xfrm>
          <a:prstGeom prst="ellipse">
            <a:avLst/>
          </a:prstGeom>
          <a:noFill/>
          <a:ln w="10160">
            <a:solidFill>
              <a:srgbClr val="B08D4F"/>
            </a:solidFill>
          </a:ln>
          <a:effectLst/>
        </p:spPr>
        <p:txBody>
          <a:bodyPr rtlCol="0" anchor="ctr"/>
          <a:lstStyle/>
          <a:p/>
        </p:txBody>
      </p:sp>
      <p:sp>
        <p:nvSpPr>
          <p:cNvPr id="13" name="Oval 12"/>
          <p:cNvSpPr/>
          <p:nvPr/>
        </p:nvSpPr>
        <p:spPr>
          <a:xfrm>
            <a:off x="3786378" y="127000"/>
            <a:ext cx="114300" cy="215900"/>
          </a:xfrm>
          <a:prstGeom prst="ellipse">
            <a:avLst/>
          </a:prstGeom>
          <a:noFill/>
          <a:ln w="10160">
            <a:solidFill>
              <a:srgbClr val="B08D4F"/>
            </a:solidFill>
          </a:ln>
          <a:effectLst/>
        </p:spPr>
        <p:txBody>
          <a:bodyPr rtlCol="0" anchor="ctr"/>
          <a:lstStyle/>
          <a:p/>
        </p:txBody>
      </p:sp>
      <p:sp>
        <p:nvSpPr>
          <p:cNvPr id="14" name="Oval 13"/>
          <p:cNvSpPr/>
          <p:nvPr/>
        </p:nvSpPr>
        <p:spPr>
          <a:xfrm>
            <a:off x="3881628" y="127000"/>
            <a:ext cx="114300" cy="215900"/>
          </a:xfrm>
          <a:prstGeom prst="ellipse">
            <a:avLst/>
          </a:prstGeom>
          <a:noFill/>
          <a:ln w="10160">
            <a:solidFill>
              <a:srgbClr val="B08D4F"/>
            </a:solidFill>
          </a:ln>
          <a:effectLst/>
        </p:spPr>
        <p:txBody>
          <a:bodyPr rtlCol="0" anchor="ctr"/>
          <a:lstStyle/>
          <a:p/>
        </p:txBody>
      </p:sp>
      <p:sp>
        <p:nvSpPr>
          <p:cNvPr id="15" name="Arc 14"/>
          <p:cNvSpPr/>
          <p:nvPr/>
        </p:nvSpPr>
        <p:spPr>
          <a:xfrm>
            <a:off x="3437128" y="165100"/>
            <a:ext cx="685800" cy="381000"/>
          </a:xfrm>
          <a:prstGeom prst="arc">
            <a:avLst>
              <a:gd name="adj1" fmla="val 18000000"/>
              <a:gd name="adj2" fmla="val 0"/>
            </a:avLst>
          </a:prstGeom>
          <a:noFill/>
          <a:ln w="10160">
            <a:solidFill>
              <a:srgbClr val="B08D4F"/>
            </a:solidFill>
          </a:ln>
          <a:effectLst/>
        </p:spPr>
        <p:txBody>
          <a:bodyPr rtlCol="0" anchor="ctr"/>
          <a:lstStyle/>
          <a:p>
            <a:pPr algn="ctr"/>
          </a:p>
        </p:txBody>
      </p:sp>
      <p:sp>
        <p:nvSpPr>
          <p:cNvPr id="16" name="TextBox 15"/>
          <p:cNvSpPr txBox="1"/>
          <p:nvPr/>
        </p:nvSpPr>
        <p:spPr>
          <a:xfrm>
            <a:off x="254000" y="635000"/>
            <a:ext cx="7052056" cy="426719"/>
          </a:xfrm>
          <a:prstGeom prst="rect">
            <a:avLst/>
          </a:prstGeom>
          <a:noFill/>
        </p:spPr>
        <p:txBody>
          <a:bodyPr wrap="square" lIns="0" rIns="0" tIns="0" bIns="0" anchor="t">
            <a:spAutoFit/>
          </a:bodyPr>
          <a:lstStyle/>
          <a:p>
            <a:pPr algn="ctr"/>
            <a:r>
              <a:rPr sz="2400" b="1" i="0">
                <a:solidFill>
                  <a:srgbClr val="3F5C4A"/>
                </a:solidFill>
                <a:latin typeface="Libre Baskerville"/>
              </a:rPr>
              <a:t>PLANO DE AUTOCUIDADO CORPORAL</a:t>
            </a:r>
          </a:p>
        </p:txBody>
      </p:sp>
      <p:sp>
        <p:nvSpPr>
          <p:cNvPr id="17" name="TextBox 16"/>
          <p:cNvSpPr txBox="1"/>
          <p:nvPr/>
        </p:nvSpPr>
        <p:spPr>
          <a:xfrm>
            <a:off x="508000" y="1046480"/>
            <a:ext cx="6544056" cy="177800"/>
          </a:xfrm>
          <a:prstGeom prst="rect">
            <a:avLst/>
          </a:prstGeom>
          <a:noFill/>
        </p:spPr>
        <p:txBody>
          <a:bodyPr wrap="square" lIns="0" rIns="0" tIns="0" bIns="0" anchor="t">
            <a:spAutoFit/>
          </a:bodyPr>
          <a:lstStyle/>
          <a:p>
            <a:pPr algn="ctr"/>
            <a:r>
              <a:rPr sz="950" b="0" i="0">
                <a:solidFill>
                  <a:srgbClr val="2A2A26"/>
                </a:solidFill>
                <a:latin typeface="Montserrat"/>
              </a:rPr>
              <a:t>Cuidar de si também pode ser planejado</a:t>
            </a:r>
          </a:p>
        </p:txBody>
      </p:sp>
      <p:sp>
        <p:nvSpPr>
          <p:cNvPr id="18" name="TextBox 17"/>
          <p:cNvSpPr txBox="1"/>
          <p:nvPr/>
        </p:nvSpPr>
        <p:spPr>
          <a:xfrm>
            <a:off x="762000" y="10196703"/>
            <a:ext cx="6036056" cy="127000"/>
          </a:xfrm>
          <a:prstGeom prst="rect">
            <a:avLst/>
          </a:prstGeom>
          <a:noFill/>
        </p:spPr>
        <p:txBody>
          <a:bodyPr wrap="square" lIns="0" rIns="0" tIns="0" bIns="0" anchor="t">
            <a:spAutoFit/>
          </a:bodyPr>
          <a:lstStyle/>
          <a:p>
            <a:pPr algn="ctr"/>
            <a:r>
              <a:rPr sz="650" b="0" i="0">
                <a:solidFill>
                  <a:srgbClr val="77776E"/>
                </a:solidFill>
                <a:latin typeface="Montserrat"/>
              </a:rPr>
              <a:t>MASSOTERAPIA • CUIDADO • BEM-ESTAR</a:t>
            </a:r>
          </a:p>
        </p:txBody>
      </p:sp>
      <p:cxnSp>
        <p:nvCxnSpPr>
          <p:cNvPr id="19" name="Connector 18"/>
          <p:cNvCxnSpPr/>
          <p:nvPr/>
        </p:nvCxnSpPr>
        <p:spPr>
          <a:xfrm>
            <a:off x="1968500" y="10336403"/>
            <a:ext cx="3623056" cy="0"/>
          </a:xfrm>
          <a:prstGeom prst="line">
            <a:avLst/>
          </a:prstGeom>
          <a:ln w="8890">
            <a:solidFill>
              <a:srgbClr val="B08D4F"/>
            </a:solidFill>
          </a:ln>
        </p:spPr>
      </p:cxnSp>
      <p:cxnSp>
        <p:nvCxnSpPr>
          <p:cNvPr id="20" name="Connector 19"/>
          <p:cNvCxnSpPr/>
          <p:nvPr/>
        </p:nvCxnSpPr>
        <p:spPr>
          <a:xfrm>
            <a:off x="533400" y="2108018"/>
            <a:ext cx="6493256" cy="0"/>
          </a:xfrm>
          <a:prstGeom prst="line">
            <a:avLst/>
          </a:prstGeom>
          <a:ln w="7620">
            <a:solidFill>
              <a:srgbClr val="B4B2A8"/>
            </a:solidFill>
          </a:ln>
        </p:spPr>
      </p:cxnSp>
      <p:cxnSp>
        <p:nvCxnSpPr>
          <p:cNvPr id="21" name="Connector 20"/>
          <p:cNvCxnSpPr/>
          <p:nvPr/>
        </p:nvCxnSpPr>
        <p:spPr>
          <a:xfrm>
            <a:off x="533400" y="2398551"/>
            <a:ext cx="6493256" cy="0"/>
          </a:xfrm>
          <a:prstGeom prst="line">
            <a:avLst/>
          </a:prstGeom>
          <a:ln w="7620">
            <a:solidFill>
              <a:srgbClr val="B4B2A8"/>
            </a:solidFill>
          </a:ln>
        </p:spPr>
      </p:cxnSp>
      <p:cxnSp>
        <p:nvCxnSpPr>
          <p:cNvPr id="22" name="Connector 21"/>
          <p:cNvCxnSpPr/>
          <p:nvPr/>
        </p:nvCxnSpPr>
        <p:spPr>
          <a:xfrm>
            <a:off x="533400" y="2689083"/>
            <a:ext cx="6493256" cy="0"/>
          </a:xfrm>
          <a:prstGeom prst="line">
            <a:avLst/>
          </a:prstGeom>
          <a:ln w="7620">
            <a:solidFill>
              <a:srgbClr val="B4B2A8"/>
            </a:solidFill>
          </a:ln>
        </p:spPr>
      </p:cxnSp>
      <p:sp>
        <p:nvSpPr>
          <p:cNvPr id="25" name="TextBox 24"/>
          <p:cNvSpPr txBox="1"/>
          <p:nvPr/>
        </p:nvSpPr>
        <p:spPr>
          <a:xfrm>
            <a:off x="508000" y="1427480"/>
            <a:ext cx="6544056" cy="266700"/>
          </a:xfrm>
          <a:prstGeom prst="rect">
            <a:avLst/>
          </a:prstGeom>
          <a:noFill/>
        </p:spPr>
        <p:txBody>
          <a:bodyPr wrap="square" lIns="0" rIns="0" tIns="0" bIns="0" anchor="ctr">
            <a:spAutoFit/>
          </a:bodyPr>
          <a:lstStyle/>
          <a:p>
            <a:pPr algn="l"/>
            <a:r>
              <a:rPr sz="840" b="1" i="0">
                <a:solidFill>
                  <a:srgbClr val="FFFFFF"/>
                </a:solidFill>
                <a:latin typeface="Montserrat"/>
              </a:rPr>
              <a:t>COMO PERCEBO QUE MEU CORPO ESTÁ PRECISANDO DE CUIDADO?</a:t>
            </a:r>
          </a:p>
        </p:txBody>
      </p:sp>
      <p:sp>
        <p:nvSpPr>
          <p:cNvPr id="26" name="Rounded Rectangle 25"/>
          <p:cNvSpPr/>
          <p:nvPr/>
        </p:nvSpPr>
        <p:spPr>
          <a:xfrm>
            <a:off x="533400" y="3478103"/>
            <a:ext cx="3119628" cy="968440"/>
          </a:xfrm>
          <a:prstGeom prst="roundRect">
            <a:avLst>
              <a:gd name="adj" fmla="val 7868"/>
            </a:avLst>
          </a:prstGeom>
          <a:solidFill>
            <a:srgbClr val="EDEAE0"/>
          </a:solidFill>
          <a:ln w="7620">
            <a:solidFill>
              <a:srgbClr val="D7D4C9"/>
            </a:solidFill>
          </a:ln>
          <a:effectLst/>
        </p:spPr>
        <p:txBody>
          <a:bodyPr rtlCol="0" anchor="ctr"/>
          <a:lstStyle/>
          <a:p/>
        </p:txBody>
      </p:sp>
      <p:sp>
        <p:nvSpPr>
          <p:cNvPr id="27" name="TextBox 26"/>
          <p:cNvSpPr txBox="1"/>
          <p:nvPr/>
        </p:nvSpPr>
        <p:spPr>
          <a:xfrm>
            <a:off x="660400" y="3579703"/>
            <a:ext cx="2865628" cy="152400"/>
          </a:xfrm>
          <a:prstGeom prst="rect">
            <a:avLst/>
          </a:prstGeom>
          <a:noFill/>
        </p:spPr>
        <p:txBody>
          <a:bodyPr wrap="square" lIns="0" rIns="0" tIns="0" bIns="0" anchor="t">
            <a:spAutoFit/>
          </a:bodyPr>
          <a:lstStyle/>
          <a:p>
            <a:pPr algn="l"/>
            <a:r>
              <a:rPr sz="941" b="1" i="0">
                <a:solidFill>
                  <a:srgbClr val="3F5C4A"/>
                </a:solidFill>
                <a:latin typeface="Montserrat"/>
              </a:rPr>
              <a:t>CORPO</a:t>
            </a:r>
          </a:p>
        </p:txBody>
      </p:sp>
      <p:sp>
        <p:nvSpPr>
          <p:cNvPr id="28" name="TextBox 27"/>
          <p:cNvSpPr txBox="1"/>
          <p:nvPr/>
        </p:nvSpPr>
        <p:spPr>
          <a:xfrm>
            <a:off x="660400" y="3744803"/>
            <a:ext cx="2865628" cy="139700"/>
          </a:xfrm>
          <a:prstGeom prst="rect">
            <a:avLst/>
          </a:prstGeom>
          <a:noFill/>
        </p:spPr>
        <p:txBody>
          <a:bodyPr wrap="square" lIns="0" rIns="0" tIns="0" bIns="0" anchor="t">
            <a:spAutoFit/>
          </a:bodyPr>
          <a:lstStyle/>
          <a:p>
            <a:pPr algn="l"/>
            <a:r>
              <a:rPr sz="788" b="0" i="0">
                <a:solidFill>
                  <a:srgbClr val="2A2A26"/>
                </a:solidFill>
                <a:latin typeface="Montserrat"/>
              </a:rPr>
              <a:t>descanso, alimentação, movimento</a:t>
            </a:r>
          </a:p>
        </p:txBody>
      </p:sp>
      <p:cxnSp>
        <p:nvCxnSpPr>
          <p:cNvPr id="29" name="Connector 28"/>
          <p:cNvCxnSpPr/>
          <p:nvPr/>
        </p:nvCxnSpPr>
        <p:spPr>
          <a:xfrm>
            <a:off x="660400" y="4217943"/>
            <a:ext cx="2865628" cy="0"/>
          </a:xfrm>
          <a:prstGeom prst="line">
            <a:avLst/>
          </a:prstGeom>
          <a:ln w="7620">
            <a:solidFill>
              <a:srgbClr val="B4B2A8"/>
            </a:solidFill>
          </a:ln>
        </p:spPr>
      </p:cxnSp>
      <p:cxnSp>
        <p:nvCxnSpPr>
          <p:cNvPr id="30" name="Connector 29"/>
          <p:cNvCxnSpPr/>
          <p:nvPr/>
        </p:nvCxnSpPr>
        <p:spPr>
          <a:xfrm>
            <a:off x="660400" y="4332243"/>
            <a:ext cx="2865628" cy="0"/>
          </a:xfrm>
          <a:prstGeom prst="line">
            <a:avLst/>
          </a:prstGeom>
          <a:ln w="7620">
            <a:solidFill>
              <a:srgbClr val="B4B2A8"/>
            </a:solidFill>
          </a:ln>
        </p:spPr>
      </p:cxnSp>
      <p:sp>
        <p:nvSpPr>
          <p:cNvPr id="31" name="Rounded Rectangle 30"/>
          <p:cNvSpPr/>
          <p:nvPr/>
        </p:nvSpPr>
        <p:spPr>
          <a:xfrm>
            <a:off x="3907028" y="3478103"/>
            <a:ext cx="3119628" cy="968440"/>
          </a:xfrm>
          <a:prstGeom prst="roundRect">
            <a:avLst>
              <a:gd name="adj" fmla="val 7868"/>
            </a:avLst>
          </a:prstGeom>
          <a:solidFill>
            <a:srgbClr val="EDEAE0"/>
          </a:solidFill>
          <a:ln w="7620">
            <a:solidFill>
              <a:srgbClr val="D7D4C9"/>
            </a:solidFill>
          </a:ln>
          <a:effectLst/>
        </p:spPr>
        <p:txBody>
          <a:bodyPr rtlCol="0" anchor="ctr"/>
          <a:lstStyle/>
          <a:p/>
        </p:txBody>
      </p:sp>
      <p:sp>
        <p:nvSpPr>
          <p:cNvPr id="32" name="TextBox 31"/>
          <p:cNvSpPr txBox="1"/>
          <p:nvPr/>
        </p:nvSpPr>
        <p:spPr>
          <a:xfrm>
            <a:off x="4034028" y="3579703"/>
            <a:ext cx="2865628" cy="152400"/>
          </a:xfrm>
          <a:prstGeom prst="rect">
            <a:avLst/>
          </a:prstGeom>
          <a:noFill/>
        </p:spPr>
        <p:txBody>
          <a:bodyPr wrap="square" lIns="0" rIns="0" tIns="0" bIns="0" anchor="t">
            <a:spAutoFit/>
          </a:bodyPr>
          <a:lstStyle/>
          <a:p>
            <a:pPr algn="l"/>
            <a:r>
              <a:rPr sz="941" b="1" i="0">
                <a:solidFill>
                  <a:srgbClr val="3F5C4A"/>
                </a:solidFill>
                <a:latin typeface="Montserrat"/>
              </a:rPr>
              <a:t>HIDRATAÇÃO</a:t>
            </a:r>
          </a:p>
        </p:txBody>
      </p:sp>
      <p:sp>
        <p:nvSpPr>
          <p:cNvPr id="33" name="TextBox 32"/>
          <p:cNvSpPr txBox="1"/>
          <p:nvPr/>
        </p:nvSpPr>
        <p:spPr>
          <a:xfrm>
            <a:off x="4034028" y="3744803"/>
            <a:ext cx="2865628" cy="139700"/>
          </a:xfrm>
          <a:prstGeom prst="rect">
            <a:avLst/>
          </a:prstGeom>
          <a:noFill/>
        </p:spPr>
        <p:txBody>
          <a:bodyPr wrap="square" lIns="0" rIns="0" tIns="0" bIns="0" anchor="t">
            <a:spAutoFit/>
          </a:bodyPr>
          <a:lstStyle/>
          <a:p>
            <a:pPr algn="l"/>
            <a:r>
              <a:rPr sz="788" b="0" i="0">
                <a:solidFill>
                  <a:srgbClr val="2A2A26"/>
                </a:solidFill>
                <a:latin typeface="Montserrat"/>
              </a:rPr>
              <a:t>água e rotina de consumo</a:t>
            </a:r>
          </a:p>
        </p:txBody>
      </p:sp>
      <p:cxnSp>
        <p:nvCxnSpPr>
          <p:cNvPr id="34" name="Connector 33"/>
          <p:cNvCxnSpPr/>
          <p:nvPr/>
        </p:nvCxnSpPr>
        <p:spPr>
          <a:xfrm>
            <a:off x="4034028" y="4217943"/>
            <a:ext cx="2865628" cy="0"/>
          </a:xfrm>
          <a:prstGeom prst="line">
            <a:avLst/>
          </a:prstGeom>
          <a:ln w="7620">
            <a:solidFill>
              <a:srgbClr val="B4B2A8"/>
            </a:solidFill>
          </a:ln>
        </p:spPr>
      </p:cxnSp>
      <p:cxnSp>
        <p:nvCxnSpPr>
          <p:cNvPr id="35" name="Connector 34"/>
          <p:cNvCxnSpPr/>
          <p:nvPr/>
        </p:nvCxnSpPr>
        <p:spPr>
          <a:xfrm>
            <a:off x="4034028" y="4332243"/>
            <a:ext cx="2865628" cy="0"/>
          </a:xfrm>
          <a:prstGeom prst="line">
            <a:avLst/>
          </a:prstGeom>
          <a:ln w="7620">
            <a:solidFill>
              <a:srgbClr val="B4B2A8"/>
            </a:solidFill>
          </a:ln>
        </p:spPr>
      </p:cxnSp>
      <p:sp>
        <p:nvSpPr>
          <p:cNvPr id="36" name="Rounded Rectangle 35"/>
          <p:cNvSpPr/>
          <p:nvPr/>
        </p:nvSpPr>
        <p:spPr>
          <a:xfrm>
            <a:off x="533400" y="4607950"/>
            <a:ext cx="3119628" cy="968440"/>
          </a:xfrm>
          <a:prstGeom prst="roundRect">
            <a:avLst>
              <a:gd name="adj" fmla="val 7868"/>
            </a:avLst>
          </a:prstGeom>
          <a:solidFill>
            <a:srgbClr val="EDEAE0"/>
          </a:solidFill>
          <a:ln w="7620">
            <a:solidFill>
              <a:srgbClr val="D7D4C9"/>
            </a:solidFill>
          </a:ln>
          <a:effectLst/>
        </p:spPr>
        <p:txBody>
          <a:bodyPr rtlCol="0" anchor="ctr"/>
          <a:lstStyle/>
          <a:p/>
        </p:txBody>
      </p:sp>
      <p:sp>
        <p:nvSpPr>
          <p:cNvPr id="37" name="TextBox 36"/>
          <p:cNvSpPr txBox="1"/>
          <p:nvPr/>
        </p:nvSpPr>
        <p:spPr>
          <a:xfrm>
            <a:off x="660400" y="4709550"/>
            <a:ext cx="2865628" cy="152400"/>
          </a:xfrm>
          <a:prstGeom prst="rect">
            <a:avLst/>
          </a:prstGeom>
          <a:noFill/>
        </p:spPr>
        <p:txBody>
          <a:bodyPr wrap="square" lIns="0" rIns="0" tIns="0" bIns="0" anchor="t">
            <a:spAutoFit/>
          </a:bodyPr>
          <a:lstStyle/>
          <a:p>
            <a:pPr algn="l"/>
            <a:r>
              <a:rPr sz="941" b="1" i="0">
                <a:solidFill>
                  <a:srgbClr val="3F5C4A"/>
                </a:solidFill>
                <a:latin typeface="Montserrat"/>
              </a:rPr>
              <a:t>SONO</a:t>
            </a:r>
          </a:p>
        </p:txBody>
      </p:sp>
      <p:sp>
        <p:nvSpPr>
          <p:cNvPr id="38" name="TextBox 37"/>
          <p:cNvSpPr txBox="1"/>
          <p:nvPr/>
        </p:nvSpPr>
        <p:spPr>
          <a:xfrm>
            <a:off x="660400" y="4874650"/>
            <a:ext cx="2865628" cy="139700"/>
          </a:xfrm>
          <a:prstGeom prst="rect">
            <a:avLst/>
          </a:prstGeom>
          <a:noFill/>
        </p:spPr>
        <p:txBody>
          <a:bodyPr wrap="square" lIns="0" rIns="0" tIns="0" bIns="0" anchor="t">
            <a:spAutoFit/>
          </a:bodyPr>
          <a:lstStyle/>
          <a:p>
            <a:pPr algn="l"/>
            <a:r>
              <a:rPr sz="788" b="0" i="0">
                <a:solidFill>
                  <a:srgbClr val="2A2A26"/>
                </a:solidFill>
                <a:latin typeface="Montserrat"/>
              </a:rPr>
              <a:t>horários, ambiente e descanso</a:t>
            </a:r>
          </a:p>
        </p:txBody>
      </p:sp>
      <p:cxnSp>
        <p:nvCxnSpPr>
          <p:cNvPr id="39" name="Connector 38"/>
          <p:cNvCxnSpPr/>
          <p:nvPr/>
        </p:nvCxnSpPr>
        <p:spPr>
          <a:xfrm>
            <a:off x="660400" y="5347791"/>
            <a:ext cx="2865628" cy="0"/>
          </a:xfrm>
          <a:prstGeom prst="line">
            <a:avLst/>
          </a:prstGeom>
          <a:ln w="7620">
            <a:solidFill>
              <a:srgbClr val="B4B2A8"/>
            </a:solidFill>
          </a:ln>
        </p:spPr>
      </p:cxnSp>
      <p:cxnSp>
        <p:nvCxnSpPr>
          <p:cNvPr id="40" name="Connector 39"/>
          <p:cNvCxnSpPr/>
          <p:nvPr/>
        </p:nvCxnSpPr>
        <p:spPr>
          <a:xfrm>
            <a:off x="660400" y="5462091"/>
            <a:ext cx="2865628" cy="0"/>
          </a:xfrm>
          <a:prstGeom prst="line">
            <a:avLst/>
          </a:prstGeom>
          <a:ln w="7620">
            <a:solidFill>
              <a:srgbClr val="B4B2A8"/>
            </a:solidFill>
          </a:ln>
        </p:spPr>
      </p:cxnSp>
      <p:sp>
        <p:nvSpPr>
          <p:cNvPr id="41" name="Rounded Rectangle 40"/>
          <p:cNvSpPr/>
          <p:nvPr/>
        </p:nvSpPr>
        <p:spPr>
          <a:xfrm>
            <a:off x="3907028" y="4607950"/>
            <a:ext cx="3119628" cy="968440"/>
          </a:xfrm>
          <a:prstGeom prst="roundRect">
            <a:avLst>
              <a:gd name="adj" fmla="val 7868"/>
            </a:avLst>
          </a:prstGeom>
          <a:solidFill>
            <a:srgbClr val="EDEAE0"/>
          </a:solidFill>
          <a:ln w="7620">
            <a:solidFill>
              <a:srgbClr val="D7D4C9"/>
            </a:solidFill>
          </a:ln>
          <a:effectLst/>
        </p:spPr>
        <p:txBody>
          <a:bodyPr rtlCol="0" anchor="ctr"/>
          <a:lstStyle/>
          <a:p/>
        </p:txBody>
      </p:sp>
      <p:sp>
        <p:nvSpPr>
          <p:cNvPr id="42" name="TextBox 41"/>
          <p:cNvSpPr txBox="1"/>
          <p:nvPr/>
        </p:nvSpPr>
        <p:spPr>
          <a:xfrm>
            <a:off x="4034028" y="4709550"/>
            <a:ext cx="2865628" cy="152400"/>
          </a:xfrm>
          <a:prstGeom prst="rect">
            <a:avLst/>
          </a:prstGeom>
          <a:noFill/>
        </p:spPr>
        <p:txBody>
          <a:bodyPr wrap="square" lIns="0" rIns="0" tIns="0" bIns="0" anchor="t">
            <a:spAutoFit/>
          </a:bodyPr>
          <a:lstStyle/>
          <a:p>
            <a:pPr algn="l"/>
            <a:r>
              <a:rPr sz="941" b="1" i="0">
                <a:solidFill>
                  <a:srgbClr val="3F5C4A"/>
                </a:solidFill>
                <a:latin typeface="Montserrat"/>
              </a:rPr>
              <a:t>MOVIMENTO</a:t>
            </a:r>
          </a:p>
        </p:txBody>
      </p:sp>
      <p:sp>
        <p:nvSpPr>
          <p:cNvPr id="43" name="TextBox 42"/>
          <p:cNvSpPr txBox="1"/>
          <p:nvPr/>
        </p:nvSpPr>
        <p:spPr>
          <a:xfrm>
            <a:off x="4034028" y="4874650"/>
            <a:ext cx="2865628" cy="139700"/>
          </a:xfrm>
          <a:prstGeom prst="rect">
            <a:avLst/>
          </a:prstGeom>
          <a:noFill/>
        </p:spPr>
        <p:txBody>
          <a:bodyPr wrap="square" lIns="0" rIns="0" tIns="0" bIns="0" anchor="t">
            <a:spAutoFit/>
          </a:bodyPr>
          <a:lstStyle/>
          <a:p>
            <a:pPr algn="l"/>
            <a:r>
              <a:rPr sz="788" b="0" i="0">
                <a:solidFill>
                  <a:srgbClr val="2A2A26"/>
                </a:solidFill>
                <a:latin typeface="Montserrat"/>
              </a:rPr>
              <a:t>caminhada, mobilidade, alongamento</a:t>
            </a:r>
          </a:p>
        </p:txBody>
      </p:sp>
      <p:cxnSp>
        <p:nvCxnSpPr>
          <p:cNvPr id="44" name="Connector 43"/>
          <p:cNvCxnSpPr/>
          <p:nvPr/>
        </p:nvCxnSpPr>
        <p:spPr>
          <a:xfrm>
            <a:off x="4034028" y="5347791"/>
            <a:ext cx="2865628" cy="0"/>
          </a:xfrm>
          <a:prstGeom prst="line">
            <a:avLst/>
          </a:prstGeom>
          <a:ln w="7620">
            <a:solidFill>
              <a:srgbClr val="B4B2A8"/>
            </a:solidFill>
          </a:ln>
        </p:spPr>
      </p:cxnSp>
      <p:cxnSp>
        <p:nvCxnSpPr>
          <p:cNvPr id="45" name="Connector 44"/>
          <p:cNvCxnSpPr/>
          <p:nvPr/>
        </p:nvCxnSpPr>
        <p:spPr>
          <a:xfrm>
            <a:off x="4034028" y="5462091"/>
            <a:ext cx="2865628" cy="0"/>
          </a:xfrm>
          <a:prstGeom prst="line">
            <a:avLst/>
          </a:prstGeom>
          <a:ln w="7620">
            <a:solidFill>
              <a:srgbClr val="B4B2A8"/>
            </a:solidFill>
          </a:ln>
        </p:spPr>
      </p:cxnSp>
      <p:sp>
        <p:nvSpPr>
          <p:cNvPr id="46" name="Rounded Rectangle 45"/>
          <p:cNvSpPr/>
          <p:nvPr/>
        </p:nvSpPr>
        <p:spPr>
          <a:xfrm>
            <a:off x="533400" y="5737798"/>
            <a:ext cx="3119628" cy="968440"/>
          </a:xfrm>
          <a:prstGeom prst="roundRect">
            <a:avLst>
              <a:gd name="adj" fmla="val 7868"/>
            </a:avLst>
          </a:prstGeom>
          <a:solidFill>
            <a:srgbClr val="EDEAE0"/>
          </a:solidFill>
          <a:ln w="7620">
            <a:solidFill>
              <a:srgbClr val="D7D4C9"/>
            </a:solidFill>
          </a:ln>
          <a:effectLst/>
        </p:spPr>
        <p:txBody>
          <a:bodyPr rtlCol="0" anchor="ctr"/>
          <a:lstStyle/>
          <a:p/>
        </p:txBody>
      </p:sp>
      <p:sp>
        <p:nvSpPr>
          <p:cNvPr id="47" name="TextBox 46"/>
          <p:cNvSpPr txBox="1"/>
          <p:nvPr/>
        </p:nvSpPr>
        <p:spPr>
          <a:xfrm>
            <a:off x="660400" y="5839398"/>
            <a:ext cx="2865628" cy="152400"/>
          </a:xfrm>
          <a:prstGeom prst="rect">
            <a:avLst/>
          </a:prstGeom>
          <a:noFill/>
        </p:spPr>
        <p:txBody>
          <a:bodyPr wrap="square" lIns="0" rIns="0" tIns="0" bIns="0" anchor="t">
            <a:spAutoFit/>
          </a:bodyPr>
          <a:lstStyle/>
          <a:p>
            <a:pPr algn="l"/>
            <a:r>
              <a:rPr sz="941" b="1" i="0">
                <a:solidFill>
                  <a:srgbClr val="3F5C4A"/>
                </a:solidFill>
                <a:latin typeface="Montserrat"/>
              </a:rPr>
              <a:t>ROTINA</a:t>
            </a:r>
          </a:p>
        </p:txBody>
      </p:sp>
      <p:sp>
        <p:nvSpPr>
          <p:cNvPr id="48" name="TextBox 47"/>
          <p:cNvSpPr txBox="1"/>
          <p:nvPr/>
        </p:nvSpPr>
        <p:spPr>
          <a:xfrm>
            <a:off x="660400" y="6004498"/>
            <a:ext cx="2865628" cy="139700"/>
          </a:xfrm>
          <a:prstGeom prst="rect">
            <a:avLst/>
          </a:prstGeom>
          <a:noFill/>
        </p:spPr>
        <p:txBody>
          <a:bodyPr wrap="square" lIns="0" rIns="0" tIns="0" bIns="0" anchor="t">
            <a:spAutoFit/>
          </a:bodyPr>
          <a:lstStyle/>
          <a:p>
            <a:pPr algn="l"/>
            <a:r>
              <a:rPr sz="788" b="0" i="0">
                <a:solidFill>
                  <a:srgbClr val="2A2A26"/>
                </a:solidFill>
                <a:latin typeface="Montserrat"/>
              </a:rPr>
              <a:t>organização e pausas</a:t>
            </a:r>
          </a:p>
        </p:txBody>
      </p:sp>
      <p:cxnSp>
        <p:nvCxnSpPr>
          <p:cNvPr id="49" name="Connector 48"/>
          <p:cNvCxnSpPr/>
          <p:nvPr/>
        </p:nvCxnSpPr>
        <p:spPr>
          <a:xfrm>
            <a:off x="660400" y="6477638"/>
            <a:ext cx="2865628" cy="0"/>
          </a:xfrm>
          <a:prstGeom prst="line">
            <a:avLst/>
          </a:prstGeom>
          <a:ln w="7620">
            <a:solidFill>
              <a:srgbClr val="B4B2A8"/>
            </a:solidFill>
          </a:ln>
        </p:spPr>
      </p:cxnSp>
      <p:cxnSp>
        <p:nvCxnSpPr>
          <p:cNvPr id="50" name="Connector 49"/>
          <p:cNvCxnSpPr/>
          <p:nvPr/>
        </p:nvCxnSpPr>
        <p:spPr>
          <a:xfrm>
            <a:off x="660400" y="6591938"/>
            <a:ext cx="2865628" cy="0"/>
          </a:xfrm>
          <a:prstGeom prst="line">
            <a:avLst/>
          </a:prstGeom>
          <a:ln w="7620">
            <a:solidFill>
              <a:srgbClr val="B4B2A8"/>
            </a:solidFill>
          </a:ln>
        </p:spPr>
      </p:cxnSp>
      <p:sp>
        <p:nvSpPr>
          <p:cNvPr id="51" name="Rounded Rectangle 50"/>
          <p:cNvSpPr/>
          <p:nvPr/>
        </p:nvSpPr>
        <p:spPr>
          <a:xfrm>
            <a:off x="3907028" y="5737798"/>
            <a:ext cx="3119628" cy="968440"/>
          </a:xfrm>
          <a:prstGeom prst="roundRect">
            <a:avLst>
              <a:gd name="adj" fmla="val 7868"/>
            </a:avLst>
          </a:prstGeom>
          <a:solidFill>
            <a:srgbClr val="EDEAE0"/>
          </a:solidFill>
          <a:ln w="7620">
            <a:solidFill>
              <a:srgbClr val="D7D4C9"/>
            </a:solidFill>
          </a:ln>
          <a:effectLst/>
        </p:spPr>
        <p:txBody>
          <a:bodyPr rtlCol="0" anchor="ctr"/>
          <a:lstStyle/>
          <a:p/>
        </p:txBody>
      </p:sp>
      <p:sp>
        <p:nvSpPr>
          <p:cNvPr id="52" name="TextBox 51"/>
          <p:cNvSpPr txBox="1"/>
          <p:nvPr/>
        </p:nvSpPr>
        <p:spPr>
          <a:xfrm>
            <a:off x="4034028" y="5839398"/>
            <a:ext cx="2865628" cy="152400"/>
          </a:xfrm>
          <a:prstGeom prst="rect">
            <a:avLst/>
          </a:prstGeom>
          <a:noFill/>
        </p:spPr>
        <p:txBody>
          <a:bodyPr wrap="square" lIns="0" rIns="0" tIns="0" bIns="0" anchor="t">
            <a:spAutoFit/>
          </a:bodyPr>
          <a:lstStyle/>
          <a:p>
            <a:pPr algn="l"/>
            <a:r>
              <a:rPr sz="941" b="1" i="0">
                <a:solidFill>
                  <a:srgbClr val="3F5C4A"/>
                </a:solidFill>
                <a:latin typeface="Montserrat"/>
              </a:rPr>
              <a:t>RELAXAMENTO</a:t>
            </a:r>
          </a:p>
        </p:txBody>
      </p:sp>
      <p:sp>
        <p:nvSpPr>
          <p:cNvPr id="53" name="TextBox 52"/>
          <p:cNvSpPr txBox="1"/>
          <p:nvPr/>
        </p:nvSpPr>
        <p:spPr>
          <a:xfrm>
            <a:off x="4034028" y="6004498"/>
            <a:ext cx="2865628" cy="139700"/>
          </a:xfrm>
          <a:prstGeom prst="rect">
            <a:avLst/>
          </a:prstGeom>
          <a:noFill/>
        </p:spPr>
        <p:txBody>
          <a:bodyPr wrap="square" lIns="0" rIns="0" tIns="0" bIns="0" anchor="t">
            <a:spAutoFit/>
          </a:bodyPr>
          <a:lstStyle/>
          <a:p>
            <a:pPr algn="l"/>
            <a:r>
              <a:rPr sz="788" b="0" i="0">
                <a:solidFill>
                  <a:srgbClr val="2A2A26"/>
                </a:solidFill>
                <a:latin typeface="Montserrat"/>
              </a:rPr>
              <a:t>respiração, banho, silêncio, lazer</a:t>
            </a:r>
          </a:p>
        </p:txBody>
      </p:sp>
      <p:cxnSp>
        <p:nvCxnSpPr>
          <p:cNvPr id="54" name="Connector 53"/>
          <p:cNvCxnSpPr/>
          <p:nvPr/>
        </p:nvCxnSpPr>
        <p:spPr>
          <a:xfrm>
            <a:off x="4034028" y="6477638"/>
            <a:ext cx="2865628" cy="0"/>
          </a:xfrm>
          <a:prstGeom prst="line">
            <a:avLst/>
          </a:prstGeom>
          <a:ln w="7620">
            <a:solidFill>
              <a:srgbClr val="B4B2A8"/>
            </a:solidFill>
          </a:ln>
        </p:spPr>
      </p:cxnSp>
      <p:cxnSp>
        <p:nvCxnSpPr>
          <p:cNvPr id="55" name="Connector 54"/>
          <p:cNvCxnSpPr/>
          <p:nvPr/>
        </p:nvCxnSpPr>
        <p:spPr>
          <a:xfrm>
            <a:off x="4034028" y="6591938"/>
            <a:ext cx="2865628" cy="0"/>
          </a:xfrm>
          <a:prstGeom prst="line">
            <a:avLst/>
          </a:prstGeom>
          <a:ln w="7620">
            <a:solidFill>
              <a:srgbClr val="B4B2A8"/>
            </a:solidFill>
          </a:ln>
        </p:spPr>
      </p:cxnSp>
      <p:sp>
        <p:nvSpPr>
          <p:cNvPr id="58" name="TextBox 57"/>
          <p:cNvSpPr txBox="1"/>
          <p:nvPr/>
        </p:nvSpPr>
        <p:spPr>
          <a:xfrm>
            <a:off x="508000" y="3049996"/>
            <a:ext cx="6544056" cy="266700"/>
          </a:xfrm>
          <a:prstGeom prst="rect">
            <a:avLst/>
          </a:prstGeom>
          <a:noFill/>
        </p:spPr>
        <p:txBody>
          <a:bodyPr wrap="square" lIns="0" rIns="0" tIns="0" bIns="0" anchor="ctr">
            <a:spAutoFit/>
          </a:bodyPr>
          <a:lstStyle/>
          <a:p>
            <a:pPr algn="l"/>
            <a:r>
              <a:rPr sz="840" b="1" i="0">
                <a:solidFill>
                  <a:srgbClr val="FFFFFF"/>
                </a:solidFill>
                <a:latin typeface="Montserrat"/>
              </a:rPr>
              <a:t>O QUE ME AJUDA EM CADA ÁREA</a:t>
            </a:r>
          </a:p>
        </p:txBody>
      </p:sp>
      <p:cxnSp>
        <p:nvCxnSpPr>
          <p:cNvPr id="59" name="Connector 58"/>
          <p:cNvCxnSpPr/>
          <p:nvPr/>
        </p:nvCxnSpPr>
        <p:spPr>
          <a:xfrm>
            <a:off x="533400" y="7709590"/>
            <a:ext cx="6493256" cy="0"/>
          </a:xfrm>
          <a:prstGeom prst="line">
            <a:avLst/>
          </a:prstGeom>
          <a:ln w="7620">
            <a:solidFill>
              <a:srgbClr val="B4B2A8"/>
            </a:solidFill>
          </a:ln>
        </p:spPr>
      </p:cxnSp>
      <p:cxnSp>
        <p:nvCxnSpPr>
          <p:cNvPr id="60" name="Connector 59"/>
          <p:cNvCxnSpPr/>
          <p:nvPr/>
        </p:nvCxnSpPr>
        <p:spPr>
          <a:xfrm>
            <a:off x="533400" y="8000123"/>
            <a:ext cx="6493256" cy="0"/>
          </a:xfrm>
          <a:prstGeom prst="line">
            <a:avLst/>
          </a:prstGeom>
          <a:ln w="7620">
            <a:solidFill>
              <a:srgbClr val="B4B2A8"/>
            </a:solidFill>
          </a:ln>
        </p:spPr>
      </p:cxnSp>
      <p:cxnSp>
        <p:nvCxnSpPr>
          <p:cNvPr id="61" name="Connector 60"/>
          <p:cNvCxnSpPr/>
          <p:nvPr/>
        </p:nvCxnSpPr>
        <p:spPr>
          <a:xfrm>
            <a:off x="533400" y="8290655"/>
            <a:ext cx="6493256" cy="0"/>
          </a:xfrm>
          <a:prstGeom prst="line">
            <a:avLst/>
          </a:prstGeom>
          <a:ln w="7620">
            <a:solidFill>
              <a:srgbClr val="B4B2A8"/>
            </a:solidFill>
          </a:ln>
        </p:spPr>
      </p:cxnSp>
      <p:cxnSp>
        <p:nvCxnSpPr>
          <p:cNvPr id="62" name="Connector 61"/>
          <p:cNvCxnSpPr/>
          <p:nvPr/>
        </p:nvCxnSpPr>
        <p:spPr>
          <a:xfrm>
            <a:off x="533400" y="8581187"/>
            <a:ext cx="6493256" cy="0"/>
          </a:xfrm>
          <a:prstGeom prst="line">
            <a:avLst/>
          </a:prstGeom>
          <a:ln w="7620">
            <a:solidFill>
              <a:srgbClr val="B4B2A8"/>
            </a:solidFill>
          </a:ln>
        </p:spPr>
      </p:cxnSp>
      <p:cxnSp>
        <p:nvCxnSpPr>
          <p:cNvPr id="63" name="Connector 62"/>
          <p:cNvCxnSpPr/>
          <p:nvPr/>
        </p:nvCxnSpPr>
        <p:spPr>
          <a:xfrm>
            <a:off x="533400" y="8871719"/>
            <a:ext cx="6493256" cy="0"/>
          </a:xfrm>
          <a:prstGeom prst="line">
            <a:avLst/>
          </a:prstGeom>
          <a:ln w="7620">
            <a:solidFill>
              <a:srgbClr val="B4B2A8"/>
            </a:solidFill>
          </a:ln>
        </p:spPr>
      </p:cxnSp>
      <p:sp>
        <p:nvSpPr>
          <p:cNvPr id="66" name="TextBox 65"/>
          <p:cNvSpPr txBox="1"/>
          <p:nvPr/>
        </p:nvSpPr>
        <p:spPr>
          <a:xfrm>
            <a:off x="508000" y="7029052"/>
            <a:ext cx="6544056" cy="266700"/>
          </a:xfrm>
          <a:prstGeom prst="rect">
            <a:avLst/>
          </a:prstGeom>
          <a:noFill/>
        </p:spPr>
        <p:txBody>
          <a:bodyPr wrap="square" lIns="0" rIns="0" tIns="0" bIns="0" anchor="ctr">
            <a:spAutoFit/>
          </a:bodyPr>
          <a:lstStyle/>
          <a:p>
            <a:pPr algn="l"/>
            <a:r>
              <a:rPr sz="840" b="1" i="0">
                <a:solidFill>
                  <a:srgbClr val="FFFFFF"/>
                </a:solidFill>
                <a:latin typeface="Montserrat"/>
              </a:rPr>
              <a:t>TRÊS ATITUDES POSSÍVEIS NESTA SEMANA</a:t>
            </a:r>
          </a:p>
        </p:txBody>
      </p:sp>
      <p:sp>
        <p:nvSpPr>
          <p:cNvPr id="67" name="TextBox 66"/>
          <p:cNvSpPr txBox="1"/>
          <p:nvPr/>
        </p:nvSpPr>
        <p:spPr>
          <a:xfrm>
            <a:off x="533400" y="9490883"/>
            <a:ext cx="3056128" cy="171300"/>
          </a:xfrm>
          <a:prstGeom prst="rect">
            <a:avLst/>
          </a:prstGeom>
          <a:noFill/>
        </p:spPr>
        <p:txBody>
          <a:bodyPr wrap="square" lIns="0" rIns="0" tIns="0" bIns="0" anchor="t">
            <a:spAutoFit/>
          </a:bodyPr>
          <a:lstStyle/>
          <a:p>
            <a:pPr algn="l"/>
            <a:r>
              <a:rPr sz="963" b="1" i="0">
                <a:solidFill>
                  <a:srgbClr val="2A2A26"/>
                </a:solidFill>
                <a:latin typeface="Montserrat"/>
              </a:rPr>
              <a:t>Vou começar em:</a:t>
            </a:r>
          </a:p>
        </p:txBody>
      </p:sp>
      <p:cxnSp>
        <p:nvCxnSpPr>
          <p:cNvPr id="68" name="Connector 67"/>
          <p:cNvCxnSpPr/>
          <p:nvPr/>
        </p:nvCxnSpPr>
        <p:spPr>
          <a:xfrm>
            <a:off x="1723395" y="9637712"/>
            <a:ext cx="1866133" cy="0"/>
          </a:xfrm>
          <a:prstGeom prst="line">
            <a:avLst/>
          </a:prstGeom>
          <a:ln w="7620">
            <a:solidFill>
              <a:srgbClr val="B4B2A8"/>
            </a:solidFill>
          </a:ln>
        </p:spPr>
      </p:cxnSp>
      <p:sp>
        <p:nvSpPr>
          <p:cNvPr id="69" name="TextBox 68"/>
          <p:cNvSpPr txBox="1"/>
          <p:nvPr/>
        </p:nvSpPr>
        <p:spPr>
          <a:xfrm>
            <a:off x="3970528" y="9490883"/>
            <a:ext cx="3056128" cy="171300"/>
          </a:xfrm>
          <a:prstGeom prst="rect">
            <a:avLst/>
          </a:prstGeom>
          <a:noFill/>
        </p:spPr>
        <p:txBody>
          <a:bodyPr wrap="square" lIns="0" rIns="0" tIns="0" bIns="0" anchor="t">
            <a:spAutoFit/>
          </a:bodyPr>
          <a:lstStyle/>
          <a:p>
            <a:pPr algn="l"/>
            <a:r>
              <a:rPr sz="963" b="1" i="0">
                <a:solidFill>
                  <a:srgbClr val="2A2A26"/>
                </a:solidFill>
                <a:latin typeface="Montserrat"/>
              </a:rPr>
              <a:t>Com quem posso contar:</a:t>
            </a:r>
          </a:p>
        </p:txBody>
      </p:sp>
      <p:cxnSp>
        <p:nvCxnSpPr>
          <p:cNvPr id="70" name="Connector 69"/>
          <p:cNvCxnSpPr/>
          <p:nvPr/>
        </p:nvCxnSpPr>
        <p:spPr>
          <a:xfrm>
            <a:off x="5641999" y="9637712"/>
            <a:ext cx="1384657" cy="0"/>
          </a:xfrm>
          <a:prstGeom prst="line">
            <a:avLst/>
          </a:prstGeom>
          <a:ln w="7620">
            <a:solidFill>
              <a:srgbClr val="B4B2A8"/>
            </a:solidFill>
          </a:ln>
        </p:spPr>
      </p:cxn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8F5EE"/>
        </a:solidFill>
        <a:effectLst/>
      </p:bgPr>
    </p:bg>
    <p:spTree>
      <p:nvGrpSpPr>
        <p:cNvPr id="1" name=""/>
        <p:cNvGrpSpPr/>
        <p:nvPr/>
      </p:nvGrpSpPr>
      <p:grpSpPr/>
      <p:sp>
        <p:nvSpPr>
          <p:cNvPr id="62" name="Rounded Rectangle 61"/>
          <p:cNvSpPr/>
          <p:nvPr/>
        </p:nvSpPr>
        <p:spPr>
          <a:xfrm>
            <a:off x="381000" y="8522060"/>
            <a:ext cx="6798056" cy="1253248"/>
          </a:xfrm>
          <a:prstGeom prst="roundRect">
            <a:avLst>
              <a:gd name="adj" fmla="val 8106"/>
            </a:avLst>
          </a:prstGeom>
          <a:solidFill>
            <a:srgbClr val="FDFCF8"/>
          </a:solidFill>
          <a:ln w="10160">
            <a:solidFill>
              <a:srgbClr val="D7D4C9"/>
            </a:solidFill>
          </a:ln>
          <a:effectLst/>
        </p:spPr>
        <p:txBody>
          <a:bodyPr rtlCol="0" anchor="ctr"/>
          <a:lstStyle/>
          <a:p/>
        </p:txBody>
      </p:sp>
      <p:sp>
        <p:nvSpPr>
          <p:cNvPr id="63" name="Round Same Side Corner Rectangle 62"/>
          <p:cNvSpPr/>
          <p:nvPr/>
        </p:nvSpPr>
        <p:spPr>
          <a:xfrm>
            <a:off x="381000" y="8522060"/>
            <a:ext cx="6798056" cy="266700"/>
          </a:xfrm>
          <a:prstGeom prst="round2SameRect">
            <a:avLst>
              <a:gd name="adj1" fmla="val 38095"/>
              <a:gd name="adj2" fmla="val 0"/>
            </a:avLst>
          </a:prstGeom>
          <a:solidFill>
            <a:srgbClr val="3F5C4A"/>
          </a:solidFill>
          <a:ln>
            <a:noFill/>
          </a:ln>
          <a:effectLst/>
        </p:spPr>
        <p:txBody>
          <a:bodyPr rtlCol="0" anchor="ctr"/>
          <a:lstStyle/>
          <a:p/>
        </p:txBody>
      </p:sp>
      <p:sp>
        <p:nvSpPr>
          <p:cNvPr id="56" name="Rounded Rectangle 55"/>
          <p:cNvSpPr/>
          <p:nvPr/>
        </p:nvSpPr>
        <p:spPr>
          <a:xfrm>
            <a:off x="381000" y="6893646"/>
            <a:ext cx="6798056" cy="1489463"/>
          </a:xfrm>
          <a:prstGeom prst="roundRect">
            <a:avLst>
              <a:gd name="adj" fmla="val 6821"/>
            </a:avLst>
          </a:prstGeom>
          <a:solidFill>
            <a:srgbClr val="FDFCF8"/>
          </a:solidFill>
          <a:ln w="10160">
            <a:solidFill>
              <a:srgbClr val="D7D4C9"/>
            </a:solidFill>
          </a:ln>
          <a:effectLst/>
        </p:spPr>
        <p:txBody>
          <a:bodyPr rtlCol="0" anchor="ctr"/>
          <a:lstStyle/>
          <a:p/>
        </p:txBody>
      </p:sp>
      <p:sp>
        <p:nvSpPr>
          <p:cNvPr id="57" name="Round Same Side Corner Rectangle 56"/>
          <p:cNvSpPr/>
          <p:nvPr/>
        </p:nvSpPr>
        <p:spPr>
          <a:xfrm>
            <a:off x="381000" y="6893646"/>
            <a:ext cx="6798056" cy="266700"/>
          </a:xfrm>
          <a:prstGeom prst="round2SameRect">
            <a:avLst>
              <a:gd name="adj1" fmla="val 38095"/>
              <a:gd name="adj2" fmla="val 0"/>
            </a:avLst>
          </a:prstGeom>
          <a:solidFill>
            <a:srgbClr val="3F5C4A"/>
          </a:solidFill>
          <a:ln>
            <a:noFill/>
          </a:ln>
          <a:effectLst/>
        </p:spPr>
        <p:txBody>
          <a:bodyPr rtlCol="0" anchor="ctr"/>
          <a:lstStyle/>
          <a:p/>
        </p:txBody>
      </p:sp>
      <p:sp>
        <p:nvSpPr>
          <p:cNvPr id="49" name="Rounded Rectangle 48"/>
          <p:cNvSpPr/>
          <p:nvPr/>
        </p:nvSpPr>
        <p:spPr>
          <a:xfrm>
            <a:off x="381000" y="4733330"/>
            <a:ext cx="6798056" cy="2021364"/>
          </a:xfrm>
          <a:prstGeom prst="roundRect">
            <a:avLst>
              <a:gd name="adj" fmla="val 5026"/>
            </a:avLst>
          </a:prstGeom>
          <a:solidFill>
            <a:srgbClr val="FDFCF8"/>
          </a:solidFill>
          <a:ln w="10160">
            <a:solidFill>
              <a:srgbClr val="D7D4C9"/>
            </a:solidFill>
          </a:ln>
          <a:effectLst/>
        </p:spPr>
        <p:txBody>
          <a:bodyPr rtlCol="0" anchor="ctr"/>
          <a:lstStyle/>
          <a:p/>
        </p:txBody>
      </p:sp>
      <p:sp>
        <p:nvSpPr>
          <p:cNvPr id="50" name="Round Same Side Corner Rectangle 49"/>
          <p:cNvSpPr/>
          <p:nvPr/>
        </p:nvSpPr>
        <p:spPr>
          <a:xfrm>
            <a:off x="381000" y="4733330"/>
            <a:ext cx="6798056" cy="266700"/>
          </a:xfrm>
          <a:prstGeom prst="round2SameRect">
            <a:avLst>
              <a:gd name="adj1" fmla="val 38095"/>
              <a:gd name="adj2" fmla="val 0"/>
            </a:avLst>
          </a:prstGeom>
          <a:solidFill>
            <a:srgbClr val="3F5C4A"/>
          </a:solidFill>
          <a:ln>
            <a:noFill/>
          </a:ln>
          <a:effectLst/>
        </p:spPr>
        <p:txBody>
          <a:bodyPr rtlCol="0" anchor="ctr"/>
          <a:lstStyle/>
          <a:p/>
        </p:txBody>
      </p:sp>
      <p:sp>
        <p:nvSpPr>
          <p:cNvPr id="45" name="Rounded Rectangle 44"/>
          <p:cNvSpPr/>
          <p:nvPr/>
        </p:nvSpPr>
        <p:spPr>
          <a:xfrm>
            <a:off x="381000" y="3023936"/>
            <a:ext cx="6798056" cy="1570443"/>
          </a:xfrm>
          <a:prstGeom prst="roundRect">
            <a:avLst>
              <a:gd name="adj" fmla="val 6469"/>
            </a:avLst>
          </a:prstGeom>
          <a:solidFill>
            <a:srgbClr val="FDFCF8"/>
          </a:solidFill>
          <a:ln w="10160">
            <a:solidFill>
              <a:srgbClr val="D7D4C9"/>
            </a:solidFill>
          </a:ln>
          <a:effectLst/>
        </p:spPr>
        <p:txBody>
          <a:bodyPr rtlCol="0" anchor="ctr"/>
          <a:lstStyle/>
          <a:p/>
        </p:txBody>
      </p:sp>
      <p:sp>
        <p:nvSpPr>
          <p:cNvPr id="46" name="Round Same Side Corner Rectangle 45"/>
          <p:cNvSpPr/>
          <p:nvPr/>
        </p:nvSpPr>
        <p:spPr>
          <a:xfrm>
            <a:off x="381000" y="3023936"/>
            <a:ext cx="6798056" cy="266700"/>
          </a:xfrm>
          <a:prstGeom prst="round2SameRect">
            <a:avLst>
              <a:gd name="adj1" fmla="val 38095"/>
              <a:gd name="adj2" fmla="val 0"/>
            </a:avLst>
          </a:prstGeom>
          <a:solidFill>
            <a:srgbClr val="3F5C4A"/>
          </a:solidFill>
          <a:ln>
            <a:noFill/>
          </a:ln>
          <a:effectLst/>
        </p:spPr>
        <p:txBody>
          <a:bodyPr rtlCol="0" anchor="ctr"/>
          <a:lstStyle/>
          <a:p/>
        </p:txBody>
      </p:sp>
      <p:sp>
        <p:nvSpPr>
          <p:cNvPr id="24" name="Rounded Rectangle 23"/>
          <p:cNvSpPr/>
          <p:nvPr/>
        </p:nvSpPr>
        <p:spPr>
          <a:xfrm>
            <a:off x="381000" y="1436052"/>
            <a:ext cx="6798056" cy="1448933"/>
          </a:xfrm>
          <a:prstGeom prst="roundRect">
            <a:avLst>
              <a:gd name="adj" fmla="val 7012"/>
            </a:avLst>
          </a:prstGeom>
          <a:solidFill>
            <a:srgbClr val="FDFCF8"/>
          </a:solidFill>
          <a:ln w="10160">
            <a:solidFill>
              <a:srgbClr val="D7D4C9"/>
            </a:solidFill>
          </a:ln>
          <a:effectLst/>
        </p:spPr>
        <p:txBody>
          <a:bodyPr rtlCol="0" anchor="ctr"/>
          <a:lstStyle/>
          <a:p/>
        </p:txBody>
      </p:sp>
      <p:sp>
        <p:nvSpPr>
          <p:cNvPr id="25" name="Round Same Side Corner Rectangle 24"/>
          <p:cNvSpPr/>
          <p:nvPr/>
        </p:nvSpPr>
        <p:spPr>
          <a:xfrm>
            <a:off x="381000" y="1436052"/>
            <a:ext cx="6798056" cy="266700"/>
          </a:xfrm>
          <a:prstGeom prst="round2SameRect">
            <a:avLst>
              <a:gd name="adj1" fmla="val 38095"/>
              <a:gd name="adj2" fmla="val 0"/>
            </a:avLst>
          </a:prstGeom>
          <a:solidFill>
            <a:srgbClr val="3F5C4A"/>
          </a:solidFill>
          <a:ln>
            <a:noFill/>
          </a:ln>
          <a:effectLst/>
        </p:spPr>
        <p:txBody>
          <a:bodyPr rtlCol="0" anchor="ctr"/>
          <a:lstStyle/>
          <a:p/>
        </p:txBody>
      </p:sp>
      <p:cxnSp>
        <p:nvCxnSpPr>
          <p:cNvPr id="2" name="Connector 1"/>
          <p:cNvCxnSpPr/>
          <p:nvPr/>
        </p:nvCxnSpPr>
        <p:spPr>
          <a:xfrm>
            <a:off x="38100" y="25400"/>
            <a:ext cx="660400" cy="660400"/>
          </a:xfrm>
          <a:prstGeom prst="line">
            <a:avLst/>
          </a:prstGeom>
          <a:ln w="13970">
            <a:solidFill>
              <a:srgbClr val="B08D4F"/>
            </a:solidFill>
          </a:ln>
        </p:spPr>
      </p:cxnSp>
      <p:sp>
        <p:nvSpPr>
          <p:cNvPr id="3" name="Oval 2"/>
          <p:cNvSpPr/>
          <p:nvPr/>
        </p:nvSpPr>
        <p:spPr>
          <a:xfrm>
            <a:off x="191770" y="77470"/>
            <a:ext cx="190500" cy="215900"/>
          </a:xfrm>
          <a:prstGeom prst="ellipse">
            <a:avLst/>
          </a:prstGeom>
          <a:solidFill>
            <a:srgbClr val="8FA388"/>
          </a:solidFill>
          <a:ln>
            <a:noFill/>
          </a:ln>
          <a:effectLst/>
        </p:spPr>
        <p:txBody>
          <a:bodyPr rtlCol="0" anchor="ctr"/>
          <a:lstStyle/>
          <a:p/>
        </p:txBody>
      </p:sp>
      <p:sp>
        <p:nvSpPr>
          <p:cNvPr id="4" name="Oval 3"/>
          <p:cNvSpPr/>
          <p:nvPr/>
        </p:nvSpPr>
        <p:spPr>
          <a:xfrm>
            <a:off x="330708" y="216408"/>
            <a:ext cx="203200" cy="228600"/>
          </a:xfrm>
          <a:prstGeom prst="ellipse">
            <a:avLst/>
          </a:prstGeom>
          <a:solidFill>
            <a:srgbClr val="8FA388"/>
          </a:solidFill>
          <a:ln>
            <a:noFill/>
          </a:ln>
          <a:effectLst/>
        </p:spPr>
        <p:txBody>
          <a:bodyPr rtlCol="0" anchor="ctr"/>
          <a:lstStyle/>
          <a:p/>
        </p:txBody>
      </p:sp>
      <p:sp>
        <p:nvSpPr>
          <p:cNvPr id="5" name="Oval 4"/>
          <p:cNvSpPr/>
          <p:nvPr/>
        </p:nvSpPr>
        <p:spPr>
          <a:xfrm>
            <a:off x="482345" y="368045"/>
            <a:ext cx="190500" cy="215900"/>
          </a:xfrm>
          <a:prstGeom prst="ellipse">
            <a:avLst/>
          </a:prstGeom>
          <a:solidFill>
            <a:srgbClr val="8FA388"/>
          </a:solidFill>
          <a:ln>
            <a:noFill/>
          </a:ln>
          <a:effectLst/>
        </p:spPr>
        <p:txBody>
          <a:bodyPr rtlCol="0" anchor="ctr"/>
          <a:lstStyle/>
          <a:p/>
        </p:txBody>
      </p:sp>
      <p:cxnSp>
        <p:nvCxnSpPr>
          <p:cNvPr id="6" name="Connector 5"/>
          <p:cNvCxnSpPr/>
          <p:nvPr/>
        </p:nvCxnSpPr>
        <p:spPr>
          <a:xfrm flipH="1">
            <a:off x="6861556" y="25400"/>
            <a:ext cx="660400" cy="660400"/>
          </a:xfrm>
          <a:prstGeom prst="line">
            <a:avLst/>
          </a:prstGeom>
          <a:ln w="13970">
            <a:solidFill>
              <a:srgbClr val="B08D4F"/>
            </a:solidFill>
          </a:ln>
        </p:spPr>
      </p:cxnSp>
      <p:sp>
        <p:nvSpPr>
          <p:cNvPr id="7" name="Oval 6"/>
          <p:cNvSpPr/>
          <p:nvPr/>
        </p:nvSpPr>
        <p:spPr>
          <a:xfrm>
            <a:off x="7177785" y="77470"/>
            <a:ext cx="190500" cy="215900"/>
          </a:xfrm>
          <a:prstGeom prst="ellipse">
            <a:avLst/>
          </a:prstGeom>
          <a:solidFill>
            <a:srgbClr val="8FA388"/>
          </a:solidFill>
          <a:ln>
            <a:noFill/>
          </a:ln>
          <a:effectLst/>
        </p:spPr>
        <p:txBody>
          <a:bodyPr rtlCol="0" anchor="ctr"/>
          <a:lstStyle/>
          <a:p/>
        </p:txBody>
      </p:sp>
      <p:sp>
        <p:nvSpPr>
          <p:cNvPr id="8" name="Oval 7"/>
          <p:cNvSpPr/>
          <p:nvPr/>
        </p:nvSpPr>
        <p:spPr>
          <a:xfrm>
            <a:off x="7026148" y="216408"/>
            <a:ext cx="203200" cy="228600"/>
          </a:xfrm>
          <a:prstGeom prst="ellipse">
            <a:avLst/>
          </a:prstGeom>
          <a:solidFill>
            <a:srgbClr val="8FA388"/>
          </a:solidFill>
          <a:ln>
            <a:noFill/>
          </a:ln>
          <a:effectLst/>
        </p:spPr>
        <p:txBody>
          <a:bodyPr rtlCol="0" anchor="ctr"/>
          <a:lstStyle/>
          <a:p/>
        </p:txBody>
      </p:sp>
      <p:sp>
        <p:nvSpPr>
          <p:cNvPr id="9" name="Oval 8"/>
          <p:cNvSpPr/>
          <p:nvPr/>
        </p:nvSpPr>
        <p:spPr>
          <a:xfrm>
            <a:off x="6887209" y="368045"/>
            <a:ext cx="190500" cy="215900"/>
          </a:xfrm>
          <a:prstGeom prst="ellipse">
            <a:avLst/>
          </a:prstGeom>
          <a:solidFill>
            <a:srgbClr val="8FA388"/>
          </a:solidFill>
          <a:ln>
            <a:noFill/>
          </a:ln>
          <a:effectLst/>
        </p:spPr>
        <p:txBody>
          <a:bodyPr rtlCol="0" anchor="ctr"/>
          <a:lstStyle/>
          <a:p/>
        </p:txBody>
      </p:sp>
      <p:sp>
        <p:nvSpPr>
          <p:cNvPr id="10" name="Oval 9"/>
          <p:cNvSpPr/>
          <p:nvPr/>
        </p:nvSpPr>
        <p:spPr>
          <a:xfrm>
            <a:off x="3500628" y="127000"/>
            <a:ext cx="114300" cy="215900"/>
          </a:xfrm>
          <a:prstGeom prst="ellipse">
            <a:avLst/>
          </a:prstGeom>
          <a:noFill/>
          <a:ln w="10160">
            <a:solidFill>
              <a:srgbClr val="B08D4F"/>
            </a:solidFill>
          </a:ln>
          <a:effectLst/>
        </p:spPr>
        <p:txBody>
          <a:bodyPr rtlCol="0" anchor="ctr"/>
          <a:lstStyle/>
          <a:p/>
        </p:txBody>
      </p:sp>
      <p:sp>
        <p:nvSpPr>
          <p:cNvPr id="11" name="Oval 10"/>
          <p:cNvSpPr/>
          <p:nvPr/>
        </p:nvSpPr>
        <p:spPr>
          <a:xfrm>
            <a:off x="3595878" y="127000"/>
            <a:ext cx="114300" cy="215900"/>
          </a:xfrm>
          <a:prstGeom prst="ellipse">
            <a:avLst/>
          </a:prstGeom>
          <a:noFill/>
          <a:ln w="10160">
            <a:solidFill>
              <a:srgbClr val="B08D4F"/>
            </a:solidFill>
          </a:ln>
          <a:effectLst/>
        </p:spPr>
        <p:txBody>
          <a:bodyPr rtlCol="0" anchor="ctr"/>
          <a:lstStyle/>
          <a:p/>
        </p:txBody>
      </p:sp>
      <p:sp>
        <p:nvSpPr>
          <p:cNvPr id="12" name="Oval 11"/>
          <p:cNvSpPr/>
          <p:nvPr/>
        </p:nvSpPr>
        <p:spPr>
          <a:xfrm>
            <a:off x="3691128" y="127000"/>
            <a:ext cx="114300" cy="215900"/>
          </a:xfrm>
          <a:prstGeom prst="ellipse">
            <a:avLst/>
          </a:prstGeom>
          <a:noFill/>
          <a:ln w="10160">
            <a:solidFill>
              <a:srgbClr val="B08D4F"/>
            </a:solidFill>
          </a:ln>
          <a:effectLst/>
        </p:spPr>
        <p:txBody>
          <a:bodyPr rtlCol="0" anchor="ctr"/>
          <a:lstStyle/>
          <a:p/>
        </p:txBody>
      </p:sp>
      <p:sp>
        <p:nvSpPr>
          <p:cNvPr id="13" name="Oval 12"/>
          <p:cNvSpPr/>
          <p:nvPr/>
        </p:nvSpPr>
        <p:spPr>
          <a:xfrm>
            <a:off x="3786378" y="127000"/>
            <a:ext cx="114300" cy="215900"/>
          </a:xfrm>
          <a:prstGeom prst="ellipse">
            <a:avLst/>
          </a:prstGeom>
          <a:noFill/>
          <a:ln w="10160">
            <a:solidFill>
              <a:srgbClr val="B08D4F"/>
            </a:solidFill>
          </a:ln>
          <a:effectLst/>
        </p:spPr>
        <p:txBody>
          <a:bodyPr rtlCol="0" anchor="ctr"/>
          <a:lstStyle/>
          <a:p/>
        </p:txBody>
      </p:sp>
      <p:sp>
        <p:nvSpPr>
          <p:cNvPr id="14" name="Oval 13"/>
          <p:cNvSpPr/>
          <p:nvPr/>
        </p:nvSpPr>
        <p:spPr>
          <a:xfrm>
            <a:off x="3881628" y="127000"/>
            <a:ext cx="114300" cy="215900"/>
          </a:xfrm>
          <a:prstGeom prst="ellipse">
            <a:avLst/>
          </a:prstGeom>
          <a:noFill/>
          <a:ln w="10160">
            <a:solidFill>
              <a:srgbClr val="B08D4F"/>
            </a:solidFill>
          </a:ln>
          <a:effectLst/>
        </p:spPr>
        <p:txBody>
          <a:bodyPr rtlCol="0" anchor="ctr"/>
          <a:lstStyle/>
          <a:p/>
        </p:txBody>
      </p:sp>
      <p:sp>
        <p:nvSpPr>
          <p:cNvPr id="15" name="Arc 14"/>
          <p:cNvSpPr/>
          <p:nvPr/>
        </p:nvSpPr>
        <p:spPr>
          <a:xfrm>
            <a:off x="3437128" y="165100"/>
            <a:ext cx="685800" cy="381000"/>
          </a:xfrm>
          <a:prstGeom prst="arc">
            <a:avLst>
              <a:gd name="adj1" fmla="val 18000000"/>
              <a:gd name="adj2" fmla="val 0"/>
            </a:avLst>
          </a:prstGeom>
          <a:noFill/>
          <a:ln w="10160">
            <a:solidFill>
              <a:srgbClr val="B08D4F"/>
            </a:solidFill>
          </a:ln>
          <a:effectLst/>
        </p:spPr>
        <p:txBody>
          <a:bodyPr rtlCol="0" anchor="ctr"/>
          <a:lstStyle/>
          <a:p>
            <a:pPr algn="ctr"/>
          </a:p>
        </p:txBody>
      </p:sp>
      <p:sp>
        <p:nvSpPr>
          <p:cNvPr id="16" name="TextBox 15"/>
          <p:cNvSpPr txBox="1"/>
          <p:nvPr/>
        </p:nvSpPr>
        <p:spPr>
          <a:xfrm>
            <a:off x="254000" y="635000"/>
            <a:ext cx="7052056" cy="435609"/>
          </a:xfrm>
          <a:prstGeom prst="rect">
            <a:avLst/>
          </a:prstGeom>
          <a:noFill/>
        </p:spPr>
        <p:txBody>
          <a:bodyPr wrap="square" lIns="0" rIns="0" tIns="0" bIns="0" anchor="t">
            <a:spAutoFit/>
          </a:bodyPr>
          <a:lstStyle/>
          <a:p>
            <a:pPr algn="ctr"/>
            <a:r>
              <a:rPr sz="2450" b="1" i="0">
                <a:solidFill>
                  <a:srgbClr val="3F5C4A"/>
                </a:solidFill>
                <a:latin typeface="Libre Baskerville"/>
              </a:rPr>
              <a:t>PLANO PARA DIAS DE DOR E TENSÃO</a:t>
            </a:r>
          </a:p>
        </p:txBody>
      </p:sp>
      <p:sp>
        <p:nvSpPr>
          <p:cNvPr id="17" name="TextBox 16"/>
          <p:cNvSpPr txBox="1"/>
          <p:nvPr/>
        </p:nvSpPr>
        <p:spPr>
          <a:xfrm>
            <a:off x="508000" y="1055052"/>
            <a:ext cx="6544056" cy="177800"/>
          </a:xfrm>
          <a:prstGeom prst="rect">
            <a:avLst/>
          </a:prstGeom>
          <a:noFill/>
        </p:spPr>
        <p:txBody>
          <a:bodyPr wrap="square" lIns="0" rIns="0" tIns="0" bIns="0" anchor="t">
            <a:spAutoFit/>
          </a:bodyPr>
          <a:lstStyle/>
          <a:p>
            <a:pPr algn="ctr"/>
            <a:r>
              <a:rPr sz="950" b="0" i="0">
                <a:solidFill>
                  <a:srgbClr val="2A2A26"/>
                </a:solidFill>
                <a:latin typeface="Montserrat"/>
              </a:rPr>
              <a:t>Prepare um caminho de cuidado para quando o corpo pedir atenção</a:t>
            </a:r>
          </a:p>
        </p:txBody>
      </p:sp>
      <p:sp>
        <p:nvSpPr>
          <p:cNvPr id="18" name="TextBox 17"/>
          <p:cNvSpPr txBox="1"/>
          <p:nvPr/>
        </p:nvSpPr>
        <p:spPr>
          <a:xfrm>
            <a:off x="762000" y="10196703"/>
            <a:ext cx="6036056" cy="127000"/>
          </a:xfrm>
          <a:prstGeom prst="rect">
            <a:avLst/>
          </a:prstGeom>
          <a:noFill/>
        </p:spPr>
        <p:txBody>
          <a:bodyPr wrap="square" lIns="0" rIns="0" tIns="0" bIns="0" anchor="t">
            <a:spAutoFit/>
          </a:bodyPr>
          <a:lstStyle/>
          <a:p>
            <a:pPr algn="ctr"/>
            <a:r>
              <a:rPr sz="650" b="0" i="0">
                <a:solidFill>
                  <a:srgbClr val="77776E"/>
                </a:solidFill>
                <a:latin typeface="Montserrat"/>
              </a:rPr>
              <a:t>MASSOTERAPIA • CUIDADO • BEM-ESTAR</a:t>
            </a:r>
          </a:p>
        </p:txBody>
      </p:sp>
      <p:cxnSp>
        <p:nvCxnSpPr>
          <p:cNvPr id="19" name="Connector 18"/>
          <p:cNvCxnSpPr/>
          <p:nvPr/>
        </p:nvCxnSpPr>
        <p:spPr>
          <a:xfrm>
            <a:off x="1968500" y="10336403"/>
            <a:ext cx="3623056" cy="0"/>
          </a:xfrm>
          <a:prstGeom prst="line">
            <a:avLst/>
          </a:prstGeom>
          <a:ln w="8890">
            <a:solidFill>
              <a:srgbClr val="B08D4F"/>
            </a:solidFill>
          </a:ln>
        </p:spPr>
      </p:cxnSp>
      <p:sp>
        <p:nvSpPr>
          <p:cNvPr id="20" name="TextBox 19"/>
          <p:cNvSpPr txBox="1"/>
          <p:nvPr/>
        </p:nvSpPr>
        <p:spPr>
          <a:xfrm>
            <a:off x="533400" y="1841702"/>
            <a:ext cx="6493256" cy="170285"/>
          </a:xfrm>
          <a:prstGeom prst="rect">
            <a:avLst/>
          </a:prstGeom>
          <a:noFill/>
        </p:spPr>
        <p:txBody>
          <a:bodyPr wrap="square" lIns="0" rIns="0" tIns="0" bIns="0" anchor="t">
            <a:spAutoFit/>
          </a:bodyPr>
          <a:lstStyle/>
          <a:p>
            <a:pPr algn="l">
              <a:lnSpc>
                <a:spcPct val="140000"/>
              </a:lnSpc>
            </a:pPr>
            <a:r>
              <a:rPr sz="785" b="0" i="0">
                <a:solidFill>
                  <a:srgbClr val="2A2A26"/>
                </a:solidFill>
                <a:latin typeface="Montserrat"/>
              </a:rPr>
              <a:t>Quais sinais mostram que meu corpo está sobrecarregado, dolorido ou precisando reduzir o ritmo?</a:t>
            </a:r>
          </a:p>
        </p:txBody>
      </p:sp>
      <p:cxnSp>
        <p:nvCxnSpPr>
          <p:cNvPr id="21" name="Connector 20"/>
          <p:cNvCxnSpPr/>
          <p:nvPr/>
        </p:nvCxnSpPr>
        <p:spPr>
          <a:xfrm>
            <a:off x="533400" y="2235504"/>
            <a:ext cx="6493256" cy="0"/>
          </a:xfrm>
          <a:prstGeom prst="line">
            <a:avLst/>
          </a:prstGeom>
          <a:ln w="7620">
            <a:solidFill>
              <a:srgbClr val="B4B2A8"/>
            </a:solidFill>
          </a:ln>
        </p:spPr>
      </p:cxnSp>
      <p:cxnSp>
        <p:nvCxnSpPr>
          <p:cNvPr id="22" name="Connector 21"/>
          <p:cNvCxnSpPr/>
          <p:nvPr/>
        </p:nvCxnSpPr>
        <p:spPr>
          <a:xfrm>
            <a:off x="533400" y="2471719"/>
            <a:ext cx="6493256" cy="0"/>
          </a:xfrm>
          <a:prstGeom prst="line">
            <a:avLst/>
          </a:prstGeom>
          <a:ln w="7620">
            <a:solidFill>
              <a:srgbClr val="B4B2A8"/>
            </a:solidFill>
          </a:ln>
        </p:spPr>
      </p:cxnSp>
      <p:cxnSp>
        <p:nvCxnSpPr>
          <p:cNvPr id="23" name="Connector 22"/>
          <p:cNvCxnSpPr/>
          <p:nvPr/>
        </p:nvCxnSpPr>
        <p:spPr>
          <a:xfrm>
            <a:off x="533400" y="2707935"/>
            <a:ext cx="6493256" cy="0"/>
          </a:xfrm>
          <a:prstGeom prst="line">
            <a:avLst/>
          </a:prstGeom>
          <a:ln w="7620">
            <a:solidFill>
              <a:srgbClr val="B4B2A8"/>
            </a:solidFill>
          </a:ln>
        </p:spPr>
      </p:cxnSp>
      <p:sp>
        <p:nvSpPr>
          <p:cNvPr id="26" name="TextBox 25"/>
          <p:cNvSpPr txBox="1"/>
          <p:nvPr/>
        </p:nvSpPr>
        <p:spPr>
          <a:xfrm>
            <a:off x="508000" y="1436052"/>
            <a:ext cx="6544056" cy="266700"/>
          </a:xfrm>
          <a:prstGeom prst="rect">
            <a:avLst/>
          </a:prstGeom>
          <a:noFill/>
        </p:spPr>
        <p:txBody>
          <a:bodyPr wrap="square" lIns="0" rIns="0" tIns="0" bIns="0" anchor="ctr">
            <a:spAutoFit/>
          </a:bodyPr>
          <a:lstStyle/>
          <a:p>
            <a:pPr algn="l"/>
            <a:r>
              <a:rPr sz="840" b="1" i="0">
                <a:solidFill>
                  <a:srgbClr val="FFFFFF"/>
                </a:solidFill>
                <a:latin typeface="Montserrat"/>
              </a:rPr>
              <a:t>MEUS SINAIS DE ALERTA</a:t>
            </a:r>
          </a:p>
        </p:txBody>
      </p:sp>
      <p:sp>
        <p:nvSpPr>
          <p:cNvPr id="27" name="Rectangle 26"/>
          <p:cNvSpPr/>
          <p:nvPr/>
        </p:nvSpPr>
        <p:spPr>
          <a:xfrm>
            <a:off x="533400" y="3461336"/>
            <a:ext cx="107950" cy="107950"/>
          </a:xfrm>
          <a:prstGeom prst="rect">
            <a:avLst/>
          </a:prstGeom>
          <a:solidFill>
            <a:srgbClr val="FDFCF8"/>
          </a:solidFill>
          <a:ln w="7620">
            <a:solidFill>
              <a:srgbClr val="2A2A26"/>
            </a:solidFill>
          </a:ln>
          <a:effectLst/>
        </p:spPr>
        <p:txBody>
          <a:bodyPr rtlCol="0" anchor="ctr"/>
          <a:lstStyle/>
          <a:p/>
        </p:txBody>
      </p:sp>
      <p:sp>
        <p:nvSpPr>
          <p:cNvPr id="28" name="TextBox 27"/>
          <p:cNvSpPr txBox="1"/>
          <p:nvPr/>
        </p:nvSpPr>
        <p:spPr>
          <a:xfrm>
            <a:off x="711200" y="3454986"/>
            <a:ext cx="1420114" cy="135905"/>
          </a:xfrm>
          <a:prstGeom prst="rect">
            <a:avLst/>
          </a:prstGeom>
          <a:noFill/>
        </p:spPr>
        <p:txBody>
          <a:bodyPr wrap="square" lIns="0" rIns="0" tIns="0" bIns="0" anchor="t">
            <a:spAutoFit/>
          </a:bodyPr>
          <a:lstStyle/>
          <a:p>
            <a:pPr algn="l"/>
            <a:r>
              <a:rPr sz="764" b="0" i="0">
                <a:solidFill>
                  <a:srgbClr val="2A2A26"/>
                </a:solidFill>
                <a:latin typeface="Montserrat"/>
              </a:rPr>
              <a:t>Descanso e pausa</a:t>
            </a:r>
          </a:p>
        </p:txBody>
      </p:sp>
      <p:sp>
        <p:nvSpPr>
          <p:cNvPr id="29" name="Rectangle 28"/>
          <p:cNvSpPr/>
          <p:nvPr/>
        </p:nvSpPr>
        <p:spPr>
          <a:xfrm>
            <a:off x="2156714" y="3461336"/>
            <a:ext cx="107950" cy="107950"/>
          </a:xfrm>
          <a:prstGeom prst="rect">
            <a:avLst/>
          </a:prstGeom>
          <a:solidFill>
            <a:srgbClr val="FDFCF8"/>
          </a:solidFill>
          <a:ln w="7620">
            <a:solidFill>
              <a:srgbClr val="2A2A26"/>
            </a:solidFill>
          </a:ln>
          <a:effectLst/>
        </p:spPr>
        <p:txBody>
          <a:bodyPr rtlCol="0" anchor="ctr"/>
          <a:lstStyle/>
          <a:p/>
        </p:txBody>
      </p:sp>
      <p:sp>
        <p:nvSpPr>
          <p:cNvPr id="30" name="TextBox 29"/>
          <p:cNvSpPr txBox="1"/>
          <p:nvPr/>
        </p:nvSpPr>
        <p:spPr>
          <a:xfrm>
            <a:off x="2334514" y="3454986"/>
            <a:ext cx="1420114" cy="135905"/>
          </a:xfrm>
          <a:prstGeom prst="rect">
            <a:avLst/>
          </a:prstGeom>
          <a:noFill/>
        </p:spPr>
        <p:txBody>
          <a:bodyPr wrap="square" lIns="0" rIns="0" tIns="0" bIns="0" anchor="t">
            <a:spAutoFit/>
          </a:bodyPr>
          <a:lstStyle/>
          <a:p>
            <a:pPr algn="l"/>
            <a:r>
              <a:rPr sz="764" b="0" i="0">
                <a:solidFill>
                  <a:srgbClr val="2A2A26"/>
                </a:solidFill>
                <a:latin typeface="Montserrat"/>
              </a:rPr>
              <a:t>Hidratação</a:t>
            </a:r>
          </a:p>
        </p:txBody>
      </p:sp>
      <p:sp>
        <p:nvSpPr>
          <p:cNvPr id="31" name="Rectangle 30"/>
          <p:cNvSpPr/>
          <p:nvPr/>
        </p:nvSpPr>
        <p:spPr>
          <a:xfrm>
            <a:off x="3780028" y="3461336"/>
            <a:ext cx="107950" cy="107950"/>
          </a:xfrm>
          <a:prstGeom prst="rect">
            <a:avLst/>
          </a:prstGeom>
          <a:solidFill>
            <a:srgbClr val="FDFCF8"/>
          </a:solidFill>
          <a:ln w="7620">
            <a:solidFill>
              <a:srgbClr val="2A2A26"/>
            </a:solidFill>
          </a:ln>
          <a:effectLst/>
        </p:spPr>
        <p:txBody>
          <a:bodyPr rtlCol="0" anchor="ctr"/>
          <a:lstStyle/>
          <a:p/>
        </p:txBody>
      </p:sp>
      <p:sp>
        <p:nvSpPr>
          <p:cNvPr id="32" name="TextBox 31"/>
          <p:cNvSpPr txBox="1"/>
          <p:nvPr/>
        </p:nvSpPr>
        <p:spPr>
          <a:xfrm>
            <a:off x="3957828" y="3454986"/>
            <a:ext cx="1420114" cy="135905"/>
          </a:xfrm>
          <a:prstGeom prst="rect">
            <a:avLst/>
          </a:prstGeom>
          <a:noFill/>
        </p:spPr>
        <p:txBody>
          <a:bodyPr wrap="square" lIns="0" rIns="0" tIns="0" bIns="0" anchor="t">
            <a:spAutoFit/>
          </a:bodyPr>
          <a:lstStyle/>
          <a:p>
            <a:pPr algn="l"/>
            <a:r>
              <a:rPr sz="764" b="0" i="0">
                <a:solidFill>
                  <a:srgbClr val="2A2A26"/>
                </a:solidFill>
                <a:latin typeface="Montserrat"/>
              </a:rPr>
              <a:t>Alongamento leve</a:t>
            </a:r>
          </a:p>
        </p:txBody>
      </p:sp>
      <p:sp>
        <p:nvSpPr>
          <p:cNvPr id="33" name="Rectangle 32"/>
          <p:cNvSpPr/>
          <p:nvPr/>
        </p:nvSpPr>
        <p:spPr>
          <a:xfrm>
            <a:off x="5403342" y="3461336"/>
            <a:ext cx="107950" cy="107950"/>
          </a:xfrm>
          <a:prstGeom prst="rect">
            <a:avLst/>
          </a:prstGeom>
          <a:solidFill>
            <a:srgbClr val="FDFCF8"/>
          </a:solidFill>
          <a:ln w="7620">
            <a:solidFill>
              <a:srgbClr val="2A2A26"/>
            </a:solidFill>
          </a:ln>
          <a:effectLst/>
        </p:spPr>
        <p:txBody>
          <a:bodyPr rtlCol="0" anchor="ctr"/>
          <a:lstStyle/>
          <a:p/>
        </p:txBody>
      </p:sp>
      <p:sp>
        <p:nvSpPr>
          <p:cNvPr id="34" name="TextBox 33"/>
          <p:cNvSpPr txBox="1"/>
          <p:nvPr/>
        </p:nvSpPr>
        <p:spPr>
          <a:xfrm>
            <a:off x="5581142" y="3454986"/>
            <a:ext cx="1420114" cy="135905"/>
          </a:xfrm>
          <a:prstGeom prst="rect">
            <a:avLst/>
          </a:prstGeom>
          <a:noFill/>
        </p:spPr>
        <p:txBody>
          <a:bodyPr wrap="square" lIns="0" rIns="0" tIns="0" bIns="0" anchor="t">
            <a:spAutoFit/>
          </a:bodyPr>
          <a:lstStyle/>
          <a:p>
            <a:pPr algn="l"/>
            <a:r>
              <a:rPr sz="764" b="0" i="0">
                <a:solidFill>
                  <a:srgbClr val="2A2A26"/>
                </a:solidFill>
                <a:latin typeface="Montserrat"/>
              </a:rPr>
              <a:t>Banho morno</a:t>
            </a:r>
          </a:p>
        </p:txBody>
      </p:sp>
      <p:sp>
        <p:nvSpPr>
          <p:cNvPr id="35" name="Rectangle 34"/>
          <p:cNvSpPr/>
          <p:nvPr/>
        </p:nvSpPr>
        <p:spPr>
          <a:xfrm>
            <a:off x="533400" y="3739237"/>
            <a:ext cx="107950" cy="107950"/>
          </a:xfrm>
          <a:prstGeom prst="rect">
            <a:avLst/>
          </a:prstGeom>
          <a:solidFill>
            <a:srgbClr val="FDFCF8"/>
          </a:solidFill>
          <a:ln w="7620">
            <a:solidFill>
              <a:srgbClr val="2A2A26"/>
            </a:solidFill>
          </a:ln>
          <a:effectLst/>
        </p:spPr>
        <p:txBody>
          <a:bodyPr rtlCol="0" anchor="ctr"/>
          <a:lstStyle/>
          <a:p/>
        </p:txBody>
      </p:sp>
      <p:sp>
        <p:nvSpPr>
          <p:cNvPr id="36" name="TextBox 35"/>
          <p:cNvSpPr txBox="1"/>
          <p:nvPr/>
        </p:nvSpPr>
        <p:spPr>
          <a:xfrm>
            <a:off x="711200" y="3732887"/>
            <a:ext cx="1420114" cy="135905"/>
          </a:xfrm>
          <a:prstGeom prst="rect">
            <a:avLst/>
          </a:prstGeom>
          <a:noFill/>
        </p:spPr>
        <p:txBody>
          <a:bodyPr wrap="square" lIns="0" rIns="0" tIns="0" bIns="0" anchor="t">
            <a:spAutoFit/>
          </a:bodyPr>
          <a:lstStyle/>
          <a:p>
            <a:pPr algn="l"/>
            <a:r>
              <a:rPr sz="764" b="0" i="0">
                <a:solidFill>
                  <a:srgbClr val="2A2A26"/>
                </a:solidFill>
                <a:latin typeface="Montserrat"/>
              </a:rPr>
              <a:t>Respiração / relaxamento</a:t>
            </a:r>
          </a:p>
        </p:txBody>
      </p:sp>
      <p:sp>
        <p:nvSpPr>
          <p:cNvPr id="37" name="Rectangle 36"/>
          <p:cNvSpPr/>
          <p:nvPr/>
        </p:nvSpPr>
        <p:spPr>
          <a:xfrm>
            <a:off x="2156714" y="3739237"/>
            <a:ext cx="107950" cy="107950"/>
          </a:xfrm>
          <a:prstGeom prst="rect">
            <a:avLst/>
          </a:prstGeom>
          <a:solidFill>
            <a:srgbClr val="FDFCF8"/>
          </a:solidFill>
          <a:ln w="7620">
            <a:solidFill>
              <a:srgbClr val="2A2A26"/>
            </a:solidFill>
          </a:ln>
          <a:effectLst/>
        </p:spPr>
        <p:txBody>
          <a:bodyPr rtlCol="0" anchor="ctr"/>
          <a:lstStyle/>
          <a:p/>
        </p:txBody>
      </p:sp>
      <p:sp>
        <p:nvSpPr>
          <p:cNvPr id="38" name="TextBox 37"/>
          <p:cNvSpPr txBox="1"/>
          <p:nvPr/>
        </p:nvSpPr>
        <p:spPr>
          <a:xfrm>
            <a:off x="2334514" y="3732887"/>
            <a:ext cx="1420114" cy="135905"/>
          </a:xfrm>
          <a:prstGeom prst="rect">
            <a:avLst/>
          </a:prstGeom>
          <a:noFill/>
        </p:spPr>
        <p:txBody>
          <a:bodyPr wrap="square" lIns="0" rIns="0" tIns="0" bIns="0" anchor="t">
            <a:spAutoFit/>
          </a:bodyPr>
          <a:lstStyle/>
          <a:p>
            <a:pPr algn="l"/>
            <a:r>
              <a:rPr sz="764" b="0" i="0">
                <a:solidFill>
                  <a:srgbClr val="2A2A26"/>
                </a:solidFill>
                <a:latin typeface="Montserrat"/>
              </a:rPr>
              <a:t>Caminhada leve</a:t>
            </a:r>
          </a:p>
        </p:txBody>
      </p:sp>
      <p:sp>
        <p:nvSpPr>
          <p:cNvPr id="39" name="Rectangle 38"/>
          <p:cNvSpPr/>
          <p:nvPr/>
        </p:nvSpPr>
        <p:spPr>
          <a:xfrm>
            <a:off x="3780028" y="3739237"/>
            <a:ext cx="107950" cy="107950"/>
          </a:xfrm>
          <a:prstGeom prst="rect">
            <a:avLst/>
          </a:prstGeom>
          <a:solidFill>
            <a:srgbClr val="FDFCF8"/>
          </a:solidFill>
          <a:ln w="7620">
            <a:solidFill>
              <a:srgbClr val="2A2A26"/>
            </a:solidFill>
          </a:ln>
          <a:effectLst/>
        </p:spPr>
        <p:txBody>
          <a:bodyPr rtlCol="0" anchor="ctr"/>
          <a:lstStyle/>
          <a:p/>
        </p:txBody>
      </p:sp>
      <p:sp>
        <p:nvSpPr>
          <p:cNvPr id="40" name="TextBox 39"/>
          <p:cNvSpPr txBox="1"/>
          <p:nvPr/>
        </p:nvSpPr>
        <p:spPr>
          <a:xfrm>
            <a:off x="3957828" y="3732887"/>
            <a:ext cx="1420114" cy="135905"/>
          </a:xfrm>
          <a:prstGeom prst="rect">
            <a:avLst/>
          </a:prstGeom>
          <a:noFill/>
        </p:spPr>
        <p:txBody>
          <a:bodyPr wrap="square" lIns="0" rIns="0" tIns="0" bIns="0" anchor="t">
            <a:spAutoFit/>
          </a:bodyPr>
          <a:lstStyle/>
          <a:p>
            <a:pPr algn="l"/>
            <a:r>
              <a:rPr sz="764" b="0" i="0">
                <a:solidFill>
                  <a:srgbClr val="2A2A26"/>
                </a:solidFill>
                <a:latin typeface="Montserrat"/>
              </a:rPr>
              <a:t>Compressa conforme orientação</a:t>
            </a:r>
          </a:p>
        </p:txBody>
      </p:sp>
      <p:sp>
        <p:nvSpPr>
          <p:cNvPr id="41" name="Rectangle 40"/>
          <p:cNvSpPr/>
          <p:nvPr/>
        </p:nvSpPr>
        <p:spPr>
          <a:xfrm>
            <a:off x="5403342" y="3739237"/>
            <a:ext cx="107950" cy="107950"/>
          </a:xfrm>
          <a:prstGeom prst="rect">
            <a:avLst/>
          </a:prstGeom>
          <a:solidFill>
            <a:srgbClr val="FDFCF8"/>
          </a:solidFill>
          <a:ln w="7620">
            <a:solidFill>
              <a:srgbClr val="2A2A26"/>
            </a:solidFill>
          </a:ln>
          <a:effectLst/>
        </p:spPr>
        <p:txBody>
          <a:bodyPr rtlCol="0" anchor="ctr"/>
          <a:lstStyle/>
          <a:p/>
        </p:txBody>
      </p:sp>
      <p:sp>
        <p:nvSpPr>
          <p:cNvPr id="42" name="TextBox 41"/>
          <p:cNvSpPr txBox="1"/>
          <p:nvPr/>
        </p:nvSpPr>
        <p:spPr>
          <a:xfrm>
            <a:off x="5581142" y="3732887"/>
            <a:ext cx="1420114" cy="135905"/>
          </a:xfrm>
          <a:prstGeom prst="rect">
            <a:avLst/>
          </a:prstGeom>
          <a:noFill/>
        </p:spPr>
        <p:txBody>
          <a:bodyPr wrap="square" lIns="0" rIns="0" tIns="0" bIns="0" anchor="t">
            <a:spAutoFit/>
          </a:bodyPr>
          <a:lstStyle/>
          <a:p>
            <a:pPr algn="l"/>
            <a:r>
              <a:rPr sz="764" b="0" i="0">
                <a:solidFill>
                  <a:srgbClr val="2A2A26"/>
                </a:solidFill>
                <a:latin typeface="Montserrat"/>
              </a:rPr>
              <a:t>Outra</a:t>
            </a:r>
          </a:p>
        </p:txBody>
      </p:sp>
      <p:cxnSp>
        <p:nvCxnSpPr>
          <p:cNvPr id="43" name="Connector 42"/>
          <p:cNvCxnSpPr/>
          <p:nvPr/>
        </p:nvCxnSpPr>
        <p:spPr>
          <a:xfrm>
            <a:off x="533400" y="4195009"/>
            <a:ext cx="6493256" cy="0"/>
          </a:xfrm>
          <a:prstGeom prst="line">
            <a:avLst/>
          </a:prstGeom>
          <a:ln w="7620">
            <a:solidFill>
              <a:srgbClr val="B4B2A8"/>
            </a:solidFill>
          </a:ln>
        </p:spPr>
      </p:cxnSp>
      <p:cxnSp>
        <p:nvCxnSpPr>
          <p:cNvPr id="44" name="Connector 43"/>
          <p:cNvCxnSpPr/>
          <p:nvPr/>
        </p:nvCxnSpPr>
        <p:spPr>
          <a:xfrm>
            <a:off x="533400" y="4417330"/>
            <a:ext cx="6493256" cy="0"/>
          </a:xfrm>
          <a:prstGeom prst="line">
            <a:avLst/>
          </a:prstGeom>
          <a:ln w="7620">
            <a:solidFill>
              <a:srgbClr val="B4B2A8"/>
            </a:solidFill>
          </a:ln>
        </p:spPr>
      </p:cxnSp>
      <p:sp>
        <p:nvSpPr>
          <p:cNvPr id="47" name="TextBox 46"/>
          <p:cNvSpPr txBox="1"/>
          <p:nvPr/>
        </p:nvSpPr>
        <p:spPr>
          <a:xfrm>
            <a:off x="508000" y="3023936"/>
            <a:ext cx="6544056" cy="266700"/>
          </a:xfrm>
          <a:prstGeom prst="rect">
            <a:avLst/>
          </a:prstGeom>
          <a:noFill/>
        </p:spPr>
        <p:txBody>
          <a:bodyPr wrap="square" lIns="0" rIns="0" tIns="0" bIns="0" anchor="ctr">
            <a:spAutoFit/>
          </a:bodyPr>
          <a:lstStyle/>
          <a:p>
            <a:pPr algn="l"/>
            <a:r>
              <a:rPr sz="840" b="1" i="0">
                <a:solidFill>
                  <a:srgbClr val="FFFFFF"/>
                </a:solidFill>
                <a:latin typeface="Montserrat"/>
              </a:rPr>
              <a:t>ESTRATÉGIAS QUE COSTUMAM ME AJUDAR</a:t>
            </a:r>
          </a:p>
        </p:txBody>
      </p:sp>
      <p:graphicFrame>
        <p:nvGraphicFramePr>
          <p:cNvPr id="48" name="Table 47"/>
          <p:cNvGraphicFramePr>
            <a:graphicFrameLocks noGrp="1"/>
          </p:cNvGraphicFramePr>
          <p:nvPr/>
        </p:nvGraphicFramePr>
        <p:xfrm>
          <a:off x="533400" y="5138981"/>
          <a:ext cx="6493255" cy="1476760"/>
        </p:xfrm>
        <a:graphic>
          <a:graphicData uri="http://schemas.openxmlformats.org/drawingml/2006/table">
            <a:tbl>
              <a:tblPr firstRow="0" bandRow="0">
                <a:tableStyleId>{5C22544A-7EE6-4342-B048-85BDC9FD1C3A}</a:tableStyleId>
              </a:tblPr>
              <a:tblGrid>
                <a:gridCol w="2337572"/>
                <a:gridCol w="2467437"/>
                <a:gridCol w="1688246"/>
              </a:tblGrid>
              <a:tr h="254000">
                <a:tc>
                  <a:txBody>
                    <a:bodyPr/>
                    <a:lstStyle/>
                    <a:p>
                      <a:pPr algn="ctr"/>
                      <a:r>
                        <a:rPr sz="740" b="0">
                          <a:solidFill>
                            <a:srgbClr val="FFFFFF"/>
                          </a:solidFill>
                          <a:latin typeface="Montserrat"/>
                        </a:rPr>
                        <a:t>NOME / SERVIÇO</a:t>
                      </a:r>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3F5C4A"/>
                    </a:solidFill>
                  </a:tcPr>
                </a:tc>
                <a:tc>
                  <a:txBody>
                    <a:bodyPr/>
                    <a:lstStyle/>
                    <a:p>
                      <a:pPr algn="ctr"/>
                      <a:r>
                        <a:rPr sz="740" b="0">
                          <a:solidFill>
                            <a:srgbClr val="FFFFFF"/>
                          </a:solidFill>
                          <a:latin typeface="Montserrat"/>
                        </a:rPr>
                        <a:t>COMO PODE AJUDAR</a:t>
                      </a:r>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3F5C4A"/>
                    </a:solidFill>
                  </a:tcPr>
                </a:tc>
                <a:tc>
                  <a:txBody>
                    <a:bodyPr/>
                    <a:lstStyle/>
                    <a:p>
                      <a:pPr algn="ctr"/>
                      <a:r>
                        <a:rPr sz="740" b="0">
                          <a:solidFill>
                            <a:srgbClr val="FFFFFF"/>
                          </a:solidFill>
                          <a:latin typeface="Montserrat"/>
                        </a:rPr>
                        <a:t>CONTATO</a:t>
                      </a:r>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3F5C4A"/>
                    </a:solidFill>
                  </a:tcPr>
                </a:tc>
              </a:tr>
              <a:tr h="305690">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r>
              <a:tr h="305690">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r>
              <a:tr h="305690">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r>
              <a:tr h="305690">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c>
                  <a:txBody>
                    <a:bodyPr/>
                    <a:lstStyle/>
                    <a:p>
                      <a:pPr algn="l"/>
                      <a:endParaRPr sz="740"/>
                    </a:p>
                  </a:txBody>
                  <a:tcPr marL="50800" marR="50800" marT="12700" marB="12700" anchor="ctr">
                    <a:lnL w="6350" cap="flat" cmpd="sng" algn="ctr">
                      <a:solidFill>
                        <a:srgbClr val="D9D7CE"/>
                      </a:solidFill>
                      <a:prstDash val="solid"/>
                    </a:lnL>
                    <a:lnR w="6350" cap="flat" cmpd="sng" algn="ctr">
                      <a:solidFill>
                        <a:srgbClr val="D9D7CE"/>
                      </a:solidFill>
                      <a:prstDash val="solid"/>
                    </a:lnR>
                    <a:lnT w="6350" cap="flat" cmpd="sng" algn="ctr">
                      <a:solidFill>
                        <a:srgbClr val="D9D7CE"/>
                      </a:solidFill>
                      <a:prstDash val="solid"/>
                    </a:lnT>
                    <a:lnB w="6350" cap="flat" cmpd="sng" algn="ctr">
                      <a:solidFill>
                        <a:srgbClr val="D9D7CE"/>
                      </a:solidFill>
                      <a:prstDash val="solid"/>
                    </a:lnB>
                    <a:solidFill>
                      <a:srgbClr val="FDFCF8"/>
                    </a:solidFill>
                  </a:tcPr>
                </a:tc>
              </a:tr>
            </a:tbl>
          </a:graphicData>
        </a:graphic>
      </p:graphicFrame>
      <p:sp>
        <p:nvSpPr>
          <p:cNvPr id="51" name="TextBox 50"/>
          <p:cNvSpPr txBox="1"/>
          <p:nvPr/>
        </p:nvSpPr>
        <p:spPr>
          <a:xfrm>
            <a:off x="508000" y="4733330"/>
            <a:ext cx="6544056" cy="266700"/>
          </a:xfrm>
          <a:prstGeom prst="rect">
            <a:avLst/>
          </a:prstGeom>
          <a:noFill/>
        </p:spPr>
        <p:txBody>
          <a:bodyPr wrap="square" lIns="0" rIns="0" tIns="0" bIns="0" anchor="ctr">
            <a:spAutoFit/>
          </a:bodyPr>
          <a:lstStyle/>
          <a:p>
            <a:pPr algn="l"/>
            <a:r>
              <a:rPr sz="840" b="1" i="0">
                <a:solidFill>
                  <a:srgbClr val="FFFFFF"/>
                </a:solidFill>
                <a:latin typeface="Montserrat"/>
              </a:rPr>
              <a:t>PESSOAS E SERVIÇOS DE APOIO</a:t>
            </a:r>
          </a:p>
        </p:txBody>
      </p:sp>
      <p:cxnSp>
        <p:nvCxnSpPr>
          <p:cNvPr id="52" name="Connector 51"/>
          <p:cNvCxnSpPr/>
          <p:nvPr/>
        </p:nvCxnSpPr>
        <p:spPr>
          <a:xfrm>
            <a:off x="533400" y="7497412"/>
            <a:ext cx="6493256" cy="0"/>
          </a:xfrm>
          <a:prstGeom prst="line">
            <a:avLst/>
          </a:prstGeom>
          <a:ln w="7620">
            <a:solidFill>
              <a:srgbClr val="B4B2A8"/>
            </a:solidFill>
          </a:ln>
        </p:spPr>
      </p:cxnSp>
      <p:cxnSp>
        <p:nvCxnSpPr>
          <p:cNvPr id="53" name="Connector 52"/>
          <p:cNvCxnSpPr/>
          <p:nvPr/>
        </p:nvCxnSpPr>
        <p:spPr>
          <a:xfrm>
            <a:off x="533400" y="7733627"/>
            <a:ext cx="6493256" cy="0"/>
          </a:xfrm>
          <a:prstGeom prst="line">
            <a:avLst/>
          </a:prstGeom>
          <a:ln w="7620">
            <a:solidFill>
              <a:srgbClr val="B4B2A8"/>
            </a:solidFill>
          </a:ln>
        </p:spPr>
      </p:cxnSp>
      <p:cxnSp>
        <p:nvCxnSpPr>
          <p:cNvPr id="54" name="Connector 53"/>
          <p:cNvCxnSpPr/>
          <p:nvPr/>
        </p:nvCxnSpPr>
        <p:spPr>
          <a:xfrm>
            <a:off x="533400" y="7969843"/>
            <a:ext cx="6493256" cy="0"/>
          </a:xfrm>
          <a:prstGeom prst="line">
            <a:avLst/>
          </a:prstGeom>
          <a:ln w="7620">
            <a:solidFill>
              <a:srgbClr val="B4B2A8"/>
            </a:solidFill>
          </a:ln>
        </p:spPr>
      </p:cxnSp>
      <p:cxnSp>
        <p:nvCxnSpPr>
          <p:cNvPr id="55" name="Connector 54"/>
          <p:cNvCxnSpPr/>
          <p:nvPr/>
        </p:nvCxnSpPr>
        <p:spPr>
          <a:xfrm>
            <a:off x="533400" y="8206059"/>
            <a:ext cx="6493256" cy="0"/>
          </a:xfrm>
          <a:prstGeom prst="line">
            <a:avLst/>
          </a:prstGeom>
          <a:ln w="7620">
            <a:solidFill>
              <a:srgbClr val="B4B2A8"/>
            </a:solidFill>
          </a:ln>
        </p:spPr>
      </p:cxnSp>
      <p:sp>
        <p:nvSpPr>
          <p:cNvPr id="58" name="TextBox 57"/>
          <p:cNvSpPr txBox="1"/>
          <p:nvPr/>
        </p:nvSpPr>
        <p:spPr>
          <a:xfrm>
            <a:off x="508000" y="6893646"/>
            <a:ext cx="6544056" cy="266700"/>
          </a:xfrm>
          <a:prstGeom prst="rect">
            <a:avLst/>
          </a:prstGeom>
          <a:noFill/>
        </p:spPr>
        <p:txBody>
          <a:bodyPr wrap="square" lIns="0" rIns="0" tIns="0" bIns="0" anchor="ctr">
            <a:spAutoFit/>
          </a:bodyPr>
          <a:lstStyle/>
          <a:p>
            <a:pPr algn="l"/>
            <a:r>
              <a:rPr sz="840" b="1" i="0">
                <a:solidFill>
                  <a:srgbClr val="FFFFFF"/>
                </a:solidFill>
                <a:latin typeface="Montserrat"/>
              </a:rPr>
              <a:t>MOVIMENTOS OU SITUAÇÕES QUE POSSO EVITAR TEMPORARIAMENTE</a:t>
            </a:r>
          </a:p>
        </p:txBody>
      </p:sp>
      <p:cxnSp>
        <p:nvCxnSpPr>
          <p:cNvPr id="59" name="Connector 58"/>
          <p:cNvCxnSpPr/>
          <p:nvPr/>
        </p:nvCxnSpPr>
        <p:spPr>
          <a:xfrm>
            <a:off x="533400" y="9125826"/>
            <a:ext cx="6493256" cy="0"/>
          </a:xfrm>
          <a:prstGeom prst="line">
            <a:avLst/>
          </a:prstGeom>
          <a:ln w="7620">
            <a:solidFill>
              <a:srgbClr val="B4B2A8"/>
            </a:solidFill>
          </a:ln>
        </p:spPr>
      </p:cxnSp>
      <p:cxnSp>
        <p:nvCxnSpPr>
          <p:cNvPr id="60" name="Connector 59"/>
          <p:cNvCxnSpPr/>
          <p:nvPr/>
        </p:nvCxnSpPr>
        <p:spPr>
          <a:xfrm>
            <a:off x="533400" y="9362042"/>
            <a:ext cx="6493256" cy="0"/>
          </a:xfrm>
          <a:prstGeom prst="line">
            <a:avLst/>
          </a:prstGeom>
          <a:ln w="7620">
            <a:solidFill>
              <a:srgbClr val="B4B2A8"/>
            </a:solidFill>
          </a:ln>
        </p:spPr>
      </p:cxnSp>
      <p:cxnSp>
        <p:nvCxnSpPr>
          <p:cNvPr id="61" name="Connector 60"/>
          <p:cNvCxnSpPr/>
          <p:nvPr/>
        </p:nvCxnSpPr>
        <p:spPr>
          <a:xfrm>
            <a:off x="533400" y="9598257"/>
            <a:ext cx="6493256" cy="0"/>
          </a:xfrm>
          <a:prstGeom prst="line">
            <a:avLst/>
          </a:prstGeom>
          <a:ln w="7620">
            <a:solidFill>
              <a:srgbClr val="B4B2A8"/>
            </a:solidFill>
          </a:ln>
        </p:spPr>
      </p:cxnSp>
      <p:sp>
        <p:nvSpPr>
          <p:cNvPr id="64" name="TextBox 63"/>
          <p:cNvSpPr txBox="1"/>
          <p:nvPr/>
        </p:nvSpPr>
        <p:spPr>
          <a:xfrm>
            <a:off x="508000" y="8522060"/>
            <a:ext cx="6544056" cy="266700"/>
          </a:xfrm>
          <a:prstGeom prst="rect">
            <a:avLst/>
          </a:prstGeom>
          <a:noFill/>
        </p:spPr>
        <p:txBody>
          <a:bodyPr wrap="square" lIns="0" rIns="0" tIns="0" bIns="0" anchor="ctr">
            <a:spAutoFit/>
          </a:bodyPr>
          <a:lstStyle/>
          <a:p>
            <a:pPr algn="l"/>
            <a:r>
              <a:rPr sz="840" b="1" i="0">
                <a:solidFill>
                  <a:srgbClr val="FFFFFF"/>
                </a:solidFill>
                <a:latin typeface="Montserrat"/>
              </a:rPr>
              <a:t>UMA FRASE OU LEMBRETE IMPORTANTE PARA MIM</a:t>
            </a:r>
          </a:p>
        </p:txBody>
      </p:sp>
      <p:sp>
        <p:nvSpPr>
          <p:cNvPr id="65" name="TextBox 64"/>
          <p:cNvSpPr txBox="1"/>
          <p:nvPr/>
        </p:nvSpPr>
        <p:spPr>
          <a:xfrm>
            <a:off x="381000" y="9876908"/>
            <a:ext cx="6798056" cy="152400"/>
          </a:xfrm>
          <a:prstGeom prst="rect">
            <a:avLst/>
          </a:prstGeom>
          <a:noFill/>
        </p:spPr>
        <p:txBody>
          <a:bodyPr wrap="square" lIns="0" rIns="0" tIns="0" bIns="0" anchor="t">
            <a:spAutoFit/>
          </a:bodyPr>
          <a:lstStyle/>
          <a:p>
            <a:pPr algn="ctr"/>
            <a:r>
              <a:rPr sz="740" b="0" i="0">
                <a:solidFill>
                  <a:srgbClr val="2A2A26"/>
                </a:solidFill>
                <a:latin typeface="Montserrat"/>
              </a:rPr>
              <a:t>Se houver dor intensa, trauma, perda de força, falta de ar, febre ou qualquer sintoma preocupante, procure avaliação médica.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